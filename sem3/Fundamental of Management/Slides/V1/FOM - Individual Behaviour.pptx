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2" r:id="rId10"/>
    <p:sldId id="263" r:id="rId11"/>
    <p:sldId id="273" r:id="rId12"/>
    <p:sldId id="274" r:id="rId13"/>
    <p:sldId id="275" r:id="rId14"/>
    <p:sldId id="264" r:id="rId15"/>
    <p:sldId id="276" r:id="rId16"/>
    <p:sldId id="265" r:id="rId17"/>
    <p:sldId id="266" r:id="rId18"/>
    <p:sldId id="267" r:id="rId19"/>
    <p:sldId id="277" r:id="rId20"/>
    <p:sldId id="268" r:id="rId21"/>
    <p:sldId id="269" r:id="rId22"/>
    <p:sldId id="270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B246B-BB6C-45E9-997D-E7F5F6D6C55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0B238-F9C6-4C0E-BFA6-7E5C9CC97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98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0B238-F9C6-4C0E-BFA6-7E5C9CC977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61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99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7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9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7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8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4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7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1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5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033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41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764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74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097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9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6063F9-B991-4581-B7B9-909F40D060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6C451-8406-49F8-8D67-7D074EE5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9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3181-3E34-B9EA-DDA7-79ABDE161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Chapter 14 – Understanding Individual Behavior</a:t>
            </a:r>
          </a:p>
        </p:txBody>
      </p:sp>
    </p:spTree>
    <p:extLst>
      <p:ext uri="{BB962C8B-B14F-4D97-AF65-F5344CB8AC3E}">
        <p14:creationId xmlns:p14="http://schemas.microsoft.com/office/powerpoint/2010/main" val="65966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9225-D7FD-8AA4-F7E1-FEC0CFD4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Objectives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4A257-9374-1A74-F92A-0877BEB0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individual behavior and understand its significance in management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perception, attribution, and related biases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personality, attitudes, and emotional intelligence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job satisfaction, trust,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commitment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stress, resilience, and strategies to manage self and time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650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C6F8-93DA-DE93-BD3A-9D6702877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Individual Behavior?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DBF0-25E2-3A36-E151-4D6D5A18B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behavior refers to the way an individual acts, thinks, and feels in response to internal and external stimuli.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in management: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Influences work performance, motivation, and interactions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behavior helps managers lead teams effectively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conflicts, improves productivity, and enhances satisfaction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56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1D074-D28E-8BBF-4A44-17B882D7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Factors Influencing Individual Behavior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EF519-8928-286E-3397-3C93963DB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Personality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stable traits that define how people respond to situations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how individuals interpret the world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Attitudes &amp; Values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beliefs and feelings that influence actions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Emotions &amp; Moods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short-term or long-term emotional states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&amp; Resilience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ability to cope with challenges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74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7AFB-29F0-126F-C882-35BEF8C7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7F1E-2463-CFED-9083-80A1D2EF0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Perception is the process by which individuals select, organize, and interpret information from their environment.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Factors influencing perception: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Perceiver: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attitudes, experiences, expectations</a:t>
            </a:r>
          </a:p>
          <a:p>
            <a:pPr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novelty, motion, sounds, size, background</a:t>
            </a:r>
          </a:p>
          <a:p>
            <a:pPr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Situation: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context of interaction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1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BE76-13E2-B17C-5C6C-38267356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Perceptual Biases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81650-AB92-93F5-8F2B-96C157739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Stereotyping: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generalizing traits to a group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Halo effect: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one positive trait influences overall perception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Selective perception: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focusing only on certain aspects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attributing own traits to others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229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6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E2A68C4-3C96-41DA-151D-CC81B0080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43084"/>
              </p:ext>
            </p:extLst>
          </p:nvPr>
        </p:nvGraphicFramePr>
        <p:xfrm>
          <a:off x="1260864" y="1149305"/>
          <a:ext cx="9651361" cy="46154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93502">
                  <a:extLst>
                    <a:ext uri="{9D8B030D-6E8A-4147-A177-3AD203B41FA5}">
                      <a16:colId xmlns:a16="http://schemas.microsoft.com/office/drawing/2014/main" val="1924845515"/>
                    </a:ext>
                  </a:extLst>
                </a:gridCol>
                <a:gridCol w="3276752">
                  <a:extLst>
                    <a:ext uri="{9D8B030D-6E8A-4147-A177-3AD203B41FA5}">
                      <a16:colId xmlns:a16="http://schemas.microsoft.com/office/drawing/2014/main" val="4164351913"/>
                    </a:ext>
                  </a:extLst>
                </a:gridCol>
                <a:gridCol w="3381107">
                  <a:extLst>
                    <a:ext uri="{9D8B030D-6E8A-4147-A177-3AD203B41FA5}">
                      <a16:colId xmlns:a16="http://schemas.microsoft.com/office/drawing/2014/main" val="1201244566"/>
                    </a:ext>
                  </a:extLst>
                </a:gridCol>
              </a:tblGrid>
              <a:tr h="472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Perceptual Bias</a:t>
                      </a:r>
                      <a:endParaRPr lang="en-US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  <a:endParaRPr lang="en-US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 (Workplace)</a:t>
                      </a:r>
                      <a:endParaRPr lang="en-US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7337" marR="107337" marT="53668" marB="53668" anchor="ctr"/>
                </a:tc>
                <a:extLst>
                  <a:ext uri="{0D108BD9-81ED-4DB2-BD59-A6C34878D82A}">
                    <a16:rowId xmlns:a16="http://schemas.microsoft.com/office/drawing/2014/main" val="913920480"/>
                  </a:ext>
                </a:extLst>
              </a:tr>
              <a:tr h="794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Stereotyping</a:t>
                      </a:r>
                      <a:endParaRPr lang="en-US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Generalizing traits to a group</a:t>
                      </a: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Assuming older workers can’t use new technology</a:t>
                      </a:r>
                    </a:p>
                  </a:txBody>
                  <a:tcPr marL="107337" marR="107337" marT="53668" marB="53668" anchor="ctr"/>
                </a:tc>
                <a:extLst>
                  <a:ext uri="{0D108BD9-81ED-4DB2-BD59-A6C34878D82A}">
                    <a16:rowId xmlns:a16="http://schemas.microsoft.com/office/drawing/2014/main" val="4017468447"/>
                  </a:ext>
                </a:extLst>
              </a:tr>
              <a:tr h="1116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Halo Effect</a:t>
                      </a:r>
                      <a:endParaRPr lang="en-US" sz="2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Letting one positive trait affect the overall perception</a:t>
                      </a: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Thinking a punctual employee is also highly skilled</a:t>
                      </a:r>
                    </a:p>
                  </a:txBody>
                  <a:tcPr marL="107337" marR="107337" marT="53668" marB="53668" anchor="ctr"/>
                </a:tc>
                <a:extLst>
                  <a:ext uri="{0D108BD9-81ED-4DB2-BD59-A6C34878D82A}">
                    <a16:rowId xmlns:a16="http://schemas.microsoft.com/office/drawing/2014/main" val="2705844905"/>
                  </a:ext>
                </a:extLst>
              </a:tr>
              <a:tr h="1116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Selective Perception</a:t>
                      </a:r>
                      <a:endParaRPr lang="en-US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Focusing only on certain aspects that confirm beliefs</a:t>
                      </a: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Noticing only mistakes made by someone you dislike</a:t>
                      </a:r>
                    </a:p>
                  </a:txBody>
                  <a:tcPr marL="107337" marR="107337" marT="53668" marB="53668" anchor="ctr"/>
                </a:tc>
                <a:extLst>
                  <a:ext uri="{0D108BD9-81ED-4DB2-BD59-A6C34878D82A}">
                    <a16:rowId xmlns:a16="http://schemas.microsoft.com/office/drawing/2014/main" val="813443696"/>
                  </a:ext>
                </a:extLst>
              </a:tr>
              <a:tr h="1116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Projection</a:t>
                      </a:r>
                      <a:endParaRPr lang="en-US" sz="2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Attributing your own traits or feelings to others</a:t>
                      </a:r>
                    </a:p>
                  </a:txBody>
                  <a:tcPr marL="107337" marR="107337" marT="53668" marB="536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Assuming everyone is motivated by the same goals as you</a:t>
                      </a:r>
                    </a:p>
                  </a:txBody>
                  <a:tcPr marL="107337" marR="107337" marT="53668" marB="53668" anchor="ctr"/>
                </a:tc>
                <a:extLst>
                  <a:ext uri="{0D108BD9-81ED-4DB2-BD59-A6C34878D82A}">
                    <a16:rowId xmlns:a16="http://schemas.microsoft.com/office/drawing/2014/main" val="404319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486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92A54-CA01-7749-0B19-D5A7433D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Attribution Theory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7F9A2-C4CD-EFA3-0D71-ABD4E614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Explains how individuals pinpoint the causes of their own and others’ behavior.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attribution: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(dispositional):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behavior caused by individual traits</a:t>
            </a:r>
          </a:p>
          <a:p>
            <a:pPr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(situational):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behavior caused by external factors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errors: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 attribution error: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overemphasizing internal causes for others’ behavior</a:t>
            </a:r>
          </a:p>
          <a:p>
            <a:pPr lvl="1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Self-serving bias: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attributing own successes to internal factors, failures to external aspect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37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4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9EFE1D-43AB-E4E6-1682-0F7F7366C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406612"/>
              </p:ext>
            </p:extLst>
          </p:nvPr>
        </p:nvGraphicFramePr>
        <p:xfrm>
          <a:off x="1070264" y="1149305"/>
          <a:ext cx="9825642" cy="4615483"/>
        </p:xfrm>
        <a:graphic>
          <a:graphicData uri="http://schemas.openxmlformats.org/drawingml/2006/table">
            <a:tbl>
              <a:tblPr/>
              <a:tblGrid>
                <a:gridCol w="3213012">
                  <a:extLst>
                    <a:ext uri="{9D8B030D-6E8A-4147-A177-3AD203B41FA5}">
                      <a16:colId xmlns:a16="http://schemas.microsoft.com/office/drawing/2014/main" val="1020530514"/>
                    </a:ext>
                  </a:extLst>
                </a:gridCol>
                <a:gridCol w="3280783">
                  <a:extLst>
                    <a:ext uri="{9D8B030D-6E8A-4147-A177-3AD203B41FA5}">
                      <a16:colId xmlns:a16="http://schemas.microsoft.com/office/drawing/2014/main" val="1730132750"/>
                    </a:ext>
                  </a:extLst>
                </a:gridCol>
                <a:gridCol w="3331847">
                  <a:extLst>
                    <a:ext uri="{9D8B030D-6E8A-4147-A177-3AD203B41FA5}">
                      <a16:colId xmlns:a16="http://schemas.microsoft.com/office/drawing/2014/main" val="3318143232"/>
                    </a:ext>
                  </a:extLst>
                </a:gridCol>
              </a:tblGrid>
              <a:tr h="38125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Definition</a:t>
                      </a:r>
                      <a:endParaRPr lang="en-US" sz="170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Example</a:t>
                      </a:r>
                      <a:endParaRPr lang="en-US" sz="170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79795"/>
                  </a:ext>
                </a:extLst>
              </a:tr>
              <a:tr h="898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Attribution Theory</a:t>
                      </a:r>
                      <a:endParaRPr lang="en-US" sz="170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Explains how people determine the causes of behavior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 manager trying to understand why an employee was late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008422"/>
                  </a:ext>
                </a:extLst>
              </a:tr>
              <a:tr h="639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Internal Attribution</a:t>
                      </a:r>
                      <a:endParaRPr lang="en-US" sz="170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Behavior caused by personal traits or effort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“He missed the deadline because he’s lazy.”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629559"/>
                  </a:ext>
                </a:extLst>
              </a:tr>
              <a:tr h="898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External Attribution</a:t>
                      </a:r>
                      <a:endParaRPr lang="en-US" sz="170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Behavior caused by outside circumstances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“He missed the deadline because the system crashed.”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657397"/>
                  </a:ext>
                </a:extLst>
              </a:tr>
              <a:tr h="898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Fundamental Attribution Error</a:t>
                      </a:r>
                      <a:endParaRPr lang="en-US" sz="170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Overestimating internal causes for others’ behavior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“She failed the task because she’s careless” (ignoring workload)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941733"/>
                  </a:ext>
                </a:extLst>
              </a:tr>
              <a:tr h="898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Self-Serving Bias</a:t>
                      </a:r>
                      <a:endParaRPr lang="en-US" sz="1700"/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Attributing one’s own success to internal causes and failure to external ones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“I succeeded because I’m smart; I failed because I was unlucky.”</a:t>
                      </a:r>
                    </a:p>
                  </a:txBody>
                  <a:tcPr marL="83798" marR="83798" marT="41900" marB="41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789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59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66FB-96DD-0BA2-6C65-ADE8DE8F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7F566-FAAE-A366-080E-C48056E3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Personality is the unique combination of psychological traits and behavioral attributes that influence how a person interacts with their environment.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traits: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Big Five: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Openness, Conscientiousness, Extraversion, Agreeableness, Neuroticism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traits: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Locus of control, Machiavellianism, Self-monitoring, Type A/Type B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Guides behavior at work, communication style, conflict handling, and decision-making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9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4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77104-9384-E80F-DE5C-9EE26CFFE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5378"/>
              </p:ext>
            </p:extLst>
          </p:nvPr>
        </p:nvGraphicFramePr>
        <p:xfrm>
          <a:off x="1133780" y="1467919"/>
          <a:ext cx="9905530" cy="3978253"/>
        </p:xfrm>
        <a:graphic>
          <a:graphicData uri="http://schemas.openxmlformats.org/drawingml/2006/table">
            <a:tbl>
              <a:tblPr/>
              <a:tblGrid>
                <a:gridCol w="3340975">
                  <a:extLst>
                    <a:ext uri="{9D8B030D-6E8A-4147-A177-3AD203B41FA5}">
                      <a16:colId xmlns:a16="http://schemas.microsoft.com/office/drawing/2014/main" val="364274264"/>
                    </a:ext>
                  </a:extLst>
                </a:gridCol>
                <a:gridCol w="3273892">
                  <a:extLst>
                    <a:ext uri="{9D8B030D-6E8A-4147-A177-3AD203B41FA5}">
                      <a16:colId xmlns:a16="http://schemas.microsoft.com/office/drawing/2014/main" val="1736718736"/>
                    </a:ext>
                  </a:extLst>
                </a:gridCol>
                <a:gridCol w="3290663">
                  <a:extLst>
                    <a:ext uri="{9D8B030D-6E8A-4147-A177-3AD203B41FA5}">
                      <a16:colId xmlns:a16="http://schemas.microsoft.com/office/drawing/2014/main" val="48157814"/>
                    </a:ext>
                  </a:extLst>
                </a:gridCol>
              </a:tblGrid>
              <a:tr h="3473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Trait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Workplace Example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270142"/>
                  </a:ext>
                </a:extLst>
              </a:tr>
              <a:tr h="8209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Openness to Experience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Being imaginative, curious, open-minded, and willing to try new things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manager who embraces new technology and encourages innovation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272936"/>
                  </a:ext>
                </a:extLst>
              </a:tr>
              <a:tr h="8209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Conscientiousness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Being responsible, organized, dependable, and goal-oriented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 employee who plans tasks carefully and meets deadlines consistently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080641"/>
                  </a:ext>
                </a:extLst>
              </a:tr>
              <a:tr h="5841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Extraversion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Being outgoing, energetic, and sociable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salesperson who enjoys meeting clients and working in teams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266799"/>
                  </a:ext>
                </a:extLst>
              </a:tr>
              <a:tr h="5841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Agreeableness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Being cooperative, compassionate, and good-natured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team member who avoids conflict and helps coworkers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804639"/>
                  </a:ext>
                </a:extLst>
              </a:tr>
              <a:tr h="8209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Neuroticism (Emotional Stability)</a:t>
                      </a:r>
                      <a:endParaRPr lang="en-US" sz="16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Tendency to experience negative emotions such as anxiety or moodiness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person low in neuroticism stays calm under pressure; a high-neuroticism person stresses easily</a:t>
                      </a:r>
                    </a:p>
                  </a:txBody>
                  <a:tcPr marL="78934" marR="78934" marT="39467" marB="394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01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56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2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F497B7-E69D-FF41-7CAD-104A9F82F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744862"/>
              </p:ext>
            </p:extLst>
          </p:nvPr>
        </p:nvGraphicFramePr>
        <p:xfrm>
          <a:off x="1133780" y="1342652"/>
          <a:ext cx="9905529" cy="42849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11159">
                  <a:extLst>
                    <a:ext uri="{9D8B030D-6E8A-4147-A177-3AD203B41FA5}">
                      <a16:colId xmlns:a16="http://schemas.microsoft.com/office/drawing/2014/main" val="3882597257"/>
                    </a:ext>
                  </a:extLst>
                </a:gridCol>
                <a:gridCol w="3338039">
                  <a:extLst>
                    <a:ext uri="{9D8B030D-6E8A-4147-A177-3AD203B41FA5}">
                      <a16:colId xmlns:a16="http://schemas.microsoft.com/office/drawing/2014/main" val="2300805534"/>
                    </a:ext>
                  </a:extLst>
                </a:gridCol>
                <a:gridCol w="3356331">
                  <a:extLst>
                    <a:ext uri="{9D8B030D-6E8A-4147-A177-3AD203B41FA5}">
                      <a16:colId xmlns:a16="http://schemas.microsoft.com/office/drawing/2014/main" val="937848103"/>
                    </a:ext>
                  </a:extLst>
                </a:gridCol>
              </a:tblGrid>
              <a:tr h="407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Trait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51" marR="58231" marT="19900" marB="14925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747627"/>
                  </a:ext>
                </a:extLst>
              </a:tr>
              <a:tr h="1203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Locus of Control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51" marR="58231" marT="19900" marB="14925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degree to which individuals believe they control their own fate. – 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Internal locus: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believe they control outcomes. – 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External locus: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believe fate, luck, or others control outcomes.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 employee with an </a:t>
                      </a: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internal locus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takes responsibility for mistakes; one with an </a:t>
                      </a: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external locus</a:t>
                      </a: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blames bad luck or others.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093860"/>
                  </a:ext>
                </a:extLst>
              </a:tr>
              <a:tr h="805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Machiavellianism (“Mach”)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51" marR="58231" marT="19900" marB="14925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degree to which someone is pragmatic, emotionally distant, and believes “the ends justify the means.”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high-Mach manager might manipulate others to achieve goals; a low-Mach manager values fairness.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38090"/>
                  </a:ext>
                </a:extLst>
              </a:tr>
              <a:tr h="1004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Self-Monitoring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51" marR="58231" marT="19900" marB="14925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ability to adjust behavior to external, situational factors.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high self-monitor adjusts tone and style when talking to a boss versus a peer; a low self-monitor behaves the same in all situations.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1431"/>
                  </a:ext>
                </a:extLst>
              </a:tr>
              <a:tr h="805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A / Type B Personality</a:t>
                      </a:r>
                      <a:endParaRPr lang="en-US" sz="1400" cap="none" spc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9651" marR="58231" marT="19900" marB="149251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A: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Competitive, impatient, aggressive, achievement-oriented. </a:t>
                      </a:r>
                    </a:p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 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B: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Relaxed, patient, easy-going.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A employees may thrive in high-pressure sales jobs; Type B employees fit better in steady, low-stress environments.</a:t>
                      </a:r>
                    </a:p>
                  </a:txBody>
                  <a:tcPr marL="69651" marR="58231" marT="19900" marB="14925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275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486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2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23DAB3-80C2-111B-F48A-3B8B88AD6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79713"/>
              </p:ext>
            </p:extLst>
          </p:nvPr>
        </p:nvGraphicFramePr>
        <p:xfrm>
          <a:off x="1095196" y="1116041"/>
          <a:ext cx="9966959" cy="4615481"/>
        </p:xfrm>
        <a:graphic>
          <a:graphicData uri="http://schemas.openxmlformats.org/drawingml/2006/table">
            <a:tbl>
              <a:tblPr/>
              <a:tblGrid>
                <a:gridCol w="3766017">
                  <a:extLst>
                    <a:ext uri="{9D8B030D-6E8A-4147-A177-3AD203B41FA5}">
                      <a16:colId xmlns:a16="http://schemas.microsoft.com/office/drawing/2014/main" val="768210645"/>
                    </a:ext>
                  </a:extLst>
                </a:gridCol>
                <a:gridCol w="6200942">
                  <a:extLst>
                    <a:ext uri="{9D8B030D-6E8A-4147-A177-3AD203B41FA5}">
                      <a16:colId xmlns:a16="http://schemas.microsoft.com/office/drawing/2014/main" val="3377227332"/>
                    </a:ext>
                  </a:extLst>
                </a:gridCol>
              </a:tblGrid>
              <a:tr h="5077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Area</a:t>
                      </a:r>
                      <a:endParaRPr lang="en-US" sz="18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Influence of Personality</a:t>
                      </a:r>
                      <a:endParaRPr lang="en-US" sz="18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638453"/>
                  </a:ext>
                </a:extLst>
              </a:tr>
              <a:tr h="8538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Work Behavior</a:t>
                      </a:r>
                      <a:endParaRPr lang="en-US" sz="1800" b="0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Conscientious employees are more reliable; extraverts thrive in social jobs.</a:t>
                      </a: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777898"/>
                  </a:ext>
                </a:extLst>
              </a:tr>
              <a:tr h="12000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Communication Style</a:t>
                      </a:r>
                      <a:endParaRPr lang="en-US" sz="1800" b="0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Agreeable people communicate politely; Type A individuals may be more direct or impatient.</a:t>
                      </a: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9884"/>
                  </a:ext>
                </a:extLst>
              </a:tr>
              <a:tr h="8538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Conflict Handling</a:t>
                      </a:r>
                      <a:endParaRPr lang="en-US" sz="1800" b="0" i="0" u="none" strike="noStrik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agreeableness reduces conflict; high Machiavellianism may increase it.</a:t>
                      </a: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841373"/>
                  </a:ext>
                </a:extLst>
              </a:tr>
              <a:tr h="12000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Decision-Making</a:t>
                      </a:r>
                      <a:endParaRPr lang="en-US" sz="1800" b="0" i="0" u="none" strike="no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 individuals consider creative options; neurotic individuals may struggle under pressure.</a:t>
                      </a:r>
                    </a:p>
                  </a:txBody>
                  <a:tcPr marL="115387" marR="115387" marT="57693" marB="57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8663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6A9726A-812A-8F45-44B8-AE0D2BB74389}"/>
              </a:ext>
            </a:extLst>
          </p:cNvPr>
          <p:cNvSpPr txBox="1"/>
          <p:nvPr/>
        </p:nvSpPr>
        <p:spPr>
          <a:xfrm>
            <a:off x="1313412" y="5594524"/>
            <a:ext cx="96801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personality helps managers place employees in suitable roles, predict behavior, and improve teamwork.</a:t>
            </a:r>
          </a:p>
        </p:txBody>
      </p:sp>
    </p:spTree>
    <p:extLst>
      <p:ext uri="{BB962C8B-B14F-4D97-AF65-F5344CB8AC3E}">
        <p14:creationId xmlns:p14="http://schemas.microsoft.com/office/powerpoint/2010/main" val="2942958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68C4-993E-58DD-5841-F095C7F7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Attitudes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C9CDE-2F74-688F-8C07-3C3E63AC0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learned predisposition to respond positively or negatively to a certain object, person, or event.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Cognitive: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beliefs or thoughts about something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Affective: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feelings or emotions about it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Behavioral: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intended or actual behavior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Job-related attitudes: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satisfaction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involvement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Organizational commitment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831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6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BE4451-93C8-E90A-7E2F-9D5FEDAA0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007828"/>
              </p:ext>
            </p:extLst>
          </p:nvPr>
        </p:nvGraphicFramePr>
        <p:xfrm>
          <a:off x="1133780" y="1462247"/>
          <a:ext cx="9905530" cy="39895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31063">
                  <a:extLst>
                    <a:ext uri="{9D8B030D-6E8A-4147-A177-3AD203B41FA5}">
                      <a16:colId xmlns:a16="http://schemas.microsoft.com/office/drawing/2014/main" val="1030111817"/>
                    </a:ext>
                  </a:extLst>
                </a:gridCol>
                <a:gridCol w="3613064">
                  <a:extLst>
                    <a:ext uri="{9D8B030D-6E8A-4147-A177-3AD203B41FA5}">
                      <a16:colId xmlns:a16="http://schemas.microsoft.com/office/drawing/2014/main" val="3709318984"/>
                    </a:ext>
                  </a:extLst>
                </a:gridCol>
                <a:gridCol w="3361403">
                  <a:extLst>
                    <a:ext uri="{9D8B030D-6E8A-4147-A177-3AD203B41FA5}">
                      <a16:colId xmlns:a16="http://schemas.microsoft.com/office/drawing/2014/main" val="1032668819"/>
                    </a:ext>
                  </a:extLst>
                </a:gridCol>
              </a:tblGrid>
              <a:tr h="490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Example </a:t>
                      </a:r>
                      <a:endParaRPr lang="en-US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670980"/>
                  </a:ext>
                </a:extLst>
              </a:tr>
              <a:tr h="1069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1. Cognitive (Thinking)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Represents the </a:t>
                      </a: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beliefs, opinions, or knowledge</a:t>
                      </a: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 a person has about something.</a:t>
                      </a: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“My job offers few promotion opportunities.”</a:t>
                      </a: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317930"/>
                  </a:ext>
                </a:extLst>
              </a:tr>
              <a:tr h="1359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2. Affective (Feeling)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Represents the </a:t>
                      </a: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emotional or feeling part</a:t>
                      </a: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 of an attitude — how you feel about the object or person.</a:t>
                      </a: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“I dislike how limited my promotion chances are.”</a:t>
                      </a: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794667"/>
                  </a:ext>
                </a:extLst>
              </a:tr>
              <a:tr h="1069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3. Behavioral (Action)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Represents the </a:t>
                      </a: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intention to behave</a:t>
                      </a: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 in a certain way based on the belief and feeling.</a:t>
                      </a: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“I’m looking for another job.”</a:t>
                      </a:r>
                    </a:p>
                  </a:txBody>
                  <a:tcPr marL="0" marR="142154" marT="71077" marB="710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88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6933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DA1A-5D2D-EF80-F544-336B9D05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Job Satisfaction &amp; Trust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82944-A005-4ADC-AD63-D119532A1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Job Satisfaction:</a:t>
            </a:r>
            <a:r>
              <a:rPr lang="en-US" dirty="0"/>
              <a:t> the degree to which an individual feels positively about their job</a:t>
            </a:r>
          </a:p>
          <a:p>
            <a:r>
              <a:rPr lang="en-US" b="1" dirty="0" err="1"/>
              <a:t>Organisational</a:t>
            </a:r>
            <a:r>
              <a:rPr lang="en-US" b="1" dirty="0"/>
              <a:t> Commitment:</a:t>
            </a:r>
            <a:r>
              <a:rPr lang="en-US" dirty="0"/>
              <a:t> loyalty and involvement in the </a:t>
            </a:r>
            <a:r>
              <a:rPr lang="en-US" dirty="0" err="1"/>
              <a:t>organisation</a:t>
            </a:r>
            <a:endParaRPr lang="en-US" dirty="0"/>
          </a:p>
          <a:p>
            <a:r>
              <a:rPr lang="en-US" b="1" dirty="0"/>
              <a:t>Trust:</a:t>
            </a:r>
            <a:r>
              <a:rPr lang="en-US" dirty="0"/>
              <a:t> belief in fairness, integrity, and reliability of management</a:t>
            </a:r>
          </a:p>
          <a:p>
            <a:r>
              <a:rPr lang="en-US" b="1" dirty="0"/>
              <a:t>Influencing factors:</a:t>
            </a:r>
            <a:r>
              <a:rPr lang="en-US" dirty="0"/>
              <a:t> work environment, leadership, recognition, fairness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726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EB1C-08A5-9660-66CE-AC973829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Emotions &amp; Moods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D79D1-4F07-DA58-47FD-DA7250447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Emotions:</a:t>
            </a:r>
            <a:r>
              <a:rPr lang="en-US" dirty="0"/>
              <a:t> intense, short-lived feelings triggered by specific events</a:t>
            </a:r>
          </a:p>
          <a:p>
            <a:r>
              <a:rPr lang="en-US" b="1" dirty="0"/>
              <a:t>Moods:</a:t>
            </a:r>
            <a:r>
              <a:rPr lang="en-US" dirty="0"/>
              <a:t> longer-lasting, less intense feelings without a specific cause</a:t>
            </a:r>
          </a:p>
          <a:p>
            <a:r>
              <a:rPr lang="en-US" b="1" dirty="0"/>
              <a:t>Emotional contagion:</a:t>
            </a:r>
            <a:r>
              <a:rPr lang="en-US" dirty="0"/>
              <a:t> emotions can spread among employees, affecting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229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1BDA-B640-385E-62CB-BC9FCC56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Emotional Intelligence (EI)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8027-066D-23E3-920F-1CCA38744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> ability to understand and manage one’s own emotions and the emotions of others.</a:t>
            </a:r>
          </a:p>
          <a:p>
            <a:pPr marL="0" indent="0">
              <a:buNone/>
            </a:pPr>
            <a:r>
              <a:rPr lang="en-US" b="1" dirty="0"/>
              <a:t>Components (Goleman):</a:t>
            </a:r>
            <a:endParaRPr lang="en-US" dirty="0"/>
          </a:p>
          <a:p>
            <a:r>
              <a:rPr lang="en-US" dirty="0"/>
              <a:t>Self-awareness</a:t>
            </a:r>
          </a:p>
          <a:p>
            <a:r>
              <a:rPr lang="en-US" dirty="0"/>
              <a:t>Self-management</a:t>
            </a:r>
          </a:p>
          <a:p>
            <a:r>
              <a:rPr lang="en-US" dirty="0"/>
              <a:t>Social awareness</a:t>
            </a:r>
          </a:p>
          <a:p>
            <a:r>
              <a:rPr lang="en-US" dirty="0"/>
              <a:t>Relationship management</a:t>
            </a:r>
          </a:p>
          <a:p>
            <a:pPr marL="0" indent="0">
              <a:buNone/>
            </a:pPr>
            <a:r>
              <a:rPr lang="en-US" b="1" dirty="0"/>
              <a:t>Importance:</a:t>
            </a:r>
            <a:r>
              <a:rPr lang="en-US" dirty="0"/>
              <a:t> improves leadership, teamwork, conflict resolution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41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6" y="28937"/>
            <a:ext cx="12188825" cy="685621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4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E4CAC3-A770-56B5-1C25-1D04442BC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053312"/>
              </p:ext>
            </p:extLst>
          </p:nvPr>
        </p:nvGraphicFramePr>
        <p:xfrm>
          <a:off x="1133780" y="1290420"/>
          <a:ext cx="9905529" cy="4333253"/>
        </p:xfrm>
        <a:graphic>
          <a:graphicData uri="http://schemas.openxmlformats.org/drawingml/2006/table">
            <a:tbl>
              <a:tblPr/>
              <a:tblGrid>
                <a:gridCol w="3292154">
                  <a:extLst>
                    <a:ext uri="{9D8B030D-6E8A-4147-A177-3AD203B41FA5}">
                      <a16:colId xmlns:a16="http://schemas.microsoft.com/office/drawing/2014/main" val="3180515074"/>
                    </a:ext>
                  </a:extLst>
                </a:gridCol>
                <a:gridCol w="3315425">
                  <a:extLst>
                    <a:ext uri="{9D8B030D-6E8A-4147-A177-3AD203B41FA5}">
                      <a16:colId xmlns:a16="http://schemas.microsoft.com/office/drawing/2014/main" val="4007158108"/>
                    </a:ext>
                  </a:extLst>
                </a:gridCol>
                <a:gridCol w="3297950">
                  <a:extLst>
                    <a:ext uri="{9D8B030D-6E8A-4147-A177-3AD203B41FA5}">
                      <a16:colId xmlns:a16="http://schemas.microsoft.com/office/drawing/2014/main" val="3401088284"/>
                    </a:ext>
                  </a:extLst>
                </a:gridCol>
              </a:tblGrid>
              <a:tr h="3466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Component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Example 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999554"/>
                  </a:ext>
                </a:extLst>
              </a:tr>
              <a:tr h="1055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1. Self-Awareness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Recognizing and understanding your own emotions, moods, and their effects on others.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 manager realizes they’re becoming impatient in a meeting and takes a deep breath before responding.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28438"/>
                  </a:ext>
                </a:extLst>
              </a:tr>
              <a:tr h="8193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2. Self-Management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Controlling or redirecting disruptive emotions and adapting to changing situations.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An employee receives criticism but remains composed and uses the feedback constructively.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29338"/>
                  </a:ext>
                </a:extLst>
              </a:tr>
              <a:tr h="1055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3. Social Awareness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Recognizing and understanding the emotions of others; showing empathy and organizational awareness.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 supervisor senses that a team member is upset and checks in privately to offer support.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263237"/>
                  </a:ext>
                </a:extLst>
              </a:tr>
              <a:tr h="10557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4. Relationship Management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Building and maintaining healthy relationships; using emotional understanding to influence and inspire others.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A leader motivates their team through encouragement and positive communication during stressful times.</a:t>
                      </a:r>
                    </a:p>
                  </a:txBody>
                  <a:tcPr marL="78786" marR="78786" marT="39393" marB="393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723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002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479C-054F-5CDB-5031-D615A893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Self and Time</a:t>
            </a:r>
            <a:b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26E8-BA48-6175-AF09-B2EA9362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self-management involves controlling emotions, behaviors, and time effectively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Strategies: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setting and prioritization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calendars, to-do lists, and scheduling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multitasking, focus on important tasks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 and review performance regularly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301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E615-B4D4-4BAF-FFE4-C5CD55CB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Stress, Resilience &amp; Well-being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2C65E-A691-5397-A4C9-D325CF624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response to demands that exceed resources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stressors: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task-related, role-related, interpersonal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 stressors: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viewed positively, promote growth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Threat stressors: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viewed negatively, reduce performance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Resilience: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ability to recover from adversity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Well-being strategies: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exercise, time management, social support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474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F795-5408-AEBF-D6FC-6D4BC91B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Integrating Individual Behavior in Management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55AA3-1907-C028-5427-66C6B3255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Recognize diversity in behavior, personality, and attitudes</a:t>
            </a:r>
          </a:p>
          <a:p>
            <a:r>
              <a:rPr lang="en-US" dirty="0"/>
              <a:t>Use perceptual awareness to avoid bias in decision-making</a:t>
            </a:r>
          </a:p>
          <a:p>
            <a:r>
              <a:rPr lang="en-US" dirty="0"/>
              <a:t>Foster trust, job satisfaction, and </a:t>
            </a:r>
            <a:r>
              <a:rPr lang="en-US" dirty="0" err="1"/>
              <a:t>organisational</a:t>
            </a:r>
            <a:r>
              <a:rPr lang="en-US" dirty="0"/>
              <a:t> commitment</a:t>
            </a:r>
          </a:p>
          <a:p>
            <a:r>
              <a:rPr lang="en-US" dirty="0"/>
              <a:t>Apply EI to improve leadership, motivation, and teamwork</a:t>
            </a:r>
          </a:p>
          <a:p>
            <a:r>
              <a:rPr lang="en-US" dirty="0"/>
              <a:t>Support employees’ stress management and resilience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37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9CD864-9B80-4217-918A-A08DD428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376FBE-D09E-4799-BCF8-13452CEC1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6E2E74-06CA-4173-B7B0-204D27B1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0E1C9-C9F9-481F-894F-6978A15CF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201" y="965200"/>
            <a:ext cx="10286108" cy="4927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95FB36-9688-49FD-8F26-AD6071762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347" y="1129284"/>
            <a:ext cx="9957816" cy="45994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5C71E-85EB-C42E-D9AF-12153A74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3" y="1588168"/>
            <a:ext cx="9149156" cy="26447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/>
              <a:t>Any Questions?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8DFF79-735F-44E8-8B9C-D1F28BED7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600" y="4663440"/>
            <a:ext cx="1828800" cy="0"/>
          </a:xfrm>
          <a:prstGeom prst="line">
            <a:avLst/>
          </a:prstGeom>
          <a:ln w="15875">
            <a:solidFill>
              <a:schemeClr val="accent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697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1513</Words>
  <Application>Microsoft Office PowerPoint</Application>
  <PresentationFormat>Widescreen</PresentationFormat>
  <Paragraphs>198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Garamond</vt:lpstr>
      <vt:lpstr>Organic</vt:lpstr>
      <vt:lpstr>Chapter 14 – Understanding Individual Behavior</vt:lpstr>
      <vt:lpstr>Learning Objectives</vt:lpstr>
      <vt:lpstr>What is Individual Behavior?</vt:lpstr>
      <vt:lpstr>Factors Influencing Individual Behavior </vt:lpstr>
      <vt:lpstr>Perception</vt:lpstr>
      <vt:lpstr>Perceptual Biases</vt:lpstr>
      <vt:lpstr>PowerPoint Presentation</vt:lpstr>
      <vt:lpstr>Attribution Theory </vt:lpstr>
      <vt:lpstr>PowerPoint Presentation</vt:lpstr>
      <vt:lpstr>Personality</vt:lpstr>
      <vt:lpstr>PowerPoint Presentation</vt:lpstr>
      <vt:lpstr>PowerPoint Presentation</vt:lpstr>
      <vt:lpstr>PowerPoint Presentation</vt:lpstr>
      <vt:lpstr>Attitudes</vt:lpstr>
      <vt:lpstr>PowerPoint Presentation</vt:lpstr>
      <vt:lpstr>Job Satisfaction &amp; Trust </vt:lpstr>
      <vt:lpstr>Emotions &amp; Moods </vt:lpstr>
      <vt:lpstr>Emotional Intelligence (EI) </vt:lpstr>
      <vt:lpstr>PowerPoint Presentation</vt:lpstr>
      <vt:lpstr>Managing Self and Time </vt:lpstr>
      <vt:lpstr>Stress, Resilience &amp; Well-being</vt:lpstr>
      <vt:lpstr>Integrating Individual Behavior in Management </vt:lpstr>
      <vt:lpstr>Any 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Muhammad S.</dc:creator>
  <cp:lastModifiedBy>Ahmad, Muhammad S.</cp:lastModifiedBy>
  <cp:revision>57</cp:revision>
  <dcterms:created xsi:type="dcterms:W3CDTF">2025-09-05T00:29:44Z</dcterms:created>
  <dcterms:modified xsi:type="dcterms:W3CDTF">2025-11-07T02:53:24Z</dcterms:modified>
</cp:coreProperties>
</file>