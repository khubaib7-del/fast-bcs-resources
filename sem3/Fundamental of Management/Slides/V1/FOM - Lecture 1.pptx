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8" r:id="rId3"/>
    <p:sldId id="257" r:id="rId4"/>
    <p:sldId id="260" r:id="rId5"/>
    <p:sldId id="261" r:id="rId6"/>
    <p:sldId id="269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20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8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46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9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892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784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1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89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65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4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098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9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40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580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180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821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14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6063F9-B991-4581-B7B9-909F40D0607E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3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43A5E-934F-4FAB-A978-CB9FE7D922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Fundamentals of Management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821EF-8283-88B2-8A7B-7505893F02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Ms. Sana Ejaz</a:t>
            </a:r>
          </a:p>
        </p:txBody>
      </p:sp>
    </p:spTree>
    <p:extLst>
      <p:ext uri="{BB962C8B-B14F-4D97-AF65-F5344CB8AC3E}">
        <p14:creationId xmlns:p14="http://schemas.microsoft.com/office/powerpoint/2010/main" val="2250827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06B5-4AC4-C8C6-8AFB-779FD633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85159"/>
            <a:ext cx="9601196" cy="874642"/>
          </a:xfrm>
        </p:spPr>
        <p:txBody>
          <a:bodyPr/>
          <a:lstStyle/>
          <a:p>
            <a:r>
              <a:rPr lang="en-US" dirty="0"/>
              <a:t>Course Outline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3D5FAF1-D0C4-F854-57AE-4B77A466E4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977152"/>
              </p:ext>
            </p:extLst>
          </p:nvPr>
        </p:nvGraphicFramePr>
        <p:xfrm>
          <a:off x="1083366" y="1103242"/>
          <a:ext cx="9813232" cy="4848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13232">
                  <a:extLst>
                    <a:ext uri="{9D8B030D-6E8A-4147-A177-3AD203B41FA5}">
                      <a16:colId xmlns:a16="http://schemas.microsoft.com/office/drawing/2014/main" val="2606363344"/>
                    </a:ext>
                  </a:extLst>
                </a:gridCol>
              </a:tblGrid>
              <a:tr h="211846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Contents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912398"/>
                  </a:ext>
                </a:extLst>
              </a:tr>
              <a:tr h="681850"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Introduction to the course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Introduction to managers and management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Chapter: Managers and you in the workplace</a:t>
                      </a:r>
                    </a:p>
                    <a:p>
                      <a:pPr marL="0" marR="0" indent="0" algn="just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197500"/>
                  </a:ext>
                </a:extLst>
              </a:tr>
              <a:tr h="509481"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Making decisions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Chapter: Manager as Decision Maker</a:t>
                      </a:r>
                    </a:p>
                    <a:p>
                      <a:pPr marL="0" marR="0" indent="0" algn="just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975590"/>
                  </a:ext>
                </a:extLst>
              </a:tr>
              <a:tr h="391750"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Managing culture and environment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Chapter: Managing the external environment and the organization’s culture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508275"/>
                  </a:ext>
                </a:extLst>
              </a:tr>
              <a:tr h="1670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849645"/>
                  </a:ext>
                </a:extLst>
              </a:tr>
              <a:tr h="509481"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Organizational Structure and Design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Chapter: Designing organizational structure</a:t>
                      </a:r>
                    </a:p>
                    <a:p>
                      <a:pPr marL="0" marR="0" indent="0" algn="just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549069"/>
                  </a:ext>
                </a:extLst>
              </a:tr>
              <a:tr h="509481"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Creating and Managing teams 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Chapter: Creating and managing teams</a:t>
                      </a:r>
                    </a:p>
                    <a:p>
                      <a:pPr marL="0" marR="0" indent="0" algn="just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23408"/>
                  </a:ext>
                </a:extLst>
              </a:tr>
              <a:tr h="509481"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Understanding Individual Behavior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Chapter: Understanding and managing individual behavior</a:t>
                      </a:r>
                    </a:p>
                    <a:p>
                      <a:pPr marL="0" marR="0" indent="0" algn="just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574656"/>
                  </a:ext>
                </a:extLst>
              </a:tr>
              <a:tr h="509481"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Motivating Employees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Chapter: Motivating employees</a:t>
                      </a:r>
                    </a:p>
                    <a:p>
                      <a:pPr marL="0" marR="0" indent="0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816025"/>
                  </a:ext>
                </a:extLst>
              </a:tr>
              <a:tr h="509481"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Managers as Leaders</a:t>
                      </a:r>
                    </a:p>
                    <a:p>
                      <a:pPr marL="171450" marR="0" indent="-171450" algn="just">
                        <a:lnSpc>
                          <a:spcPct val="107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Chapter: Being an effective leader</a:t>
                      </a:r>
                    </a:p>
                    <a:p>
                      <a:pPr marL="0" marR="0" indent="0" algn="just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661414"/>
                  </a:ext>
                </a:extLst>
              </a:tr>
              <a:tr h="111418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7000"/>
                        </a:lnSpc>
                        <a:buFont typeface="Arial" panose="020B0604020202020204" pitchFamily="34" charset="0"/>
                        <a:buNone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09" marR="634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932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4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9F751D-8394-2090-4779-64A97F2FDD4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95400" y="1235559"/>
            <a:ext cx="9601200" cy="33178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u="heavy" dirty="0"/>
              <a:t>TEXTBOOK &amp; REFERENCE MATERIAL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heavy" dirty="0"/>
              <a:t>Textbook:</a:t>
            </a:r>
            <a:endParaRPr lang="en-US" dirty="0"/>
          </a:p>
          <a:p>
            <a:r>
              <a:rPr lang="en-US" dirty="0"/>
              <a:t>Robbins, S. P., Coulter, M.,&amp; Fernandez, A. (2020).</a:t>
            </a:r>
            <a:r>
              <a:rPr lang="en-US" i="1" dirty="0"/>
              <a:t>Management </a:t>
            </a:r>
            <a:r>
              <a:rPr lang="en-US" dirty="0"/>
              <a:t>(14</a:t>
            </a:r>
            <a:r>
              <a:rPr lang="en-US" baseline="30000" dirty="0"/>
              <a:t>th</a:t>
            </a:r>
            <a:r>
              <a:rPr lang="en-US" dirty="0"/>
              <a:t> edition). Pearson. </a:t>
            </a:r>
          </a:p>
          <a:p>
            <a:r>
              <a:rPr lang="en-US" dirty="0"/>
              <a:t>Robbins, S. P., &amp; Coulter, M.,(2018).</a:t>
            </a:r>
            <a:r>
              <a:rPr lang="en-US" i="1" dirty="0"/>
              <a:t>Management</a:t>
            </a:r>
            <a:r>
              <a:rPr lang="en-US" dirty="0"/>
              <a:t>(14</a:t>
            </a:r>
            <a:r>
              <a:rPr lang="en-US" baseline="30000" dirty="0"/>
              <a:t>th</a:t>
            </a:r>
            <a:r>
              <a:rPr lang="en-US" dirty="0"/>
              <a:t> edition). Pearson.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heavy" dirty="0"/>
              <a:t>Reference Books:</a:t>
            </a:r>
            <a:endParaRPr lang="en-US" dirty="0"/>
          </a:p>
          <a:p>
            <a:r>
              <a:rPr lang="en-US" dirty="0"/>
              <a:t>Robbins, S. P., DeCenzo, D. A., &amp;Coulter, M.(2013). </a:t>
            </a:r>
            <a:r>
              <a:rPr lang="en-US" i="1" dirty="0"/>
              <a:t>Managemen</a:t>
            </a:r>
            <a:r>
              <a:rPr lang="en-US" dirty="0"/>
              <a:t>t (7th edition). Pearson.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64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CB38-C37B-F8F2-B12C-391F8DCC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 1 – Managers and You in the Workplace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15455-BACE-D41B-DCB6-3E004A4E3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Introduction &amp; Learning Objectives</a:t>
            </a:r>
          </a:p>
          <a:p>
            <a:r>
              <a:rPr lang="en-US" dirty="0"/>
              <a:t>Define who managers are and where they work.</a:t>
            </a:r>
          </a:p>
          <a:p>
            <a:r>
              <a:rPr lang="en-US" dirty="0"/>
              <a:t>Understand why managers are vital to organizations.</a:t>
            </a:r>
          </a:p>
          <a:p>
            <a:r>
              <a:rPr lang="en-US" dirty="0"/>
              <a:t>Explore what managers do—functions, roles, skills.</a:t>
            </a:r>
          </a:p>
          <a:p>
            <a:r>
              <a:rPr lang="en-US" dirty="0"/>
              <a:t>Examine factors reshaping the manager’s job.</a:t>
            </a:r>
          </a:p>
          <a:p>
            <a:r>
              <a:rPr lang="en-US" dirty="0"/>
              <a:t>Factors that are reshaping and redefining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76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CBF927-3967-7DE7-0379-395284AD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Are Managers?</a:t>
            </a:r>
            <a:br>
              <a:rPr lang="en-US" dirty="0"/>
            </a:br>
            <a:r>
              <a:rPr lang="en-US" dirty="0"/>
              <a:t>Where do they Work?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8CBE73-5ABF-A347-D5AC-A9498DB2C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Manager: </a:t>
            </a:r>
            <a:r>
              <a:rPr lang="en-US" dirty="0"/>
              <a:t>A manager coordinates and oversees the work of others to achieve organizational goals. </a:t>
            </a:r>
          </a:p>
          <a:p>
            <a:r>
              <a:rPr lang="en-US" b="1" dirty="0"/>
              <a:t>Diversity in Workplace: </a:t>
            </a:r>
          </a:p>
          <a:p>
            <a:pPr lvl="1"/>
            <a:r>
              <a:rPr lang="en-US" dirty="0"/>
              <a:t>Managers span all levels—top, middle, first-line.</a:t>
            </a:r>
          </a:p>
          <a:p>
            <a:pPr lvl="1"/>
            <a:r>
              <a:rPr lang="en-US" dirty="0"/>
              <a:t>Found in all sectors: corporations, nonprofits, hospitals, schools, campaigns, etc.</a:t>
            </a:r>
          </a:p>
        </p:txBody>
      </p:sp>
    </p:spTree>
    <p:extLst>
      <p:ext uri="{BB962C8B-B14F-4D97-AF65-F5344CB8AC3E}">
        <p14:creationId xmlns:p14="http://schemas.microsoft.com/office/powerpoint/2010/main" val="85772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46F-E824-DD60-E651-BD52942F9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Organization?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1DD9-C877-DD1A-4D1F-639BD4368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Organization:</a:t>
            </a:r>
            <a:r>
              <a:rPr lang="en-US" dirty="0"/>
              <a:t> An organization is a deliberate arrangement of people with structure, purpose to accomplish goals. </a:t>
            </a:r>
          </a:p>
          <a:p>
            <a:r>
              <a:rPr lang="en-US" b="1" dirty="0"/>
              <a:t>Three characteristics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Purpose (goal/objective)</a:t>
            </a:r>
          </a:p>
          <a:p>
            <a:pPr lvl="1"/>
            <a:r>
              <a:rPr lang="en-US" dirty="0"/>
              <a:t>People (members/employees)</a:t>
            </a:r>
          </a:p>
          <a:p>
            <a:pPr lvl="1"/>
            <a:r>
              <a:rPr lang="en-US" dirty="0"/>
              <a:t>Structure (rules, hierarchy).</a:t>
            </a:r>
          </a:p>
        </p:txBody>
      </p:sp>
    </p:spTree>
    <p:extLst>
      <p:ext uri="{BB962C8B-B14F-4D97-AF65-F5344CB8AC3E}">
        <p14:creationId xmlns:p14="http://schemas.microsoft.com/office/powerpoint/2010/main" val="4132737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D042C-A01B-EC73-FAA6-B7507F3C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and Value of Managers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C0E2C-9E88-47E1-DF26-51B407A40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today’s fast-changing and complex world, strong managerial skills are vital for navigating uncertainty.</a:t>
            </a:r>
          </a:p>
          <a:p>
            <a:r>
              <a:rPr lang="en-US" dirty="0"/>
              <a:t>Managers play a key role in achieving goals by organizing workflows and maintaining productivity.</a:t>
            </a:r>
          </a:p>
          <a:p>
            <a:r>
              <a:rPr lang="en-US" dirty="0"/>
              <a:t>Positive manager-employee relationships significantly boost performance, loyalty, and retention—leading to higher engagement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536856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48B4-4255-D861-2FC6-3342105C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Do Managers Do?</a:t>
            </a:r>
            <a:br>
              <a:rPr lang="en-US" b="1" dirty="0"/>
            </a:br>
            <a:r>
              <a:rPr lang="en-US" sz="4000" b="1" dirty="0"/>
              <a:t>(Functions of Management)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85AD5-02AE-6386-7C71-24C65CC7B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Definition of Management</a:t>
            </a:r>
            <a:r>
              <a:rPr lang="en-US" dirty="0"/>
              <a:t>: Coordinating work activities of others to achieve efficient (doing things right) and effective (doing the right things) outcomes. </a:t>
            </a:r>
          </a:p>
          <a:p>
            <a:r>
              <a:rPr lang="en-US" b="1" dirty="0"/>
              <a:t>Functions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Planning</a:t>
            </a:r>
            <a:r>
              <a:rPr lang="en-US" dirty="0"/>
              <a:t>: Setting goals, strategies, and plans.</a:t>
            </a:r>
          </a:p>
          <a:p>
            <a:pPr lvl="1"/>
            <a:r>
              <a:rPr lang="en-US" b="1" dirty="0"/>
              <a:t>Organizing</a:t>
            </a:r>
            <a:r>
              <a:rPr lang="en-US" dirty="0"/>
              <a:t>: Structuring tasks and resources.</a:t>
            </a:r>
          </a:p>
          <a:p>
            <a:pPr lvl="1"/>
            <a:r>
              <a:rPr lang="en-US" b="1" dirty="0"/>
              <a:t>Leading</a:t>
            </a:r>
            <a:r>
              <a:rPr lang="en-US" dirty="0"/>
              <a:t>: Motivating and engaging people.</a:t>
            </a:r>
          </a:p>
          <a:p>
            <a:pPr lvl="1"/>
            <a:r>
              <a:rPr lang="en-US" b="1" dirty="0"/>
              <a:t>Controlling</a:t>
            </a:r>
            <a:r>
              <a:rPr lang="en-US" dirty="0"/>
              <a:t>: Monitoring progress and making corrections.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145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80AF6-73EA-A274-5505-CB4B62D5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Do Managers Do?</a:t>
            </a:r>
            <a:br>
              <a:rPr lang="en-US" b="1" dirty="0"/>
            </a:br>
            <a:r>
              <a:rPr lang="en-US" b="1" dirty="0"/>
              <a:t>(Functions of Management)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E9525-6AA3-F668-EFD1-D91547DED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Effectiveness </a:t>
            </a:r>
            <a:r>
              <a:rPr lang="en-US" dirty="0"/>
              <a:t>refers to the </a:t>
            </a:r>
            <a:r>
              <a:rPr lang="en-US" b="1" dirty="0"/>
              <a:t>degree to which objectives are achieved</a:t>
            </a:r>
            <a:r>
              <a:rPr lang="en-US" dirty="0"/>
              <a:t> and the extent to which targeted problems are solved.</a:t>
            </a:r>
          </a:p>
          <a:p>
            <a:r>
              <a:rPr lang="en-US" dirty="0"/>
              <a:t>Effectiveness is about </a:t>
            </a:r>
            <a:r>
              <a:rPr lang="en-US" b="1" dirty="0"/>
              <a:t>doing the right things</a:t>
            </a:r>
            <a:r>
              <a:rPr lang="en-US" dirty="0"/>
              <a:t> — choosing the best goals and achieving them.</a:t>
            </a:r>
          </a:p>
          <a:p>
            <a:r>
              <a:rPr lang="en-US" b="1" dirty="0"/>
              <a:t>Efficiency</a:t>
            </a:r>
            <a:r>
              <a:rPr lang="en-US" dirty="0"/>
              <a:t> is about using </a:t>
            </a:r>
            <a:r>
              <a:rPr lang="en-US" b="1" dirty="0"/>
              <a:t>the least amount of resources</a:t>
            </a:r>
            <a:r>
              <a:rPr lang="en-US" dirty="0"/>
              <a:t> to produce the desired results. It is </a:t>
            </a:r>
            <a:r>
              <a:rPr lang="en-US" b="1" dirty="0"/>
              <a:t>doing things right</a:t>
            </a:r>
            <a:r>
              <a:rPr lang="en-US" dirty="0"/>
              <a:t> — minimizing waste of time, money, or effort.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71325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A1FE-4735-52C7-0FA2-BFCF3C8F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Managerial Roles </a:t>
            </a:r>
            <a:br>
              <a:rPr lang="en-US" b="1" dirty="0"/>
            </a:br>
            <a:r>
              <a:rPr lang="en-US" sz="3600" b="1" dirty="0"/>
              <a:t>(Henry Mintzberg)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37912-DE15-FD67-1DDA-DB8D03EC9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Interpersonal</a:t>
            </a:r>
            <a:r>
              <a:rPr lang="en-US" dirty="0"/>
              <a:t>: Figurehead, Leader, Liaison.</a:t>
            </a:r>
          </a:p>
          <a:p>
            <a:pPr lvl="1"/>
            <a:r>
              <a:rPr lang="en-US" dirty="0"/>
              <a:t>Interact with teams, customers, and stakeholders, influencing and motivating people.</a:t>
            </a:r>
          </a:p>
          <a:p>
            <a:r>
              <a:rPr lang="en-US" b="1" dirty="0"/>
              <a:t>Informational</a:t>
            </a:r>
            <a:r>
              <a:rPr lang="en-US" dirty="0"/>
              <a:t>: Monitor, Disseminator, Spokesperson.</a:t>
            </a:r>
          </a:p>
          <a:p>
            <a:pPr lvl="1"/>
            <a:r>
              <a:rPr lang="en-US" dirty="0"/>
              <a:t>Managers are </a:t>
            </a:r>
            <a:r>
              <a:rPr lang="en-US" b="1" dirty="0"/>
              <a:t>information hubs</a:t>
            </a:r>
            <a:r>
              <a:rPr lang="en-US" dirty="0"/>
              <a:t>—they gather, share, and analyze data. This role is crucial for decision-making and organizational alignment.</a:t>
            </a:r>
          </a:p>
          <a:p>
            <a:r>
              <a:rPr lang="en-US" b="1" dirty="0"/>
              <a:t>Decisional</a:t>
            </a:r>
            <a:r>
              <a:rPr lang="en-US" dirty="0"/>
              <a:t>: Entrepreneur, Disturbance Handler, Resource Allocator, Negotiator.</a:t>
            </a:r>
          </a:p>
          <a:p>
            <a:pPr lvl="1"/>
            <a:r>
              <a:rPr lang="en-US" dirty="0"/>
              <a:t>Make important decisions in </a:t>
            </a:r>
            <a:r>
              <a:rPr lang="en-US" b="1" dirty="0"/>
              <a:t>resource allocation</a:t>
            </a:r>
            <a:r>
              <a:rPr lang="en-US" dirty="0"/>
              <a:t>, </a:t>
            </a:r>
            <a:r>
              <a:rPr lang="en-US" b="1" dirty="0"/>
              <a:t>problem-solving</a:t>
            </a:r>
            <a:r>
              <a:rPr lang="en-US" dirty="0"/>
              <a:t>, and </a:t>
            </a:r>
            <a:r>
              <a:rPr lang="en-US" b="1" dirty="0"/>
              <a:t>negotiating</a:t>
            </a:r>
            <a:r>
              <a:rPr lang="en-US" dirty="0"/>
              <a:t> for the organization's benefit.</a:t>
            </a:r>
          </a:p>
          <a:p>
            <a:pPr marL="0" indent="0">
              <a:buNone/>
            </a:pPr>
            <a:r>
              <a:rPr lang="en-US" dirty="0"/>
              <a:t>These roles involve both reflection and action and vary across managerial levels.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81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696E-05B7-1820-8DD2-4E269715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0569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Managerial Skills (Katz)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B3AC9-E39A-8A68-7EFD-BE912A18D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Technical Skills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Proficiency in specific tasks or tools.</a:t>
            </a:r>
          </a:p>
          <a:p>
            <a:pPr lvl="1"/>
            <a:r>
              <a:rPr lang="en-US" dirty="0"/>
              <a:t>Specialized, job-related knowledge and tools</a:t>
            </a:r>
          </a:p>
          <a:p>
            <a:r>
              <a:rPr lang="en-US" b="1" dirty="0"/>
              <a:t>Human Skills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ability to interact well, collaborate, motivate, and communicate</a:t>
            </a:r>
          </a:p>
          <a:p>
            <a:r>
              <a:rPr lang="en-US" b="1" dirty="0"/>
              <a:t>Conceptual Skills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capacity to understand complex systems and abstract thinking.</a:t>
            </a:r>
          </a:p>
          <a:p>
            <a:pPr lvl="1"/>
            <a:r>
              <a:rPr lang="en-US" dirty="0"/>
              <a:t>Strategic thinking and seeing the “big picture”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977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3313E-ECE6-94A3-E253-15370CC9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the Manager’s Job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B33F5-EE86-13AA-5157-4086E0F21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Modern Challenges:</a:t>
            </a:r>
            <a:endParaRPr lang="en-US" dirty="0"/>
          </a:p>
          <a:p>
            <a:pPr lvl="1"/>
            <a:r>
              <a:rPr lang="en-US" dirty="0"/>
              <a:t>Globalization</a:t>
            </a:r>
          </a:p>
          <a:p>
            <a:pPr lvl="1"/>
            <a:r>
              <a:rPr lang="en-US" dirty="0"/>
              <a:t>Digital technology and AI</a:t>
            </a:r>
          </a:p>
          <a:p>
            <a:pPr lvl="1"/>
            <a:r>
              <a:rPr lang="en-US" dirty="0"/>
              <a:t>Remote/virtual teams</a:t>
            </a:r>
          </a:p>
          <a:p>
            <a:pPr lvl="1"/>
            <a:r>
              <a:rPr lang="en-US" dirty="0"/>
              <a:t>Ethics and sustainability</a:t>
            </a:r>
          </a:p>
          <a:p>
            <a:pPr lvl="1"/>
            <a:r>
              <a:rPr lang="en-US" dirty="0"/>
              <a:t>Diversity and inclusion</a:t>
            </a:r>
          </a:p>
          <a:p>
            <a:pPr lvl="1"/>
            <a:r>
              <a:rPr lang="en-US" dirty="0"/>
              <a:t>Crisis management (e.g., pandemics, cyber threats)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18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9E66-00D8-23AE-1861-D0B5704D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of Studying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EB79-5EFC-595B-6F1A-C4C04C738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Universality of Management</a:t>
            </a:r>
            <a:r>
              <a:rPr lang="en-US" dirty="0"/>
              <a:t>: Needed across all organization types, sizes, levels, functions, and geographies. Applicable in every career and industry.</a:t>
            </a:r>
          </a:p>
          <a:p>
            <a:r>
              <a:rPr lang="en-US" b="1" dirty="0"/>
              <a:t>Reality of Work</a:t>
            </a:r>
            <a:r>
              <a:rPr lang="en-US" dirty="0"/>
              <a:t>: Everyone will either manage or be managed.</a:t>
            </a:r>
          </a:p>
          <a:p>
            <a:r>
              <a:rPr lang="en-US" b="1" dirty="0"/>
              <a:t>Reward: </a:t>
            </a:r>
            <a:r>
              <a:rPr lang="en-US" dirty="0"/>
              <a:t>Develops leadership, problem-solving, and decision-making skills.</a:t>
            </a:r>
          </a:p>
          <a:p>
            <a:r>
              <a:rPr lang="en-US" b="1" dirty="0"/>
              <a:t>Challenges:</a:t>
            </a:r>
            <a:r>
              <a:rPr lang="en-US" dirty="0"/>
              <a:t> Prepares students for entrepreneurship, supervision, or executive roles. Heavy workloads, dealing with diverse challenges, limited resources, etc. </a:t>
            </a:r>
          </a:p>
        </p:txBody>
      </p:sp>
    </p:spTree>
    <p:extLst>
      <p:ext uri="{BB962C8B-B14F-4D97-AF65-F5344CB8AC3E}">
        <p14:creationId xmlns:p14="http://schemas.microsoft.com/office/powerpoint/2010/main" val="37256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C47CF2-6ABC-42D6-D9AB-924A43D544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5400" y="2294628"/>
            <a:ext cx="9601200" cy="1303337"/>
          </a:xfrm>
        </p:spPr>
        <p:txBody>
          <a:bodyPr/>
          <a:lstStyle/>
          <a:p>
            <a:r>
              <a:rPr lang="en-US"/>
              <a:t>QUESTIONS???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2512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243</TotalTime>
  <Words>813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Garamond</vt:lpstr>
      <vt:lpstr>Organic</vt:lpstr>
      <vt:lpstr>Fundamentals of Management </vt:lpstr>
      <vt:lpstr>Course Outline</vt:lpstr>
      <vt:lpstr>PowerPoint Presentation</vt:lpstr>
      <vt:lpstr>Chapter 1 – Managers and You in the Workplace</vt:lpstr>
      <vt:lpstr>Who Are Managers? Where do they Work?</vt:lpstr>
      <vt:lpstr>What is an Organization?</vt:lpstr>
      <vt:lpstr>The Role and Value of Managers</vt:lpstr>
      <vt:lpstr>What Do Managers Do? (Functions of Management)</vt:lpstr>
      <vt:lpstr>What Do Managers Do? (Functions of Management)</vt:lpstr>
      <vt:lpstr> Managerial Roles  (Henry Mintzberg) </vt:lpstr>
      <vt:lpstr>Managerial Skills (Katz) </vt:lpstr>
      <vt:lpstr>Changes in the Manager’s Job</vt:lpstr>
      <vt:lpstr>Value of Studying Management</vt:lpstr>
      <vt:lpstr>QUESTIONS???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Ahsan Saeed</dc:creator>
  <cp:lastModifiedBy>Ahmad, Muhammad S.</cp:lastModifiedBy>
  <cp:revision>16</cp:revision>
  <dcterms:created xsi:type="dcterms:W3CDTF">2025-08-28T14:26:11Z</dcterms:created>
  <dcterms:modified xsi:type="dcterms:W3CDTF">2025-09-10T05:04:24Z</dcterms:modified>
</cp:coreProperties>
</file>