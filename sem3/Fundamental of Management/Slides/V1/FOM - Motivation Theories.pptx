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B246B-BB6C-45E9-997D-E7F5F6D6C55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0B238-F9C6-4C0E-BFA6-7E5C9CC97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9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8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5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3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41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6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7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9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063F9-B991-4581-B7B9-909F40D06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3181-3E34-B9EA-DDA7-79ABDE161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Chapter 16 – 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 Theories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F330D-4126-FC3E-74C8-9AC277782F64}"/>
              </a:ext>
            </a:extLst>
          </p:cNvPr>
          <p:cNvSpPr txBox="1"/>
          <p:nvPr/>
        </p:nvSpPr>
        <p:spPr>
          <a:xfrm>
            <a:off x="4435862" y="390444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Maslow, Theory X, and Theory 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66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0236-C798-5E5D-3775-6D72231BE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Learning 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E8973-3737-AC46-E471-4FEAAD029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</a:t>
            </a:r>
            <a:r>
              <a:rPr lang="en-US" b="1" dirty="0"/>
              <a:t>Maslow’s hierarchy of needs</a:t>
            </a:r>
            <a:endParaRPr lang="en-US" dirty="0"/>
          </a:p>
          <a:p>
            <a:r>
              <a:rPr lang="en-US" dirty="0"/>
              <a:t>Understand how managers interpret employee needs</a:t>
            </a:r>
          </a:p>
          <a:p>
            <a:r>
              <a:rPr lang="en-US" dirty="0"/>
              <a:t>Differentiate </a:t>
            </a:r>
            <a:r>
              <a:rPr lang="en-US" b="1" dirty="0"/>
              <a:t>Theory X vs Theory Y assumptions</a:t>
            </a:r>
            <a:endParaRPr lang="en-US" dirty="0"/>
          </a:p>
          <a:p>
            <a:r>
              <a:rPr lang="en-US" dirty="0"/>
              <a:t>Connect Maslow’s theory to McGregor’s approach</a:t>
            </a:r>
          </a:p>
          <a:p>
            <a:r>
              <a:rPr lang="en-US" dirty="0"/>
              <a:t>Identify how each theory affects managerial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9661-4D16-4B9E-268E-4A628578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Importance of Motivation in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C17C-151C-8E63-CA5C-5025C408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influences:</a:t>
            </a:r>
          </a:p>
          <a:p>
            <a:pPr lvl="1"/>
            <a:r>
              <a:rPr lang="en-US" dirty="0"/>
              <a:t>Productivity</a:t>
            </a:r>
          </a:p>
          <a:p>
            <a:pPr lvl="1"/>
            <a:r>
              <a:rPr lang="en-US" dirty="0"/>
              <a:t>Job satisfaction</a:t>
            </a:r>
          </a:p>
          <a:p>
            <a:pPr lvl="1"/>
            <a:r>
              <a:rPr lang="en-US" dirty="0"/>
              <a:t>Employee retention</a:t>
            </a:r>
          </a:p>
          <a:p>
            <a:pPr lvl="1"/>
            <a:r>
              <a:rPr lang="en-US" dirty="0"/>
              <a:t>Organizational culture</a:t>
            </a:r>
          </a:p>
          <a:p>
            <a:r>
              <a:rPr lang="en-US" dirty="0"/>
              <a:t>Understanding motivation allows managers to </a:t>
            </a:r>
            <a:r>
              <a:rPr lang="en-US" b="1" dirty="0"/>
              <a:t>design better work environments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1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079D-2827-C871-B623-4218A3BE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Importance of Motivation in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9943-87ED-D020-ED6E-1C411F7C3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1. Drives Productivity</a:t>
            </a:r>
            <a:endParaRPr lang="en-US" dirty="0"/>
          </a:p>
          <a:p>
            <a:r>
              <a:rPr lang="en-US" dirty="0"/>
              <a:t>Motivated employees put in more effort and perform tasks more efficiently.</a:t>
            </a:r>
          </a:p>
          <a:p>
            <a:r>
              <a:rPr lang="en-US" dirty="0"/>
              <a:t>Higher motivation leads to improved quality of work and faster output.</a:t>
            </a:r>
          </a:p>
          <a:p>
            <a:pPr marL="0" indent="0">
              <a:buNone/>
            </a:pPr>
            <a:r>
              <a:rPr lang="en-US" b="1" dirty="0"/>
              <a:t>2. Enhances Job Satisfaction</a:t>
            </a:r>
            <a:endParaRPr lang="en-US" dirty="0"/>
          </a:p>
          <a:p>
            <a:r>
              <a:rPr lang="en-US" dirty="0"/>
              <a:t>When employees feel motivated, they enjoy their work more.</a:t>
            </a:r>
          </a:p>
          <a:p>
            <a:r>
              <a:rPr lang="en-US" dirty="0"/>
              <a:t>This creates a positive emotional connection to their roles and responsibilities.</a:t>
            </a:r>
          </a:p>
          <a:p>
            <a:pPr marL="0" indent="0">
              <a:buNone/>
            </a:pPr>
            <a:r>
              <a:rPr lang="en-US" b="1" dirty="0"/>
              <a:t>3. Improves Employee Retention</a:t>
            </a:r>
            <a:endParaRPr lang="en-US" dirty="0"/>
          </a:p>
          <a:p>
            <a:r>
              <a:rPr lang="en-US" dirty="0"/>
              <a:t>Motivated employees are less likely to leave the organization.</a:t>
            </a:r>
          </a:p>
          <a:p>
            <a:r>
              <a:rPr lang="en-US" dirty="0"/>
              <a:t>Reduces turnover costs and preserves institutional knowledge.</a:t>
            </a:r>
          </a:p>
          <a:p>
            <a:pPr marL="0" indent="0">
              <a:buNone/>
            </a:pPr>
            <a:r>
              <a:rPr lang="en-US" b="1" dirty="0"/>
              <a:t>4. Strengthens Organizational Culture</a:t>
            </a:r>
            <a:endParaRPr lang="en-US" dirty="0"/>
          </a:p>
          <a:p>
            <a:r>
              <a:rPr lang="en-US" dirty="0"/>
              <a:t>Motivation fosters a healthy, supportive, and high-energy work environment.</a:t>
            </a:r>
          </a:p>
          <a:p>
            <a:r>
              <a:rPr lang="en-US" dirty="0"/>
              <a:t>Encourages collaboration, mutual respect, and shared purpose.</a:t>
            </a:r>
          </a:p>
        </p:txBody>
      </p:sp>
    </p:spTree>
    <p:extLst>
      <p:ext uri="{BB962C8B-B14F-4D97-AF65-F5344CB8AC3E}">
        <p14:creationId xmlns:p14="http://schemas.microsoft.com/office/powerpoint/2010/main" val="59121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CC4C-AEA7-6096-A75C-2D2946EB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MASLOW’S HIERARCHY OF NEEDS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4D1D-A7CE-FEB4-E922-787602294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Maslow’s Hierarchy Overview</a:t>
            </a:r>
          </a:p>
          <a:p>
            <a:r>
              <a:rPr lang="en-US" dirty="0"/>
              <a:t>Maslow proposed that human needs develop in a </a:t>
            </a:r>
            <a:r>
              <a:rPr lang="en-US" b="1" dirty="0"/>
              <a:t>hierarchical order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Physiological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Safety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Social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Esteem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Self-actualization</a:t>
            </a:r>
          </a:p>
          <a:p>
            <a:r>
              <a:rPr lang="en-US" dirty="0"/>
              <a:t>People are motivated by </a:t>
            </a:r>
            <a:r>
              <a:rPr lang="en-US" b="1" dirty="0"/>
              <a:t>unsatisfied needs</a:t>
            </a:r>
            <a:r>
              <a:rPr lang="en-US" dirty="0"/>
              <a:t>, starting from the lowest level upward.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18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61D5-DCD3-E531-4667-B0176854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Physiological Needs (Level 1)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47EF9-7667-51F2-BBFF-913635E7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survival needs</a:t>
            </a:r>
          </a:p>
          <a:p>
            <a:r>
              <a:rPr lang="en-US" dirty="0"/>
              <a:t>Examples: food, water, rest, pay that supports living</a:t>
            </a:r>
          </a:p>
          <a:p>
            <a:r>
              <a:rPr lang="en-US" dirty="0"/>
              <a:t>Employers address this through:</a:t>
            </a:r>
          </a:p>
          <a:p>
            <a:pPr lvl="1"/>
            <a:r>
              <a:rPr lang="en-US" dirty="0"/>
              <a:t>Fair wages</a:t>
            </a:r>
          </a:p>
          <a:p>
            <a:pPr lvl="1"/>
            <a:r>
              <a:rPr lang="en-US" dirty="0"/>
              <a:t>Comfortable work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2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F15E-9D44-3FB4-68A0-B812B729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Safety Needs (Level 2)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A07E-B68B-8A0E-3CF3-9413DD5B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and protection</a:t>
            </a:r>
          </a:p>
          <a:p>
            <a:r>
              <a:rPr lang="en-US" dirty="0"/>
              <a:t>Examples: job stability, safe workplace, predictable environment</a:t>
            </a:r>
          </a:p>
          <a:p>
            <a:r>
              <a:rPr lang="en-US" dirty="0"/>
              <a:t>Employers address this through:</a:t>
            </a:r>
          </a:p>
          <a:p>
            <a:pPr lvl="1"/>
            <a:r>
              <a:rPr lang="en-US" dirty="0"/>
              <a:t>Job security</a:t>
            </a:r>
          </a:p>
          <a:p>
            <a:pPr lvl="1"/>
            <a:r>
              <a:rPr lang="en-US" dirty="0"/>
              <a:t>Health &amp; safety programs</a:t>
            </a:r>
          </a:p>
          <a:p>
            <a:pPr lvl="1"/>
            <a:r>
              <a:rPr lang="en-US" dirty="0"/>
              <a:t>Insurance and 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2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8C8A-7855-33B9-DE5B-ED3AFF53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Social Needs (Level 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0F920-D6DB-AD81-E943-0557B66E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Sense of belonging and relationships</a:t>
            </a:r>
          </a:p>
          <a:p>
            <a:r>
              <a:rPr lang="en-US" dirty="0"/>
              <a:t>Examples: teamwork, friendships, collaboration</a:t>
            </a:r>
          </a:p>
          <a:p>
            <a:r>
              <a:rPr lang="en-US" dirty="0"/>
              <a:t>Employers address this by:</a:t>
            </a:r>
          </a:p>
          <a:p>
            <a:pPr lvl="1"/>
            <a:r>
              <a:rPr lang="en-US" dirty="0"/>
              <a:t>Encouraging team-building</a:t>
            </a:r>
          </a:p>
          <a:p>
            <a:pPr lvl="1"/>
            <a:r>
              <a:rPr lang="en-US" dirty="0"/>
              <a:t>Supportive supervision</a:t>
            </a:r>
          </a:p>
          <a:p>
            <a:pPr lvl="1"/>
            <a:r>
              <a:rPr lang="en-US" dirty="0"/>
              <a:t>Positive organizational culture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A7A4-E982-BE34-5739-ED5D5CB7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Esteem Needs (Level 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3F7A8-7B35-586E-29B9-3E82BF96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Respect, recognition, achievement</a:t>
            </a:r>
          </a:p>
          <a:p>
            <a:r>
              <a:rPr lang="en-US" dirty="0"/>
              <a:t>Examples: promotions, awards, meaningful responsibilities</a:t>
            </a:r>
          </a:p>
          <a:p>
            <a:r>
              <a:rPr lang="en-US" dirty="0"/>
              <a:t>Employers support this by:</a:t>
            </a:r>
          </a:p>
          <a:p>
            <a:pPr lvl="1"/>
            <a:r>
              <a:rPr lang="en-US" dirty="0"/>
              <a:t>Skill development</a:t>
            </a:r>
          </a:p>
          <a:p>
            <a:pPr lvl="1"/>
            <a:r>
              <a:rPr lang="en-US" dirty="0"/>
              <a:t>Recognition programs</a:t>
            </a:r>
          </a:p>
          <a:p>
            <a:pPr lvl="1"/>
            <a:r>
              <a:rPr lang="en-US" dirty="0"/>
              <a:t>Performance rewards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2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7B69-BB4C-3122-05A0-107AA132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Self-Actualization (Level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4B32-52A8-26FF-8E43-C59F65EA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Reaching full potential</a:t>
            </a:r>
          </a:p>
          <a:p>
            <a:r>
              <a:rPr lang="en-US" dirty="0"/>
              <a:t>Creativity, challenge, personal growth</a:t>
            </a:r>
          </a:p>
          <a:p>
            <a:r>
              <a:rPr lang="en-US" dirty="0"/>
              <a:t>Employers promote this through:</a:t>
            </a:r>
          </a:p>
          <a:p>
            <a:pPr lvl="1"/>
            <a:r>
              <a:rPr lang="en-US" dirty="0"/>
              <a:t>Autonomy</a:t>
            </a:r>
          </a:p>
          <a:p>
            <a:pPr lvl="1"/>
            <a:r>
              <a:rPr lang="en-US" dirty="0"/>
              <a:t>Opportunities to innovate</a:t>
            </a:r>
          </a:p>
          <a:p>
            <a:pPr lvl="1"/>
            <a:r>
              <a:rPr lang="en-US" dirty="0"/>
              <a:t>Career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1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64018B-47EC-C483-DCF5-A3EADB6C9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723053"/>
              </p:ext>
            </p:extLst>
          </p:nvPr>
        </p:nvGraphicFramePr>
        <p:xfrm>
          <a:off x="1133780" y="1380835"/>
          <a:ext cx="9905529" cy="4896735"/>
        </p:xfrm>
        <a:graphic>
          <a:graphicData uri="http://schemas.openxmlformats.org/drawingml/2006/table">
            <a:tbl>
              <a:tblPr/>
              <a:tblGrid>
                <a:gridCol w="1792746">
                  <a:extLst>
                    <a:ext uri="{9D8B030D-6E8A-4147-A177-3AD203B41FA5}">
                      <a16:colId xmlns:a16="http://schemas.microsoft.com/office/drawing/2014/main" val="2817665832"/>
                    </a:ext>
                  </a:extLst>
                </a:gridCol>
                <a:gridCol w="3110818">
                  <a:extLst>
                    <a:ext uri="{9D8B030D-6E8A-4147-A177-3AD203B41FA5}">
                      <a16:colId xmlns:a16="http://schemas.microsoft.com/office/drawing/2014/main" val="625840529"/>
                    </a:ext>
                  </a:extLst>
                </a:gridCol>
                <a:gridCol w="5001965">
                  <a:extLst>
                    <a:ext uri="{9D8B030D-6E8A-4147-A177-3AD203B41FA5}">
                      <a16:colId xmlns:a16="http://schemas.microsoft.com/office/drawing/2014/main" val="4099498057"/>
                    </a:ext>
                  </a:extLst>
                </a:gridCol>
              </a:tblGrid>
              <a:tr h="34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Level</a:t>
                      </a:r>
                      <a:endParaRPr lang="en-US" sz="16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Definition</a:t>
                      </a:r>
                      <a:endParaRPr lang="en-US" sz="16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 Examples</a:t>
                      </a:r>
                      <a:endParaRPr lang="en-US" sz="1600" dirty="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06554"/>
                  </a:ext>
                </a:extLst>
              </a:tr>
              <a:tr h="806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1. Physiological Needs</a:t>
                      </a:r>
                      <a:endParaRPr lang="en-US" sz="15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Basic biological requirements for human survival.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Fair wages to afford food &amp; shelter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Reasonable working hours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Comfortable work environment (lighting, temperature)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522079"/>
                  </a:ext>
                </a:extLst>
              </a:tr>
              <a:tr h="577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2. Safety Needs</a:t>
                      </a:r>
                      <a:endParaRPr lang="en-US" sz="15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Need for security, protection, and stability.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Job security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Safe working conditions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Health insurance &amp; benefits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Clear policies and procedures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786099"/>
                  </a:ext>
                </a:extLst>
              </a:tr>
              <a:tr h="806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3. Social Needs</a:t>
                      </a:r>
                      <a:endParaRPr lang="en-US" sz="15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Need for belonging, relationships, and interaction.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Teamwork and collaboration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Friendly organizational culture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Social events and group activities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Supportive supervisors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354591"/>
                  </a:ext>
                </a:extLst>
              </a:tr>
              <a:tr h="806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4. Esteem Needs</a:t>
                      </a:r>
                      <a:endParaRPr lang="en-US" sz="15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Need for respect, recognition, status, and achievement.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Awards and recognition programs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Promotions and career progression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Meaningful responsibilities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Performance feedback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838266"/>
                  </a:ext>
                </a:extLst>
              </a:tr>
              <a:tr h="806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5. Self-Actualization Needs</a:t>
                      </a:r>
                      <a:endParaRPr lang="en-US" sz="1500"/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Reaching full potential; personal growth and fulfillment.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• Autonomy and freedom in tasks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Opportunities to innovate 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• Professional development and learning</a:t>
                      </a:r>
                    </a:p>
                  </a:txBody>
                  <a:tcPr marL="63981" marR="63981" marT="31990" marB="31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07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575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134E-4335-DBB0-C3BC-908AFA21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SECTION 2 — THEORY X AND THEORY 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0366C-9598-B429-91C0-4F691C7F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Introduction to McGregor’s Theory X and Y</a:t>
            </a:r>
          </a:p>
          <a:p>
            <a:r>
              <a:rPr lang="en-US" dirty="0"/>
              <a:t>McGregor proposed that managers hold two broad assumptions about employees:</a:t>
            </a:r>
          </a:p>
          <a:p>
            <a:r>
              <a:rPr lang="en-US" b="1" dirty="0"/>
              <a:t>Theory X</a:t>
            </a:r>
            <a:r>
              <a:rPr lang="en-US" dirty="0"/>
              <a:t> = Negative, controlling view</a:t>
            </a:r>
          </a:p>
          <a:p>
            <a:r>
              <a:rPr lang="en-US" b="1" dirty="0"/>
              <a:t>Theory Y</a:t>
            </a:r>
            <a:r>
              <a:rPr lang="en-US" dirty="0"/>
              <a:t> = Positive, empowering view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These assumptions strongly shape management style and workplace climate.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26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1230-45C8-7078-FB3B-6B4D0DFF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Theory X: Basic Assumptions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A8516-6278-88F3-E851-4D83C0DD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 X</a:t>
            </a:r>
            <a:r>
              <a:rPr lang="en-US" dirty="0"/>
              <a:t> reflects a </a:t>
            </a:r>
            <a:r>
              <a:rPr lang="en-US" b="1" dirty="0"/>
              <a:t>controlling, authoritative approach</a:t>
            </a:r>
            <a:r>
              <a:rPr lang="en-US" dirty="0"/>
              <a:t> to management. It is based on the assumption that employees:</a:t>
            </a:r>
          </a:p>
          <a:p>
            <a:r>
              <a:rPr lang="en-US" dirty="0"/>
              <a:t>Dislike work</a:t>
            </a:r>
          </a:p>
          <a:p>
            <a:r>
              <a:rPr lang="en-US" dirty="0"/>
              <a:t>Avoid responsibility</a:t>
            </a:r>
          </a:p>
          <a:p>
            <a:r>
              <a:rPr lang="en-US" dirty="0"/>
              <a:t>Need close supervision</a:t>
            </a:r>
          </a:p>
          <a:p>
            <a:r>
              <a:rPr lang="en-US" dirty="0"/>
              <a:t>Must be directed and controlled to meet goals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41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CAA9-332B-34B9-4516-12222EE6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Theory X: Management Style</a:t>
            </a:r>
            <a:br>
              <a:rPr lang="en-US" b="1" dirty="0"/>
            </a:br>
            <a:r>
              <a:rPr lang="en-US" b="1" dirty="0"/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259C8-CC36-8277-A0B5-FE83ED91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28111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Autocratic Leadership</a:t>
            </a:r>
            <a:endParaRPr lang="en-US" dirty="0"/>
          </a:p>
          <a:p>
            <a:pPr lvl="1"/>
            <a:r>
              <a:rPr lang="en-US" dirty="0"/>
              <a:t>Managers make decisions without employee input.</a:t>
            </a:r>
            <a:br>
              <a:rPr lang="en-US" dirty="0"/>
            </a:br>
            <a:r>
              <a:rPr lang="en-US" dirty="0"/>
              <a:t>A factory supervisor assigns tasks and timing without consulting workers.</a:t>
            </a:r>
          </a:p>
          <a:p>
            <a:r>
              <a:rPr lang="en-US" b="1" dirty="0"/>
              <a:t>Close Supervision</a:t>
            </a:r>
            <a:endParaRPr lang="en-US" dirty="0"/>
          </a:p>
          <a:p>
            <a:pPr lvl="1"/>
            <a:r>
              <a:rPr lang="en-US" dirty="0"/>
              <a:t>Employees are monitored to ensure tasks are done “the right way.”</a:t>
            </a:r>
            <a:br>
              <a:rPr lang="en-US" dirty="0"/>
            </a:br>
            <a:r>
              <a:rPr lang="en-US" dirty="0"/>
              <a:t>A call center manager tracks every minute of an employee’s work activity.</a:t>
            </a:r>
          </a:p>
          <a:p>
            <a:r>
              <a:rPr lang="en-US" b="1" dirty="0"/>
              <a:t>Strict Rules and Procedures</a:t>
            </a:r>
            <a:endParaRPr lang="en-US" dirty="0"/>
          </a:p>
          <a:p>
            <a:pPr lvl="1"/>
            <a:r>
              <a:rPr lang="en-US" dirty="0"/>
              <a:t>High emphasis on following policies, methods, and regulations.</a:t>
            </a:r>
            <a:br>
              <a:rPr lang="en-US" dirty="0"/>
            </a:br>
            <a:r>
              <a:rPr lang="en-US" dirty="0"/>
              <a:t>A hospital requires nurses to follow strict checklists with no deviations.</a:t>
            </a:r>
          </a:p>
          <a:p>
            <a:r>
              <a:rPr lang="en-US" b="1" dirty="0"/>
              <a:t>Limited Trust in Employees</a:t>
            </a:r>
            <a:endParaRPr lang="en-US" dirty="0"/>
          </a:p>
          <a:p>
            <a:pPr lvl="1"/>
            <a:r>
              <a:rPr lang="en-US" dirty="0"/>
              <a:t>Managers believe workers will underperform unless watched.</a:t>
            </a:r>
            <a:br>
              <a:rPr lang="en-US" dirty="0"/>
            </a:br>
            <a:r>
              <a:rPr lang="en-US" dirty="0"/>
              <a:t>Retail managers require approval for every discount or customer exception.</a:t>
            </a:r>
          </a:p>
          <a:p>
            <a:r>
              <a:rPr lang="en-US" b="1" dirty="0"/>
              <a:t>Focus on Compliance, Not Creativity</a:t>
            </a:r>
            <a:endParaRPr lang="en-US" dirty="0"/>
          </a:p>
          <a:p>
            <a:pPr lvl="1"/>
            <a:r>
              <a:rPr lang="en-US" dirty="0"/>
              <a:t>Efficiency and predictability matter more than innovation.</a:t>
            </a:r>
            <a:br>
              <a:rPr lang="en-US" dirty="0"/>
            </a:br>
            <a:r>
              <a:rPr lang="en-US" dirty="0"/>
              <a:t>Assembly line staff must follow fixed steps—no room for improvisation.</a:t>
            </a:r>
          </a:p>
        </p:txBody>
      </p:sp>
    </p:spTree>
    <p:extLst>
      <p:ext uri="{BB962C8B-B14F-4D97-AF65-F5344CB8AC3E}">
        <p14:creationId xmlns:p14="http://schemas.microsoft.com/office/powerpoint/2010/main" val="273822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85E8-69DB-274E-39B4-91452F82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Where Theory X Works Well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58A2E-C0C3-D939-55A7-C46239C2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High-risk environments:</a:t>
            </a:r>
            <a:br>
              <a:rPr lang="en-US" dirty="0"/>
            </a:br>
            <a:r>
              <a:rPr lang="en-US" dirty="0"/>
              <a:t> </a:t>
            </a:r>
            <a:r>
              <a:rPr lang="en-US" i="1" dirty="0"/>
              <a:t>Aviation maintenance teams must follow strict protocols to avoid mistakes.</a:t>
            </a:r>
          </a:p>
          <a:p>
            <a:r>
              <a:rPr lang="en-US" b="1" dirty="0"/>
              <a:t>Routine or repetitive jobs:</a:t>
            </a:r>
            <a:br>
              <a:rPr lang="en-US" dirty="0"/>
            </a:br>
            <a:r>
              <a:rPr lang="en-US" i="1" dirty="0"/>
              <a:t> Packing staff in a warehouse follow exact procedures to maintain consistency.</a:t>
            </a:r>
          </a:p>
          <a:p>
            <a:r>
              <a:rPr lang="en-US" b="1" dirty="0"/>
              <a:t>Situations requiring tight control:</a:t>
            </a:r>
            <a:br>
              <a:rPr lang="en-US" dirty="0"/>
            </a:br>
            <a:r>
              <a:rPr lang="en-US" i="1" dirty="0"/>
              <a:t> During an emergency shutdown in an industrial plant, clear commands are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18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8B75-418D-DDAA-1733-56DAA5E2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Managers Use Theory 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171E-0E0F-483B-0F62-61278D8E9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uniformity and safety</a:t>
            </a:r>
          </a:p>
          <a:p>
            <a:r>
              <a:rPr lang="en-US" dirty="0"/>
              <a:t>Reduces errors in routine tasks</a:t>
            </a:r>
          </a:p>
          <a:p>
            <a:r>
              <a:rPr lang="en-US" dirty="0"/>
              <a:t>Provides clarity and structure for inexperienced workers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00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11CB-90CA-FD9D-B547-E6F75292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Theory Y: Basic Assumptions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AC2C-CFC4-8319-A8D3-BCAACE1E9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Theory Y</a:t>
            </a:r>
            <a:r>
              <a:rPr lang="en-US" dirty="0"/>
              <a:t> reflects a </a:t>
            </a:r>
            <a:r>
              <a:rPr lang="en-US" b="1" dirty="0"/>
              <a:t>positive, empowering approach</a:t>
            </a:r>
            <a:r>
              <a:rPr lang="en-US" dirty="0"/>
              <a:t> to management.</a:t>
            </a:r>
            <a:br>
              <a:rPr lang="en-US" dirty="0"/>
            </a:br>
            <a:r>
              <a:rPr lang="en-US" dirty="0"/>
              <a:t>It is based on the belief that employees:</a:t>
            </a:r>
          </a:p>
          <a:p>
            <a:pPr lvl="1"/>
            <a:r>
              <a:rPr lang="en-US" dirty="0"/>
              <a:t>Are self-motivated</a:t>
            </a:r>
          </a:p>
          <a:p>
            <a:pPr lvl="1"/>
            <a:r>
              <a:rPr lang="en-US" dirty="0"/>
              <a:t>Enjoy meaningful work</a:t>
            </a:r>
          </a:p>
          <a:p>
            <a:pPr lvl="1"/>
            <a:r>
              <a:rPr lang="en-US" dirty="0"/>
              <a:t>Seek responsibility</a:t>
            </a:r>
          </a:p>
          <a:p>
            <a:pPr lvl="1"/>
            <a:r>
              <a:rPr lang="en-US" dirty="0"/>
              <a:t>Are capable of creativity and problem-solving</a:t>
            </a:r>
          </a:p>
          <a:p>
            <a:pPr lvl="1"/>
            <a:r>
              <a:rPr lang="en-US" dirty="0"/>
              <a:t>Can be trusted to direct themselves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429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3E74-BD0B-A1CB-54F4-52509B39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Theory Y: Management Style</a:t>
            </a:r>
            <a:br>
              <a:rPr lang="en-US" b="1" dirty="0"/>
            </a:br>
            <a:r>
              <a:rPr lang="en-US" b="1" dirty="0"/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23F8D-80A6-F808-8DAA-A9848DF91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1030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Participative Leadership</a:t>
            </a:r>
            <a:br>
              <a:rPr lang="en-US" dirty="0"/>
            </a:br>
            <a:r>
              <a:rPr lang="en-US" dirty="0"/>
              <a:t>Managers involve employees in decision-making.</a:t>
            </a:r>
            <a:br>
              <a:rPr lang="en-US" dirty="0"/>
            </a:br>
            <a:r>
              <a:rPr lang="en-US" i="1" dirty="0"/>
              <a:t>A marketing manager holds brainstorming meetings where the entire team suggests campaign ideas and selects the best one together.</a:t>
            </a:r>
          </a:p>
          <a:p>
            <a:pPr marL="0" indent="0">
              <a:buNone/>
            </a:pPr>
            <a:r>
              <a:rPr lang="en-US" b="1" dirty="0"/>
              <a:t>2. Delegation and Empowerment</a:t>
            </a:r>
            <a:br>
              <a:rPr lang="en-US" dirty="0"/>
            </a:br>
            <a:r>
              <a:rPr lang="en-US" dirty="0"/>
              <a:t>Employees are trusted with authority and autonomy.</a:t>
            </a:r>
            <a:br>
              <a:rPr lang="en-US" dirty="0"/>
            </a:br>
            <a:r>
              <a:rPr lang="en-US" i="1" dirty="0"/>
              <a:t>A software development team decides its own workflow and chooses tools without constant manager approval</a:t>
            </a:r>
          </a:p>
          <a:p>
            <a:pPr marL="0" indent="0">
              <a:buNone/>
            </a:pPr>
            <a:r>
              <a:rPr lang="en-US" b="1" dirty="0"/>
              <a:t>3. Trust and Open Communication</a:t>
            </a:r>
            <a:br>
              <a:rPr lang="en-US" dirty="0"/>
            </a:br>
            <a:r>
              <a:rPr lang="en-US" dirty="0"/>
              <a:t>Managers share information and expect employees to be responsible.</a:t>
            </a:r>
            <a:br>
              <a:rPr lang="en-US" dirty="0"/>
            </a:br>
            <a:r>
              <a:rPr lang="en-US" i="1" dirty="0"/>
              <a:t>A retail store manager provides full access to weekly sales data so the team can plan improvements on their own.</a:t>
            </a:r>
          </a:p>
          <a:p>
            <a:pPr marL="0" indent="0">
              <a:buNone/>
            </a:pPr>
            <a:r>
              <a:rPr lang="en-US" b="1" dirty="0"/>
              <a:t>4. Flexibility and Collaboration</a:t>
            </a:r>
            <a:br>
              <a:rPr lang="en-US" dirty="0"/>
            </a:br>
            <a:r>
              <a:rPr lang="en-US" dirty="0"/>
              <a:t>Work processes allow creativity, teamwork, and adaptability.</a:t>
            </a:r>
            <a:br>
              <a:rPr lang="en-US" dirty="0"/>
            </a:br>
            <a:r>
              <a:rPr lang="en-US" i="1" dirty="0"/>
              <a:t>A design firm allows flexible working hours and encourages collaborative project groups.</a:t>
            </a:r>
          </a:p>
          <a:p>
            <a:pPr marL="0" indent="0">
              <a:buNone/>
            </a:pPr>
            <a:r>
              <a:rPr lang="en-US" b="1" dirty="0"/>
              <a:t>5. Focus on Growth, Learning &amp; Engagement</a:t>
            </a:r>
            <a:br>
              <a:rPr lang="en-US" dirty="0"/>
            </a:br>
            <a:r>
              <a:rPr lang="en-US" dirty="0"/>
              <a:t>Employees are motivated by opportunities to develop their skills.</a:t>
            </a:r>
            <a:br>
              <a:rPr lang="en-US" dirty="0"/>
            </a:br>
            <a:r>
              <a:rPr lang="en-US" i="1" dirty="0"/>
              <a:t>A tech company funds online courses and lets employees spend 20% of their time on personal innovation projects.</a:t>
            </a:r>
          </a:p>
        </p:txBody>
      </p:sp>
    </p:spTree>
    <p:extLst>
      <p:ext uri="{BB962C8B-B14F-4D97-AF65-F5344CB8AC3E}">
        <p14:creationId xmlns:p14="http://schemas.microsoft.com/office/powerpoint/2010/main" val="97350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0C47-A5AA-87AA-2A26-4892349F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Where Theory Y Works Best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6E9C-BA8D-B162-5FD0-B3709762E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Creative Industries</a:t>
            </a:r>
            <a:br>
              <a:rPr lang="en-US" dirty="0"/>
            </a:br>
            <a:r>
              <a:rPr lang="en-US" i="1" dirty="0"/>
              <a:t>Graphic designers and advertising teams who need freedom to innovate.</a:t>
            </a:r>
          </a:p>
          <a:p>
            <a:r>
              <a:rPr lang="en-US" b="1" dirty="0"/>
              <a:t>Knowledge Work</a:t>
            </a:r>
            <a:br>
              <a:rPr lang="en-US" dirty="0"/>
            </a:br>
            <a:r>
              <a:rPr lang="en-US" i="1" dirty="0"/>
              <a:t>Engineers, analysts, or software developers who require autonomy for deep thinking.</a:t>
            </a:r>
          </a:p>
          <a:p>
            <a:r>
              <a:rPr lang="en-US" b="1" dirty="0"/>
              <a:t>Innovation-Based Companies</a:t>
            </a:r>
            <a:br>
              <a:rPr lang="en-US" dirty="0"/>
            </a:br>
            <a:r>
              <a:rPr lang="en-US" i="1" dirty="0"/>
              <a:t>Research &amp; Development teams that experiment with new products or technologies.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81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D9DB-0B6C-F1D1-FC6F-3401F822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Managers Use Theory Y</a:t>
            </a:r>
            <a:br>
              <a:rPr lang="en-US" b="1" dirty="0"/>
            </a:br>
            <a:r>
              <a:rPr lang="en-US" b="1" dirty="0"/>
              <a:t>??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1857-84A4-E1AD-71DA-F026CB49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Encourages creativity and problem-solving</a:t>
            </a:r>
          </a:p>
          <a:p>
            <a:r>
              <a:rPr lang="en-US" dirty="0"/>
              <a:t>Builds trust and commitment</a:t>
            </a:r>
          </a:p>
          <a:p>
            <a:r>
              <a:rPr lang="en-US" dirty="0"/>
              <a:t>Increases job satisfaction</a:t>
            </a:r>
          </a:p>
          <a:p>
            <a:r>
              <a:rPr lang="en-US" dirty="0"/>
              <a:t>Enhances long-term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1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F0BD-6948-22F3-95DD-D765648A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SECTION 3 — CONNECTION BETWEEN MASLOW AND </a:t>
            </a:r>
            <a:r>
              <a:rPr lang="en-US" dirty="0" err="1"/>
              <a:t>McGREGOR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5D693-2DBF-0391-741E-27FA5DED7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Linking Maslow to Theory X</a:t>
            </a:r>
          </a:p>
          <a:p>
            <a:r>
              <a:rPr lang="en-US" dirty="0"/>
              <a:t>Theory X aligns with </a:t>
            </a:r>
            <a:r>
              <a:rPr lang="en-US" b="1" dirty="0"/>
              <a:t>lower-level needs</a:t>
            </a:r>
            <a:r>
              <a:rPr lang="en-US" dirty="0"/>
              <a:t>:</a:t>
            </a:r>
          </a:p>
          <a:p>
            <a:r>
              <a:rPr lang="en-US" dirty="0"/>
              <a:t>Physiological</a:t>
            </a:r>
          </a:p>
          <a:p>
            <a:r>
              <a:rPr lang="en-US" dirty="0"/>
              <a:t>Safety</a:t>
            </a:r>
            <a:br>
              <a:rPr lang="en-US" dirty="0"/>
            </a:br>
            <a:r>
              <a:rPr lang="en-US" dirty="0"/>
              <a:t>Managers assume employees only come to work for basic security and pay.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08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2175-2310-A1A9-4F0C-E8163063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Linking Maslow to Theory 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8E58F-74FF-513C-7F3C-5950D1F02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Theory Y aligns with </a:t>
            </a:r>
            <a:r>
              <a:rPr lang="en-US" b="1" dirty="0"/>
              <a:t>higher-level needs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Esteem</a:t>
            </a:r>
          </a:p>
          <a:p>
            <a:pPr lvl="1"/>
            <a:r>
              <a:rPr lang="en-US" dirty="0"/>
              <a:t>Self-actualization</a:t>
            </a:r>
            <a:br>
              <a:rPr lang="en-US" dirty="0"/>
            </a:br>
            <a:r>
              <a:rPr lang="en-US" dirty="0"/>
              <a:t>Managers believe employees seek: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Development</a:t>
            </a:r>
          </a:p>
          <a:p>
            <a:pPr lvl="1"/>
            <a:r>
              <a:rPr lang="en-US" dirty="0"/>
              <a:t>Creativity</a:t>
            </a:r>
          </a:p>
          <a:p>
            <a:pPr lvl="1"/>
            <a:r>
              <a:rPr lang="en-US" dirty="0"/>
              <a:t>Purpose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9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C9C3-D039-DA61-64B5-EC0A4CD6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Which Theory Is “Better”?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9256-6ECF-ECA6-8056-F28335D6A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Neither theory is universally perfect.</a:t>
            </a:r>
          </a:p>
          <a:p>
            <a:r>
              <a:rPr lang="en-US" dirty="0"/>
              <a:t>Effectiveness depends on:</a:t>
            </a:r>
          </a:p>
          <a:p>
            <a:r>
              <a:rPr lang="en-US" dirty="0"/>
              <a:t>Task type</a:t>
            </a:r>
          </a:p>
          <a:p>
            <a:r>
              <a:rPr lang="en-US" dirty="0"/>
              <a:t>Employee maturity and skills</a:t>
            </a:r>
          </a:p>
          <a:p>
            <a:r>
              <a:rPr lang="en-US" dirty="0"/>
              <a:t>Organizational culture</a:t>
            </a:r>
          </a:p>
          <a:p>
            <a:r>
              <a:rPr lang="en-US" dirty="0"/>
              <a:t>Level of risk or responsibility</a:t>
            </a:r>
          </a:p>
          <a:p>
            <a:r>
              <a:rPr lang="en-US" dirty="0"/>
              <a:t>Most workplaces use a </a:t>
            </a:r>
            <a:r>
              <a:rPr lang="en-US" b="1" dirty="0"/>
              <a:t>combined approach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99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4DAA-78F5-9EDC-B6F1-35718D08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SECTION 4 — PRACTICAL IMPLICATIONS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27F2A-22E1-B8E3-D322-C1670EFBE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Managers Can Use These Theories</a:t>
            </a:r>
          </a:p>
          <a:p>
            <a:r>
              <a:rPr lang="en-US" dirty="0"/>
              <a:t>Design roles based on employee needs</a:t>
            </a:r>
          </a:p>
          <a:p>
            <a:r>
              <a:rPr lang="en-US" dirty="0"/>
              <a:t>Match leadership style to the situation</a:t>
            </a:r>
          </a:p>
          <a:p>
            <a:r>
              <a:rPr lang="en-US" dirty="0"/>
              <a:t>Support growth and development</a:t>
            </a:r>
          </a:p>
          <a:p>
            <a:r>
              <a:rPr lang="en-US" dirty="0"/>
              <a:t>Provide both extrinsic and intrinsic motivation</a:t>
            </a:r>
          </a:p>
          <a:p>
            <a:r>
              <a:rPr lang="en-US" dirty="0"/>
              <a:t>Encourage participation where appropriate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19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6C5E-8F2A-772C-EE9C-F26F2F01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Examples in Modern Organizations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7FB83-74E7-3B24-3462-AC2C55E2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Theory X :</a:t>
            </a:r>
            <a:endParaRPr lang="en-US" dirty="0"/>
          </a:p>
          <a:p>
            <a:r>
              <a:rPr lang="en-US" dirty="0"/>
              <a:t>Call centers</a:t>
            </a:r>
          </a:p>
          <a:p>
            <a:r>
              <a:rPr lang="en-US" dirty="0"/>
              <a:t>Manufacturing lines</a:t>
            </a:r>
          </a:p>
          <a:p>
            <a:r>
              <a:rPr lang="en-US" dirty="0"/>
              <a:t>Military operations</a:t>
            </a:r>
          </a:p>
          <a:p>
            <a:r>
              <a:rPr lang="en-US" b="1" dirty="0"/>
              <a:t>Theory Y :</a:t>
            </a:r>
            <a:endParaRPr lang="en-US" dirty="0"/>
          </a:p>
          <a:p>
            <a:r>
              <a:rPr lang="en-US" dirty="0"/>
              <a:t>Tech companies</a:t>
            </a:r>
          </a:p>
          <a:p>
            <a:r>
              <a:rPr lang="en-US" dirty="0"/>
              <a:t>Universities</a:t>
            </a:r>
          </a:p>
          <a:p>
            <a:r>
              <a:rPr lang="en-US" dirty="0"/>
              <a:t>R&amp;D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311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39CD864-9B80-4217-918A-A08DD428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376FBE-D09E-4799-BCF8-13452CEC1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E3F2784-92E5-48AF-8AA7-DA101BE3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C48685-54C0-406B-BCC6-CD5287724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2616" y="1411015"/>
            <a:ext cx="7808159" cy="4103960"/>
          </a:xfrm>
          <a:prstGeom prst="rect">
            <a:avLst/>
          </a:prstGeom>
          <a:blipFill dpi="0"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tile tx="0" ty="0" sx="90000" sy="100000" flip="none" algn="ctr"/>
          </a:blipFill>
          <a:ln>
            <a:noFill/>
          </a:ln>
          <a:effectLst>
            <a:outerShdw blurRad="114300" dist="139700" dir="3000000" sx="98000" sy="98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6BAE09-1206-E740-9806-AB8A0D48A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61" y="1871131"/>
            <a:ext cx="6815669" cy="23497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212121"/>
                </a:solidFill>
              </a:rPr>
              <a:t>Any Questions????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9E818D-F990-490E-9599-A842EBC9B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0895" y="4280121"/>
            <a:ext cx="1371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756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1303</Words>
  <Application>Microsoft Office PowerPoint</Application>
  <PresentationFormat>Widescreen</PresentationFormat>
  <Paragraphs>194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Garamond</vt:lpstr>
      <vt:lpstr>Organic</vt:lpstr>
      <vt:lpstr>Chapter 16 –  Motivation Theories</vt:lpstr>
      <vt:lpstr>Learning Objectives </vt:lpstr>
      <vt:lpstr>Importance of Motivation in Management</vt:lpstr>
      <vt:lpstr>Importance of Motivation in Management</vt:lpstr>
      <vt:lpstr> MASLOW’S HIERARCHY OF NEEDS </vt:lpstr>
      <vt:lpstr>Physiological Needs (Level 1) </vt:lpstr>
      <vt:lpstr>Safety Needs (Level 2) </vt:lpstr>
      <vt:lpstr>Social Needs (Level 3)</vt:lpstr>
      <vt:lpstr>Esteem Needs (Level 4)</vt:lpstr>
      <vt:lpstr>Self-Actualization (Level 5</vt:lpstr>
      <vt:lpstr>PowerPoint Presentation</vt:lpstr>
      <vt:lpstr>SECTION 2 — THEORY X AND THEORY Y</vt:lpstr>
      <vt:lpstr>Theory X: Basic Assumptions </vt:lpstr>
      <vt:lpstr>Theory X: Management Style Key Characteristics</vt:lpstr>
      <vt:lpstr>Where Theory X Works Well</vt:lpstr>
      <vt:lpstr>Why Managers Use Theory X </vt:lpstr>
      <vt:lpstr>Theory Y: Basic Assumptions </vt:lpstr>
      <vt:lpstr>Theory Y: Management Style Key Characteristics</vt:lpstr>
      <vt:lpstr>Where Theory Y Works Best </vt:lpstr>
      <vt:lpstr>Why Managers Use Theory Y ??</vt:lpstr>
      <vt:lpstr>SECTION 3 — CONNECTION BETWEEN MASLOW AND McGREGOR</vt:lpstr>
      <vt:lpstr>Linking Maslow to Theory Y </vt:lpstr>
      <vt:lpstr>Which Theory Is “Better”? </vt:lpstr>
      <vt:lpstr>SECTION 4 — PRACTICAL IMPLICATIONS </vt:lpstr>
      <vt:lpstr>Examples in Modern Organizations </vt:lpstr>
      <vt:lpstr>Any Questions????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Muhammad S.</dc:creator>
  <cp:lastModifiedBy>Ahmad, Muhammad S.</cp:lastModifiedBy>
  <cp:revision>85</cp:revision>
  <dcterms:created xsi:type="dcterms:W3CDTF">2025-09-05T00:29:44Z</dcterms:created>
  <dcterms:modified xsi:type="dcterms:W3CDTF">2025-11-28T04:03:17Z</dcterms:modified>
</cp:coreProperties>
</file>