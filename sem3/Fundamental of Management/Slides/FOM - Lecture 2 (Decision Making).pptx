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7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73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99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7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9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7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8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4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7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1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5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33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41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764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74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97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9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6063F9-B991-4581-B7B9-909F40D0607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9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43A5E-934F-4FAB-A978-CB9FE7D922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Fundamentals of Management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821EF-8283-88B2-8A7B-7505893F0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Ms. Sana Ejaz</a:t>
            </a:r>
          </a:p>
        </p:txBody>
      </p:sp>
    </p:spTree>
    <p:extLst>
      <p:ext uri="{BB962C8B-B14F-4D97-AF65-F5344CB8AC3E}">
        <p14:creationId xmlns:p14="http://schemas.microsoft.com/office/powerpoint/2010/main" val="2250827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722A-8761-8C0C-C1FF-65CA0F3E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Chapter 2 - The Manager as Decision Maker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9B95F-9787-3D59-34AC-58DC4E76C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91911"/>
            <a:ext cx="9601196" cy="3318936"/>
          </a:xfrm>
        </p:spPr>
        <p:txBody>
          <a:bodyPr>
            <a:normAutofit lnSpcReduction="10000"/>
          </a:bodyPr>
          <a:lstStyle/>
          <a:p>
            <a:pPr marL="457200" lvl="1" indent="0" algn="ctr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OBJECTIVES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decision-making process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types of decisions and decision-making conditions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about decision-making styles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Examine group decision making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ethics and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401668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DE26-9524-CEF7-0454-7DB16BC8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Decision Making?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09416-FEEC-E5DA-72E0-AEA5779C4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choice among two or more alternatives.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making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Process of identifying and choosing alternatives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 to all managerial activities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Occurs at every level of management</a:t>
            </a:r>
          </a:p>
        </p:txBody>
      </p:sp>
    </p:spTree>
    <p:extLst>
      <p:ext uri="{BB962C8B-B14F-4D97-AF65-F5344CB8AC3E}">
        <p14:creationId xmlns:p14="http://schemas.microsoft.com/office/powerpoint/2010/main" val="193099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613B-E6B5-51B2-545A-6176B238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Decision-Making Process (Eight Steps)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B6C493-75C1-6142-C8DB-D3A13B06FF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9779" y="2675194"/>
            <a:ext cx="5791199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PROBLEM</a:t>
            </a:r>
            <a:endParaRPr lang="en-US" alt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DECISION CRITERIA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ALLOCATE WEIGHTS TO CRITERIA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ALTERNATIVES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ALTERNATIVES</a:t>
            </a:r>
            <a:endParaRPr lang="en-US" alt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AN ALTERNATIVE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THE DECISION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EFFECTIVENESS</a:t>
            </a: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6913EF75-C459-E6FE-6F25-B5039408C118}"/>
              </a:ext>
            </a:extLst>
          </p:cNvPr>
          <p:cNvSpPr/>
          <p:nvPr/>
        </p:nvSpPr>
        <p:spPr>
          <a:xfrm flipV="1">
            <a:off x="3667992" y="2888674"/>
            <a:ext cx="332511" cy="52993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04515663-2A10-3E26-F226-D001BAF03AFB}"/>
              </a:ext>
            </a:extLst>
          </p:cNvPr>
          <p:cNvSpPr/>
          <p:nvPr/>
        </p:nvSpPr>
        <p:spPr>
          <a:xfrm flipV="1">
            <a:off x="3664527" y="3321631"/>
            <a:ext cx="332511" cy="52993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AA23582F-A8AE-C516-BC89-DB1338CC5AF7}"/>
              </a:ext>
            </a:extLst>
          </p:cNvPr>
          <p:cNvSpPr/>
          <p:nvPr/>
        </p:nvSpPr>
        <p:spPr>
          <a:xfrm flipV="1">
            <a:off x="3674918" y="3768441"/>
            <a:ext cx="332511" cy="52993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482AB9D6-71A8-FAA1-EE04-F4D7525B480B}"/>
              </a:ext>
            </a:extLst>
          </p:cNvPr>
          <p:cNvSpPr/>
          <p:nvPr/>
        </p:nvSpPr>
        <p:spPr>
          <a:xfrm flipV="1">
            <a:off x="3685309" y="4204858"/>
            <a:ext cx="332511" cy="52993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DD3EB140-6B23-B801-F873-144CD868D36A}"/>
              </a:ext>
            </a:extLst>
          </p:cNvPr>
          <p:cNvSpPr/>
          <p:nvPr/>
        </p:nvSpPr>
        <p:spPr>
          <a:xfrm flipV="1">
            <a:off x="3685309" y="4620492"/>
            <a:ext cx="332511" cy="52993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96D1D30F-B953-4F56-BDD5-0BD73EEEEEE9}"/>
              </a:ext>
            </a:extLst>
          </p:cNvPr>
          <p:cNvSpPr/>
          <p:nvPr/>
        </p:nvSpPr>
        <p:spPr>
          <a:xfrm flipV="1">
            <a:off x="3695700" y="5025742"/>
            <a:ext cx="332511" cy="52993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117A2181-B755-A0FA-7AA2-5C64396AACE8}"/>
              </a:ext>
            </a:extLst>
          </p:cNvPr>
          <p:cNvSpPr/>
          <p:nvPr/>
        </p:nvSpPr>
        <p:spPr>
          <a:xfrm flipV="1">
            <a:off x="3695700" y="5420592"/>
            <a:ext cx="332511" cy="52993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7AC34A1-6BA4-D44E-27C7-D67F9D092966}"/>
              </a:ext>
            </a:extLst>
          </p:cNvPr>
          <p:cNvSpPr/>
          <p:nvPr/>
        </p:nvSpPr>
        <p:spPr>
          <a:xfrm>
            <a:off x="3820392" y="2847110"/>
            <a:ext cx="128155" cy="16279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36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0EE7-7A53-C08C-FDEA-128CD48B1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80510"/>
            <a:ext cx="9601196" cy="1405489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Decision-Making Process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9CDB18-B6AE-F43F-D421-1EF961A10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260312"/>
              </p:ext>
            </p:extLst>
          </p:nvPr>
        </p:nvGraphicFramePr>
        <p:xfrm>
          <a:off x="1212272" y="2566555"/>
          <a:ext cx="9459191" cy="317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768">
                  <a:extLst>
                    <a:ext uri="{9D8B030D-6E8A-4147-A177-3AD203B41FA5}">
                      <a16:colId xmlns:a16="http://schemas.microsoft.com/office/drawing/2014/main" val="2430143782"/>
                    </a:ext>
                  </a:extLst>
                </a:gridCol>
                <a:gridCol w="6865423">
                  <a:extLst>
                    <a:ext uri="{9D8B030D-6E8A-4147-A177-3AD203B41FA5}">
                      <a16:colId xmlns:a16="http://schemas.microsoft.com/office/drawing/2014/main" val="2429672378"/>
                    </a:ext>
                  </a:extLst>
                </a:gridCol>
              </a:tblGrid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 Identify the Problem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Recognize that a discrepancy exists between the current state and a desired state.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4221569"/>
                  </a:ext>
                </a:extLst>
              </a:tr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 Identify Decision Criteria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Determine the factors relevant to choosing among alternatives (what attributes matter).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4303269"/>
                  </a:ext>
                </a:extLst>
              </a:tr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 Allocate Weights to Criteria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Decide how important each criterion is relative to the others (prioritize).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761739"/>
                  </a:ext>
                </a:extLst>
              </a:tr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4. Develop Alternatives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Generate possible courses of action (options) to resolve the problem.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3030078"/>
                  </a:ext>
                </a:extLst>
              </a:tr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5.. Analyze the Alternatives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Evaluate each alternative against the criteria and their weights; assess pros &amp; cons.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7903769"/>
                  </a:ext>
                </a:extLst>
              </a:tr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 Select an Alternative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Choose the option that best satisfies the criteria and goals.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8044312"/>
                  </a:ext>
                </a:extLst>
              </a:tr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7. Implement the Alternative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Put the decision into action; get commitment from stakeholders; execute the plan.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9512817"/>
                  </a:ext>
                </a:extLst>
              </a:tr>
              <a:tr h="397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8. Evaluate Decision Effectiveness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Check if the problem is resolved or improved; review what went well and what didn’t.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795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43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1779-81F6-B2EF-BB2D-8E98DDD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Decision‑Making Approaches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C655-FDDB-5DFC-0F35-1C718656A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Rational Model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Logical, value‑maximizing, assumes full information &amp; clear goals.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Bounded Rationality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Decision making within cognitive limits; satisficing (good enough rather than perfect)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Intuition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Based on experience, feelings, judgement. Useful when data is limited.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Evidence‑Based Management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 best available evidence plus stakeholder inputs, internal &amp; external context.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34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C73E-830B-C18F-0C7C-FB15AD43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2E896-5D45-164C-A6C6-5DB2F0271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Programmed decisions: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Routine, repetitive (e.g., reordering inventory)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problems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procedure or rule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Usually automated or repetitive.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Non-programmed decisions: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Unique, non-recurring (e.g., entering a new market)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used for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unstructured problems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clear procedure—requires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judgment, creativity, and custom solutions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08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9CB1-D0CA-B777-EC92-AB78AFF7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Decision-Making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62BC3-DFCC-9425-51CB-4945DB296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Certainty: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Clear outcomes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Probabilities can be estimated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Uncertainty: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Outcomes unknown, no reliable data</a:t>
            </a:r>
          </a:p>
        </p:txBody>
      </p:sp>
    </p:spTree>
    <p:extLst>
      <p:ext uri="{BB962C8B-B14F-4D97-AF65-F5344CB8AC3E}">
        <p14:creationId xmlns:p14="http://schemas.microsoft.com/office/powerpoint/2010/main" val="1815298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9184-6A61-2CC3-9B56-448D82D6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Decision-Making Styles (Linear vs. Nonlinear)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6B2D0-604E-5EB3-C85B-B3D314DD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thinkers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 data and logic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Nonlinear thinkers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 intuition and emotions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managers use a mix</a:t>
            </a:r>
          </a:p>
        </p:txBody>
      </p:sp>
    </p:spTree>
    <p:extLst>
      <p:ext uri="{BB962C8B-B14F-4D97-AF65-F5344CB8AC3E}">
        <p14:creationId xmlns:p14="http://schemas.microsoft.com/office/powerpoint/2010/main" val="18141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4E08-CD9A-567D-BB64-2809946D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Intuition in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A7A24-D46C-1984-94F8-185CD6B94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Intuition: Unconscious reasoning from experience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under time pressure or uncertainty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biased if not checked</a:t>
            </a:r>
          </a:p>
        </p:txBody>
      </p:sp>
    </p:spTree>
    <p:extLst>
      <p:ext uri="{BB962C8B-B14F-4D97-AF65-F5344CB8AC3E}">
        <p14:creationId xmlns:p14="http://schemas.microsoft.com/office/powerpoint/2010/main" val="2524787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0F5F-0062-B364-394B-CF4A20B9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Decision Making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2095A-CBEA-0177-2BBD-900D7FC61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information &amp; perspectives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acceptance of decisions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Disadvantages: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Time-consuming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of groupthink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795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85F4-8113-48B0-D4CF-7D006D1F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Thinking and Big Data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04D2E-CDE9-B4EE-BFE9-B229A68ED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thinking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Human-centered, creative approach to solving problems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 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Improves decision quality using vast data sets and analytics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59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5EF6-6FB8-296E-C081-767383B6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Biases &amp; Errors in Decision Making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960AE3-E405-6CE4-3B6A-504A3A7CC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493073"/>
              </p:ext>
            </p:extLst>
          </p:nvPr>
        </p:nvGraphicFramePr>
        <p:xfrm>
          <a:off x="1361209" y="2557463"/>
          <a:ext cx="953539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191">
                  <a:extLst>
                    <a:ext uri="{9D8B030D-6E8A-4147-A177-3AD203B41FA5}">
                      <a16:colId xmlns:a16="http://schemas.microsoft.com/office/drawing/2014/main" val="434109968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01308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 / 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79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Overconfidence Bias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Holding unrealistically positive beliefs about one’s own skills, knowledge, or accuracy.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20299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Immediate Gratification Bias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Preferring decisions that bring quick rewards and avoiding costs now—even if long‑term consequences are worse.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647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Anchoring Effect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Relying too heavily on the first piece of information (the "anchor") and failing to adjust enough when new information comes.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55567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Selective Perception Bias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Interpreting information in a way that aligns with existing beliefs, filtering out what doesn’t fit.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1995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Confirmation Bias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Searching for or giving weight to information that supports one’s preconceptions while ignoring contradictory information.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3571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Framing Bias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Being influenced by the way information is presented; highlighting certain aspects and downplaying or omitting others alters perception.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784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Availability Bias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Over‑emphasizing information that is vivid, recent, or memorable rather than more reliable or relevant data.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9483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669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377F-2B53-8677-29EB-6651480A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Biases &amp; Errors in Decision Making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197D8A-09FA-59E8-9705-C6657D1BA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663622"/>
              </p:ext>
            </p:extLst>
          </p:nvPr>
        </p:nvGraphicFramePr>
        <p:xfrm>
          <a:off x="1295400" y="2557462"/>
          <a:ext cx="9906000" cy="3318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745">
                  <a:extLst>
                    <a:ext uri="{9D8B030D-6E8A-4147-A177-3AD203B41FA5}">
                      <a16:colId xmlns:a16="http://schemas.microsoft.com/office/drawing/2014/main" val="253588536"/>
                    </a:ext>
                  </a:extLst>
                </a:gridCol>
                <a:gridCol w="8167255">
                  <a:extLst>
                    <a:ext uri="{9D8B030D-6E8A-4147-A177-3AD203B41FA5}">
                      <a16:colId xmlns:a16="http://schemas.microsoft.com/office/drawing/2014/main" val="2197181677"/>
                    </a:ext>
                  </a:extLst>
                </a:gridCol>
              </a:tblGrid>
              <a:tr h="488887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Bias / Error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14327"/>
                  </a:ext>
                </a:extLst>
              </a:tr>
              <a:tr h="5659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Representation Bias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Judging the likelihood of an event by comparing it to a similar event or stereotype rather than using statistical or probabilistic thinking.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3359878"/>
                  </a:ext>
                </a:extLst>
              </a:tr>
              <a:tr h="5659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Randomness Bias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Trying to find meaningful patterns in random data or assuming causation when events are actually random.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7745625"/>
                  </a:ext>
                </a:extLst>
              </a:tr>
              <a:tr h="5659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Sunk Cost Error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Letting past investments (time, money, or effort) influence continuing a decision, even when it’s clear the future benefits don’t justify the costs.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461680"/>
                  </a:ext>
                </a:extLst>
              </a:tr>
              <a:tr h="5659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Self‑Serving Bias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Taking credit for successes but blaming failures on external factors or circumstances.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931655"/>
                  </a:ext>
                </a:extLst>
              </a:tr>
              <a:tr h="5659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Hindsight Bias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Believing after an outcome is known that one would have predicted it in advance (overestimating one’s ability to foresee).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636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15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685F-28C0-1CBA-A0E8-0AC108FFE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Ethics in Decision Making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3A6E8-F494-7CE0-80CE-8A64156AA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Ethical decisions align with company values and societal norms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stakeholders, not just profits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 Codes of ethics, ethical training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226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9BEEC-A9C9-398B-3AE2-03CD72575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/>
              <a:t>ANY QUESTIONS???</a:t>
            </a:r>
          </a:p>
        </p:txBody>
      </p:sp>
    </p:spTree>
    <p:extLst>
      <p:ext uri="{BB962C8B-B14F-4D97-AF65-F5344CB8AC3E}">
        <p14:creationId xmlns:p14="http://schemas.microsoft.com/office/powerpoint/2010/main" val="104170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838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Garamond</vt:lpstr>
      <vt:lpstr>Organic</vt:lpstr>
      <vt:lpstr>Fundamentals of Management </vt:lpstr>
      <vt:lpstr>Chapter 2 - The Manager as Decision Maker </vt:lpstr>
      <vt:lpstr>What is Decision Making?</vt:lpstr>
      <vt:lpstr>The Decision-Making Process (Eight Steps)</vt:lpstr>
      <vt:lpstr>The Decision-Making Process </vt:lpstr>
      <vt:lpstr>Decision‑Making Approaches </vt:lpstr>
      <vt:lpstr>Types of Decisions</vt:lpstr>
      <vt:lpstr>Decision-Making Conditions</vt:lpstr>
      <vt:lpstr>Decision-Making Styles (Linear vs. Nonlinear)</vt:lpstr>
      <vt:lpstr>Intuition in Decision Making</vt:lpstr>
      <vt:lpstr>Group Decision Making </vt:lpstr>
      <vt:lpstr>Design Thinking and Big Data </vt:lpstr>
      <vt:lpstr>Common Biases &amp; Errors in Decision Making</vt:lpstr>
      <vt:lpstr>Common Biases &amp; Errors in Decision Making</vt:lpstr>
      <vt:lpstr>Ethics in Decision Making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Muhammad S.</dc:creator>
  <cp:lastModifiedBy>Ahmad, Muhammad S.</cp:lastModifiedBy>
  <cp:revision>28</cp:revision>
  <dcterms:created xsi:type="dcterms:W3CDTF">2025-09-05T00:29:44Z</dcterms:created>
  <dcterms:modified xsi:type="dcterms:W3CDTF">2025-09-12T04:32:43Z</dcterms:modified>
</cp:coreProperties>
</file>