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99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7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9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4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7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180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4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87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3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14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65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033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41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764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74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097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39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6063F9-B991-4581-B7B9-909F40D0607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9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5CE7F-9DB1-87A1-0137-81651FF1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CHAP 17 – BEING EFFECTIVE LEADER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5209D-2324-E7B3-3C87-F9A8A3119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Learning Objectives</a:t>
            </a:r>
          </a:p>
          <a:p>
            <a:r>
              <a:rPr lang="en-US" dirty="0"/>
              <a:t>What leadership is and why it matters</a:t>
            </a:r>
          </a:p>
          <a:p>
            <a:r>
              <a:rPr lang="en-US" dirty="0"/>
              <a:t>Early trait and behavioral leadership theories</a:t>
            </a:r>
          </a:p>
          <a:p>
            <a:r>
              <a:rPr lang="en-US" dirty="0"/>
              <a:t>Contingency and situational leadership theories</a:t>
            </a:r>
          </a:p>
          <a:p>
            <a:r>
              <a:rPr lang="en-US" dirty="0"/>
              <a:t>Modern leadership approaches (transformational, transactional, charismatic, servant, authentic, etc.)</a:t>
            </a:r>
          </a:p>
          <a:p>
            <a:r>
              <a:rPr lang="en-US" dirty="0"/>
              <a:t>The importance of trust, integrity, and ethical leadership</a:t>
            </a:r>
          </a:p>
          <a:p>
            <a:r>
              <a:rPr lang="en-US" dirty="0"/>
              <a:t>How leaders guide teams and manage power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363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4ACED-8B21-2CCB-D53F-F2574C07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Leadership?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F0195-8202-59FD-4DB2-609C17AE6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Leadership:  the ability to influence people to achieve goals</a:t>
            </a:r>
            <a:endParaRPr lang="en-US" dirty="0"/>
          </a:p>
          <a:p>
            <a:r>
              <a:rPr lang="en-US" dirty="0"/>
              <a:t>Focuses on </a:t>
            </a:r>
            <a:r>
              <a:rPr lang="en-US" b="1" dirty="0"/>
              <a:t>inspiration</a:t>
            </a:r>
            <a:r>
              <a:rPr lang="en-US" dirty="0"/>
              <a:t>, </a:t>
            </a:r>
            <a:r>
              <a:rPr lang="en-US" b="1" dirty="0"/>
              <a:t>direction</a:t>
            </a:r>
            <a:r>
              <a:rPr lang="en-US" dirty="0"/>
              <a:t>, </a:t>
            </a:r>
            <a:r>
              <a:rPr lang="en-US" b="1" dirty="0"/>
              <a:t>motivation</a:t>
            </a:r>
            <a:r>
              <a:rPr lang="en-US" dirty="0"/>
              <a:t>, and </a:t>
            </a:r>
            <a:r>
              <a:rPr lang="en-US" b="1" dirty="0"/>
              <a:t>relationship-building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232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3AEBB-18E7-0CFB-CD76-379D3144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Difference Between Managers &amp; Leaders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EAB0E-51DF-3707-2919-237FD1AD2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Managers:</a:t>
            </a:r>
          </a:p>
          <a:p>
            <a:pPr lvl="1"/>
            <a:r>
              <a:rPr lang="en-US" dirty="0"/>
              <a:t>Plan, organize, coordinate</a:t>
            </a:r>
          </a:p>
          <a:p>
            <a:pPr lvl="1"/>
            <a:r>
              <a:rPr lang="en-US" dirty="0"/>
              <a:t>Focus on stability, structure, efficiency</a:t>
            </a:r>
          </a:p>
          <a:p>
            <a:r>
              <a:rPr lang="en-US" dirty="0"/>
              <a:t>Leaders:</a:t>
            </a:r>
          </a:p>
          <a:p>
            <a:pPr lvl="1"/>
            <a:r>
              <a:rPr lang="en-US" dirty="0"/>
              <a:t>Inspire, innovate, influence</a:t>
            </a:r>
          </a:p>
          <a:p>
            <a:pPr lvl="1"/>
            <a:r>
              <a:rPr lang="en-US" dirty="0"/>
              <a:t>Focus on change, vision, motivation</a:t>
            </a:r>
          </a:p>
          <a:p>
            <a:pPr marL="457200" lvl="1" indent="0">
              <a:buNone/>
            </a:pPr>
            <a:br>
              <a:rPr lang="en-US" i="1" dirty="0"/>
            </a:br>
            <a:r>
              <a:rPr lang="en-US" i="1" dirty="0"/>
              <a:t>A manager ensures a report is submitted on time; a leader encourages the team to rethink how the report could add more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5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022E-5FE9-B7AD-8201-A19D433D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Early Leadership Theories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5F326-00A0-E6D6-65E5-0B0CA8D1A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main approaches:</a:t>
            </a:r>
          </a:p>
          <a:p>
            <a:pPr lvl="1"/>
            <a:r>
              <a:rPr lang="en-US" b="1" dirty="0"/>
              <a:t>Trait theories</a:t>
            </a:r>
            <a:endParaRPr lang="en-US" dirty="0"/>
          </a:p>
          <a:p>
            <a:pPr lvl="1"/>
            <a:r>
              <a:rPr lang="en-US" b="1" dirty="0"/>
              <a:t>Behavioral theories</a:t>
            </a:r>
            <a:endParaRPr lang="en-US" dirty="0"/>
          </a:p>
          <a:p>
            <a:r>
              <a:rPr lang="en-US" dirty="0"/>
              <a:t>These tried to identify universal characteristics or behaviors of effective leaders.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14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958F-3ED9-712B-1EE0-CA1BC1C5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Trait Theories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AB5C8-2755-93AF-C28C-E466FD39F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Traits associated with leadership effectiveness include:</a:t>
            </a:r>
          </a:p>
          <a:p>
            <a:pPr lvl="1"/>
            <a:r>
              <a:rPr lang="en-US" dirty="0"/>
              <a:t>Confidence</a:t>
            </a:r>
          </a:p>
          <a:p>
            <a:pPr lvl="1"/>
            <a:r>
              <a:rPr lang="en-US" dirty="0"/>
              <a:t>Intelligence</a:t>
            </a:r>
          </a:p>
          <a:p>
            <a:pPr lvl="1"/>
            <a:r>
              <a:rPr lang="en-US" dirty="0"/>
              <a:t>Honesty</a:t>
            </a:r>
          </a:p>
          <a:p>
            <a:pPr lvl="1"/>
            <a:r>
              <a:rPr lang="en-US" dirty="0"/>
              <a:t>Determination</a:t>
            </a:r>
          </a:p>
          <a:p>
            <a:pPr lvl="1"/>
            <a:r>
              <a:rPr lang="en-US" dirty="0"/>
              <a:t>Sociability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A leader who remains calm and confident during a crisis reassures employees and helps maintain productivity.</a:t>
            </a:r>
          </a:p>
          <a:p>
            <a:pPr marL="0" indent="0">
              <a:buNone/>
            </a:pPr>
            <a:r>
              <a:rPr lang="en-US" b="1" dirty="0"/>
              <a:t>Key Insight:</a:t>
            </a:r>
            <a:br>
              <a:rPr lang="en-US" dirty="0"/>
            </a:br>
            <a:r>
              <a:rPr lang="en-US" dirty="0"/>
              <a:t>Traits alone don’t guarantee success; context matters.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009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B46F-E0A9-1776-12E9-64EA1374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Behavioral Theories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1DF89-A3D4-5D97-C6C0-CD2B49CB0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Focus: </a:t>
            </a:r>
            <a:r>
              <a:rPr lang="en-US" b="1" dirty="0"/>
              <a:t>What leaders do</a:t>
            </a:r>
            <a:r>
              <a:rPr lang="en-US" dirty="0"/>
              <a:t>, not who they are.</a:t>
            </a:r>
          </a:p>
          <a:p>
            <a:r>
              <a:rPr lang="en-US" dirty="0"/>
              <a:t>Two famous studies:</a:t>
            </a:r>
          </a:p>
          <a:p>
            <a:r>
              <a:rPr lang="en-US" b="1" dirty="0"/>
              <a:t>Ohio State Studies</a:t>
            </a:r>
            <a:endParaRPr lang="en-US" dirty="0"/>
          </a:p>
          <a:p>
            <a:pPr lvl="1"/>
            <a:r>
              <a:rPr lang="en-US" dirty="0"/>
              <a:t>Initiating Structure (task focus)</a:t>
            </a:r>
          </a:p>
          <a:p>
            <a:pPr lvl="1"/>
            <a:r>
              <a:rPr lang="en-US" dirty="0"/>
              <a:t>Consideration (relationship focus)</a:t>
            </a:r>
          </a:p>
          <a:p>
            <a:r>
              <a:rPr lang="en-US" b="1" dirty="0"/>
              <a:t>University of Michigan Studies</a:t>
            </a:r>
            <a:endParaRPr lang="en-US" dirty="0"/>
          </a:p>
          <a:p>
            <a:pPr lvl="1"/>
            <a:r>
              <a:rPr lang="en-US" dirty="0"/>
              <a:t>Production-oriented</a:t>
            </a:r>
          </a:p>
          <a:p>
            <a:pPr lvl="1"/>
            <a:r>
              <a:rPr lang="en-US" dirty="0"/>
              <a:t>Employee-oriented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leader who schedules clear deadlines (task) </a:t>
            </a:r>
            <a:r>
              <a:rPr lang="en-US" i="1" dirty="0"/>
              <a:t>and</a:t>
            </a:r>
            <a:r>
              <a:rPr lang="en-US" dirty="0"/>
              <a:t> checks how employees are coping (relationship) blends both behaviors.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431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2F634-FE0A-742D-06FC-2E025E854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Managerial Grid (Blake &amp; Mouton)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BF896-A500-4736-6FAF-02337CDCA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Two dimensions:</a:t>
            </a:r>
          </a:p>
          <a:p>
            <a:pPr lvl="1"/>
            <a:r>
              <a:rPr lang="en-US" dirty="0"/>
              <a:t>Concern for People</a:t>
            </a:r>
          </a:p>
          <a:p>
            <a:pPr lvl="1"/>
            <a:r>
              <a:rPr lang="en-US" dirty="0"/>
              <a:t>Concern for Production</a:t>
            </a:r>
          </a:p>
          <a:p>
            <a:r>
              <a:rPr lang="en-US" dirty="0"/>
              <a:t>Leadership styles include:</a:t>
            </a:r>
          </a:p>
          <a:p>
            <a:pPr lvl="1"/>
            <a:r>
              <a:rPr lang="en-US" dirty="0"/>
              <a:t>1,1 (Impoverished)</a:t>
            </a:r>
          </a:p>
          <a:p>
            <a:pPr lvl="1"/>
            <a:r>
              <a:rPr lang="en-US" dirty="0"/>
              <a:t>9,1 (Task)</a:t>
            </a:r>
          </a:p>
          <a:p>
            <a:pPr lvl="1"/>
            <a:r>
              <a:rPr lang="en-US" dirty="0"/>
              <a:t>1,9 (Country Club)</a:t>
            </a:r>
          </a:p>
          <a:p>
            <a:pPr lvl="1"/>
            <a:r>
              <a:rPr lang="en-US" dirty="0"/>
              <a:t>5,5 (Middle of the Road)</a:t>
            </a:r>
          </a:p>
          <a:p>
            <a:pPr lvl="1"/>
            <a:r>
              <a:rPr lang="en-US" dirty="0"/>
              <a:t>9,9 (Team Leader — ideal)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40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B8455-7C4C-7618-B7CD-82312AEF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Dimension 1 — Concern for People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CAD75-A629-2E6B-6A68-18A6EFE9F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This means how much the leader cares about:</a:t>
            </a:r>
          </a:p>
          <a:p>
            <a:r>
              <a:rPr lang="en-US" dirty="0"/>
              <a:t>Employee needs</a:t>
            </a:r>
          </a:p>
          <a:p>
            <a:r>
              <a:rPr lang="en-US" dirty="0"/>
              <a:t>Well-being</a:t>
            </a:r>
          </a:p>
          <a:p>
            <a:r>
              <a:rPr lang="en-US" dirty="0"/>
              <a:t>Personal Growth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Relationships</a:t>
            </a:r>
          </a:p>
          <a:p>
            <a:r>
              <a:rPr lang="en-US" dirty="0"/>
              <a:t>A high score = strong focus on people</a:t>
            </a:r>
            <a:br>
              <a:rPr lang="en-US" dirty="0"/>
            </a:br>
            <a:r>
              <a:rPr lang="en-US" dirty="0"/>
              <a:t>A low score = minimal attention to people’s needs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884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FF1E7-100D-8EDE-C29A-53BB689E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Dimension 2 — Concern for Production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AF6A-6C7F-1B76-D3E7-80D4A5190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This refers to the leader’s focus on:</a:t>
            </a:r>
          </a:p>
          <a:p>
            <a:r>
              <a:rPr lang="en-US" dirty="0"/>
              <a:t>Achieving Goals</a:t>
            </a:r>
          </a:p>
          <a:p>
            <a:r>
              <a:rPr lang="en-US" dirty="0"/>
              <a:t>Productivity</a:t>
            </a:r>
          </a:p>
          <a:p>
            <a:r>
              <a:rPr lang="en-US" dirty="0"/>
              <a:t>Task Efficiency</a:t>
            </a:r>
          </a:p>
          <a:p>
            <a:r>
              <a:rPr lang="en-US" dirty="0"/>
              <a:t>Performance Standards</a:t>
            </a:r>
          </a:p>
          <a:p>
            <a:r>
              <a:rPr lang="en-US" dirty="0"/>
              <a:t>Deadlines</a:t>
            </a:r>
          </a:p>
          <a:p>
            <a:r>
              <a:rPr lang="en-US" dirty="0"/>
              <a:t>A high score = strong focus on results</a:t>
            </a:r>
            <a:br>
              <a:rPr lang="en-US" dirty="0"/>
            </a:br>
            <a:r>
              <a:rPr lang="en-US" dirty="0"/>
              <a:t>A low score = little focus on task accomplishment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859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5B9A-FED2-2D5E-EE59-72F2B59FE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Putting Both Dimensions Together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66EDE-AD15-65EA-2EF2-45A539494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grid combines the two concerns (People × Production) into </a:t>
            </a:r>
            <a:r>
              <a:rPr lang="en-US" b="1" dirty="0"/>
              <a:t>five main leadership styles</a:t>
            </a:r>
            <a:r>
              <a:rPr lang="en-US" dirty="0"/>
              <a:t>:</a:t>
            </a:r>
          </a:p>
          <a:p>
            <a:r>
              <a:rPr lang="en-US" b="1" dirty="0"/>
              <a:t>1,1 — Impoverished Leadership</a:t>
            </a:r>
            <a:endParaRPr lang="en-US" dirty="0"/>
          </a:p>
          <a:p>
            <a:r>
              <a:rPr lang="en-US" b="1" dirty="0"/>
              <a:t>9,1 — Task Leadership</a:t>
            </a:r>
            <a:endParaRPr lang="en-US" dirty="0"/>
          </a:p>
          <a:p>
            <a:r>
              <a:rPr lang="en-US" b="1" dirty="0"/>
              <a:t>1,9 — Country Club Leadership</a:t>
            </a:r>
            <a:endParaRPr lang="en-US" dirty="0"/>
          </a:p>
          <a:p>
            <a:r>
              <a:rPr lang="en-US" b="1" dirty="0"/>
              <a:t>5,5 — Middle-of-the-Road Leadership</a:t>
            </a:r>
            <a:endParaRPr lang="en-US" dirty="0"/>
          </a:p>
          <a:p>
            <a:r>
              <a:rPr lang="en-US" b="1" dirty="0"/>
              <a:t>9,9 — Team Leadership (ideal)</a:t>
            </a:r>
            <a:endParaRPr lang="en-US" dirty="0"/>
          </a:p>
          <a:p>
            <a:r>
              <a:rPr lang="en-US" dirty="0"/>
              <a:t>Each coordinate is on a </a:t>
            </a:r>
            <a:r>
              <a:rPr lang="en-US" b="1" dirty="0"/>
              <a:t>1 to 9 scale</a:t>
            </a:r>
            <a:r>
              <a:rPr lang="en-US" dirty="0"/>
              <a:t>, where </a:t>
            </a:r>
            <a:r>
              <a:rPr lang="en-US" b="1" dirty="0"/>
              <a:t>9 = maximum concern</a:t>
            </a:r>
            <a:r>
              <a:rPr lang="en-US" dirty="0"/>
              <a:t> and </a:t>
            </a:r>
            <a:r>
              <a:rPr lang="en-US" b="1" dirty="0"/>
              <a:t>1 = minimum concern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419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FD1CB-430A-19E3-7D40-1BCF0C515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Limitations of Behavioral Theory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FE3B8-DA92-7C5C-7F1F-DB4889475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single best style</a:t>
            </a:r>
          </a:p>
          <a:p>
            <a:r>
              <a:rPr lang="en-US" dirty="0"/>
              <a:t>Different situations require different leadership approaches</a:t>
            </a:r>
          </a:p>
          <a:p>
            <a:r>
              <a:rPr lang="en-US" dirty="0"/>
              <a:t>This leads to </a:t>
            </a:r>
            <a:r>
              <a:rPr lang="en-US" b="1" dirty="0"/>
              <a:t>contingency (situational) theories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161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1B512-E7C2-63BD-BF32-45FCADDD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Contingency Leadership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620EF-CE4C-13C7-A90B-5775FFFAB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Leadership effectiveness depends on </a:t>
            </a:r>
            <a:r>
              <a:rPr lang="en-US" b="1" dirty="0"/>
              <a:t>fit between style and situation</a:t>
            </a:r>
            <a:r>
              <a:rPr lang="en-US" dirty="0"/>
              <a:t>.</a:t>
            </a:r>
          </a:p>
          <a:p>
            <a:r>
              <a:rPr lang="en-US" dirty="0"/>
              <a:t>Major models:</a:t>
            </a:r>
          </a:p>
          <a:p>
            <a:r>
              <a:rPr lang="en-US" dirty="0"/>
              <a:t>Fiedler Model</a:t>
            </a:r>
          </a:p>
          <a:p>
            <a:r>
              <a:rPr lang="en-US" dirty="0"/>
              <a:t>Hersey–Blanchard Situational Leadership</a:t>
            </a:r>
          </a:p>
          <a:p>
            <a:r>
              <a:rPr lang="en-US" dirty="0"/>
              <a:t>Path–Goal Theory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611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0459-9123-3617-3174-7E94146E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Fiedler Contingency Model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63F4F-9C49-D524-C658-F2C6B8548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Leadership style = </a:t>
            </a:r>
            <a:r>
              <a:rPr lang="en-US" b="1" dirty="0"/>
              <a:t>fixed</a:t>
            </a:r>
            <a:r>
              <a:rPr lang="en-US" dirty="0"/>
              <a:t> (task or relationship oriented)</a:t>
            </a:r>
          </a:p>
          <a:p>
            <a:r>
              <a:rPr lang="en-US" dirty="0"/>
              <a:t>Situation depends on:</a:t>
            </a:r>
          </a:p>
          <a:p>
            <a:r>
              <a:rPr lang="en-US" dirty="0"/>
              <a:t>Leader–member relations</a:t>
            </a:r>
          </a:p>
          <a:p>
            <a:r>
              <a:rPr lang="en-US" dirty="0"/>
              <a:t>Task structure</a:t>
            </a:r>
          </a:p>
          <a:p>
            <a:r>
              <a:rPr lang="en-US" dirty="0"/>
              <a:t>Position power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During an emergency with clear rules and high authority, a task-oriented leader may perform best.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150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438D-A616-006F-026D-14E39E456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Hersey–Blanchard Situational Leadership (SLT)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CBE67-460D-820E-4318-A13BE9647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Leadership depends on </a:t>
            </a:r>
            <a:r>
              <a:rPr lang="en-US" b="1" dirty="0"/>
              <a:t>follower readiness</a:t>
            </a:r>
            <a:r>
              <a:rPr lang="en-US" dirty="0"/>
              <a:t> (ability + willingness).</a:t>
            </a:r>
          </a:p>
          <a:p>
            <a:r>
              <a:rPr lang="en-US" dirty="0"/>
              <a:t>Leader styles:</a:t>
            </a:r>
          </a:p>
          <a:p>
            <a:r>
              <a:rPr lang="en-US" dirty="0"/>
              <a:t>Telling</a:t>
            </a:r>
          </a:p>
          <a:p>
            <a:r>
              <a:rPr lang="en-US" dirty="0"/>
              <a:t>Selling</a:t>
            </a:r>
          </a:p>
          <a:p>
            <a:r>
              <a:rPr lang="en-US" dirty="0"/>
              <a:t>Participating</a:t>
            </a:r>
          </a:p>
          <a:p>
            <a:r>
              <a:rPr lang="en-US" dirty="0"/>
              <a:t>Delegating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new intern needs “telling” (clear directions), while an experienced employee may thrive with “delegating.”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860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86F2C-451E-9ED8-2AD3-D57334A4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Path–Goal Theory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215C-A029-09A7-EA2B-D6EC21F69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Leader’s job: </a:t>
            </a:r>
            <a:r>
              <a:rPr lang="en-US" b="1" dirty="0"/>
              <a:t>remove obstacles + clarify path to goals</a:t>
            </a:r>
            <a:endParaRPr lang="en-US" dirty="0"/>
          </a:p>
          <a:p>
            <a:r>
              <a:rPr lang="en-US" dirty="0"/>
              <a:t>Leader styles:</a:t>
            </a:r>
          </a:p>
          <a:p>
            <a:r>
              <a:rPr lang="en-US" dirty="0"/>
              <a:t>Directive</a:t>
            </a:r>
          </a:p>
          <a:p>
            <a:r>
              <a:rPr lang="en-US" dirty="0"/>
              <a:t>Supportive</a:t>
            </a:r>
          </a:p>
          <a:p>
            <a:r>
              <a:rPr lang="en-US" dirty="0"/>
              <a:t>Participative</a:t>
            </a:r>
          </a:p>
          <a:p>
            <a:r>
              <a:rPr lang="en-US" dirty="0"/>
              <a:t>Achievement-oriented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If employees are stressed, a supportive leader helps reduce anxiety; if they lack direction, a directive leader provides clarity.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188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86D9-5A20-46D1-19DD-516F9131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Modern Leadership Approaches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CABBF-C337-4353-3C2E-06AE09086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Modern leadership highlights:</a:t>
            </a:r>
          </a:p>
          <a:p>
            <a:r>
              <a:rPr lang="en-US" dirty="0"/>
              <a:t>Vision</a:t>
            </a:r>
          </a:p>
          <a:p>
            <a:r>
              <a:rPr lang="en-US" dirty="0"/>
              <a:t>Influence</a:t>
            </a:r>
          </a:p>
          <a:p>
            <a:r>
              <a:rPr lang="en-US" dirty="0"/>
              <a:t>Ethics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Communication</a:t>
            </a:r>
          </a:p>
          <a:p>
            <a:r>
              <a:rPr lang="en-US" b="1" dirty="0"/>
              <a:t>Key styles:</a:t>
            </a:r>
          </a:p>
          <a:p>
            <a:r>
              <a:rPr lang="en-US" dirty="0"/>
              <a:t>Transactional</a:t>
            </a:r>
          </a:p>
          <a:p>
            <a:r>
              <a:rPr lang="en-US" dirty="0"/>
              <a:t>Transformational</a:t>
            </a:r>
          </a:p>
          <a:p>
            <a:r>
              <a:rPr lang="en-US" dirty="0"/>
              <a:t>Charismatic</a:t>
            </a:r>
          </a:p>
          <a:p>
            <a:r>
              <a:rPr lang="en-US" dirty="0"/>
              <a:t>Visionary</a:t>
            </a:r>
          </a:p>
          <a:p>
            <a:r>
              <a:rPr lang="en-US" dirty="0"/>
              <a:t>Authentic</a:t>
            </a:r>
          </a:p>
        </p:txBody>
      </p:sp>
    </p:spTree>
    <p:extLst>
      <p:ext uri="{BB962C8B-B14F-4D97-AF65-F5344CB8AC3E}">
        <p14:creationId xmlns:p14="http://schemas.microsoft.com/office/powerpoint/2010/main" val="1270585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13CC-259D-E890-5B54-77520495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Transactional Leadership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6E3DD-668E-FA8D-A22B-B884D5DD9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exchanges:</a:t>
            </a:r>
          </a:p>
          <a:p>
            <a:r>
              <a:rPr lang="en-US" dirty="0"/>
              <a:t>Rewards for performance</a:t>
            </a:r>
          </a:p>
          <a:p>
            <a:r>
              <a:rPr lang="en-US" dirty="0"/>
              <a:t>Corrective action when standards aren’t met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sales team receives bonuses when targets are achieved.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938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2CC8-CF24-CBB4-DCE7-C301FDA3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Transformational Leadership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BA31-C90E-785C-80AD-6B8169B56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Focus on:</a:t>
            </a:r>
          </a:p>
          <a:p>
            <a:r>
              <a:rPr lang="en-US" dirty="0"/>
              <a:t>Inspiration</a:t>
            </a:r>
          </a:p>
          <a:p>
            <a:r>
              <a:rPr lang="en-US" dirty="0"/>
              <a:t>Vision</a:t>
            </a:r>
          </a:p>
          <a:p>
            <a:r>
              <a:rPr lang="en-US" dirty="0"/>
              <a:t>Encouraging innovation</a:t>
            </a:r>
          </a:p>
          <a:p>
            <a:r>
              <a:rPr lang="en-US" dirty="0"/>
              <a:t>Personal development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leader encourages employees to challenge old processes and experiment with new ideas.</a:t>
            </a:r>
          </a:p>
        </p:txBody>
      </p:sp>
    </p:spTree>
    <p:extLst>
      <p:ext uri="{BB962C8B-B14F-4D97-AF65-F5344CB8AC3E}">
        <p14:creationId xmlns:p14="http://schemas.microsoft.com/office/powerpoint/2010/main" val="2100769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FC2FF-2E26-A51C-78EC-53376F44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Charismatic Leadership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3FCB4-24FC-4187-8E09-EFF307C0B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Characteristics:</a:t>
            </a:r>
          </a:p>
          <a:p>
            <a:r>
              <a:rPr lang="en-US" dirty="0"/>
              <a:t>Strong communication</a:t>
            </a:r>
          </a:p>
          <a:p>
            <a:r>
              <a:rPr lang="en-US" dirty="0"/>
              <a:t>Enthusiasm</a:t>
            </a:r>
          </a:p>
          <a:p>
            <a:r>
              <a:rPr lang="en-US" dirty="0"/>
              <a:t>Confidence</a:t>
            </a:r>
          </a:p>
          <a:p>
            <a:r>
              <a:rPr lang="en-US" dirty="0"/>
              <a:t>Emotional connection with followers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startup founder who rallies employees around a bold mission.</a:t>
            </a:r>
            <a:br>
              <a:rPr lang="en-US" dirty="0"/>
            </a:br>
            <a:r>
              <a:rPr lang="en-US" i="1" dirty="0"/>
              <a:t>Can be risky if used irresponsibly.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37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FE6B-5F37-CD49-1485-83FEDA5E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Visionary Leadership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6DD19-D6EE-1BE8-B41F-FE6568E2F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Leaders create a clear, compelling picture of the future.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leader helps employees imagine how today’s project contributes to long-term success.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51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9CC12-48AE-369E-769E-9CC598CD7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Authentic Leadership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7C68D-8168-5025-9F74-5A5A311DF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Focus on:</a:t>
            </a:r>
          </a:p>
          <a:p>
            <a:r>
              <a:rPr lang="en-US" dirty="0"/>
              <a:t>Transparency</a:t>
            </a:r>
          </a:p>
          <a:p>
            <a:r>
              <a:rPr lang="en-US" dirty="0"/>
              <a:t>Ethics</a:t>
            </a:r>
          </a:p>
          <a:p>
            <a:r>
              <a:rPr lang="en-US" dirty="0"/>
              <a:t>Consistency</a:t>
            </a:r>
          </a:p>
          <a:p>
            <a:r>
              <a:rPr lang="en-US" dirty="0"/>
              <a:t>Self-awareness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leader admits a mistake and explains how they will correct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727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7D77-8FFE-77B0-A173-B1F77FC42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Servant Leadership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E9AC3-2671-DEFA-A861-45967E881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Leader’s priority: </a:t>
            </a:r>
            <a:r>
              <a:rPr lang="en-US" b="1" dirty="0"/>
              <a:t>serve others first</a:t>
            </a:r>
            <a:endParaRPr lang="en-US" dirty="0"/>
          </a:p>
          <a:p>
            <a:r>
              <a:rPr lang="en-US" dirty="0"/>
              <a:t>Values include:</a:t>
            </a:r>
          </a:p>
          <a:p>
            <a:r>
              <a:rPr lang="en-US" dirty="0"/>
              <a:t>Empathy</a:t>
            </a:r>
          </a:p>
          <a:p>
            <a:r>
              <a:rPr lang="en-US" dirty="0"/>
              <a:t>Listening</a:t>
            </a:r>
          </a:p>
          <a:p>
            <a:r>
              <a:rPr lang="en-US" dirty="0"/>
              <a:t>Stewardship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leader spends time coaching underperforming employees instead of criticizing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206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478D-8076-04E9-9814-A3591E72A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Ethical Leadership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5E42B-64B2-3EDF-4F54-08C453572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Ethical leaders:</a:t>
            </a:r>
          </a:p>
          <a:p>
            <a:r>
              <a:rPr lang="en-US" dirty="0"/>
              <a:t>Make fair decisions</a:t>
            </a:r>
          </a:p>
          <a:p>
            <a:r>
              <a:rPr lang="en-US" dirty="0"/>
              <a:t>Model integrity</a:t>
            </a:r>
          </a:p>
          <a:p>
            <a:r>
              <a:rPr lang="en-US" dirty="0"/>
              <a:t>Set ethical expectations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leader refuses gifts from suppliers to avoid conflicts of interest.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17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33B58-3826-A4A4-2733-28C46647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Leadership &amp; Trust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531AC-556E-8770-EEAE-DA18A0BA3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Trust is essential. Based on:</a:t>
            </a:r>
          </a:p>
          <a:p>
            <a:r>
              <a:rPr lang="en-US" dirty="0"/>
              <a:t>Integrity</a:t>
            </a:r>
          </a:p>
          <a:p>
            <a:r>
              <a:rPr lang="en-US" dirty="0"/>
              <a:t>Competence</a:t>
            </a:r>
          </a:p>
          <a:p>
            <a:r>
              <a:rPr lang="en-US" dirty="0"/>
              <a:t>Consistency</a:t>
            </a:r>
          </a:p>
          <a:p>
            <a:r>
              <a:rPr lang="en-US" dirty="0"/>
              <a:t>Loyalty</a:t>
            </a:r>
          </a:p>
          <a:p>
            <a:r>
              <a:rPr lang="en-US" dirty="0"/>
              <a:t>Openness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Team members trust a leader who consistently keeps commitments.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447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2DF4-372E-2470-ED1C-4A100961E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Building Trust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63729-A19E-85A8-4639-BF82E1EAD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Leaders build trust by:</a:t>
            </a:r>
          </a:p>
          <a:p>
            <a:r>
              <a:rPr lang="en-US" dirty="0"/>
              <a:t>Communicating honestly</a:t>
            </a:r>
          </a:p>
          <a:p>
            <a:r>
              <a:rPr lang="en-US" dirty="0"/>
              <a:t>Acting reliably</a:t>
            </a:r>
          </a:p>
          <a:p>
            <a:r>
              <a:rPr lang="en-US" dirty="0"/>
              <a:t>Admitting mistakes</a:t>
            </a:r>
          </a:p>
          <a:p>
            <a:r>
              <a:rPr lang="en-US" dirty="0"/>
              <a:t>Treating people fairly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382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D2DDE-9F56-E1BF-1C3D-1ED8E4E6B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Leadership &amp; Power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F90C7-BEEC-B70A-682B-B449097CD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Leadership is connected to power types:</a:t>
            </a:r>
          </a:p>
          <a:p>
            <a:r>
              <a:rPr lang="en-US" dirty="0"/>
              <a:t>Legitimate</a:t>
            </a:r>
          </a:p>
          <a:p>
            <a:r>
              <a:rPr lang="en-US" dirty="0"/>
              <a:t>Reward</a:t>
            </a:r>
          </a:p>
          <a:p>
            <a:r>
              <a:rPr lang="en-US" dirty="0"/>
              <a:t>Coercive</a:t>
            </a:r>
          </a:p>
          <a:p>
            <a:r>
              <a:rPr lang="en-US" dirty="0"/>
              <a:t>Expert</a:t>
            </a:r>
          </a:p>
          <a:p>
            <a:r>
              <a:rPr lang="en-US" dirty="0"/>
              <a:t>Referent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An IT manager has “expert power” because the team relies on their technical knowledge.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4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32D6-99A3-89D1-7138-501CF96A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Empowerment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CD5C-49BA-F973-C25F-C8B1D47FC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Leaders empower employees by:</a:t>
            </a:r>
          </a:p>
          <a:p>
            <a:r>
              <a:rPr lang="en-US" dirty="0"/>
              <a:t>Providing authority</a:t>
            </a:r>
          </a:p>
          <a:p>
            <a:r>
              <a:rPr lang="en-US" dirty="0"/>
              <a:t>Encouraging decision-making</a:t>
            </a:r>
          </a:p>
          <a:p>
            <a:r>
              <a:rPr lang="en-US" dirty="0"/>
              <a:t>Building confidence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leader allows employees to choose the best method to complete a task.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1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38EA6-F2F7-8B60-0251-E55D5CBC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Leading Teams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67E4E-073A-022C-F89E-BB3D2522B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Roles include:</a:t>
            </a:r>
          </a:p>
          <a:p>
            <a:r>
              <a:rPr lang="en-US" dirty="0"/>
              <a:t>Coach</a:t>
            </a:r>
          </a:p>
          <a:p>
            <a:r>
              <a:rPr lang="en-US" dirty="0"/>
              <a:t>Conflict mediator</a:t>
            </a:r>
          </a:p>
          <a:p>
            <a:r>
              <a:rPr lang="en-US" dirty="0"/>
              <a:t>Motivator</a:t>
            </a:r>
          </a:p>
          <a:p>
            <a:r>
              <a:rPr lang="en-US" dirty="0"/>
              <a:t>Boundary spanner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project leader brings two conflicting team members together to resolve issues.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302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E766-B571-8D43-C058-173CB8CE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Leading in Today’s Workplace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3F062-C252-9FAA-943C-B7123F32B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Modern demands include:</a:t>
            </a:r>
          </a:p>
          <a:p>
            <a:r>
              <a:rPr lang="en-US" dirty="0"/>
              <a:t>Navigating rapid change</a:t>
            </a:r>
          </a:p>
          <a:p>
            <a:r>
              <a:rPr lang="en-US" dirty="0"/>
              <a:t>Leading remote teams</a:t>
            </a:r>
          </a:p>
          <a:p>
            <a:r>
              <a:rPr lang="en-US" dirty="0"/>
              <a:t>Encouraging diversity &amp; inclusion</a:t>
            </a:r>
          </a:p>
          <a:p>
            <a:r>
              <a:rPr lang="en-US" dirty="0"/>
              <a:t>Using emotional intelligence</a:t>
            </a:r>
          </a:p>
          <a:p>
            <a:r>
              <a:rPr lang="en-US" dirty="0"/>
              <a:t>Managing global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484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6CAC-6AF7-2899-0E5B-28F4420EC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Effective Leaders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7FCCF-94B9-A481-560D-B59205E64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Understand their personal style</a:t>
            </a:r>
          </a:p>
          <a:p>
            <a:r>
              <a:rPr lang="en-US" dirty="0"/>
              <a:t>Adapt to the situation</a:t>
            </a:r>
          </a:p>
          <a:p>
            <a:r>
              <a:rPr lang="en-US" dirty="0"/>
              <a:t>Build trust</a:t>
            </a:r>
          </a:p>
          <a:p>
            <a:r>
              <a:rPr lang="en-US" dirty="0"/>
              <a:t>Inspire and motivate</a:t>
            </a:r>
          </a:p>
          <a:p>
            <a:r>
              <a:rPr lang="en-US" dirty="0"/>
              <a:t>Practice ethical behavior</a:t>
            </a:r>
          </a:p>
          <a:p>
            <a:r>
              <a:rPr lang="en-US" dirty="0"/>
              <a:t>Develop others</a:t>
            </a:r>
          </a:p>
          <a:p>
            <a:r>
              <a:rPr lang="en-US" dirty="0"/>
              <a:t>Communicate vision clearly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0283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1068</Words>
  <Application>Microsoft Office PowerPoint</Application>
  <PresentationFormat>Widescreen</PresentationFormat>
  <Paragraphs>216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Garamond</vt:lpstr>
      <vt:lpstr>Organic</vt:lpstr>
      <vt:lpstr>CHAP 17 – BEING EFFECTIVE LEADER</vt:lpstr>
      <vt:lpstr>What Is Leadership?</vt:lpstr>
      <vt:lpstr>Difference Between Managers &amp; Leaders </vt:lpstr>
      <vt:lpstr>Early Leadership Theories </vt:lpstr>
      <vt:lpstr>Trait Theories </vt:lpstr>
      <vt:lpstr>Behavioral Theories</vt:lpstr>
      <vt:lpstr>Managerial Grid (Blake &amp; Mouton) </vt:lpstr>
      <vt:lpstr>Dimension 1 — Concern for People</vt:lpstr>
      <vt:lpstr>Dimension 2 — Concern for Production</vt:lpstr>
      <vt:lpstr>Putting Both Dimensions Together </vt:lpstr>
      <vt:lpstr>Limitations of Behavioral Theory</vt:lpstr>
      <vt:lpstr>Contingency Leadership</vt:lpstr>
      <vt:lpstr>Fiedler Contingency Model </vt:lpstr>
      <vt:lpstr>Hersey–Blanchard Situational Leadership (SLT) </vt:lpstr>
      <vt:lpstr>Path–Goal Theory </vt:lpstr>
      <vt:lpstr>Modern Leadership Approaches</vt:lpstr>
      <vt:lpstr>Transactional Leadership</vt:lpstr>
      <vt:lpstr>Transformational Leadership</vt:lpstr>
      <vt:lpstr>Charismatic Leadership</vt:lpstr>
      <vt:lpstr>Visionary Leadership</vt:lpstr>
      <vt:lpstr>Authentic Leadership</vt:lpstr>
      <vt:lpstr>Servant Leadership</vt:lpstr>
      <vt:lpstr>Ethical Leadership</vt:lpstr>
      <vt:lpstr>Leadership &amp; Trust</vt:lpstr>
      <vt:lpstr>Building Trust </vt:lpstr>
      <vt:lpstr>Leadership &amp; Power</vt:lpstr>
      <vt:lpstr>Empowerment</vt:lpstr>
      <vt:lpstr>Leading Teams</vt:lpstr>
      <vt:lpstr>Leading in Today’s Workplace</vt:lpstr>
      <vt:lpstr>Effective Leaders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Muhammad S.</dc:creator>
  <cp:lastModifiedBy>Ahmad, Muhammad S.</cp:lastModifiedBy>
  <cp:revision>61</cp:revision>
  <dcterms:created xsi:type="dcterms:W3CDTF">2025-09-05T00:29:44Z</dcterms:created>
  <dcterms:modified xsi:type="dcterms:W3CDTF">2025-12-08T06:15:56Z</dcterms:modified>
</cp:coreProperties>
</file>