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F6B-19F2-4FAC-8436-835A36B723E4}" type="datetimeFigureOut">
              <a:rPr lang="en-US" smtClean="0"/>
              <a:t>4/30/2018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C4BE1-D084-4D2B-8BB5-E99F5342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2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EE227 – Digital Logic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25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6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Registers</a:t>
            </a:r>
          </a:p>
          <a:p>
            <a:pPr lvl="1"/>
            <a:r>
              <a:rPr lang="en-US" dirty="0" smtClean="0"/>
              <a:t>Registers with Parallel Load</a:t>
            </a:r>
          </a:p>
          <a:p>
            <a:r>
              <a:rPr lang="en-US" dirty="0" smtClean="0"/>
              <a:t>Shift Registers</a:t>
            </a:r>
          </a:p>
          <a:p>
            <a:pPr lvl="1"/>
            <a:r>
              <a:rPr lang="en-US" dirty="0" smtClean="0"/>
              <a:t>Serial Transfer</a:t>
            </a:r>
          </a:p>
          <a:p>
            <a:pPr lvl="1"/>
            <a:r>
              <a:rPr lang="en-US" dirty="0" smtClean="0"/>
              <a:t>Serial Addition</a:t>
            </a:r>
          </a:p>
          <a:p>
            <a:pPr lvl="1"/>
            <a:r>
              <a:rPr lang="en-US" dirty="0" smtClean="0"/>
              <a:t>Universal Shift Register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Sequential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Circuits </a:t>
            </a:r>
            <a:r>
              <a:rPr lang="en-US" dirty="0" smtClean="0"/>
              <a:t>that include </a:t>
            </a:r>
            <a:r>
              <a:rPr lang="en-US" dirty="0"/>
              <a:t>flip‐flops are usually classified by the function they perform rather than by the </a:t>
            </a:r>
            <a:r>
              <a:rPr lang="en-US" dirty="0" smtClean="0"/>
              <a:t>name of </a:t>
            </a:r>
            <a:r>
              <a:rPr lang="en-US" dirty="0"/>
              <a:t>the sequential </a:t>
            </a:r>
            <a:r>
              <a:rPr lang="en-US" dirty="0" smtClean="0"/>
              <a:t>circuit</a:t>
            </a:r>
          </a:p>
          <a:p>
            <a:r>
              <a:rPr lang="en-US" dirty="0" smtClean="0"/>
              <a:t>Two </a:t>
            </a:r>
            <a:r>
              <a:rPr lang="en-US" dirty="0"/>
              <a:t>such circuits are </a:t>
            </a:r>
            <a:endParaRPr lang="en-US" dirty="0" smtClean="0"/>
          </a:p>
          <a:p>
            <a:pPr lvl="1"/>
            <a:r>
              <a:rPr lang="en-US" dirty="0" smtClean="0"/>
              <a:t>Registers </a:t>
            </a:r>
          </a:p>
          <a:p>
            <a:pPr lvl="2"/>
            <a:r>
              <a:rPr lang="en-US" dirty="0" smtClean="0"/>
              <a:t>Group of flip flops capable of storing binary information</a:t>
            </a:r>
          </a:p>
          <a:p>
            <a:pPr lvl="1"/>
            <a:r>
              <a:rPr lang="en-US" dirty="0" smtClean="0"/>
              <a:t>Counters</a:t>
            </a:r>
          </a:p>
          <a:p>
            <a:pPr lvl="2"/>
            <a:r>
              <a:rPr lang="en-US" dirty="0"/>
              <a:t>A counter is essentially a register that goes through a predetermined sequence </a:t>
            </a:r>
            <a:r>
              <a:rPr lang="en-US" dirty="0" smtClean="0"/>
              <a:t>of binary </a:t>
            </a:r>
            <a:r>
              <a:rPr lang="en-US" dirty="0"/>
              <a:t>states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8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register is a group of flip‐flops, each one of which shares a common clock and </a:t>
            </a:r>
            <a:r>
              <a:rPr lang="en-US" dirty="0" smtClean="0"/>
              <a:t>is capable </a:t>
            </a:r>
            <a:r>
              <a:rPr lang="en-US" dirty="0"/>
              <a:t>of storing one bit of </a:t>
            </a:r>
            <a:r>
              <a:rPr lang="en-US" dirty="0" smtClean="0"/>
              <a:t>information</a:t>
            </a:r>
          </a:p>
          <a:p>
            <a:r>
              <a:rPr lang="en-US" dirty="0" smtClean="0"/>
              <a:t>An n – bit </a:t>
            </a:r>
            <a:r>
              <a:rPr lang="en-US" dirty="0"/>
              <a:t>register consists of a group of </a:t>
            </a:r>
            <a:r>
              <a:rPr lang="en-US" dirty="0" smtClean="0"/>
              <a:t>n flip‐flops </a:t>
            </a:r>
            <a:r>
              <a:rPr lang="en-US" dirty="0"/>
              <a:t>capable of storing n bits of binary </a:t>
            </a:r>
            <a:r>
              <a:rPr lang="en-US" dirty="0" smtClean="0"/>
              <a:t>information</a:t>
            </a:r>
          </a:p>
          <a:p>
            <a:r>
              <a:rPr lang="en-US" dirty="0"/>
              <a:t>In addition to the flip‐flops, </a:t>
            </a:r>
            <a:r>
              <a:rPr lang="en-US" dirty="0" smtClean="0"/>
              <a:t>a register </a:t>
            </a:r>
            <a:r>
              <a:rPr lang="en-US" dirty="0"/>
              <a:t>may have combinational gates that perform certain data‐processing </a:t>
            </a:r>
            <a:r>
              <a:rPr lang="en-US" dirty="0" smtClean="0"/>
              <a:t>tasks</a:t>
            </a:r>
          </a:p>
          <a:p>
            <a:r>
              <a:rPr lang="en-US" dirty="0" smtClean="0"/>
              <a:t>In its </a:t>
            </a:r>
            <a:r>
              <a:rPr lang="en-US" dirty="0"/>
              <a:t>broadest definition, a register consists of a group of flip‐flops together with </a:t>
            </a:r>
            <a:r>
              <a:rPr lang="en-US" dirty="0" smtClean="0"/>
              <a:t>gates that </a:t>
            </a:r>
            <a:r>
              <a:rPr lang="en-US" dirty="0"/>
              <a:t>affect their </a:t>
            </a:r>
            <a:r>
              <a:rPr lang="en-US" dirty="0" smtClean="0"/>
              <a:t>operation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flip‐flops hold the binary information, and the </a:t>
            </a:r>
            <a:r>
              <a:rPr lang="en-US" dirty="0" smtClean="0"/>
              <a:t>gates determine </a:t>
            </a:r>
            <a:r>
              <a:rPr lang="en-US" dirty="0"/>
              <a:t>how the information is transferred into the register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7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5626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Simple 4 – Bit Register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5867400" cy="4953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 simplest register is a group of flip flops without any additional gates</a:t>
            </a:r>
          </a:p>
          <a:p>
            <a:r>
              <a:rPr lang="en-US" dirty="0" smtClean="0"/>
              <a:t>All the flip flops share a common clock</a:t>
            </a:r>
          </a:p>
          <a:p>
            <a:r>
              <a:rPr lang="en-US" dirty="0" smtClean="0"/>
              <a:t>A 4 – bit register is shown</a:t>
            </a:r>
          </a:p>
          <a:p>
            <a:r>
              <a:rPr lang="en-US" dirty="0" smtClean="0"/>
              <a:t>At positive edge the inputs I</a:t>
            </a:r>
            <a:r>
              <a:rPr lang="en-US" baseline="-25000" dirty="0" smtClean="0"/>
              <a:t>0</a:t>
            </a:r>
            <a:r>
              <a:rPr lang="en-US" dirty="0" smtClean="0"/>
              <a:t>, I</a:t>
            </a:r>
            <a:r>
              <a:rPr lang="en-US" baseline="-25000" dirty="0" smtClean="0"/>
              <a:t>1</a:t>
            </a:r>
            <a:r>
              <a:rPr lang="en-US" dirty="0" smtClean="0"/>
              <a:t>, I</a:t>
            </a:r>
            <a:r>
              <a:rPr lang="en-US" baseline="-25000" dirty="0" smtClean="0"/>
              <a:t>2</a:t>
            </a:r>
            <a:r>
              <a:rPr lang="en-US" dirty="0" smtClean="0"/>
              <a:t> and I</a:t>
            </a:r>
            <a:r>
              <a:rPr lang="en-US" baseline="-25000" dirty="0" smtClean="0"/>
              <a:t>3</a:t>
            </a:r>
            <a:r>
              <a:rPr lang="en-US" dirty="0" smtClean="0"/>
              <a:t> are transferred to register</a:t>
            </a:r>
          </a:p>
          <a:p>
            <a:r>
              <a:rPr lang="en-US" dirty="0" smtClean="0"/>
              <a:t>The outputs A</a:t>
            </a:r>
            <a:r>
              <a:rPr lang="en-US" baseline="-25000" dirty="0" smtClean="0"/>
              <a:t>0</a:t>
            </a:r>
            <a:r>
              <a:rPr lang="en-US" dirty="0" smtClean="0"/>
              <a:t>, 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 and A</a:t>
            </a:r>
            <a:r>
              <a:rPr lang="en-US" baseline="-25000" dirty="0" smtClean="0"/>
              <a:t>3</a:t>
            </a:r>
            <a:r>
              <a:rPr lang="en-US" dirty="0" smtClean="0"/>
              <a:t> can be sampled any time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clear_b</a:t>
            </a:r>
            <a:r>
              <a:rPr lang="en-US" dirty="0" smtClean="0"/>
              <a:t> input is active low</a:t>
            </a:r>
          </a:p>
          <a:p>
            <a:pPr lvl="1"/>
            <a:r>
              <a:rPr lang="en-US" dirty="0" smtClean="0"/>
              <a:t>When connected to logic 1 the register performs normal operation</a:t>
            </a:r>
          </a:p>
          <a:p>
            <a:pPr lvl="1"/>
            <a:r>
              <a:rPr lang="en-US" dirty="0" smtClean="0"/>
              <a:t>When connected to logic 0 it clears all the bits (make all the output bits equal to 0)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540" y="609600"/>
            <a:ext cx="217926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960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 with Parallel Load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Registers with parallel load are a fundamental building block in digital </a:t>
            </a:r>
            <a:r>
              <a:rPr lang="en-US" dirty="0" smtClean="0"/>
              <a:t>systems</a:t>
            </a:r>
          </a:p>
          <a:p>
            <a:pPr lvl="1"/>
            <a:r>
              <a:rPr lang="en-US" dirty="0" smtClean="0"/>
              <a:t>A clock signal supplies the train of pulses</a:t>
            </a:r>
          </a:p>
          <a:p>
            <a:pPr lvl="1"/>
            <a:r>
              <a:rPr lang="en-US" dirty="0" smtClean="0"/>
              <a:t>Another control signal will decide which operation will be performed</a:t>
            </a:r>
          </a:p>
          <a:p>
            <a:r>
              <a:rPr lang="en-US" dirty="0"/>
              <a:t>The transfer of new information into a register is referred to as </a:t>
            </a:r>
            <a:r>
              <a:rPr lang="en-US" b="1" dirty="0"/>
              <a:t>loading</a:t>
            </a:r>
            <a:r>
              <a:rPr lang="en-US" dirty="0"/>
              <a:t> or </a:t>
            </a:r>
            <a:r>
              <a:rPr lang="en-US" b="1" dirty="0" smtClean="0"/>
              <a:t>updating the register</a:t>
            </a:r>
          </a:p>
          <a:p>
            <a:r>
              <a:rPr lang="en-US" dirty="0" smtClean="0"/>
              <a:t>If </a:t>
            </a:r>
            <a:r>
              <a:rPr lang="en-US" dirty="0"/>
              <a:t>all the bits of the register are loaded simultaneously with a </a:t>
            </a:r>
            <a:r>
              <a:rPr lang="en-US" dirty="0" smtClean="0"/>
              <a:t>common clock </a:t>
            </a:r>
            <a:r>
              <a:rPr lang="en-US" dirty="0"/>
              <a:t>pulse, we say that the loading is done in </a:t>
            </a:r>
            <a:r>
              <a:rPr lang="en-US" b="1" dirty="0" smtClean="0"/>
              <a:t>parallel</a:t>
            </a:r>
          </a:p>
          <a:p>
            <a:r>
              <a:rPr lang="en-US" dirty="0" smtClean="0"/>
              <a:t>This can be done by applying a Clock pulse to </a:t>
            </a:r>
            <a:r>
              <a:rPr lang="en-US" dirty="0" err="1" smtClean="0"/>
              <a:t>clk</a:t>
            </a:r>
            <a:r>
              <a:rPr lang="en-US" dirty="0" smtClean="0"/>
              <a:t> input and a load input to all data inputs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8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 – Bit Register </a:t>
            </a:r>
            <a:r>
              <a:rPr lang="en-US" dirty="0"/>
              <a:t>with Parallel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The additional gates are forming a 2 channel </a:t>
            </a:r>
            <a:r>
              <a:rPr lang="en-US" dirty="0" smtClean="0"/>
              <a:t>MUX</a:t>
            </a:r>
            <a:endParaRPr lang="en-US" dirty="0" smtClean="0"/>
          </a:p>
          <a:p>
            <a:r>
              <a:rPr lang="en-US" dirty="0"/>
              <a:t>The load input to the register determines the action to </a:t>
            </a:r>
            <a:r>
              <a:rPr lang="en-US" dirty="0" smtClean="0"/>
              <a:t>be taken </a:t>
            </a:r>
            <a:r>
              <a:rPr lang="en-US" dirty="0"/>
              <a:t>with each clock </a:t>
            </a:r>
            <a:r>
              <a:rPr lang="en-US" dirty="0" smtClean="0"/>
              <a:t>pulse</a:t>
            </a:r>
          </a:p>
          <a:p>
            <a:pPr lvl="1"/>
            <a:r>
              <a:rPr lang="en-US" dirty="0"/>
              <a:t>When the load input is 1, the data at the four external </a:t>
            </a:r>
            <a:r>
              <a:rPr lang="en-US" dirty="0" smtClean="0"/>
              <a:t>inputs are </a:t>
            </a:r>
            <a:r>
              <a:rPr lang="en-US" dirty="0"/>
              <a:t>transferred into the register with the next positive edge of the </a:t>
            </a:r>
            <a:r>
              <a:rPr lang="en-US" dirty="0" smtClean="0"/>
              <a:t>clock</a:t>
            </a:r>
          </a:p>
          <a:p>
            <a:pPr lvl="1"/>
            <a:r>
              <a:rPr lang="en-US" dirty="0"/>
              <a:t>When the </a:t>
            </a:r>
            <a:r>
              <a:rPr lang="en-US" dirty="0" smtClean="0"/>
              <a:t>load input </a:t>
            </a:r>
            <a:r>
              <a:rPr lang="en-US" dirty="0"/>
              <a:t>is 0, the outputs of the flip‐flops are connected to their respective </a:t>
            </a:r>
            <a:r>
              <a:rPr lang="en-US" dirty="0" smtClean="0"/>
              <a:t>inputs</a:t>
            </a:r>
          </a:p>
          <a:p>
            <a:r>
              <a:rPr lang="en-US" dirty="0"/>
              <a:t>The </a:t>
            </a:r>
            <a:r>
              <a:rPr lang="en-US" dirty="0" smtClean="0"/>
              <a:t>feedback connection </a:t>
            </a:r>
            <a:r>
              <a:rPr lang="en-US" dirty="0"/>
              <a:t>from output to input is necessary because a D flip‐flop does not </a:t>
            </a:r>
            <a:r>
              <a:rPr lang="en-US" dirty="0" smtClean="0"/>
              <a:t>have a </a:t>
            </a:r>
            <a:r>
              <a:rPr lang="en-US" dirty="0"/>
              <a:t>“no change” condition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50" y="1790700"/>
            <a:ext cx="405765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91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Shift Register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505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register capable of shifting the binary information held in each cell to its </a:t>
            </a:r>
            <a:r>
              <a:rPr lang="en-US" dirty="0" smtClean="0"/>
              <a:t>neighboring cell</a:t>
            </a:r>
            <a:r>
              <a:rPr lang="en-US" dirty="0"/>
              <a:t>, in a selected direction, is called a shift </a:t>
            </a:r>
            <a:r>
              <a:rPr lang="en-US" dirty="0" smtClean="0"/>
              <a:t>register</a:t>
            </a:r>
          </a:p>
          <a:p>
            <a:r>
              <a:rPr lang="en-US" dirty="0"/>
              <a:t>The logical configuration of a </a:t>
            </a:r>
            <a:r>
              <a:rPr lang="en-US" dirty="0" smtClean="0"/>
              <a:t>shift register </a:t>
            </a:r>
            <a:r>
              <a:rPr lang="en-US" dirty="0"/>
              <a:t>consists of a chain of flip‐flops in cascade, with the output of one flip‐flop </a:t>
            </a:r>
            <a:r>
              <a:rPr lang="en-US" dirty="0" smtClean="0"/>
              <a:t>connected to </a:t>
            </a:r>
            <a:r>
              <a:rPr lang="en-US" dirty="0"/>
              <a:t>the input of the next </a:t>
            </a:r>
            <a:r>
              <a:rPr lang="en-US" dirty="0" smtClean="0"/>
              <a:t>flip‐flop</a:t>
            </a:r>
          </a:p>
          <a:p>
            <a:r>
              <a:rPr lang="en-US" dirty="0" smtClean="0"/>
              <a:t>The serial </a:t>
            </a:r>
            <a:r>
              <a:rPr lang="en-US" dirty="0"/>
              <a:t>input determines what goes into the leftmost flip‐flop during the </a:t>
            </a:r>
            <a:r>
              <a:rPr lang="en-US" dirty="0" smtClean="0"/>
              <a:t>shift</a:t>
            </a:r>
          </a:p>
          <a:p>
            <a:r>
              <a:rPr lang="en-US" dirty="0" smtClean="0"/>
              <a:t>The serial output </a:t>
            </a:r>
            <a:r>
              <a:rPr lang="en-US" dirty="0"/>
              <a:t>is taken from the output of the rightmost flip‐flop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876800"/>
            <a:ext cx="5384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035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Serial Transfer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datapath</a:t>
            </a:r>
            <a:r>
              <a:rPr lang="en-US" dirty="0"/>
              <a:t> of a digital system is said to operate in serial mode when </a:t>
            </a:r>
            <a:r>
              <a:rPr lang="en-US" dirty="0" smtClean="0"/>
              <a:t>information is </a:t>
            </a:r>
            <a:r>
              <a:rPr lang="en-US" dirty="0"/>
              <a:t>transferred and manipulated one bit at a </a:t>
            </a:r>
            <a:r>
              <a:rPr lang="en-US" dirty="0" smtClean="0"/>
              <a:t>time</a:t>
            </a:r>
          </a:p>
          <a:p>
            <a:r>
              <a:rPr lang="en-US" dirty="0"/>
              <a:t>Information is transferred one bit </a:t>
            </a:r>
            <a:r>
              <a:rPr lang="en-US" dirty="0" smtClean="0"/>
              <a:t>at a </a:t>
            </a:r>
            <a:r>
              <a:rPr lang="en-US" dirty="0"/>
              <a:t>time by shifting the bits out of the source register and into the destination register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1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Serial Transfer 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50196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191000"/>
            <a:ext cx="45529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763542"/>
            <a:ext cx="4114800" cy="150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410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Serial Addition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Operations in digital computers are usually done in parallel because that is a </a:t>
            </a:r>
            <a:r>
              <a:rPr lang="en-US" dirty="0" smtClean="0"/>
              <a:t>faster mode </a:t>
            </a:r>
            <a:r>
              <a:rPr lang="en-US" dirty="0"/>
              <a:t>of </a:t>
            </a:r>
            <a:r>
              <a:rPr lang="en-US" dirty="0" smtClean="0"/>
              <a:t>operation</a:t>
            </a:r>
          </a:p>
          <a:p>
            <a:r>
              <a:rPr lang="en-US" dirty="0" smtClean="0"/>
              <a:t>Serial </a:t>
            </a:r>
            <a:r>
              <a:rPr lang="en-US" dirty="0"/>
              <a:t>operations are slower because a </a:t>
            </a:r>
            <a:r>
              <a:rPr lang="en-US" dirty="0" err="1"/>
              <a:t>datapath</a:t>
            </a:r>
            <a:r>
              <a:rPr lang="en-US" dirty="0"/>
              <a:t> operation </a:t>
            </a:r>
            <a:r>
              <a:rPr lang="en-US" dirty="0" smtClean="0"/>
              <a:t>takes several </a:t>
            </a:r>
            <a:r>
              <a:rPr lang="en-US" dirty="0"/>
              <a:t>clock cycles, </a:t>
            </a:r>
            <a:endParaRPr lang="en-US" dirty="0" smtClean="0"/>
          </a:p>
          <a:p>
            <a:r>
              <a:rPr lang="en-US" dirty="0" smtClean="0"/>
              <a:t>But </a:t>
            </a:r>
            <a:r>
              <a:rPr lang="en-US" dirty="0"/>
              <a:t>serial operations have the advantage of requiring fewer </a:t>
            </a:r>
            <a:r>
              <a:rPr lang="en-US" dirty="0" smtClean="0"/>
              <a:t>hardware components</a:t>
            </a:r>
          </a:p>
          <a:p>
            <a:r>
              <a:rPr lang="en-US" dirty="0" smtClean="0"/>
              <a:t>Two 4 bit numbers can be added serially by following these steps</a:t>
            </a:r>
          </a:p>
          <a:p>
            <a:pPr lvl="1"/>
            <a:r>
              <a:rPr lang="en-US" dirty="0" smtClean="0"/>
              <a:t>Two 4 – bit numbers are placed </a:t>
            </a:r>
            <a:r>
              <a:rPr lang="en-US" dirty="0" smtClean="0"/>
              <a:t>in </a:t>
            </a:r>
            <a:r>
              <a:rPr lang="en-US" dirty="0" smtClean="0"/>
              <a:t>4 bit shift </a:t>
            </a:r>
            <a:r>
              <a:rPr lang="en-US" dirty="0" smtClean="0"/>
              <a:t>registers (A &amp; B)</a:t>
            </a:r>
            <a:endParaRPr lang="en-US" dirty="0" smtClean="0"/>
          </a:p>
          <a:p>
            <a:pPr lvl="1"/>
            <a:r>
              <a:rPr lang="en-US" dirty="0" smtClean="0"/>
              <a:t>Bits are added starting from LSB</a:t>
            </a:r>
          </a:p>
          <a:p>
            <a:pPr lvl="1"/>
            <a:r>
              <a:rPr lang="en-US" dirty="0" smtClean="0"/>
              <a:t>The sum bit is fed back to shift register A</a:t>
            </a:r>
          </a:p>
          <a:p>
            <a:pPr lvl="1"/>
            <a:r>
              <a:rPr lang="en-US" dirty="0" smtClean="0"/>
              <a:t>The carry is placed in a 1 bit register and </a:t>
            </a:r>
            <a:r>
              <a:rPr lang="en-US" dirty="0" smtClean="0"/>
              <a:t>then </a:t>
            </a:r>
            <a:r>
              <a:rPr lang="en-US" dirty="0" smtClean="0"/>
              <a:t>fed to full adder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8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30287"/>
          </a:xfrm>
        </p:spPr>
        <p:txBody>
          <a:bodyPr/>
          <a:lstStyle/>
          <a:p>
            <a:r>
              <a:rPr lang="en-US" dirty="0" smtClean="0"/>
              <a:t>Serial Addition with D Flip Flop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1304925"/>
            <a:ext cx="6134100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06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Serial Addition with JK Flip Flop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   J</a:t>
            </a:r>
            <a:r>
              <a:rPr lang="en-US" baseline="-25000" dirty="0" smtClean="0"/>
              <a:t>Q</a:t>
            </a:r>
            <a:r>
              <a:rPr lang="en-US" dirty="0" smtClean="0"/>
              <a:t> = </a:t>
            </a:r>
            <a:r>
              <a:rPr lang="en-US" dirty="0" err="1" smtClean="0"/>
              <a:t>xy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   K</a:t>
            </a:r>
            <a:r>
              <a:rPr lang="en-US" baseline="-25000" dirty="0" smtClean="0"/>
              <a:t>Q</a:t>
            </a:r>
            <a:r>
              <a:rPr lang="en-US" dirty="0" smtClean="0"/>
              <a:t> = </a:t>
            </a:r>
            <a:r>
              <a:rPr lang="en-US" dirty="0" err="1" smtClean="0"/>
              <a:t>x’y</a:t>
            </a:r>
            <a:r>
              <a:rPr lang="en-US" dirty="0" smtClean="0"/>
              <a:t>’ = (x + y)’</a:t>
            </a:r>
          </a:p>
          <a:p>
            <a:pPr marL="0" indent="0">
              <a:buNone/>
            </a:pPr>
            <a:r>
              <a:rPr lang="en-US" dirty="0" smtClean="0"/>
              <a:t>			   S = x </a:t>
            </a:r>
            <a:r>
              <a:rPr lang="en-US" dirty="0" smtClean="0">
                <a:sym typeface="Symbol"/>
              </a:rPr>
              <a:t> y  Q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13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0"/>
            <a:ext cx="594360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369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Serial Addition with JK Flip Flop 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J</a:t>
            </a:r>
            <a:r>
              <a:rPr lang="en-US" baseline="-25000" dirty="0" smtClean="0"/>
              <a:t>Q</a:t>
            </a:r>
            <a:r>
              <a:rPr lang="en-US" dirty="0" smtClean="0"/>
              <a:t> = </a:t>
            </a:r>
            <a:r>
              <a:rPr lang="en-US" dirty="0" err="1" smtClean="0"/>
              <a:t>xy</a:t>
            </a:r>
            <a:r>
              <a:rPr lang="en-US" dirty="0"/>
              <a:t>	</a:t>
            </a:r>
            <a:r>
              <a:rPr lang="en-US" dirty="0" smtClean="0"/>
              <a:t>K</a:t>
            </a:r>
            <a:r>
              <a:rPr lang="en-US" baseline="-25000" dirty="0" smtClean="0"/>
              <a:t>Q</a:t>
            </a:r>
            <a:r>
              <a:rPr lang="en-US" dirty="0" smtClean="0"/>
              <a:t> = (x + y)’	   S = x </a:t>
            </a:r>
            <a:r>
              <a:rPr lang="en-US" dirty="0" smtClean="0">
                <a:sym typeface="Symbol"/>
              </a:rPr>
              <a:t> y  Q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14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2514600"/>
            <a:ext cx="743902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531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Comparison of Serial and Parallel Adder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Comparing the serial adder with the parallel </a:t>
            </a:r>
            <a:r>
              <a:rPr lang="en-US" dirty="0" smtClean="0"/>
              <a:t>adder, </a:t>
            </a:r>
            <a:r>
              <a:rPr lang="en-US" dirty="0"/>
              <a:t>we </a:t>
            </a:r>
            <a:r>
              <a:rPr lang="en-US" dirty="0" smtClean="0"/>
              <a:t>note several differences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parallel adder uses registers with a parallel load, whereas </a:t>
            </a:r>
            <a:r>
              <a:rPr lang="en-US" dirty="0" smtClean="0"/>
              <a:t>the serial </a:t>
            </a:r>
            <a:r>
              <a:rPr lang="en-US" dirty="0"/>
              <a:t>adder uses shift </a:t>
            </a:r>
            <a:r>
              <a:rPr lang="en-US" dirty="0" smtClean="0"/>
              <a:t>registers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number of full‐adder circuits in the parallel </a:t>
            </a:r>
            <a:r>
              <a:rPr lang="en-US" dirty="0" smtClean="0"/>
              <a:t>adder is </a:t>
            </a:r>
            <a:r>
              <a:rPr lang="en-US" dirty="0"/>
              <a:t>equal to the number of bits in the binary numbers, whereas the serial adder </a:t>
            </a:r>
            <a:r>
              <a:rPr lang="en-US" dirty="0" smtClean="0"/>
              <a:t>requires only </a:t>
            </a:r>
            <a:r>
              <a:rPr lang="en-US" dirty="0"/>
              <a:t>one full‐adder circuit and a carry </a:t>
            </a:r>
            <a:r>
              <a:rPr lang="en-US" dirty="0" smtClean="0"/>
              <a:t>flip‐flop</a:t>
            </a:r>
          </a:p>
          <a:p>
            <a:pPr lvl="1"/>
            <a:r>
              <a:rPr lang="en-US" dirty="0" smtClean="0"/>
              <a:t>Excluding </a:t>
            </a:r>
            <a:r>
              <a:rPr lang="en-US" dirty="0"/>
              <a:t>the registers, the </a:t>
            </a:r>
            <a:r>
              <a:rPr lang="en-US" dirty="0" smtClean="0"/>
              <a:t>parallel adder </a:t>
            </a:r>
            <a:r>
              <a:rPr lang="en-US" dirty="0"/>
              <a:t>is a combinational circuit, whereas the serial adder is a sequential circuit </a:t>
            </a:r>
            <a:r>
              <a:rPr lang="en-US" dirty="0" smtClean="0"/>
              <a:t>which consists </a:t>
            </a:r>
            <a:r>
              <a:rPr lang="en-US" dirty="0"/>
              <a:t>of a full adder and a flip‐flop that stores the output </a:t>
            </a:r>
            <a:r>
              <a:rPr lang="en-US" dirty="0" smtClean="0"/>
              <a:t>carry</a:t>
            </a:r>
          </a:p>
          <a:p>
            <a:pPr lvl="1"/>
            <a:r>
              <a:rPr lang="en-US" dirty="0" smtClean="0"/>
              <a:t>In serial adder </a:t>
            </a:r>
            <a:r>
              <a:rPr lang="en-US" dirty="0"/>
              <a:t>the result </a:t>
            </a:r>
            <a:r>
              <a:rPr lang="en-US" dirty="0" smtClean="0"/>
              <a:t>depends on the present </a:t>
            </a:r>
            <a:r>
              <a:rPr lang="en-US" dirty="0"/>
              <a:t>inputs, </a:t>
            </a:r>
            <a:r>
              <a:rPr lang="en-US" dirty="0" smtClean="0"/>
              <a:t>as well as </a:t>
            </a:r>
            <a:r>
              <a:rPr lang="en-US" dirty="0"/>
              <a:t>on previous inputs that </a:t>
            </a:r>
            <a:r>
              <a:rPr lang="en-US" dirty="0" smtClean="0"/>
              <a:t>are </a:t>
            </a:r>
            <a:r>
              <a:rPr lang="en-US" dirty="0"/>
              <a:t>stored in </a:t>
            </a:r>
            <a:r>
              <a:rPr lang="en-US" dirty="0" smtClean="0"/>
              <a:t>flip‐flops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4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Universal Shift Register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If the flip‐flop outputs of a shift register are accessible, then information entered </a:t>
            </a:r>
            <a:r>
              <a:rPr lang="en-US" dirty="0" smtClean="0"/>
              <a:t>serially by </a:t>
            </a:r>
            <a:r>
              <a:rPr lang="en-US" dirty="0"/>
              <a:t>shifting can be taken out in parallel from the outputs of the </a:t>
            </a:r>
            <a:r>
              <a:rPr lang="en-US" dirty="0" smtClean="0"/>
              <a:t>flip‐flops</a:t>
            </a:r>
          </a:p>
          <a:p>
            <a:r>
              <a:rPr lang="en-US" dirty="0" smtClean="0"/>
              <a:t>If </a:t>
            </a:r>
            <a:r>
              <a:rPr lang="en-US" dirty="0"/>
              <a:t>a </a:t>
            </a:r>
            <a:r>
              <a:rPr lang="en-US" dirty="0" smtClean="0"/>
              <a:t>parallel load </a:t>
            </a:r>
            <a:r>
              <a:rPr lang="en-US" dirty="0"/>
              <a:t>capability is added to a shift register, then data entered in parallel can be taken </a:t>
            </a:r>
            <a:r>
              <a:rPr lang="en-US" dirty="0" smtClean="0"/>
              <a:t>out in </a:t>
            </a:r>
            <a:r>
              <a:rPr lang="en-US" dirty="0"/>
              <a:t>serial fashion by shifting the data stored in the register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register capable of shifting in one direction only is a </a:t>
            </a:r>
            <a:r>
              <a:rPr lang="en-US" b="1" dirty="0"/>
              <a:t>unidirectional</a:t>
            </a:r>
            <a:r>
              <a:rPr lang="en-US" dirty="0"/>
              <a:t> shift </a:t>
            </a:r>
            <a:r>
              <a:rPr lang="en-US" dirty="0" smtClean="0"/>
              <a:t>register</a:t>
            </a:r>
            <a:endParaRPr lang="en-US" dirty="0"/>
          </a:p>
          <a:p>
            <a:r>
              <a:rPr lang="en-US" dirty="0"/>
              <a:t>One that can shift in both directions is a </a:t>
            </a:r>
            <a:r>
              <a:rPr lang="en-US" b="1" dirty="0"/>
              <a:t>bidirectional</a:t>
            </a:r>
            <a:r>
              <a:rPr lang="en-US" dirty="0"/>
              <a:t> shift </a:t>
            </a:r>
            <a:r>
              <a:rPr lang="en-US" dirty="0" smtClean="0"/>
              <a:t>register</a:t>
            </a:r>
          </a:p>
          <a:p>
            <a:r>
              <a:rPr lang="en-US" dirty="0" smtClean="0"/>
              <a:t>If </a:t>
            </a:r>
            <a:r>
              <a:rPr lang="en-US" dirty="0"/>
              <a:t>the register </a:t>
            </a:r>
            <a:r>
              <a:rPr lang="en-US" dirty="0" smtClean="0"/>
              <a:t>has both </a:t>
            </a:r>
            <a:r>
              <a:rPr lang="en-US" dirty="0"/>
              <a:t>shifts and parallel‐load capabilities, it is referred to as a </a:t>
            </a:r>
            <a:r>
              <a:rPr lang="en-US" b="1" dirty="0"/>
              <a:t>universal shift register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5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Capabilities of </a:t>
            </a:r>
            <a:r>
              <a:rPr lang="en-US" dirty="0"/>
              <a:t>Universal Shift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A clear control to clear the register to </a:t>
            </a:r>
            <a:r>
              <a:rPr lang="en-US" dirty="0" smtClean="0"/>
              <a:t>0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A </a:t>
            </a:r>
            <a:r>
              <a:rPr lang="en-US" dirty="0"/>
              <a:t>clock input to synchronize the </a:t>
            </a:r>
            <a:r>
              <a:rPr lang="en-US" dirty="0" smtClean="0"/>
              <a:t>operations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A shift‐right control to enable the shift‐right operation and the serial input </a:t>
            </a:r>
            <a:r>
              <a:rPr lang="en-US" dirty="0" smtClean="0"/>
              <a:t>and output </a:t>
            </a:r>
            <a:r>
              <a:rPr lang="en-US" dirty="0"/>
              <a:t>lines associated with the shift </a:t>
            </a:r>
            <a:r>
              <a:rPr lang="en-US" dirty="0" smtClean="0"/>
              <a:t>right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A </a:t>
            </a:r>
            <a:r>
              <a:rPr lang="en-US" dirty="0"/>
              <a:t>shift‐left control to enable the shift‐left operation and the serial input and </a:t>
            </a:r>
            <a:r>
              <a:rPr lang="en-US" dirty="0" smtClean="0"/>
              <a:t>output lines </a:t>
            </a:r>
            <a:r>
              <a:rPr lang="en-US" dirty="0"/>
              <a:t>associated with the shift </a:t>
            </a:r>
            <a:r>
              <a:rPr lang="en-US" dirty="0" smtClean="0"/>
              <a:t>left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A </a:t>
            </a:r>
            <a:r>
              <a:rPr lang="en-US" dirty="0"/>
              <a:t>parallel‐load control to enable a parallel transfer and the n input lines </a:t>
            </a:r>
            <a:r>
              <a:rPr lang="en-US" dirty="0" smtClean="0"/>
              <a:t>associated with </a:t>
            </a:r>
            <a:r>
              <a:rPr lang="en-US" dirty="0"/>
              <a:t>the parallel </a:t>
            </a:r>
            <a:r>
              <a:rPr lang="en-US" dirty="0" smtClean="0"/>
              <a:t>transfer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n </a:t>
            </a:r>
            <a:r>
              <a:rPr lang="en-US" dirty="0"/>
              <a:t>parallel output </a:t>
            </a:r>
            <a:r>
              <a:rPr lang="en-US" dirty="0" smtClean="0"/>
              <a:t>lines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A </a:t>
            </a:r>
            <a:r>
              <a:rPr lang="en-US" dirty="0"/>
              <a:t>control state that leaves the information in the </a:t>
            </a:r>
            <a:r>
              <a:rPr lang="en-US" dirty="0" smtClean="0"/>
              <a:t>register unchanged </a:t>
            </a:r>
            <a:r>
              <a:rPr lang="en-US" dirty="0"/>
              <a:t>in </a:t>
            </a:r>
            <a:r>
              <a:rPr lang="en-US" dirty="0" smtClean="0"/>
              <a:t>response to </a:t>
            </a:r>
            <a:r>
              <a:rPr lang="en-US" dirty="0"/>
              <a:t>the </a:t>
            </a:r>
            <a:r>
              <a:rPr lang="en-US" dirty="0" smtClean="0"/>
              <a:t>clock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0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Operations of Universal Shift Register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 four bit universal shift register contains four 4-to-1 MUX and four D flip flops</a:t>
            </a:r>
          </a:p>
          <a:p>
            <a:r>
              <a:rPr lang="en-US" dirty="0" smtClean="0"/>
              <a:t>Block diagram of a four bit universal shift register is shown below</a:t>
            </a:r>
          </a:p>
          <a:p>
            <a:r>
              <a:rPr lang="en-US" dirty="0" smtClean="0"/>
              <a:t>There are two selection lines S</a:t>
            </a:r>
            <a:r>
              <a:rPr lang="en-US" baseline="-25000" dirty="0" smtClean="0"/>
              <a:t>0</a:t>
            </a:r>
            <a:r>
              <a:rPr lang="en-US" dirty="0" smtClean="0"/>
              <a:t> and S</a:t>
            </a:r>
            <a:r>
              <a:rPr lang="en-US" baseline="-25000" dirty="0" smtClean="0"/>
              <a:t>1</a:t>
            </a:r>
          </a:p>
          <a:p>
            <a:r>
              <a:rPr lang="en-US" dirty="0" smtClean="0"/>
              <a:t>The modes of operation are listed in the table below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18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86238"/>
            <a:ext cx="29908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916" y="4038600"/>
            <a:ext cx="338137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849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 – Bit </a:t>
            </a:r>
            <a:r>
              <a:rPr lang="en-US" dirty="0"/>
              <a:t>Universal Shift Register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19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295400"/>
            <a:ext cx="67437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542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8636</TotalTime>
  <Words>1313</Words>
  <Application>Microsoft Office PowerPoint</Application>
  <PresentationFormat>On-screen Show (4:3)</PresentationFormat>
  <Paragraphs>154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EE227 – Digital Logic Design</vt:lpstr>
      <vt:lpstr>Outline</vt:lpstr>
      <vt:lpstr>Types of Sequential Circuits</vt:lpstr>
      <vt:lpstr>Registers</vt:lpstr>
      <vt:lpstr>Simple 4 – Bit Register</vt:lpstr>
      <vt:lpstr>Register with Parallel Load</vt:lpstr>
      <vt:lpstr>4 – Bit Register with Parallel Load</vt:lpstr>
      <vt:lpstr>Shift Register</vt:lpstr>
      <vt:lpstr>Serial Transfer (1/2)</vt:lpstr>
      <vt:lpstr>Serial Transfer (2/2)</vt:lpstr>
      <vt:lpstr>Serial Addition</vt:lpstr>
      <vt:lpstr>Serial Addition with D Flip Flop</vt:lpstr>
      <vt:lpstr>Serial Addition with JK Flip Flop (1/2)</vt:lpstr>
      <vt:lpstr>Serial Addition with JK Flip Flop (2/2)</vt:lpstr>
      <vt:lpstr>Comparison of Serial and Parallel Adder</vt:lpstr>
      <vt:lpstr>Universal Shift Register</vt:lpstr>
      <vt:lpstr>Capabilities of Universal Shift Register</vt:lpstr>
      <vt:lpstr>Operations of Universal Shift Register</vt:lpstr>
      <vt:lpstr>4 – Bit Universal Shift Register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EE227 – Digital Logic Design</dc:title>
  <dc:creator>sAjid</dc:creator>
  <cp:lastModifiedBy>sAjid</cp:lastModifiedBy>
  <cp:revision>353</cp:revision>
  <dcterms:created xsi:type="dcterms:W3CDTF">2018-01-21T13:37:44Z</dcterms:created>
  <dcterms:modified xsi:type="dcterms:W3CDTF">2018-04-30T08:45:28Z</dcterms:modified>
</cp:coreProperties>
</file>