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media/image20.jpg" ContentType="image/jpg"/>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60" r:id="rId2"/>
    <p:sldMasterId id="2147483674" r:id="rId3"/>
  </p:sldMasterIdLst>
  <p:notesMasterIdLst>
    <p:notesMasterId r:id="rId102"/>
  </p:notesMasterIdLst>
  <p:sldIdLst>
    <p:sldId id="256" r:id="rId4"/>
    <p:sldId id="257" r:id="rId5"/>
    <p:sldId id="292" r:id="rId6"/>
    <p:sldId id="293" r:id="rId7"/>
    <p:sldId id="294" r:id="rId8"/>
    <p:sldId id="295" r:id="rId9"/>
    <p:sldId id="296" r:id="rId10"/>
    <p:sldId id="297" r:id="rId11"/>
    <p:sldId id="298" r:id="rId12"/>
    <p:sldId id="299" r:id="rId13"/>
    <p:sldId id="259" r:id="rId14"/>
    <p:sldId id="300" r:id="rId15"/>
    <p:sldId id="258" r:id="rId16"/>
    <p:sldId id="260" r:id="rId17"/>
    <p:sldId id="301" r:id="rId18"/>
    <p:sldId id="302" r:id="rId19"/>
    <p:sldId id="303" r:id="rId20"/>
    <p:sldId id="304" r:id="rId21"/>
    <p:sldId id="305" r:id="rId22"/>
    <p:sldId id="306" r:id="rId23"/>
    <p:sldId id="307" r:id="rId24"/>
    <p:sldId id="308" r:id="rId25"/>
    <p:sldId id="262" r:id="rId26"/>
    <p:sldId id="263" r:id="rId27"/>
    <p:sldId id="265" r:id="rId28"/>
    <p:sldId id="266" r:id="rId29"/>
    <p:sldId id="267" r:id="rId30"/>
    <p:sldId id="268" r:id="rId31"/>
    <p:sldId id="269" r:id="rId32"/>
    <p:sldId id="270" r:id="rId33"/>
    <p:sldId id="271" r:id="rId34"/>
    <p:sldId id="272" r:id="rId35"/>
    <p:sldId id="273" r:id="rId36"/>
    <p:sldId id="274" r:id="rId37"/>
    <p:sldId id="278" r:id="rId38"/>
    <p:sldId id="279" r:id="rId39"/>
    <p:sldId id="275" r:id="rId40"/>
    <p:sldId id="276" r:id="rId41"/>
    <p:sldId id="277" r:id="rId42"/>
    <p:sldId id="264" r:id="rId43"/>
    <p:sldId id="280" r:id="rId44"/>
    <p:sldId id="281" r:id="rId45"/>
    <p:sldId id="374" r:id="rId46"/>
    <p:sldId id="375" r:id="rId47"/>
    <p:sldId id="376" r:id="rId48"/>
    <p:sldId id="377" r:id="rId49"/>
    <p:sldId id="326" r:id="rId50"/>
    <p:sldId id="378" r:id="rId51"/>
    <p:sldId id="379" r:id="rId52"/>
    <p:sldId id="380" r:id="rId53"/>
    <p:sldId id="381" r:id="rId54"/>
    <p:sldId id="309" r:id="rId55"/>
    <p:sldId id="282" r:id="rId56"/>
    <p:sldId id="384" r:id="rId57"/>
    <p:sldId id="283" r:id="rId58"/>
    <p:sldId id="284" r:id="rId59"/>
    <p:sldId id="285" r:id="rId60"/>
    <p:sldId id="288" r:id="rId61"/>
    <p:sldId id="286" r:id="rId62"/>
    <p:sldId id="311" r:id="rId63"/>
    <p:sldId id="354" r:id="rId64"/>
    <p:sldId id="361" r:id="rId65"/>
    <p:sldId id="373" r:id="rId66"/>
    <p:sldId id="360" r:id="rId67"/>
    <p:sldId id="315" r:id="rId68"/>
    <p:sldId id="322" r:id="rId69"/>
    <p:sldId id="395" r:id="rId70"/>
    <p:sldId id="353" r:id="rId71"/>
    <p:sldId id="393" r:id="rId72"/>
    <p:sldId id="394" r:id="rId73"/>
    <p:sldId id="396" r:id="rId74"/>
    <p:sldId id="397" r:id="rId75"/>
    <p:sldId id="332" r:id="rId76"/>
    <p:sldId id="333" r:id="rId77"/>
    <p:sldId id="338" r:id="rId78"/>
    <p:sldId id="365" r:id="rId79"/>
    <p:sldId id="366" r:id="rId80"/>
    <p:sldId id="363" r:id="rId81"/>
    <p:sldId id="364" r:id="rId82"/>
    <p:sldId id="382" r:id="rId83"/>
    <p:sldId id="383" r:id="rId84"/>
    <p:sldId id="370" r:id="rId85"/>
    <p:sldId id="389" r:id="rId86"/>
    <p:sldId id="343" r:id="rId87"/>
    <p:sldId id="388" r:id="rId88"/>
    <p:sldId id="261" r:id="rId89"/>
    <p:sldId id="390" r:id="rId90"/>
    <p:sldId id="346" r:id="rId91"/>
    <p:sldId id="348" r:id="rId92"/>
    <p:sldId id="347" r:id="rId93"/>
    <p:sldId id="387" r:id="rId94"/>
    <p:sldId id="349" r:id="rId95"/>
    <p:sldId id="367" r:id="rId96"/>
    <p:sldId id="350" r:id="rId97"/>
    <p:sldId id="351" r:id="rId98"/>
    <p:sldId id="391" r:id="rId99"/>
    <p:sldId id="392" r:id="rId100"/>
    <p:sldId id="352" r:id="rId10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4" d="100"/>
          <a:sy n="64" d="100"/>
        </p:scale>
        <p:origin x="1566" y="7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slide" Target="slides/slide86.xml"/><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102" Type="http://schemas.openxmlformats.org/officeDocument/2006/relationships/notesMaster" Target="notesMasters/notesMaster1.xml"/><Relationship Id="rId5" Type="http://schemas.openxmlformats.org/officeDocument/2006/relationships/slide" Target="slides/slide2.xml"/><Relationship Id="rId90" Type="http://schemas.openxmlformats.org/officeDocument/2006/relationships/slide" Target="slides/slide87.xml"/><Relationship Id="rId95" Type="http://schemas.openxmlformats.org/officeDocument/2006/relationships/slide" Target="slides/slide92.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80" Type="http://schemas.openxmlformats.org/officeDocument/2006/relationships/slide" Target="slides/slide77.xml"/><Relationship Id="rId85" Type="http://schemas.openxmlformats.org/officeDocument/2006/relationships/slide" Target="slides/slide82.xml"/><Relationship Id="rId12" Type="http://schemas.openxmlformats.org/officeDocument/2006/relationships/slide" Target="slides/slide9.xml"/><Relationship Id="rId17" Type="http://schemas.openxmlformats.org/officeDocument/2006/relationships/slide" Target="slides/slide14.xml"/><Relationship Id="rId33" Type="http://schemas.openxmlformats.org/officeDocument/2006/relationships/slide" Target="slides/slide30.xml"/><Relationship Id="rId38" Type="http://schemas.openxmlformats.org/officeDocument/2006/relationships/slide" Target="slides/slide35.xml"/><Relationship Id="rId59" Type="http://schemas.openxmlformats.org/officeDocument/2006/relationships/slide" Target="slides/slide56.xml"/><Relationship Id="rId103" Type="http://schemas.openxmlformats.org/officeDocument/2006/relationships/presProps" Target="presProps.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slide" Target="slides/slide80.xml"/><Relationship Id="rId88" Type="http://schemas.openxmlformats.org/officeDocument/2006/relationships/slide" Target="slides/slide85.xml"/><Relationship Id="rId91" Type="http://schemas.openxmlformats.org/officeDocument/2006/relationships/slide" Target="slides/slide88.xml"/><Relationship Id="rId96" Type="http://schemas.openxmlformats.org/officeDocument/2006/relationships/slide" Target="slides/slide93.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6" Type="http://schemas.openxmlformats.org/officeDocument/2006/relationships/tableStyles" Target="tableStyles.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slide" Target="slides/slide83.xml"/><Relationship Id="rId94" Type="http://schemas.openxmlformats.org/officeDocument/2006/relationships/slide" Target="slides/slide91.xml"/><Relationship Id="rId99" Type="http://schemas.openxmlformats.org/officeDocument/2006/relationships/slide" Target="slides/slide96.xml"/><Relationship Id="rId101" Type="http://schemas.openxmlformats.org/officeDocument/2006/relationships/slide" Target="slides/slide98.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104" Type="http://schemas.openxmlformats.org/officeDocument/2006/relationships/viewProps" Target="viewProps.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slide" Target="slides/slide97.xml"/><Relationship Id="rId105" Type="http://schemas.openxmlformats.org/officeDocument/2006/relationships/theme" Target="theme/theme1.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98" Type="http://schemas.openxmlformats.org/officeDocument/2006/relationships/slide" Target="slides/slide95.xml"/><Relationship Id="rId3" Type="http://schemas.openxmlformats.org/officeDocument/2006/relationships/slideMaster" Target="slideMasters/slideMaster3.xml"/><Relationship Id="rId25" Type="http://schemas.openxmlformats.org/officeDocument/2006/relationships/slide" Target="slides/slide22.xml"/><Relationship Id="rId46" Type="http://schemas.openxmlformats.org/officeDocument/2006/relationships/slide" Target="slides/slide43.xml"/><Relationship Id="rId67" Type="http://schemas.openxmlformats.org/officeDocument/2006/relationships/slide" Target="slides/slide6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32F9F6B-19F2-4FAC-8436-835A36B723E4}" type="datetimeFigureOut">
              <a:rPr lang="en-US" smtClean="0"/>
              <a:t>1/27/2025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D6C4BE1-D084-4D2B-8BB5-E99F53429E0A}" type="slidenum">
              <a:rPr lang="en-US" smtClean="0"/>
              <a:t>‹#›</a:t>
            </a:fld>
            <a:endParaRPr lang="en-US"/>
          </a:p>
        </p:txBody>
      </p:sp>
    </p:spTree>
    <p:extLst>
      <p:ext uri="{BB962C8B-B14F-4D97-AF65-F5344CB8AC3E}">
        <p14:creationId xmlns:p14="http://schemas.microsoft.com/office/powerpoint/2010/main" val="16199767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a:extLst>
              <a:ext uri="{FF2B5EF4-FFF2-40B4-BE49-F238E27FC236}">
                <a16:creationId xmlns:a16="http://schemas.microsoft.com/office/drawing/2014/main" id="{0B869572-4CD0-071C-070C-C692DAE3661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06E7C7B2-0DB0-4BC3-AD27-77D887A348F2}" type="slidenum">
              <a:rPr lang="en-GB" altLang="en-US"/>
              <a:pPr>
                <a:spcBef>
                  <a:spcPct val="0"/>
                </a:spcBef>
              </a:pPr>
              <a:t>43</a:t>
            </a:fld>
            <a:endParaRPr lang="en-GB" altLang="en-US"/>
          </a:p>
        </p:txBody>
      </p:sp>
      <p:sp>
        <p:nvSpPr>
          <p:cNvPr id="28675" name="Rectangle 2">
            <a:extLst>
              <a:ext uri="{FF2B5EF4-FFF2-40B4-BE49-F238E27FC236}">
                <a16:creationId xmlns:a16="http://schemas.microsoft.com/office/drawing/2014/main" id="{2F63C0D8-1A87-DBFE-A898-C9E886BA929B}"/>
              </a:ext>
            </a:extLst>
          </p:cNvPr>
          <p:cNvSpPr>
            <a:spLocks noGrp="1" noRot="1" noChangeAspect="1" noChangeArrowheads="1" noTextEdit="1"/>
          </p:cNvSpPr>
          <p:nvPr>
            <p:ph type="sldImg"/>
          </p:nvPr>
        </p:nvSpPr>
        <p:spPr>
          <a:ln/>
        </p:spPr>
      </p:sp>
      <p:sp>
        <p:nvSpPr>
          <p:cNvPr id="28676" name="Rectangle 3">
            <a:extLst>
              <a:ext uri="{FF2B5EF4-FFF2-40B4-BE49-F238E27FC236}">
                <a16:creationId xmlns:a16="http://schemas.microsoft.com/office/drawing/2014/main" id="{60B74AB8-4547-9852-07B1-A535909C3A0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t>We have looked at binary to decimal conversions and decimal to binary conversions.</a:t>
            </a:r>
          </a:p>
          <a:p>
            <a:pPr eaLnBrk="1" hangingPunct="1">
              <a:buFontTx/>
              <a:buChar char="•"/>
            </a:pPr>
            <a:r>
              <a:rPr lang="en-US" altLang="en-US"/>
              <a:t>Now we know how to convert integers as well as fractions from one number system to the other.</a:t>
            </a:r>
          </a:p>
          <a:p>
            <a:pPr eaLnBrk="1" hangingPunct="1">
              <a:buFontTx/>
              <a:buChar char="•"/>
            </a:pPr>
            <a:r>
              <a:rPr lang="en-US" altLang="en-US"/>
              <a:t>Now lets look at simple arithmetic operations such as add, subtract, multiply and divide. </a:t>
            </a:r>
          </a:p>
          <a:p>
            <a:pPr eaLnBrk="1" hangingPunct="1">
              <a:buFontTx/>
              <a:buChar char="•"/>
            </a:pPr>
            <a:r>
              <a:rPr lang="en-US" altLang="en-US"/>
              <a:t>We should be able to perform simple arithmetic operations such as add, subtract, multiply and divide on binary numbers, as we normally do with decimal numbers.</a:t>
            </a:r>
          </a:p>
          <a:p>
            <a:pPr eaLnBrk="1" hangingPunct="1">
              <a:buFontTx/>
              <a:buChar char="•"/>
            </a:pPr>
            <a:r>
              <a:rPr lang="en-US" altLang="en-US"/>
              <a:t>Arithmetic operations performed on binary numbers are in fact exactly like the operations performed on decimal numbers.</a:t>
            </a:r>
          </a:p>
          <a:p>
            <a:pPr eaLnBrk="1" hangingPunct="1">
              <a:buFontTx/>
              <a:buChar char="•"/>
            </a:pPr>
            <a:r>
              <a:rPr lang="en-US" altLang="en-US"/>
              <a:t>Let us start by looking at the binary addition operation </a:t>
            </a:r>
          </a:p>
          <a:p>
            <a:pPr eaLnBrk="1" hangingPunct="1">
              <a:buFontTx/>
              <a:buChar char="•"/>
            </a:pPr>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a:extLst>
              <a:ext uri="{FF2B5EF4-FFF2-40B4-BE49-F238E27FC236}">
                <a16:creationId xmlns:a16="http://schemas.microsoft.com/office/drawing/2014/main" id="{87A0AAAD-E4B1-6639-1B20-68D4CD27086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8F3AB9FE-0067-4009-8025-9FCA0850F3CE}" type="slidenum">
              <a:rPr lang="en-GB" altLang="en-US"/>
              <a:pPr>
                <a:spcBef>
                  <a:spcPct val="0"/>
                </a:spcBef>
              </a:pPr>
              <a:t>44</a:t>
            </a:fld>
            <a:endParaRPr lang="en-GB" altLang="en-US"/>
          </a:p>
        </p:txBody>
      </p:sp>
      <p:sp>
        <p:nvSpPr>
          <p:cNvPr id="30723" name="Rectangle 2">
            <a:extLst>
              <a:ext uri="{FF2B5EF4-FFF2-40B4-BE49-F238E27FC236}">
                <a16:creationId xmlns:a16="http://schemas.microsoft.com/office/drawing/2014/main" id="{935F6974-851B-8A47-4C77-D9C739D27910}"/>
              </a:ext>
            </a:extLst>
          </p:cNvPr>
          <p:cNvSpPr>
            <a:spLocks noGrp="1" noRot="1" noChangeAspect="1" noChangeArrowheads="1" noTextEdit="1"/>
          </p:cNvSpPr>
          <p:nvPr>
            <p:ph type="sldImg"/>
          </p:nvPr>
        </p:nvSpPr>
        <p:spPr>
          <a:ln/>
        </p:spPr>
      </p:sp>
      <p:sp>
        <p:nvSpPr>
          <p:cNvPr id="30724" name="Rectangle 3">
            <a:extLst>
              <a:ext uri="{FF2B5EF4-FFF2-40B4-BE49-F238E27FC236}">
                <a16:creationId xmlns:a16="http://schemas.microsoft.com/office/drawing/2014/main" id="{AB720811-81D8-56A3-4988-28A11C71173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t>Looking at the results the first three additions give a result 0, 1 and 1 respectively which can be represented by a single binary digit (bit). </a:t>
            </a:r>
          </a:p>
          <a:p>
            <a:pPr eaLnBrk="1" hangingPunct="1">
              <a:buFontTx/>
              <a:buChar char="•"/>
            </a:pPr>
            <a:r>
              <a:rPr lang="en-US" altLang="en-US"/>
              <a:t>The fourth addition results in the number 2, which is represented in binary as 10</a:t>
            </a:r>
            <a:r>
              <a:rPr lang="en-US" altLang="en-US" baseline="-25000"/>
              <a:t>2</a:t>
            </a:r>
            <a:r>
              <a:rPr lang="en-US" altLang="en-US"/>
              <a:t>.</a:t>
            </a:r>
          </a:p>
          <a:p>
            <a:pPr eaLnBrk="1" hangingPunct="1">
              <a:buFontTx/>
              <a:buChar char="•"/>
            </a:pPr>
            <a:r>
              <a:rPr lang="en-US" altLang="en-US"/>
              <a:t>Thus two digits (bits) are required. The sum bit is 0 and the carry bit is 1.</a:t>
            </a:r>
          </a:p>
          <a:p>
            <a:pPr eaLnBrk="1" hangingPunct="1">
              <a:buFontTx/>
              <a:buChar char="•"/>
            </a:pPr>
            <a:r>
              <a:rPr lang="en-US" altLang="en-US"/>
              <a:t>This is similar to the addition of 9 + 3 in decimal. The answer is 12 which can not be represented by a single digit, thus two digits are required. The number 2 is the sum part and 1 is the carry part.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a:extLst>
              <a:ext uri="{FF2B5EF4-FFF2-40B4-BE49-F238E27FC236}">
                <a16:creationId xmlns:a16="http://schemas.microsoft.com/office/drawing/2014/main" id="{D202E865-82C4-D92C-D825-184F161E400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48D4503C-13BE-4F18-A8E4-9CCD9FDCC478}" type="slidenum">
              <a:rPr lang="en-GB" altLang="en-US"/>
              <a:pPr>
                <a:spcBef>
                  <a:spcPct val="0"/>
                </a:spcBef>
              </a:pPr>
              <a:t>45</a:t>
            </a:fld>
            <a:endParaRPr lang="en-GB" altLang="en-US"/>
          </a:p>
        </p:txBody>
      </p:sp>
      <p:sp>
        <p:nvSpPr>
          <p:cNvPr id="32771" name="Rectangle 2">
            <a:extLst>
              <a:ext uri="{FF2B5EF4-FFF2-40B4-BE49-F238E27FC236}">
                <a16:creationId xmlns:a16="http://schemas.microsoft.com/office/drawing/2014/main" id="{5B1C8D0D-2CD9-0602-AD8A-5FEE647D1CFA}"/>
              </a:ext>
            </a:extLst>
          </p:cNvPr>
          <p:cNvSpPr>
            <a:spLocks noGrp="1" noRot="1" noChangeAspect="1" noChangeArrowheads="1" noTextEdit="1"/>
          </p:cNvSpPr>
          <p:nvPr>
            <p:ph type="sldImg"/>
          </p:nvPr>
        </p:nvSpPr>
        <p:spPr>
          <a:ln/>
        </p:spPr>
      </p:sp>
      <p:sp>
        <p:nvSpPr>
          <p:cNvPr id="32772" name="Rectangle 3">
            <a:extLst>
              <a:ext uri="{FF2B5EF4-FFF2-40B4-BE49-F238E27FC236}">
                <a16:creationId xmlns:a16="http://schemas.microsoft.com/office/drawing/2014/main" id="{7D89ACD6-0F3C-6792-AF0F-4740E63F5BC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t>Similar to Decimal addition any number of binary numbers having any number of digits can be added together. </a:t>
            </a:r>
          </a:p>
          <a:p>
            <a:pPr eaLnBrk="1" hangingPunct="1">
              <a:buFontTx/>
              <a:buChar char="•"/>
            </a:pPr>
            <a:r>
              <a:rPr lang="en-US" altLang="en-US"/>
              <a:t>Thus the number 1011, 110, 1000 and 11 can be added together. Most significant digits (bits) of second and fourth numbers are assumed to be zero.</a:t>
            </a:r>
          </a:p>
          <a:p>
            <a:pPr eaLnBrk="1" hangingPunct="1">
              <a:buFontTx/>
              <a:buChar char="•"/>
            </a:pPr>
            <a:r>
              <a:rPr lang="en-US" altLang="en-US"/>
              <a:t>At Bit 2 the carry is 10, is it possible to have a 2-bit carry?</a:t>
            </a:r>
          </a:p>
          <a:p>
            <a:pPr eaLnBrk="1" hangingPunct="1">
              <a:buFontTx/>
              <a:buChar char="•"/>
            </a:pPr>
            <a:r>
              <a:rPr lang="en-US" altLang="en-US"/>
              <a:t>Consider adding the number 19, fifteen times.</a:t>
            </a:r>
          </a:p>
          <a:p>
            <a:pPr eaLnBrk="1" hangingPunct="1">
              <a:buFontTx/>
              <a:buChar char="•"/>
            </a:pPr>
            <a:r>
              <a:rPr lang="en-US" altLang="en-US"/>
              <a:t>Adding the first digit 9, fifteen times results in 135. 5 is the Sum and 13 is the carry.</a:t>
            </a:r>
          </a:p>
          <a:p>
            <a:pPr eaLnBrk="1" hangingPunct="1">
              <a:buFontTx/>
              <a:buChar char="•"/>
            </a:pPr>
            <a:r>
              <a:rPr lang="en-US" altLang="en-US"/>
              <a:t>The carry 13 added with fifteen 1s of the second digit result in 28. </a:t>
            </a:r>
          </a:p>
          <a:p>
            <a:pPr eaLnBrk="1" hangingPunct="1">
              <a:buFontTx/>
              <a:buChar char="•"/>
            </a:pPr>
            <a:r>
              <a:rPr lang="en-US" altLang="en-US"/>
              <a:t>The answer is 285.</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a:extLst>
              <a:ext uri="{FF2B5EF4-FFF2-40B4-BE49-F238E27FC236}">
                <a16:creationId xmlns:a16="http://schemas.microsoft.com/office/drawing/2014/main" id="{FFB9EE80-F9B9-2D1A-D508-B6D27D03869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BA74CF1B-CB7C-4CF9-A2DA-3797A89AD43D}" type="slidenum">
              <a:rPr lang="en-GB" altLang="en-US"/>
              <a:pPr>
                <a:spcBef>
                  <a:spcPct val="0"/>
                </a:spcBef>
              </a:pPr>
              <a:t>46</a:t>
            </a:fld>
            <a:endParaRPr lang="en-GB" altLang="en-US"/>
          </a:p>
        </p:txBody>
      </p:sp>
      <p:sp>
        <p:nvSpPr>
          <p:cNvPr id="34819" name="Rectangle 2">
            <a:extLst>
              <a:ext uri="{FF2B5EF4-FFF2-40B4-BE49-F238E27FC236}">
                <a16:creationId xmlns:a16="http://schemas.microsoft.com/office/drawing/2014/main" id="{0BE05DC0-A767-D391-E5CC-F7976B78C6F1}"/>
              </a:ext>
            </a:extLst>
          </p:cNvPr>
          <p:cNvSpPr>
            <a:spLocks noGrp="1" noRot="1" noChangeAspect="1" noChangeArrowheads="1" noTextEdit="1"/>
          </p:cNvSpPr>
          <p:nvPr>
            <p:ph type="sldImg"/>
          </p:nvPr>
        </p:nvSpPr>
        <p:spPr>
          <a:ln/>
        </p:spPr>
      </p:sp>
      <p:sp>
        <p:nvSpPr>
          <p:cNvPr id="34820" name="Rectangle 3">
            <a:extLst>
              <a:ext uri="{FF2B5EF4-FFF2-40B4-BE49-F238E27FC236}">
                <a16:creationId xmlns:a16="http://schemas.microsoft.com/office/drawing/2014/main" id="{47619797-2D3A-6EB4-7A5A-75F116620E9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t>The 2</a:t>
            </a:r>
            <a:r>
              <a:rPr lang="en-US" altLang="en-US" baseline="30000"/>
              <a:t>nd</a:t>
            </a:r>
            <a:r>
              <a:rPr lang="en-US" altLang="en-US"/>
              <a:t> digit is subtracted from the first.</a:t>
            </a:r>
          </a:p>
          <a:p>
            <a:pPr eaLnBrk="1" hangingPunct="1">
              <a:buFontTx/>
              <a:buChar char="•"/>
            </a:pPr>
            <a:r>
              <a:rPr lang="en-US" altLang="en-US"/>
              <a:t>The result of the first, third and fourth subtraction operations result in a difference value where no borrow is required.</a:t>
            </a:r>
          </a:p>
          <a:p>
            <a:pPr eaLnBrk="1" hangingPunct="1">
              <a:buFontTx/>
              <a:buChar char="•"/>
            </a:pPr>
            <a:r>
              <a:rPr lang="en-US" altLang="en-US"/>
              <a:t>The second subtraction subtracts 1 from 0 for which a borrow is required to make the first digit equal to 2. The answer is 1.</a:t>
            </a:r>
          </a:p>
          <a:p>
            <a:pPr eaLnBrk="1" hangingPunct="1">
              <a:buFontTx/>
              <a:buChar char="•"/>
            </a:pPr>
            <a:r>
              <a:rPr lang="en-US" altLang="en-US"/>
              <a:t>This is similar to what is done in decimal 21-17 where 7 can not be subtracted from 1 therefore a 1 is borrowed from the next most significant digit to allow 7 to be subtracted from 11.</a:t>
            </a:r>
          </a:p>
          <a:p>
            <a:pPr eaLnBrk="1" hangingPunct="1">
              <a:buFontTx/>
              <a:buChar char="•"/>
            </a:pPr>
            <a:r>
              <a:rPr lang="en-US" altLang="en-US"/>
              <a:t>Thus if only the least significant digit of the decimal numbers is considered subtracting 7 from 1 results in a borrow of 1 and a difference of 4.  </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a:extLst>
              <a:ext uri="{FF2B5EF4-FFF2-40B4-BE49-F238E27FC236}">
                <a16:creationId xmlns:a16="http://schemas.microsoft.com/office/drawing/2014/main" id="{F2F5D80D-C171-84EC-9905-D0B9E58867F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992EFDC-5482-4C73-BCC3-3468A1FE065E}" type="slidenum">
              <a:rPr lang="en-GB" altLang="en-US"/>
              <a:pPr>
                <a:spcBef>
                  <a:spcPct val="0"/>
                </a:spcBef>
              </a:pPr>
              <a:t>47</a:t>
            </a:fld>
            <a:endParaRPr lang="en-GB" altLang="en-US"/>
          </a:p>
        </p:txBody>
      </p:sp>
      <p:sp>
        <p:nvSpPr>
          <p:cNvPr id="36867" name="Rectangle 2">
            <a:extLst>
              <a:ext uri="{FF2B5EF4-FFF2-40B4-BE49-F238E27FC236}">
                <a16:creationId xmlns:a16="http://schemas.microsoft.com/office/drawing/2014/main" id="{59310A0E-26BB-93DA-28A0-25FA877341B1}"/>
              </a:ext>
            </a:extLst>
          </p:cNvPr>
          <p:cNvSpPr>
            <a:spLocks noGrp="1" noRot="1" noChangeAspect="1" noChangeArrowheads="1" noTextEdit="1"/>
          </p:cNvSpPr>
          <p:nvPr>
            <p:ph type="sldImg"/>
          </p:nvPr>
        </p:nvSpPr>
        <p:spPr>
          <a:ln/>
        </p:spPr>
      </p:sp>
      <p:sp>
        <p:nvSpPr>
          <p:cNvPr id="36868" name="Rectangle 3">
            <a:extLst>
              <a:ext uri="{FF2B5EF4-FFF2-40B4-BE49-F238E27FC236}">
                <a16:creationId xmlns:a16="http://schemas.microsoft.com/office/drawing/2014/main" id="{92E8AC5A-EF78-DA7D-ECA0-01444CB6483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a:extLst>
              <a:ext uri="{FF2B5EF4-FFF2-40B4-BE49-F238E27FC236}">
                <a16:creationId xmlns:a16="http://schemas.microsoft.com/office/drawing/2014/main" id="{A34BFFBA-383C-DE2D-4343-EB779762431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E63A77DF-1016-49D5-96C8-10FF35C19286}" type="slidenum">
              <a:rPr lang="en-GB" altLang="en-US"/>
              <a:pPr>
                <a:spcBef>
                  <a:spcPct val="0"/>
                </a:spcBef>
              </a:pPr>
              <a:t>48</a:t>
            </a:fld>
            <a:endParaRPr lang="en-GB" altLang="en-US"/>
          </a:p>
        </p:txBody>
      </p:sp>
      <p:sp>
        <p:nvSpPr>
          <p:cNvPr id="38915" name="Rectangle 2">
            <a:extLst>
              <a:ext uri="{FF2B5EF4-FFF2-40B4-BE49-F238E27FC236}">
                <a16:creationId xmlns:a16="http://schemas.microsoft.com/office/drawing/2014/main" id="{8AA9677C-EF29-D732-3E37-85F1B28C2849}"/>
              </a:ext>
            </a:extLst>
          </p:cNvPr>
          <p:cNvSpPr>
            <a:spLocks noGrp="1" noRot="1" noChangeAspect="1" noChangeArrowheads="1" noTextEdit="1"/>
          </p:cNvSpPr>
          <p:nvPr>
            <p:ph type="sldImg"/>
          </p:nvPr>
        </p:nvSpPr>
        <p:spPr>
          <a:ln/>
        </p:spPr>
      </p:sp>
      <p:sp>
        <p:nvSpPr>
          <p:cNvPr id="38916" name="Rectangle 3">
            <a:extLst>
              <a:ext uri="{FF2B5EF4-FFF2-40B4-BE49-F238E27FC236}">
                <a16:creationId xmlns:a16="http://schemas.microsoft.com/office/drawing/2014/main" id="{A39D3AF3-A0E9-EB86-A7F9-870C9049009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t>In binary multiplication anything multiplied by 0 results in 0 just like in decimal multiplication. </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93AD8E49-B4E7-D074-D685-78BEBAD96FF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D4A4F13A-FF35-4305-9FC3-2190AF526B19}" type="slidenum">
              <a:rPr lang="en-GB" altLang="en-US"/>
              <a:pPr>
                <a:spcBef>
                  <a:spcPct val="0"/>
                </a:spcBef>
              </a:pPr>
              <a:t>49</a:t>
            </a:fld>
            <a:endParaRPr lang="en-GB" altLang="en-US"/>
          </a:p>
        </p:txBody>
      </p:sp>
      <p:sp>
        <p:nvSpPr>
          <p:cNvPr id="40963" name="Rectangle 2">
            <a:extLst>
              <a:ext uri="{FF2B5EF4-FFF2-40B4-BE49-F238E27FC236}">
                <a16:creationId xmlns:a16="http://schemas.microsoft.com/office/drawing/2014/main" id="{24D89CAA-95B3-4B32-9072-82A18DCD56D4}"/>
              </a:ext>
            </a:extLst>
          </p:cNvPr>
          <p:cNvSpPr>
            <a:spLocks noGrp="1" noRot="1" noChangeAspect="1" noChangeArrowheads="1" noTextEdit="1"/>
          </p:cNvSpPr>
          <p:nvPr>
            <p:ph type="sldImg"/>
          </p:nvPr>
        </p:nvSpPr>
        <p:spPr>
          <a:ln/>
        </p:spPr>
      </p:sp>
      <p:sp>
        <p:nvSpPr>
          <p:cNvPr id="40964" name="Rectangle 3">
            <a:extLst>
              <a:ext uri="{FF2B5EF4-FFF2-40B4-BE49-F238E27FC236}">
                <a16:creationId xmlns:a16="http://schemas.microsoft.com/office/drawing/2014/main" id="{BD9CCFF6-5539-96D2-ED1D-28DB7F2D73C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t>Binary multiplication is identical to the decimal multiplication.</a:t>
            </a:r>
          </a:p>
          <a:p>
            <a:pPr eaLnBrk="1" hangingPunct="1">
              <a:buFontTx/>
              <a:buChar char="•"/>
            </a:pPr>
            <a:r>
              <a:rPr lang="en-US" altLang="en-US"/>
              <a:t>The first product term results in 1101</a:t>
            </a:r>
          </a:p>
          <a:p>
            <a:pPr eaLnBrk="1" hangingPunct="1">
              <a:buFontTx/>
              <a:buChar char="•"/>
            </a:pPr>
            <a:r>
              <a:rPr lang="en-US" altLang="en-US"/>
              <a:t>The second product term results in 0000 and is written shifted left by 1 bit</a:t>
            </a:r>
          </a:p>
          <a:p>
            <a:pPr eaLnBrk="1" hangingPunct="1">
              <a:buFontTx/>
              <a:buChar char="•"/>
            </a:pPr>
            <a:r>
              <a:rPr lang="en-US" altLang="en-US"/>
              <a:t>The third product term results in 1101 and is written shifted left by 2 bits</a:t>
            </a:r>
          </a:p>
          <a:p>
            <a:pPr eaLnBrk="1" hangingPunct="1">
              <a:buFontTx/>
              <a:buChar char="•"/>
            </a:pPr>
            <a:r>
              <a:rPr lang="en-US" altLang="en-US"/>
              <a:t>The product result is sum of all the partial product terms </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62D2D287-E659-F91A-3F31-9D641CD717E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6743885B-0FC4-4770-AD37-EE376091AE84}" type="slidenum">
              <a:rPr lang="en-GB" altLang="en-US"/>
              <a:pPr>
                <a:spcBef>
                  <a:spcPct val="0"/>
                </a:spcBef>
              </a:pPr>
              <a:t>50</a:t>
            </a:fld>
            <a:endParaRPr lang="en-GB" altLang="en-US"/>
          </a:p>
        </p:txBody>
      </p:sp>
      <p:sp>
        <p:nvSpPr>
          <p:cNvPr id="43011" name="Rectangle 2">
            <a:extLst>
              <a:ext uri="{FF2B5EF4-FFF2-40B4-BE49-F238E27FC236}">
                <a16:creationId xmlns:a16="http://schemas.microsoft.com/office/drawing/2014/main" id="{F8C66149-A02F-EC28-5F3D-A611E49B12C8}"/>
              </a:ext>
            </a:extLst>
          </p:cNvPr>
          <p:cNvSpPr>
            <a:spLocks noGrp="1" noRot="1" noChangeAspect="1" noChangeArrowheads="1" noTextEdit="1"/>
          </p:cNvSpPr>
          <p:nvPr>
            <p:ph type="sldImg"/>
          </p:nvPr>
        </p:nvSpPr>
        <p:spPr>
          <a:ln/>
        </p:spPr>
      </p:sp>
      <p:sp>
        <p:nvSpPr>
          <p:cNvPr id="43012" name="Rectangle 3">
            <a:extLst>
              <a:ext uri="{FF2B5EF4-FFF2-40B4-BE49-F238E27FC236}">
                <a16:creationId xmlns:a16="http://schemas.microsoft.com/office/drawing/2014/main" id="{07F3C659-BE5F-4B2D-BDFA-CB69F52DBFB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t>Multiplication operations can be performed by shifting a number towards left.</a:t>
            </a:r>
          </a:p>
          <a:p>
            <a:pPr eaLnBrk="1" hangingPunct="1">
              <a:buFontTx/>
              <a:buChar char="•"/>
            </a:pPr>
            <a:r>
              <a:rPr lang="en-US" altLang="en-US"/>
              <a:t>For example decimal 29 shifted left by 1 digit is like multiplying by 10</a:t>
            </a:r>
          </a:p>
          <a:p>
            <a:pPr eaLnBrk="1" hangingPunct="1">
              <a:buFontTx/>
              <a:buChar char="•"/>
            </a:pPr>
            <a:r>
              <a:rPr lang="en-US" altLang="en-US"/>
              <a:t>Shifting 29 by two digits towards left is multiplying by 10</a:t>
            </a:r>
            <a:r>
              <a:rPr lang="en-US" altLang="en-US" baseline="30000"/>
              <a:t>2</a:t>
            </a:r>
            <a:r>
              <a:rPr lang="en-US" altLang="en-US"/>
              <a:t> or 100</a:t>
            </a:r>
          </a:p>
          <a:p>
            <a:pPr eaLnBrk="1" hangingPunct="1">
              <a:buFontTx/>
              <a:buChar char="•"/>
            </a:pPr>
            <a:r>
              <a:rPr lang="en-US" altLang="en-US"/>
              <a:t>Each shift left operation in decimal is equivalent to multiplying a number by 10.</a:t>
            </a:r>
          </a:p>
          <a:p>
            <a:pPr eaLnBrk="1" hangingPunct="1">
              <a:buFontTx/>
              <a:buChar char="•"/>
            </a:pPr>
            <a:r>
              <a:rPr lang="en-US" altLang="en-US"/>
              <a:t>In a binary number system, each left shift is equivalent to multiplying by 2.</a:t>
            </a:r>
          </a:p>
          <a:p>
            <a:pPr eaLnBrk="1" hangingPunct="1">
              <a:buFontTx/>
              <a:buChar char="•"/>
            </a:pPr>
            <a:r>
              <a:rPr lang="en-US" altLang="en-US"/>
              <a:t>Shifting 11101</a:t>
            </a:r>
            <a:r>
              <a:rPr lang="en-US" altLang="en-US" baseline="-25000"/>
              <a:t>2</a:t>
            </a:r>
            <a:r>
              <a:rPr lang="en-US" altLang="en-US"/>
              <a:t> twice towards left is 1110100</a:t>
            </a:r>
            <a:r>
              <a:rPr lang="en-US" altLang="en-US" baseline="-25000"/>
              <a:t>2</a:t>
            </a:r>
            <a:r>
              <a:rPr lang="en-US" altLang="en-US"/>
              <a:t> which is multiply by 4.</a:t>
            </a:r>
            <a:endParaRPr lang="en-US" altLang="en-US" baseline="-250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a:extLst>
              <a:ext uri="{FF2B5EF4-FFF2-40B4-BE49-F238E27FC236}">
                <a16:creationId xmlns:a16="http://schemas.microsoft.com/office/drawing/2014/main" id="{16B1C882-E7FA-4A48-921F-C01F076D87B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C3DFC6F4-24AC-4C02-834C-D9A5FD081E7A}" type="slidenum">
              <a:rPr lang="en-GB" altLang="en-US"/>
              <a:pPr>
                <a:spcBef>
                  <a:spcPct val="0"/>
                </a:spcBef>
              </a:pPr>
              <a:t>51</a:t>
            </a:fld>
            <a:endParaRPr lang="en-GB" altLang="en-US"/>
          </a:p>
        </p:txBody>
      </p:sp>
      <p:sp>
        <p:nvSpPr>
          <p:cNvPr id="45059" name="Rectangle 2">
            <a:extLst>
              <a:ext uri="{FF2B5EF4-FFF2-40B4-BE49-F238E27FC236}">
                <a16:creationId xmlns:a16="http://schemas.microsoft.com/office/drawing/2014/main" id="{4B6CCB4F-A638-E92F-38E1-1E6A63EEC798}"/>
              </a:ext>
            </a:extLst>
          </p:cNvPr>
          <p:cNvSpPr>
            <a:spLocks noGrp="1" noRot="1" noChangeAspect="1" noChangeArrowheads="1" noTextEdit="1"/>
          </p:cNvSpPr>
          <p:nvPr>
            <p:ph type="sldImg"/>
          </p:nvPr>
        </p:nvSpPr>
        <p:spPr>
          <a:ln/>
        </p:spPr>
      </p:sp>
      <p:sp>
        <p:nvSpPr>
          <p:cNvPr id="45060" name="Rectangle 3">
            <a:extLst>
              <a:ext uri="{FF2B5EF4-FFF2-40B4-BE49-F238E27FC236}">
                <a16:creationId xmlns:a16="http://schemas.microsoft.com/office/drawing/2014/main" id="{500977B6-6530-8E43-5D96-44655FC4FCC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t>Binary division follows the same rules as in decimal division.</a:t>
            </a:r>
          </a:p>
          <a:p>
            <a:pPr eaLnBrk="1" hangingPunct="1">
              <a:buFontTx/>
              <a:buChar char="•"/>
            </a:pPr>
            <a:r>
              <a:rPr lang="en-US" altLang="en-US"/>
              <a:t>The binary division divides 1101</a:t>
            </a:r>
            <a:r>
              <a:rPr lang="en-US" altLang="en-US" baseline="-25000"/>
              <a:t>2</a:t>
            </a:r>
            <a:r>
              <a:rPr lang="en-US" altLang="en-US"/>
              <a:t> (13) by 101</a:t>
            </a:r>
            <a:r>
              <a:rPr lang="en-US" altLang="en-US" baseline="-25000"/>
              <a:t>2</a:t>
            </a:r>
            <a:r>
              <a:rPr lang="en-US" altLang="en-US"/>
              <a:t> (5) which results in a quotient value of 10</a:t>
            </a:r>
            <a:r>
              <a:rPr lang="en-US" altLang="en-US" baseline="-25000"/>
              <a:t>2</a:t>
            </a:r>
            <a:r>
              <a:rPr lang="en-US" altLang="en-US"/>
              <a:t> (2) and a remainder 11</a:t>
            </a:r>
            <a:r>
              <a:rPr lang="en-US" altLang="en-US" baseline="-25000"/>
              <a:t>2</a:t>
            </a:r>
            <a:r>
              <a:rPr lang="en-US" altLang="en-US"/>
              <a:t> (3) which is in confirmation with equivalent decimal division. </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E84026A2-7807-3681-A690-4B1F9B7A4E7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67840D8E-4A96-4BE0-9BBE-681F050F6172}" type="slidenum">
              <a:rPr lang="en-GB" altLang="en-US"/>
              <a:pPr>
                <a:spcBef>
                  <a:spcPct val="0"/>
                </a:spcBef>
              </a:pPr>
              <a:t>52</a:t>
            </a:fld>
            <a:endParaRPr lang="en-GB" altLang="en-US"/>
          </a:p>
        </p:txBody>
      </p:sp>
      <p:sp>
        <p:nvSpPr>
          <p:cNvPr id="47107" name="Rectangle 2">
            <a:extLst>
              <a:ext uri="{FF2B5EF4-FFF2-40B4-BE49-F238E27FC236}">
                <a16:creationId xmlns:a16="http://schemas.microsoft.com/office/drawing/2014/main" id="{22DDAA59-84CA-C98B-EC32-1357231520E5}"/>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E35445A0-067E-3105-B56E-0C80A8942DE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r>
              <a:rPr lang="en-US" altLang="en-US"/>
              <a:t>Division operations can be performed by shifting a number towards right.</a:t>
            </a:r>
          </a:p>
          <a:p>
            <a:pPr eaLnBrk="1" hangingPunct="1">
              <a:buFontTx/>
              <a:buChar char="•"/>
            </a:pPr>
            <a:r>
              <a:rPr lang="en-US" altLang="en-US"/>
              <a:t>For example decimal 29 shifted right by 1 digit is like dividing by 10</a:t>
            </a:r>
          </a:p>
          <a:p>
            <a:pPr eaLnBrk="1" hangingPunct="1">
              <a:buFontTx/>
              <a:buChar char="•"/>
            </a:pPr>
            <a:r>
              <a:rPr lang="en-US" altLang="en-US"/>
              <a:t>Shifting 29 by two digits towards right is dividing by 10</a:t>
            </a:r>
            <a:r>
              <a:rPr lang="en-US" altLang="en-US" baseline="30000"/>
              <a:t>2</a:t>
            </a:r>
            <a:r>
              <a:rPr lang="en-US" altLang="en-US"/>
              <a:t> or 100</a:t>
            </a:r>
          </a:p>
          <a:p>
            <a:pPr eaLnBrk="1" hangingPunct="1">
              <a:buFontTx/>
              <a:buChar char="•"/>
            </a:pPr>
            <a:r>
              <a:rPr lang="en-US" altLang="en-US"/>
              <a:t>Each shift right operation in decimal is equivalent to dividing a number by 10.</a:t>
            </a:r>
          </a:p>
          <a:p>
            <a:pPr eaLnBrk="1" hangingPunct="1">
              <a:buFontTx/>
              <a:buChar char="•"/>
            </a:pPr>
            <a:r>
              <a:rPr lang="en-US" altLang="en-US"/>
              <a:t>In a binary number system, each right shift is equivalent to dividing by 2.</a:t>
            </a:r>
          </a:p>
          <a:p>
            <a:pPr eaLnBrk="1" hangingPunct="1">
              <a:buFontTx/>
              <a:buChar char="•"/>
            </a:pPr>
            <a:r>
              <a:rPr lang="en-US" altLang="en-US"/>
              <a:t>Shifting 11101</a:t>
            </a:r>
            <a:r>
              <a:rPr lang="en-US" altLang="en-US" baseline="-25000"/>
              <a:t>2</a:t>
            </a:r>
            <a:r>
              <a:rPr lang="en-US" altLang="en-US"/>
              <a:t> twice towards right is 111.01</a:t>
            </a:r>
            <a:r>
              <a:rPr lang="en-US" altLang="en-US" baseline="-25000"/>
              <a:t>2</a:t>
            </a:r>
            <a:r>
              <a:rPr lang="en-US" altLang="en-US"/>
              <a:t> which is divide by 4.</a:t>
            </a:r>
            <a:endParaRPr lang="en-US" altLang="en-US" baseline="-250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p>
            <a:fld id="{B3DD6337-50A4-470A-A09D-7E360861D277}" type="slidenum">
              <a:rPr lang="en-GB" smtClean="0"/>
              <a:pPr/>
              <a:t>60</a:t>
            </a:fld>
            <a:endParaRPr lang="en-GB"/>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p:spPr>
        <p:txBody>
          <a:bodyPr/>
          <a:lstStyle/>
          <a:p>
            <a:pPr eaLnBrk="1" hangingPunct="1">
              <a:buFontTx/>
              <a:buChar char="•"/>
            </a:pPr>
            <a:r>
              <a:rPr lang="en-GB" dirty="0"/>
              <a:t>Informing the digital system beforehand to deal with a number as signed or unsigned is inconvenient</a:t>
            </a:r>
          </a:p>
          <a:p>
            <a:pPr eaLnBrk="1" hangingPunct="1">
              <a:buFontTx/>
              <a:buChar char="•"/>
            </a:pPr>
            <a:r>
              <a:rPr lang="en-GB" dirty="0"/>
              <a:t>Signed binary numbers are represented in their 2’s complement form.</a:t>
            </a:r>
          </a:p>
          <a:p>
            <a:pPr eaLnBrk="1" hangingPunct="1">
              <a:buFontTx/>
              <a:buChar char="•"/>
            </a:pPr>
            <a:r>
              <a:rPr lang="en-GB" dirty="0"/>
              <a:t>A 2’s complement of a binary number is achieved by first taking the 1’s complement of a number followed by its 2’s complement.</a:t>
            </a:r>
          </a:p>
          <a:p>
            <a:pPr eaLnBrk="1" hangingPunct="1">
              <a:buFontTx/>
              <a:buChar char="•"/>
            </a:pPr>
            <a:r>
              <a:rPr lang="en-GB" dirty="0"/>
              <a:t>The 1’s complement of a binary number is obtained by simply inverting each bit.</a:t>
            </a:r>
          </a:p>
          <a:p>
            <a:pPr eaLnBrk="1" hangingPunct="1">
              <a:buFontTx/>
              <a:buChar char="•"/>
            </a:pPr>
            <a:r>
              <a:rPr lang="en-GB" dirty="0"/>
              <a:t>The 2’s complement of a binary number is obtained by adding a 1 to the 1’s complement of the original number.</a:t>
            </a:r>
          </a:p>
          <a:p>
            <a:pPr eaLnBrk="1" hangingPunct="1">
              <a:buFontTx/>
              <a:buChar char="•"/>
            </a:pPr>
            <a:r>
              <a:rPr lang="en-GB" dirty="0"/>
              <a:t>In a 2’s complement form all negative binary numbers are represented in their 2’s complement form</a:t>
            </a:r>
          </a:p>
          <a:p>
            <a:pPr eaLnBrk="1" hangingPunct="1">
              <a:buFontTx/>
              <a:buChar char="•"/>
            </a:pPr>
            <a:r>
              <a:rPr lang="en-GB" dirty="0"/>
              <a:t>All such negative numbers have their most significant bit set to 1 signifying a negative number.</a:t>
            </a:r>
          </a:p>
          <a:p>
            <a:pPr eaLnBrk="1" hangingPunct="1">
              <a:buFontTx/>
              <a:buChar char="•"/>
            </a:pPr>
            <a:r>
              <a:rPr lang="en-GB" dirty="0"/>
              <a:t>All positive numbers are represented in their original form.</a:t>
            </a:r>
          </a:p>
          <a:p>
            <a:pPr eaLnBrk="1" hangingPunct="1">
              <a:buFontTx/>
              <a:buChar char="•"/>
            </a:pPr>
            <a:r>
              <a:rPr lang="en-GB" dirty="0"/>
              <a:t>Their most significant bit is a 0 specifying a positive number.</a:t>
            </a:r>
          </a:p>
        </p:txBody>
      </p:sp>
    </p:spTree>
    <p:extLst>
      <p:ext uri="{BB962C8B-B14F-4D97-AF65-F5344CB8AC3E}">
        <p14:creationId xmlns:p14="http://schemas.microsoft.com/office/powerpoint/2010/main" val="40807787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p>
            <a:fld id="{84E2CE3F-181D-4605-BCC6-84265404CA2C}" type="slidenum">
              <a:rPr lang="en-GB" smtClean="0"/>
              <a:pPr/>
              <a:t>61</a:t>
            </a:fld>
            <a:endParaRPr lang="en-GB"/>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a:ln/>
        </p:spPr>
        <p:txBody>
          <a:bodyPr/>
          <a:lstStyle/>
          <a:p>
            <a:pPr eaLnBrk="1" hangingPunct="1">
              <a:buFontTx/>
              <a:buChar char="•"/>
            </a:pPr>
            <a:r>
              <a:rPr lang="en-GB" dirty="0"/>
              <a:t>What happens if you perform addition of 2 and 7 using unsigned representation?</a:t>
            </a:r>
          </a:p>
          <a:p>
            <a:pPr eaLnBrk="1" hangingPunct="1">
              <a:buFontTx/>
              <a:buChar char="•"/>
            </a:pPr>
            <a:r>
              <a:rPr lang="en-GB" dirty="0"/>
              <a:t>The answer is 9 and it can not be represented using 3-bit unsigned binary numbers.</a:t>
            </a:r>
          </a:p>
          <a:p>
            <a:pPr eaLnBrk="1" hangingPunct="1">
              <a:buFontTx/>
              <a:buChar char="•"/>
            </a:pPr>
            <a:r>
              <a:rPr lang="en-GB" dirty="0"/>
              <a:t>An Overflow has occurred.</a:t>
            </a:r>
          </a:p>
        </p:txBody>
      </p:sp>
    </p:spTree>
    <p:extLst>
      <p:ext uri="{BB962C8B-B14F-4D97-AF65-F5344CB8AC3E}">
        <p14:creationId xmlns:p14="http://schemas.microsoft.com/office/powerpoint/2010/main" val="25466248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p>
            <a:fld id="{A59E2B43-D763-4BA6-81C2-B41150291D37}" type="slidenum">
              <a:rPr lang="en-GB" smtClean="0"/>
              <a:pPr/>
              <a:t>64</a:t>
            </a:fld>
            <a:endParaRPr lang="en-GB"/>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noFill/>
          <a:ln/>
        </p:spPr>
        <p:txBody>
          <a:bodyPr/>
          <a:lstStyle/>
          <a:p>
            <a:pPr eaLnBrk="1" hangingPunct="1">
              <a:buFontTx/>
              <a:buChar char="•"/>
            </a:pPr>
            <a:r>
              <a:rPr lang="en-GB" sz="1000" dirty="0"/>
              <a:t>There are four cases of addition</a:t>
            </a:r>
          </a:p>
          <a:p>
            <a:pPr eaLnBrk="1" hangingPunct="1">
              <a:buFontTx/>
              <a:buChar char="•"/>
            </a:pPr>
            <a:r>
              <a:rPr lang="en-GB" sz="1000" dirty="0"/>
              <a:t>Both numbers are positive</a:t>
            </a:r>
          </a:p>
          <a:p>
            <a:pPr eaLnBrk="1" hangingPunct="1"/>
            <a:r>
              <a:rPr lang="en-GB" sz="1000" dirty="0"/>
              <a:t>0101		+5</a:t>
            </a:r>
            <a:endParaRPr lang="en-GB" sz="1000" u="sng" dirty="0"/>
          </a:p>
          <a:p>
            <a:pPr eaLnBrk="1" hangingPunct="1"/>
            <a:r>
              <a:rPr lang="en-GB" sz="1000" u="sng" dirty="0"/>
              <a:t>0010		+2</a:t>
            </a:r>
            <a:endParaRPr lang="en-GB" sz="1000" dirty="0"/>
          </a:p>
          <a:p>
            <a:pPr eaLnBrk="1" hangingPunct="1"/>
            <a:r>
              <a:rPr lang="en-GB" sz="1000" dirty="0"/>
              <a:t>0111		+7</a:t>
            </a:r>
          </a:p>
          <a:p>
            <a:pPr eaLnBrk="1" hangingPunct="1">
              <a:buFontTx/>
              <a:buChar char="•"/>
            </a:pPr>
            <a:r>
              <a:rPr lang="en-GB" sz="1000" dirty="0"/>
              <a:t>Both numbers are negative</a:t>
            </a:r>
          </a:p>
          <a:p>
            <a:pPr eaLnBrk="1" hangingPunct="1"/>
            <a:r>
              <a:rPr lang="en-GB" sz="1000" dirty="0"/>
              <a:t>1011		-5</a:t>
            </a:r>
            <a:endParaRPr lang="en-GB" sz="1000" u="sng" dirty="0"/>
          </a:p>
          <a:p>
            <a:pPr eaLnBrk="1" hangingPunct="1"/>
            <a:r>
              <a:rPr lang="en-GB" sz="1000" u="sng" dirty="0"/>
              <a:t>1110		-2</a:t>
            </a:r>
            <a:endParaRPr lang="en-GB" sz="1000" dirty="0"/>
          </a:p>
          <a:p>
            <a:pPr eaLnBrk="1" hangingPunct="1"/>
            <a:r>
              <a:rPr lang="en-GB" sz="1000" dirty="0"/>
              <a:t>1001		-7	the carry generated from the </a:t>
            </a:r>
            <a:r>
              <a:rPr lang="en-GB" sz="1000" dirty="0" err="1"/>
              <a:t>msb</a:t>
            </a:r>
            <a:r>
              <a:rPr lang="en-GB" sz="1000" dirty="0"/>
              <a:t> is discarded</a:t>
            </a:r>
          </a:p>
          <a:p>
            <a:pPr eaLnBrk="1" hangingPunct="1">
              <a:buFontTx/>
              <a:buChar char="•"/>
            </a:pPr>
            <a:r>
              <a:rPr lang="en-GB" sz="1000" dirty="0"/>
              <a:t>One number is positive and its magnitude is larger than the negative number</a:t>
            </a:r>
          </a:p>
          <a:p>
            <a:pPr eaLnBrk="1" hangingPunct="1"/>
            <a:r>
              <a:rPr lang="en-GB" sz="1000" dirty="0"/>
              <a:t>0101		+5</a:t>
            </a:r>
            <a:endParaRPr lang="en-GB" sz="1000" u="sng" dirty="0"/>
          </a:p>
          <a:p>
            <a:pPr eaLnBrk="1" hangingPunct="1"/>
            <a:r>
              <a:rPr lang="en-GB" sz="1000" u="sng" dirty="0"/>
              <a:t>1110		-2</a:t>
            </a:r>
            <a:endParaRPr lang="en-GB" sz="1000" dirty="0"/>
          </a:p>
          <a:p>
            <a:pPr eaLnBrk="1" hangingPunct="1"/>
            <a:r>
              <a:rPr lang="en-GB" sz="1000" dirty="0"/>
              <a:t>0011		+3	the carry generated from the </a:t>
            </a:r>
            <a:r>
              <a:rPr lang="en-GB" sz="1000" dirty="0" err="1"/>
              <a:t>msb</a:t>
            </a:r>
            <a:r>
              <a:rPr lang="en-GB" sz="1000" dirty="0"/>
              <a:t> is discarded</a:t>
            </a:r>
          </a:p>
          <a:p>
            <a:pPr eaLnBrk="1" hangingPunct="1">
              <a:buFontTx/>
              <a:buChar char="•"/>
            </a:pPr>
            <a:r>
              <a:rPr lang="en-GB" sz="1000" dirty="0"/>
              <a:t>One number is positive and its magnitude is smaller than the negative number</a:t>
            </a:r>
          </a:p>
          <a:p>
            <a:pPr eaLnBrk="1" hangingPunct="1"/>
            <a:r>
              <a:rPr lang="en-GB" sz="1000" dirty="0"/>
              <a:t>1011		-5</a:t>
            </a:r>
            <a:endParaRPr lang="en-GB" sz="1000" u="sng" dirty="0"/>
          </a:p>
          <a:p>
            <a:pPr eaLnBrk="1" hangingPunct="1"/>
            <a:r>
              <a:rPr lang="en-GB" sz="1000" u="sng" dirty="0"/>
              <a:t>0010		+2</a:t>
            </a:r>
            <a:endParaRPr lang="en-GB" sz="1000" dirty="0"/>
          </a:p>
          <a:p>
            <a:pPr eaLnBrk="1" hangingPunct="1"/>
            <a:r>
              <a:rPr lang="en-GB" sz="1000" dirty="0"/>
              <a:t>1101		-3</a:t>
            </a:r>
          </a:p>
          <a:p>
            <a:pPr eaLnBrk="1" hangingPunct="1">
              <a:buFontTx/>
              <a:buChar char="•"/>
            </a:pPr>
            <a:r>
              <a:rPr lang="en-GB" sz="1000" dirty="0"/>
              <a:t>By using signed number based on 2’s complement the addition operation serves to add and subtract numbers.</a:t>
            </a:r>
          </a:p>
        </p:txBody>
      </p:sp>
    </p:spTree>
    <p:extLst>
      <p:ext uri="{BB962C8B-B14F-4D97-AF65-F5344CB8AC3E}">
        <p14:creationId xmlns:p14="http://schemas.microsoft.com/office/powerpoint/2010/main" val="4657446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p:spPr>
        <p:txBody>
          <a:bodyPr/>
          <a:lstStyle/>
          <a:p>
            <a:fld id="{A801BB96-5D98-43B9-AC4D-0D2F884025E6}" type="slidenum">
              <a:rPr lang="en-GB" smtClean="0"/>
              <a:pPr/>
              <a:t>65</a:t>
            </a:fld>
            <a:endParaRPr lang="en-GB"/>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p:spPr>
        <p:txBody>
          <a:bodyPr/>
          <a:lstStyle/>
          <a:p>
            <a:pPr eaLnBrk="1" hangingPunct="1">
              <a:buFontTx/>
              <a:buChar char="•"/>
            </a:pPr>
            <a:r>
              <a:rPr lang="en-GB" dirty="0"/>
              <a:t>Refer to the table of Signed Magnitude and 2’s complement representation of decimal values -8 to 7 discussed in the last lecture.</a:t>
            </a:r>
          </a:p>
          <a:p>
            <a:pPr eaLnBrk="1" hangingPunct="1">
              <a:buFontTx/>
              <a:buChar char="•"/>
            </a:pPr>
            <a:r>
              <a:rPr lang="en-GB" dirty="0"/>
              <a:t>Compare the addition operation using 2’s complement and signed number representation.</a:t>
            </a:r>
          </a:p>
          <a:p>
            <a:pPr eaLnBrk="1" hangingPunct="1">
              <a:buFontTx/>
              <a:buChar char="•"/>
            </a:pPr>
            <a:r>
              <a:rPr lang="en-GB" dirty="0"/>
              <a:t>The results for addition using 2’s complement are compatible with the decimal numbers represented in their 2’s complement form.</a:t>
            </a:r>
          </a:p>
          <a:p>
            <a:pPr eaLnBrk="1" hangingPunct="1">
              <a:buFontTx/>
              <a:buChar char="•"/>
            </a:pPr>
            <a:r>
              <a:rPr lang="en-GB" dirty="0"/>
              <a:t>For example, adding +5 and +2 results in +7 all numbers are represented in their 2’s complement form.</a:t>
            </a:r>
          </a:p>
          <a:p>
            <a:pPr eaLnBrk="1" hangingPunct="1">
              <a:buFontTx/>
              <a:buChar char="•"/>
            </a:pPr>
            <a:r>
              <a:rPr lang="en-GB" dirty="0"/>
              <a:t>Adding -5 and -2 results in -7, all numbers are represented in their 2’s complement form</a:t>
            </a:r>
          </a:p>
          <a:p>
            <a:pPr eaLnBrk="1" hangingPunct="1">
              <a:buFontTx/>
              <a:buChar char="•"/>
            </a:pPr>
            <a:r>
              <a:rPr lang="en-GB" dirty="0"/>
              <a:t>Now compare the addition of same numbers represented in their Signed Magnitude form. The addition of +5 and +2 results in +7 all numbers are represented in their signed form. </a:t>
            </a:r>
          </a:p>
          <a:p>
            <a:pPr eaLnBrk="1" hangingPunct="1">
              <a:buFontTx/>
              <a:buChar char="•"/>
            </a:pPr>
            <a:r>
              <a:rPr lang="en-GB" dirty="0"/>
              <a:t>However, adding -5 and -2 results in -7. -7 is however not represented in its signed form. In fact it represents +7.     </a:t>
            </a:r>
          </a:p>
        </p:txBody>
      </p:sp>
    </p:spTree>
    <p:extLst>
      <p:ext uri="{BB962C8B-B14F-4D97-AF65-F5344CB8AC3E}">
        <p14:creationId xmlns:p14="http://schemas.microsoft.com/office/powerpoint/2010/main" val="35309966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p:spPr>
        <p:txBody>
          <a:bodyPr/>
          <a:lstStyle/>
          <a:p>
            <a:fld id="{4A7C960A-A680-4DB8-8FAA-43740E40EAA0}" type="slidenum">
              <a:rPr lang="en-GB" smtClean="0"/>
              <a:pPr/>
              <a:t>66</a:t>
            </a:fld>
            <a:endParaRPr lang="en-GB"/>
          </a:p>
        </p:txBody>
      </p:sp>
      <p:sp>
        <p:nvSpPr>
          <p:cNvPr id="69635" name="Rectangle 2"/>
          <p:cNvSpPr>
            <a:spLocks noGrp="1" noRot="1" noChangeAspect="1" noChangeArrowheads="1" noTextEdit="1"/>
          </p:cNvSpPr>
          <p:nvPr>
            <p:ph type="sldImg"/>
          </p:nvPr>
        </p:nvSpPr>
        <p:spPr>
          <a:ln/>
        </p:spPr>
      </p:sp>
      <p:sp>
        <p:nvSpPr>
          <p:cNvPr id="69636" name="Rectangle 3"/>
          <p:cNvSpPr>
            <a:spLocks noGrp="1" noChangeArrowheads="1"/>
          </p:cNvSpPr>
          <p:nvPr>
            <p:ph type="body" idx="1"/>
          </p:nvPr>
        </p:nvSpPr>
        <p:spPr>
          <a:noFill/>
          <a:ln/>
        </p:spPr>
        <p:txBody>
          <a:bodyPr/>
          <a:lstStyle/>
          <a:p>
            <a:pPr eaLnBrk="1" hangingPunct="1">
              <a:buFontTx/>
              <a:buChar char="•"/>
            </a:pPr>
            <a:r>
              <a:rPr lang="en-GB" dirty="0"/>
              <a:t>Consider the addition of +5 and -2 or subtraction of 2 from 5. The answer is +3.</a:t>
            </a:r>
          </a:p>
          <a:p>
            <a:pPr eaLnBrk="1" hangingPunct="1">
              <a:buFontTx/>
              <a:buChar char="•"/>
            </a:pPr>
            <a:r>
              <a:rPr lang="en-GB" dirty="0"/>
              <a:t>In the 2’s complement form the result 0011 (neglecting the carry bit) is compatible with 2’s complement representation of +3.</a:t>
            </a:r>
          </a:p>
          <a:p>
            <a:pPr eaLnBrk="1" hangingPunct="1">
              <a:buFontTx/>
              <a:buChar char="•"/>
            </a:pPr>
            <a:r>
              <a:rPr lang="en-GB" dirty="0"/>
              <a:t>In the signed magnitude form the result 1111 doesn’t represent +3 but -7.</a:t>
            </a:r>
          </a:p>
          <a:p>
            <a:pPr eaLnBrk="1" hangingPunct="1">
              <a:buFontTx/>
              <a:buChar char="•"/>
            </a:pPr>
            <a:r>
              <a:rPr lang="en-GB" dirty="0"/>
              <a:t>In the next example, adding -5 and +2 or subtracting -5 from 2 results in -3.</a:t>
            </a:r>
          </a:p>
          <a:p>
            <a:pPr eaLnBrk="1" hangingPunct="1">
              <a:buFontTx/>
              <a:buChar char="•"/>
            </a:pPr>
            <a:r>
              <a:rPr lang="en-GB" dirty="0"/>
              <a:t>In the 2’s complement form the result 1101 is compatible with 2’scomplement representation of -3.</a:t>
            </a:r>
          </a:p>
          <a:p>
            <a:pPr eaLnBrk="1" hangingPunct="1">
              <a:buFontTx/>
              <a:buChar char="•"/>
            </a:pPr>
            <a:r>
              <a:rPr lang="en-GB" dirty="0"/>
              <a:t>In the signed magnitude form the result 1111 doesn’t represent -3 but -7.</a:t>
            </a:r>
          </a:p>
          <a:p>
            <a:pPr eaLnBrk="1" hangingPunct="1">
              <a:buFontTx/>
              <a:buChar char="•"/>
            </a:pPr>
            <a:r>
              <a:rPr lang="en-GB" dirty="0"/>
              <a:t>Thus representing signed numbers in 2’s complement form allows number to be directly added to perform addition and subtraction. The result would always be correct and in its 2’s complement form.</a:t>
            </a:r>
          </a:p>
          <a:p>
            <a:pPr eaLnBrk="1" hangingPunct="1">
              <a:buFontTx/>
              <a:buChar char="•"/>
            </a:pPr>
            <a:r>
              <a:rPr lang="en-GB" dirty="0"/>
              <a:t>Thus an adder circuit is able to perform both additions and subtraction if the numbers are represented in their 2’s complement form. No </a:t>
            </a:r>
            <a:r>
              <a:rPr lang="en-GB" dirty="0" err="1"/>
              <a:t>subtractor</a:t>
            </a:r>
            <a:r>
              <a:rPr lang="en-GB" dirty="0"/>
              <a:t> circuit is required. With signed magnitude form separate adder and </a:t>
            </a:r>
            <a:r>
              <a:rPr lang="en-GB" dirty="0" err="1"/>
              <a:t>subtractor</a:t>
            </a:r>
            <a:r>
              <a:rPr lang="en-GB" dirty="0"/>
              <a:t> circuits are required or the results have to be converted into signed magnitude form.</a:t>
            </a:r>
          </a:p>
          <a:p>
            <a:pPr eaLnBrk="1" hangingPunct="1">
              <a:buFontTx/>
              <a:buChar char="•"/>
            </a:pPr>
            <a:r>
              <a:rPr lang="en-GB" dirty="0"/>
              <a:t>Range of 2’s complemented numbers is more than signed magnitude representation. </a:t>
            </a:r>
          </a:p>
        </p:txBody>
      </p:sp>
    </p:spTree>
    <p:extLst>
      <p:ext uri="{BB962C8B-B14F-4D97-AF65-F5344CB8AC3E}">
        <p14:creationId xmlns:p14="http://schemas.microsoft.com/office/powerpoint/2010/main" val="31382422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p:spPr>
        <p:txBody>
          <a:bodyPr/>
          <a:lstStyle/>
          <a:p>
            <a:fld id="{44F9A4E8-1116-4BA1-85FE-24DA3AF1F056}" type="slidenum">
              <a:rPr lang="en-GB" smtClean="0"/>
              <a:pPr/>
              <a:t>68</a:t>
            </a:fld>
            <a:endParaRPr lang="en-GB"/>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p:spPr>
        <p:txBody>
          <a:bodyPr/>
          <a:lstStyle/>
          <a:p>
            <a:pPr eaLnBrk="1" hangingPunct="1">
              <a:buFontTx/>
              <a:buChar char="•"/>
            </a:pPr>
            <a:r>
              <a:rPr lang="en-GB" dirty="0"/>
              <a:t>Given the choice to represent positive and negative numbers in binary</a:t>
            </a:r>
          </a:p>
          <a:p>
            <a:pPr eaLnBrk="1" hangingPunct="1">
              <a:buFontTx/>
              <a:buChar char="•"/>
            </a:pPr>
            <a:r>
              <a:rPr lang="en-GB" dirty="0"/>
              <a:t>Unsigned representation is not suitable as it allows only positive numbers</a:t>
            </a:r>
          </a:p>
          <a:p>
            <a:pPr eaLnBrk="1" hangingPunct="1">
              <a:buFontTx/>
              <a:buChar char="•"/>
            </a:pPr>
            <a:r>
              <a:rPr lang="en-GB" dirty="0"/>
              <a:t>Signed Magnitude allows positive and Negative numbers however addition and subtraction operations results in numbers that are not in signed magnitude form.</a:t>
            </a:r>
          </a:p>
          <a:p>
            <a:pPr eaLnBrk="1" hangingPunct="1">
              <a:buFontTx/>
              <a:buChar char="•"/>
            </a:pPr>
            <a:r>
              <a:rPr lang="en-GB" dirty="0"/>
              <a:t>2’s complement allows positive and negative numbers, addition and subtraction of numbers in their 2’s complement form results in numbers that are in their 2’s complement form.</a:t>
            </a:r>
          </a:p>
          <a:p>
            <a:pPr eaLnBrk="1" hangingPunct="1">
              <a:buFontTx/>
              <a:buChar char="•"/>
            </a:pPr>
            <a:r>
              <a:rPr lang="en-GB" dirty="0"/>
              <a:t>The range of 2’s complement numbers is more than signed magnitude representation.</a:t>
            </a:r>
          </a:p>
        </p:txBody>
      </p:sp>
    </p:spTree>
    <p:extLst>
      <p:ext uri="{BB962C8B-B14F-4D97-AF65-F5344CB8AC3E}">
        <p14:creationId xmlns:p14="http://schemas.microsoft.com/office/powerpoint/2010/main" val="38921472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p:spPr>
        <p:txBody>
          <a:bodyPr/>
          <a:lstStyle/>
          <a:p>
            <a:fld id="{5BD84021-2246-4B64-8E22-360859AF0EB6}" type="slidenum">
              <a:rPr lang="en-GB" smtClean="0"/>
              <a:pPr/>
              <a:t>84</a:t>
            </a:fld>
            <a:endParaRPr lang="en-GB"/>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p:spPr>
        <p:txBody>
          <a:bodyPr/>
          <a:lstStyle/>
          <a:p>
            <a:pPr eaLnBrk="1" hangingPunct="1">
              <a:buFontTx/>
              <a:buChar char="•"/>
            </a:pPr>
            <a:r>
              <a:rPr lang="en-GB" dirty="0"/>
              <a:t>Most digital systems display a count value or the time in decimal on 7-segment LED display panels.</a:t>
            </a:r>
          </a:p>
          <a:p>
            <a:pPr eaLnBrk="1" hangingPunct="1">
              <a:buFontTx/>
              <a:buChar char="•"/>
            </a:pPr>
            <a:r>
              <a:rPr lang="en-GB" dirty="0"/>
              <a:t>Older model Calculator had LED displays instead of the LCD displays.</a:t>
            </a:r>
          </a:p>
          <a:p>
            <a:pPr eaLnBrk="1" hangingPunct="1">
              <a:buFontTx/>
              <a:buChar char="•"/>
            </a:pPr>
            <a:r>
              <a:rPr lang="en-GB" dirty="0"/>
              <a:t>Since the numbers displayed are in decimal, therefore the binary code used to display the decimal numbers is designed to represent a single digit.</a:t>
            </a:r>
          </a:p>
          <a:p>
            <a:pPr eaLnBrk="1" hangingPunct="1">
              <a:buFontTx/>
              <a:buChar char="•"/>
            </a:pPr>
            <a:r>
              <a:rPr lang="en-GB" dirty="0"/>
              <a:t>Consider a 2-digit 7-segment display that can display a count value from 0 to 99. To display the two decimal digits two separate binary codes are applied at the 7-segment display circuit inputs. Since each binary code has to specify a digit between 0 and 9 therefore only 10 different binary codes are required.</a:t>
            </a:r>
          </a:p>
          <a:p>
            <a:pPr eaLnBrk="1" hangingPunct="1">
              <a:buFontTx/>
              <a:buChar char="•"/>
            </a:pPr>
            <a:r>
              <a:rPr lang="en-GB" dirty="0"/>
              <a:t>How many binary bits are required to represent 10 unique codes?</a:t>
            </a:r>
          </a:p>
          <a:p>
            <a:pPr eaLnBrk="1" hangingPunct="1">
              <a:buFontTx/>
              <a:buChar char="•"/>
            </a:pPr>
            <a:r>
              <a:rPr lang="en-GB" dirty="0"/>
              <a:t>A 4-bit binary code allows 16 different binary combinations to be represented. Only the first 10, 4-bit binary codes are used, the remaining 6 codes are not used.</a:t>
            </a:r>
          </a:p>
          <a:p>
            <a:pPr eaLnBrk="1" hangingPunct="1">
              <a:buFontTx/>
              <a:buChar char="•"/>
            </a:pPr>
            <a:r>
              <a:rPr lang="en-GB" dirty="0"/>
              <a:t>Thus displaying a 2-digit decimal number 79 would require the digital system to generate two BCD numbers 0111 and 1001 respectively</a:t>
            </a:r>
          </a:p>
        </p:txBody>
      </p:sp>
    </p:spTree>
    <p:extLst>
      <p:ext uri="{BB962C8B-B14F-4D97-AF65-F5344CB8AC3E}">
        <p14:creationId xmlns:p14="http://schemas.microsoft.com/office/powerpoint/2010/main" val="12250107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p>
            <a:fld id="{873E551D-3F26-4965-BE18-EB6C0C70318C}" type="slidenum">
              <a:rPr lang="en-GB" smtClean="0"/>
              <a:pPr/>
              <a:t>90</a:t>
            </a:fld>
            <a:endParaRPr lang="en-GB"/>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p:spPr>
        <p:txBody>
          <a:bodyPr/>
          <a:lstStyle/>
          <a:p>
            <a:pPr eaLnBrk="1" hangingPunct="1">
              <a:lnSpc>
                <a:spcPct val="80000"/>
              </a:lnSpc>
              <a:buFontTx/>
              <a:buChar char="•"/>
            </a:pPr>
            <a:r>
              <a:rPr lang="en-GB" sz="1000" dirty="0"/>
              <a:t>The Diagram shows a disk connected to the shaft of a rotating machine. </a:t>
            </a:r>
          </a:p>
          <a:p>
            <a:pPr eaLnBrk="1" hangingPunct="1">
              <a:lnSpc>
                <a:spcPct val="80000"/>
              </a:lnSpc>
              <a:buFontTx/>
              <a:buChar char="•"/>
            </a:pPr>
            <a:r>
              <a:rPr lang="en-GB" sz="1000" dirty="0"/>
              <a:t>The shaded areas on the disk indicate conducting area at a voltage of +5 volts.</a:t>
            </a:r>
          </a:p>
          <a:p>
            <a:pPr eaLnBrk="1" hangingPunct="1">
              <a:lnSpc>
                <a:spcPct val="80000"/>
              </a:lnSpc>
              <a:buFontTx/>
              <a:buChar char="•"/>
            </a:pPr>
            <a:r>
              <a:rPr lang="en-GB" sz="1000" dirty="0"/>
              <a:t>The non-shaded area indicate a non-conducting area.</a:t>
            </a:r>
          </a:p>
          <a:p>
            <a:pPr eaLnBrk="1" hangingPunct="1">
              <a:lnSpc>
                <a:spcPct val="80000"/>
              </a:lnSpc>
              <a:buFontTx/>
              <a:buChar char="•"/>
            </a:pPr>
            <a:r>
              <a:rPr lang="en-GB" sz="1000" dirty="0"/>
              <a:t>Three stationary brushes A, B and C touch the surface of the rotating disk. </a:t>
            </a:r>
          </a:p>
          <a:p>
            <a:pPr eaLnBrk="1" hangingPunct="1">
              <a:lnSpc>
                <a:spcPct val="80000"/>
              </a:lnSpc>
              <a:buFontTx/>
              <a:buChar char="•"/>
            </a:pPr>
            <a:r>
              <a:rPr lang="en-GB" sz="1000" dirty="0"/>
              <a:t>The three brushes are connected to three LED lamps through wires. </a:t>
            </a:r>
          </a:p>
          <a:p>
            <a:pPr eaLnBrk="1" hangingPunct="1">
              <a:lnSpc>
                <a:spcPct val="80000"/>
              </a:lnSpc>
              <a:buFontTx/>
              <a:buChar char="•"/>
            </a:pPr>
            <a:r>
              <a:rPr lang="en-GB" sz="1000" dirty="0"/>
              <a:t>As the disk rotates the brushes come in contact with the conducting area and the insulated area. The three LEDs display the position of the rotating shaft in terms of 3-bit numbers.</a:t>
            </a:r>
          </a:p>
          <a:p>
            <a:pPr eaLnBrk="1" hangingPunct="1">
              <a:lnSpc>
                <a:spcPct val="80000"/>
              </a:lnSpc>
              <a:buFontTx/>
              <a:buChar char="•"/>
            </a:pPr>
            <a:r>
              <a:rPr lang="en-GB" sz="1000" dirty="0"/>
              <a:t>Thus if the disk on the left rotates in the anti-clockwise direction by 45</a:t>
            </a:r>
            <a:r>
              <a:rPr lang="en-GB" sz="1000" baseline="30000" dirty="0"/>
              <a:t>0</a:t>
            </a:r>
            <a:r>
              <a:rPr lang="en-GB" sz="1000" dirty="0"/>
              <a:t> the Brush A comes in contact with the conducting strip at 5 volts, which turns on the LED indicating Binary 001.</a:t>
            </a:r>
          </a:p>
          <a:p>
            <a:pPr eaLnBrk="1" hangingPunct="1">
              <a:lnSpc>
                <a:spcPct val="80000"/>
              </a:lnSpc>
              <a:buFontTx/>
              <a:buChar char="•"/>
            </a:pPr>
            <a:r>
              <a:rPr lang="en-GB" sz="1000" dirty="0"/>
              <a:t>If the disk continuous its rotation, after a rotation of another 45</a:t>
            </a:r>
            <a:r>
              <a:rPr lang="en-GB" sz="1000" baseline="30000" dirty="0"/>
              <a:t>0</a:t>
            </a:r>
            <a:r>
              <a:rPr lang="en-GB" sz="1000" dirty="0"/>
              <a:t> ,brush B comes in contact with the conducting strip and brush A comes in contact with the non-conducting strip. Thus LED connected to brush B lights up indicating binary 010.</a:t>
            </a:r>
          </a:p>
          <a:p>
            <a:pPr eaLnBrk="1" hangingPunct="1">
              <a:lnSpc>
                <a:spcPct val="80000"/>
              </a:lnSpc>
              <a:buFontTx/>
              <a:buChar char="•"/>
            </a:pPr>
            <a:r>
              <a:rPr lang="en-GB" sz="1000" dirty="0"/>
              <a:t>Thus at any instant of time, the LEDs indicate the angular position of the rotating shaft.</a:t>
            </a:r>
          </a:p>
          <a:p>
            <a:pPr eaLnBrk="1" hangingPunct="1">
              <a:lnSpc>
                <a:spcPct val="80000"/>
              </a:lnSpc>
              <a:buFontTx/>
              <a:buChar char="•"/>
            </a:pPr>
            <a:r>
              <a:rPr lang="en-GB" sz="1000" dirty="0"/>
              <a:t>Assume that the three brushes A, B and C are not aligned properly and Brush B is slightly ahead of brushes A and C. </a:t>
            </a:r>
          </a:p>
          <a:p>
            <a:pPr eaLnBrk="1" hangingPunct="1">
              <a:lnSpc>
                <a:spcPct val="80000"/>
              </a:lnSpc>
              <a:buFontTx/>
              <a:buChar char="•"/>
            </a:pPr>
            <a:r>
              <a:rPr lang="en-GB" sz="1000" dirty="0"/>
              <a:t>Now if the disk rotates 90</a:t>
            </a:r>
            <a:r>
              <a:rPr lang="en-GB" sz="1000" baseline="30000" dirty="0"/>
              <a:t>0</a:t>
            </a:r>
            <a:r>
              <a:rPr lang="en-GB" sz="1000" dirty="0"/>
              <a:t> from its start position. Brush A would be in contact with the conducting strip, Brush B due to its misalignment would also be in contact with the conducting strip and brush C would be in contact with the insulated strip.</a:t>
            </a:r>
          </a:p>
          <a:p>
            <a:pPr eaLnBrk="1" hangingPunct="1">
              <a:lnSpc>
                <a:spcPct val="80000"/>
              </a:lnSpc>
              <a:buFontTx/>
              <a:buChar char="•"/>
            </a:pPr>
            <a:r>
              <a:rPr lang="en-GB" sz="1000" dirty="0"/>
              <a:t>Thus when the disk rotates the LEDs will show a 001,followed by a 011 for a short duration when the disk rotates from 90</a:t>
            </a:r>
            <a:r>
              <a:rPr lang="en-GB" sz="1000" baseline="30000" dirty="0"/>
              <a:t>0</a:t>
            </a:r>
            <a:r>
              <a:rPr lang="en-GB" sz="1000" dirty="0"/>
              <a:t> to 91</a:t>
            </a:r>
            <a:r>
              <a:rPr lang="en-GB" sz="1000" baseline="30000" dirty="0"/>
              <a:t>0</a:t>
            </a:r>
            <a:r>
              <a:rPr lang="en-GB" sz="1000" dirty="0"/>
              <a:t> and then to 010.</a:t>
            </a:r>
          </a:p>
          <a:p>
            <a:pPr eaLnBrk="1" hangingPunct="1">
              <a:lnSpc>
                <a:spcPct val="80000"/>
              </a:lnSpc>
              <a:buFontTx/>
              <a:buChar char="•"/>
            </a:pPr>
            <a:r>
              <a:rPr lang="en-GB" sz="1000" dirty="0"/>
              <a:t>Thus due to misalignment the count value jumped from 1 to 3 and then back to 2.</a:t>
            </a:r>
          </a:p>
          <a:p>
            <a:pPr eaLnBrk="1" hangingPunct="1">
              <a:lnSpc>
                <a:spcPct val="80000"/>
              </a:lnSpc>
              <a:buFontTx/>
              <a:buChar char="•"/>
            </a:pPr>
            <a:r>
              <a:rPr lang="en-GB" sz="1000" dirty="0"/>
              <a:t>Consider the disk shown on the right. The conducting and non-conducting strips follow a </a:t>
            </a:r>
            <a:r>
              <a:rPr lang="en-GB" sz="1000" dirty="0" err="1"/>
              <a:t>Gray</a:t>
            </a:r>
            <a:r>
              <a:rPr lang="en-GB" sz="1000" dirty="0"/>
              <a:t> Code pattern 000, 001, 011, 010, 110, 111, 101 and 100 representing decimal 0, 1, 2, 3, 4, 5, 6 and 7.</a:t>
            </a:r>
          </a:p>
          <a:p>
            <a:pPr eaLnBrk="1" hangingPunct="1">
              <a:lnSpc>
                <a:spcPct val="80000"/>
              </a:lnSpc>
              <a:buFontTx/>
              <a:buChar char="•"/>
            </a:pPr>
            <a:r>
              <a:rPr lang="en-GB" sz="1000" dirty="0"/>
              <a:t>Now even if the brushes are misaligned, the LEDs would always display the correct count value.</a:t>
            </a:r>
          </a:p>
        </p:txBody>
      </p:sp>
    </p:spTree>
    <p:extLst>
      <p:ext uri="{BB962C8B-B14F-4D97-AF65-F5344CB8AC3E}">
        <p14:creationId xmlns:p14="http://schemas.microsoft.com/office/powerpoint/2010/main" val="42092373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a:t>
            </a:fld>
            <a:endParaRPr lang="en-US"/>
          </a:p>
        </p:txBody>
      </p:sp>
    </p:spTree>
    <p:extLst>
      <p:ext uri="{BB962C8B-B14F-4D97-AF65-F5344CB8AC3E}">
        <p14:creationId xmlns:p14="http://schemas.microsoft.com/office/powerpoint/2010/main" val="37083650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a:t>
            </a:fld>
            <a:endParaRPr lang="en-US"/>
          </a:p>
        </p:txBody>
      </p:sp>
    </p:spTree>
    <p:extLst>
      <p:ext uri="{BB962C8B-B14F-4D97-AF65-F5344CB8AC3E}">
        <p14:creationId xmlns:p14="http://schemas.microsoft.com/office/powerpoint/2010/main" val="40165245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a:t>
            </a:fld>
            <a:endParaRPr lang="en-US"/>
          </a:p>
        </p:txBody>
      </p:sp>
    </p:spTree>
    <p:extLst>
      <p:ext uri="{BB962C8B-B14F-4D97-AF65-F5344CB8AC3E}">
        <p14:creationId xmlns:p14="http://schemas.microsoft.com/office/powerpoint/2010/main" val="23558131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a:t>EE227 - DLD</a:t>
            </a:r>
          </a:p>
        </p:txBody>
      </p:sp>
      <p:sp>
        <p:nvSpPr>
          <p:cNvPr id="6" name="Footer Placeholder 5"/>
          <p:cNvSpPr>
            <a:spLocks noGrp="1"/>
          </p:cNvSpPr>
          <p:nvPr>
            <p:ph type="ftr" sz="quarter" idx="11"/>
          </p:nvPr>
        </p:nvSpPr>
        <p:spPr/>
        <p:txBody>
          <a:bodyPr/>
          <a:lstStyle/>
          <a:p>
            <a:r>
              <a:rPr lang="en-US" dirty="0"/>
              <a:t>Course Instructor : Waqar Baig</a:t>
            </a:r>
          </a:p>
        </p:txBody>
      </p:sp>
      <p:sp>
        <p:nvSpPr>
          <p:cNvPr id="7" name="Slide Number Placeholder 6"/>
          <p:cNvSpPr>
            <a:spLocks noGrp="1"/>
          </p:cNvSpPr>
          <p:nvPr>
            <p:ph type="sldNum" sz="quarter" idx="12"/>
          </p:nvPr>
        </p:nvSpPr>
        <p:spPr/>
        <p:txBody>
          <a:bodyPr/>
          <a:lstStyle/>
          <a:p>
            <a:fld id="{CBE6402E-3189-41C4-BB36-EE6F934C63A5}" type="slidenum">
              <a:rPr lang="en-US" smtClean="0"/>
              <a:t>‹#›</a:t>
            </a:fld>
            <a:endParaRPr lang="en-US"/>
          </a:p>
        </p:txBody>
      </p:sp>
    </p:spTree>
    <p:extLst>
      <p:ext uri="{BB962C8B-B14F-4D97-AF65-F5344CB8AC3E}">
        <p14:creationId xmlns:p14="http://schemas.microsoft.com/office/powerpoint/2010/main" val="11696442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EE227 - DLD</a:t>
            </a:r>
          </a:p>
        </p:txBody>
      </p:sp>
      <p:sp>
        <p:nvSpPr>
          <p:cNvPr id="8" name="Footer Placeholder 7"/>
          <p:cNvSpPr>
            <a:spLocks noGrp="1"/>
          </p:cNvSpPr>
          <p:nvPr>
            <p:ph type="ftr" sz="quarter" idx="11"/>
          </p:nvPr>
        </p:nvSpPr>
        <p:spPr/>
        <p:txBody>
          <a:bodyPr/>
          <a:lstStyle/>
          <a:p>
            <a:r>
              <a:rPr lang="en-US" dirty="0"/>
              <a:t>Course Instructor : Waqar Baig</a:t>
            </a:r>
          </a:p>
        </p:txBody>
      </p:sp>
      <p:sp>
        <p:nvSpPr>
          <p:cNvPr id="9" name="Slide Number Placeholder 8"/>
          <p:cNvSpPr>
            <a:spLocks noGrp="1"/>
          </p:cNvSpPr>
          <p:nvPr>
            <p:ph type="sldNum" sz="quarter" idx="12"/>
          </p:nvPr>
        </p:nvSpPr>
        <p:spPr/>
        <p:txBody>
          <a:bodyPr/>
          <a:lstStyle/>
          <a:p>
            <a:fld id="{CBE6402E-3189-41C4-BB36-EE6F934C63A5}" type="slidenum">
              <a:rPr lang="en-US" smtClean="0"/>
              <a:t>‹#›</a:t>
            </a:fld>
            <a:endParaRPr lang="en-US"/>
          </a:p>
        </p:txBody>
      </p:sp>
    </p:spTree>
    <p:extLst>
      <p:ext uri="{BB962C8B-B14F-4D97-AF65-F5344CB8AC3E}">
        <p14:creationId xmlns:p14="http://schemas.microsoft.com/office/powerpoint/2010/main" val="29995218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EE227 - DLD</a:t>
            </a:r>
          </a:p>
        </p:txBody>
      </p:sp>
      <p:sp>
        <p:nvSpPr>
          <p:cNvPr id="4" name="Footer Placeholder 3"/>
          <p:cNvSpPr>
            <a:spLocks noGrp="1"/>
          </p:cNvSpPr>
          <p:nvPr>
            <p:ph type="ftr" sz="quarter" idx="11"/>
          </p:nvPr>
        </p:nvSpPr>
        <p:spPr/>
        <p:txBody>
          <a:bodyPr/>
          <a:lstStyle/>
          <a:p>
            <a:r>
              <a:rPr lang="en-US" dirty="0"/>
              <a:t>Course Instructor : Waqar Baig</a:t>
            </a:r>
          </a:p>
        </p:txBody>
      </p:sp>
      <p:sp>
        <p:nvSpPr>
          <p:cNvPr id="5" name="Slide Number Placeholder 4"/>
          <p:cNvSpPr>
            <a:spLocks noGrp="1"/>
          </p:cNvSpPr>
          <p:nvPr>
            <p:ph type="sldNum" sz="quarter" idx="12"/>
          </p:nvPr>
        </p:nvSpPr>
        <p:spPr/>
        <p:txBody>
          <a:bodyPr/>
          <a:lstStyle/>
          <a:p>
            <a:fld id="{CBE6402E-3189-41C4-BB36-EE6F934C63A5}" type="slidenum">
              <a:rPr lang="en-US" smtClean="0"/>
              <a:t>‹#›</a:t>
            </a:fld>
            <a:endParaRPr lang="en-US"/>
          </a:p>
        </p:txBody>
      </p:sp>
    </p:spTree>
    <p:extLst>
      <p:ext uri="{BB962C8B-B14F-4D97-AF65-F5344CB8AC3E}">
        <p14:creationId xmlns:p14="http://schemas.microsoft.com/office/powerpoint/2010/main" val="2665101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EE227 - DLD</a:t>
            </a:r>
          </a:p>
        </p:txBody>
      </p:sp>
      <p:sp>
        <p:nvSpPr>
          <p:cNvPr id="3" name="Footer Placeholder 2"/>
          <p:cNvSpPr>
            <a:spLocks noGrp="1"/>
          </p:cNvSpPr>
          <p:nvPr>
            <p:ph type="ftr" sz="quarter" idx="11"/>
          </p:nvPr>
        </p:nvSpPr>
        <p:spPr/>
        <p:txBody>
          <a:bodyPr/>
          <a:lstStyle/>
          <a:p>
            <a:r>
              <a:rPr lang="en-US" dirty="0"/>
              <a:t>Course Instructor : Waqar Baig</a:t>
            </a:r>
          </a:p>
        </p:txBody>
      </p:sp>
      <p:sp>
        <p:nvSpPr>
          <p:cNvPr id="4" name="Slide Number Placeholder 3"/>
          <p:cNvSpPr>
            <a:spLocks noGrp="1"/>
          </p:cNvSpPr>
          <p:nvPr>
            <p:ph type="sldNum" sz="quarter" idx="12"/>
          </p:nvPr>
        </p:nvSpPr>
        <p:spPr/>
        <p:txBody>
          <a:bodyPr/>
          <a:lstStyle/>
          <a:p>
            <a:fld id="{CBE6402E-3189-41C4-BB36-EE6F934C63A5}" type="slidenum">
              <a:rPr lang="en-US" smtClean="0"/>
              <a:t>‹#›</a:t>
            </a:fld>
            <a:endParaRPr lang="en-US"/>
          </a:p>
        </p:txBody>
      </p:sp>
    </p:spTree>
    <p:extLst>
      <p:ext uri="{BB962C8B-B14F-4D97-AF65-F5344CB8AC3E}">
        <p14:creationId xmlns:p14="http://schemas.microsoft.com/office/powerpoint/2010/main" val="8019808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EE227 - DLD</a:t>
            </a:r>
          </a:p>
        </p:txBody>
      </p:sp>
      <p:sp>
        <p:nvSpPr>
          <p:cNvPr id="6" name="Footer Placeholder 5"/>
          <p:cNvSpPr>
            <a:spLocks noGrp="1"/>
          </p:cNvSpPr>
          <p:nvPr>
            <p:ph type="ftr" sz="quarter" idx="11"/>
          </p:nvPr>
        </p:nvSpPr>
        <p:spPr/>
        <p:txBody>
          <a:bodyPr/>
          <a:lstStyle/>
          <a:p>
            <a:r>
              <a:rPr lang="en-US" dirty="0"/>
              <a:t>Course Instructor : Waqar Baig</a:t>
            </a:r>
          </a:p>
        </p:txBody>
      </p:sp>
      <p:sp>
        <p:nvSpPr>
          <p:cNvPr id="7" name="Slide Number Placeholder 6"/>
          <p:cNvSpPr>
            <a:spLocks noGrp="1"/>
          </p:cNvSpPr>
          <p:nvPr>
            <p:ph type="sldNum" sz="quarter" idx="12"/>
          </p:nvPr>
        </p:nvSpPr>
        <p:spPr/>
        <p:txBody>
          <a:bodyPr/>
          <a:lstStyle/>
          <a:p>
            <a:fld id="{CBE6402E-3189-41C4-BB36-EE6F934C63A5}" type="slidenum">
              <a:rPr lang="en-US" smtClean="0"/>
              <a:t>‹#›</a:t>
            </a:fld>
            <a:endParaRPr lang="en-US"/>
          </a:p>
        </p:txBody>
      </p:sp>
    </p:spTree>
    <p:extLst>
      <p:ext uri="{BB962C8B-B14F-4D97-AF65-F5344CB8AC3E}">
        <p14:creationId xmlns:p14="http://schemas.microsoft.com/office/powerpoint/2010/main" val="39957596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EE227 - DLD</a:t>
            </a:r>
          </a:p>
        </p:txBody>
      </p:sp>
      <p:sp>
        <p:nvSpPr>
          <p:cNvPr id="6" name="Footer Placeholder 5"/>
          <p:cNvSpPr>
            <a:spLocks noGrp="1"/>
          </p:cNvSpPr>
          <p:nvPr>
            <p:ph type="ftr" sz="quarter" idx="11"/>
          </p:nvPr>
        </p:nvSpPr>
        <p:spPr/>
        <p:txBody>
          <a:bodyPr/>
          <a:lstStyle/>
          <a:p>
            <a:r>
              <a:rPr lang="en-US" dirty="0"/>
              <a:t>Course Instructor : Waqar Baig</a:t>
            </a:r>
          </a:p>
        </p:txBody>
      </p:sp>
      <p:sp>
        <p:nvSpPr>
          <p:cNvPr id="7" name="Slide Number Placeholder 6"/>
          <p:cNvSpPr>
            <a:spLocks noGrp="1"/>
          </p:cNvSpPr>
          <p:nvPr>
            <p:ph type="sldNum" sz="quarter" idx="12"/>
          </p:nvPr>
        </p:nvSpPr>
        <p:spPr/>
        <p:txBody>
          <a:bodyPr/>
          <a:lstStyle/>
          <a:p>
            <a:fld id="{CBE6402E-3189-41C4-BB36-EE6F934C63A5}" type="slidenum">
              <a:rPr lang="en-US" smtClean="0"/>
              <a:t>‹#›</a:t>
            </a:fld>
            <a:endParaRPr lang="en-US"/>
          </a:p>
        </p:txBody>
      </p:sp>
    </p:spTree>
    <p:extLst>
      <p:ext uri="{BB962C8B-B14F-4D97-AF65-F5344CB8AC3E}">
        <p14:creationId xmlns:p14="http://schemas.microsoft.com/office/powerpoint/2010/main" val="9158859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a:t>
            </a:fld>
            <a:endParaRPr lang="en-US"/>
          </a:p>
        </p:txBody>
      </p:sp>
    </p:spTree>
    <p:extLst>
      <p:ext uri="{BB962C8B-B14F-4D97-AF65-F5344CB8AC3E}">
        <p14:creationId xmlns:p14="http://schemas.microsoft.com/office/powerpoint/2010/main" val="32243777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a:t>
            </a:fld>
            <a:endParaRPr lang="en-US"/>
          </a:p>
        </p:txBody>
      </p:sp>
    </p:spTree>
    <p:extLst>
      <p:ext uri="{BB962C8B-B14F-4D97-AF65-F5344CB8AC3E}">
        <p14:creationId xmlns:p14="http://schemas.microsoft.com/office/powerpoint/2010/main" val="3035283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43000"/>
          </a:xfrm>
        </p:spPr>
        <p:txBody>
          <a:bodyPr/>
          <a:lstStyle/>
          <a:p>
            <a:r>
              <a:rPr lang="en-US"/>
              <a:t>Click to edit Master title style</a:t>
            </a:r>
          </a:p>
        </p:txBody>
      </p:sp>
      <p:sp>
        <p:nvSpPr>
          <p:cNvPr id="3" name="Table Placeholder 2"/>
          <p:cNvSpPr>
            <a:spLocks noGrp="1"/>
          </p:cNvSpPr>
          <p:nvPr>
            <p:ph type="tbl" idx="1"/>
          </p:nvPr>
        </p:nvSpPr>
        <p:spPr>
          <a:xfrm>
            <a:off x="457200" y="1600200"/>
            <a:ext cx="8229600" cy="4530725"/>
          </a:xfrm>
        </p:spPr>
        <p:txBody>
          <a:bodyPr rtlCol="0">
            <a:normAutofit/>
          </a:bodyPr>
          <a:lstStyle/>
          <a:p>
            <a:pPr lvl="0"/>
            <a:endParaRPr lang="en-US" noProof="0"/>
          </a:p>
        </p:txBody>
      </p:sp>
      <p:sp>
        <p:nvSpPr>
          <p:cNvPr id="4" name="Date Placeholder 3"/>
          <p:cNvSpPr>
            <a:spLocks noGrp="1"/>
          </p:cNvSpPr>
          <p:nvPr>
            <p:ph type="dt" sz="half" idx="10"/>
          </p:nvPr>
        </p:nvSpPr>
        <p:spPr>
          <a:xfrm>
            <a:off x="457200" y="6248400"/>
            <a:ext cx="2133600" cy="457200"/>
          </a:xfrm>
        </p:spPr>
        <p:txBody>
          <a:bodyPr/>
          <a:lstStyle>
            <a:lvl1pPr>
              <a:defRPr/>
            </a:lvl1pPr>
          </a:lstStyle>
          <a:p>
            <a:pPr>
              <a:defRPr/>
            </a:pPr>
            <a:endParaRPr lang="en-GB"/>
          </a:p>
        </p:txBody>
      </p:sp>
      <p:sp>
        <p:nvSpPr>
          <p:cNvPr id="5" name="Footer Placeholder 4"/>
          <p:cNvSpPr>
            <a:spLocks noGrp="1"/>
          </p:cNvSpPr>
          <p:nvPr>
            <p:ph type="ftr" sz="quarter" idx="11"/>
          </p:nvPr>
        </p:nvSpPr>
        <p:spPr>
          <a:xfrm>
            <a:off x="3124200" y="6248400"/>
            <a:ext cx="2895600" cy="457200"/>
          </a:xfrm>
        </p:spPr>
        <p:txBody>
          <a:bodyPr/>
          <a:lstStyle>
            <a:lvl1pPr>
              <a:defRPr/>
            </a:lvl1pPr>
          </a:lstStyle>
          <a:p>
            <a:pPr>
              <a:defRPr/>
            </a:pPr>
            <a:endParaRPr lang="en-GB"/>
          </a:p>
        </p:txBody>
      </p:sp>
      <p:sp>
        <p:nvSpPr>
          <p:cNvPr id="6" name="Slide Number Placeholder 5"/>
          <p:cNvSpPr>
            <a:spLocks noGrp="1"/>
          </p:cNvSpPr>
          <p:nvPr>
            <p:ph type="sldNum" sz="quarter" idx="12"/>
          </p:nvPr>
        </p:nvSpPr>
        <p:spPr>
          <a:xfrm>
            <a:off x="6553200" y="6248400"/>
            <a:ext cx="2133600" cy="457200"/>
          </a:xfrm>
        </p:spPr>
        <p:txBody>
          <a:bodyPr/>
          <a:lstStyle>
            <a:lvl1pPr>
              <a:defRPr/>
            </a:lvl1pPr>
          </a:lstStyle>
          <a:p>
            <a:pPr>
              <a:defRPr/>
            </a:pPr>
            <a:endParaRPr lang="en-US"/>
          </a:p>
        </p:txBody>
      </p:sp>
    </p:spTree>
    <p:extLst>
      <p:ext uri="{BB962C8B-B14F-4D97-AF65-F5344CB8AC3E}">
        <p14:creationId xmlns:p14="http://schemas.microsoft.com/office/powerpoint/2010/main" val="19771725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435EDAF-65FD-2737-F42C-BDD3E9080F99}"/>
              </a:ext>
            </a:extLst>
          </p:cNvPr>
          <p:cNvSpPr>
            <a:spLocks noGrp="1"/>
          </p:cNvSpPr>
          <p:nvPr>
            <p:ph type="dt" sz="half" idx="10"/>
          </p:nvPr>
        </p:nvSpPr>
        <p:spPr>
          <a:xfrm>
            <a:off x="457200" y="6248400"/>
            <a:ext cx="2133600" cy="457200"/>
          </a:xfrm>
        </p:spPr>
        <p:txBody>
          <a:bodyPr/>
          <a:lstStyle>
            <a:lvl1pPr>
              <a:defRPr/>
            </a:lvl1pPr>
          </a:lstStyle>
          <a:p>
            <a:pPr>
              <a:defRPr/>
            </a:pPr>
            <a:endParaRPr lang="en-GB"/>
          </a:p>
        </p:txBody>
      </p:sp>
      <p:sp>
        <p:nvSpPr>
          <p:cNvPr id="6" name="Footer Placeholder 5">
            <a:extLst>
              <a:ext uri="{FF2B5EF4-FFF2-40B4-BE49-F238E27FC236}">
                <a16:creationId xmlns:a16="http://schemas.microsoft.com/office/drawing/2014/main" id="{A3E73231-6D56-B891-7E68-19EFFF7FD6A9}"/>
              </a:ext>
            </a:extLst>
          </p:cNvPr>
          <p:cNvSpPr>
            <a:spLocks noGrp="1"/>
          </p:cNvSpPr>
          <p:nvPr>
            <p:ph type="ftr" sz="quarter" idx="11"/>
          </p:nvPr>
        </p:nvSpPr>
        <p:spPr>
          <a:xfrm>
            <a:off x="3124200" y="6248400"/>
            <a:ext cx="2895600" cy="457200"/>
          </a:xfrm>
        </p:spPr>
        <p:txBody>
          <a:bodyPr/>
          <a:lstStyle>
            <a:lvl1pPr>
              <a:defRPr/>
            </a:lvl1pPr>
          </a:lstStyle>
          <a:p>
            <a:pPr>
              <a:defRPr/>
            </a:pPr>
            <a:endParaRPr lang="en-GB"/>
          </a:p>
        </p:txBody>
      </p:sp>
      <p:sp>
        <p:nvSpPr>
          <p:cNvPr id="7" name="Slide Number Placeholder 6">
            <a:extLst>
              <a:ext uri="{FF2B5EF4-FFF2-40B4-BE49-F238E27FC236}">
                <a16:creationId xmlns:a16="http://schemas.microsoft.com/office/drawing/2014/main" id="{BBD5C657-1688-6A82-4E5F-9E11DB3EABD6}"/>
              </a:ext>
            </a:extLst>
          </p:cNvPr>
          <p:cNvSpPr>
            <a:spLocks noGrp="1"/>
          </p:cNvSpPr>
          <p:nvPr>
            <p:ph type="sldNum" sz="quarter" idx="12"/>
          </p:nvPr>
        </p:nvSpPr>
        <p:spPr>
          <a:xfrm>
            <a:off x="6553200" y="6248400"/>
            <a:ext cx="2133600" cy="457200"/>
          </a:xfrm>
        </p:spPr>
        <p:txBody>
          <a:bodyPr/>
          <a:lstStyle>
            <a:lvl1pPr>
              <a:defRPr/>
            </a:lvl1pPr>
          </a:lstStyle>
          <a:p>
            <a:pPr>
              <a:defRPr/>
            </a:pPr>
            <a:endParaRPr lang="en-US"/>
          </a:p>
        </p:txBody>
      </p:sp>
    </p:spTree>
    <p:extLst>
      <p:ext uri="{BB962C8B-B14F-4D97-AF65-F5344CB8AC3E}">
        <p14:creationId xmlns:p14="http://schemas.microsoft.com/office/powerpoint/2010/main" val="34811255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665156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l">
              <a:defRPr sz="3600"/>
            </a:lvl1pPr>
          </a:lstStyle>
          <a:p>
            <a:r>
              <a:rPr lang="en-US" dirty="0"/>
              <a:t>Click to edit Master title style</a:t>
            </a:r>
          </a:p>
        </p:txBody>
      </p:sp>
      <p:sp>
        <p:nvSpPr>
          <p:cNvPr id="3" name="Content Placeholder 2"/>
          <p:cNvSpPr>
            <a:spLocks noGrp="1"/>
          </p:cNvSpPr>
          <p:nvPr>
            <p:ph idx="1"/>
          </p:nvPr>
        </p:nvSpPr>
        <p:spPr/>
        <p:txBody>
          <a:bodyPr>
            <a:normAutofit/>
          </a:bodyPr>
          <a:lstStyle>
            <a:lvl1pPr marL="342900" indent="-342900">
              <a:buFont typeface="Wingdings" panose="05000000000000000000" pitchFamily="2" charset="2"/>
              <a:buChar char="§"/>
              <a:defRPr sz="2400"/>
            </a:lvl1pPr>
            <a:lvl2pPr>
              <a:defRPr sz="2400"/>
            </a:lvl2pPr>
            <a:lvl3pPr>
              <a:defRPr sz="2400"/>
            </a:lvl3pPr>
            <a:lvl4pPr>
              <a:defRPr sz="24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6468654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844378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47130585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4458495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0791827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40217848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48721826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87613348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32939861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97602290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1"/>
            <a:ext cx="9144000" cy="6857999"/>
          </a:xfrm>
          <a:prstGeom prst="rect">
            <a:avLst/>
          </a:prstGeom>
        </p:spPr>
      </p:pic>
      <p:sp>
        <p:nvSpPr>
          <p:cNvPr id="2" name="Holder 2"/>
          <p:cNvSpPr>
            <a:spLocks noGrp="1"/>
          </p:cNvSpPr>
          <p:nvPr>
            <p:ph type="ctrTitle"/>
          </p:nvPr>
        </p:nvSpPr>
        <p:spPr>
          <a:xfrm>
            <a:off x="1175956" y="2430603"/>
            <a:ext cx="4972050" cy="507831"/>
          </a:xfrm>
          <a:prstGeom prst="rect">
            <a:avLst/>
          </a:prstGeom>
        </p:spPr>
        <p:txBody>
          <a:bodyPr wrap="square" lIns="0" tIns="0" rIns="0" bIns="0">
            <a:spAutoFit/>
          </a:bodyPr>
          <a:lstStyle>
            <a:lvl1pPr>
              <a:defRPr sz="3300" b="0" i="0">
                <a:solidFill>
                  <a:srgbClr val="2E5496"/>
                </a:solidFill>
                <a:latin typeface="Calibri Light"/>
                <a:cs typeface="Calibri Light"/>
              </a:defRPr>
            </a:lvl1pPr>
          </a:lstStyle>
          <a:p>
            <a:endParaRPr/>
          </a:p>
        </p:txBody>
      </p:sp>
      <p:sp>
        <p:nvSpPr>
          <p:cNvPr id="3" name="Holder 3"/>
          <p:cNvSpPr>
            <a:spLocks noGrp="1"/>
          </p:cNvSpPr>
          <p:nvPr>
            <p:ph type="subTitle" idx="4"/>
          </p:nvPr>
        </p:nvSpPr>
        <p:spPr>
          <a:xfrm>
            <a:off x="1371600" y="3840480"/>
            <a:ext cx="6400800" cy="276999"/>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1/30/2025</a:t>
            </a:fld>
            <a:endParaRPr lang="en-US"/>
          </a:p>
        </p:txBody>
      </p:sp>
      <p:sp>
        <p:nvSpPr>
          <p:cNvPr id="6" name="Holder 6"/>
          <p:cNvSpPr>
            <a:spLocks noGrp="1"/>
          </p:cNvSpPr>
          <p:nvPr>
            <p:ph type="sldNum" sz="quarter" idx="7"/>
          </p:nvPr>
        </p:nvSpPr>
        <p:spPr/>
        <p:txBody>
          <a:bodyPr lIns="0" tIns="0" rIns="0" bIns="0"/>
          <a:lstStyle>
            <a:lvl1pPr>
              <a:defRPr sz="900" b="0" i="1" u="sng">
                <a:solidFill>
                  <a:srgbClr val="888888"/>
                </a:solidFill>
                <a:latin typeface="Times New Roman"/>
                <a:cs typeface="Times New Roman"/>
              </a:defRPr>
            </a:lvl1pPr>
          </a:lstStyle>
          <a:p>
            <a:pPr marL="86678">
              <a:lnSpc>
                <a:spcPts val="930"/>
              </a:lnSpc>
            </a:pPr>
            <a:fld id="{81D60167-4931-47E6-BA6A-407CBD079E47}" type="slidenum">
              <a:rPr lang="en-PK" i="0" u="none" spc="-38" smtClean="0">
                <a:latin typeface="Calibri"/>
                <a:cs typeface="Calibri"/>
              </a:rPr>
              <a:pPr marL="86678">
                <a:lnSpc>
                  <a:spcPts val="930"/>
                </a:lnSpc>
              </a:pPr>
              <a:t>‹#›</a:t>
            </a:fld>
            <a:endParaRPr lang="en-PK" i="0" u="none" spc="-38" dirty="0">
              <a:latin typeface="Calibri"/>
              <a:cs typeface="Calibri"/>
            </a:endParaRPr>
          </a:p>
        </p:txBody>
      </p:sp>
    </p:spTree>
    <p:extLst>
      <p:ext uri="{BB962C8B-B14F-4D97-AF65-F5344CB8AC3E}">
        <p14:creationId xmlns:p14="http://schemas.microsoft.com/office/powerpoint/2010/main" val="48646957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687704" y="220822"/>
            <a:ext cx="7546277" cy="507831"/>
          </a:xfrm>
        </p:spPr>
        <p:txBody>
          <a:bodyPr lIns="0" tIns="0" rIns="0" bIns="0"/>
          <a:lstStyle>
            <a:lvl1pPr>
              <a:defRPr sz="3300" b="0" i="0">
                <a:solidFill>
                  <a:srgbClr val="2E5496"/>
                </a:solidFill>
                <a:latin typeface="Calibri Light"/>
                <a:cs typeface="Calibri Light"/>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1/30/2025</a:t>
            </a:fld>
            <a:endParaRPr lang="en-US"/>
          </a:p>
        </p:txBody>
      </p:sp>
      <p:sp>
        <p:nvSpPr>
          <p:cNvPr id="6" name="Holder 6"/>
          <p:cNvSpPr>
            <a:spLocks noGrp="1"/>
          </p:cNvSpPr>
          <p:nvPr>
            <p:ph type="sldNum" sz="quarter" idx="7"/>
          </p:nvPr>
        </p:nvSpPr>
        <p:spPr/>
        <p:txBody>
          <a:bodyPr lIns="0" tIns="0" rIns="0" bIns="0"/>
          <a:lstStyle>
            <a:lvl1pPr>
              <a:defRPr sz="900" b="0" i="1" u="sng">
                <a:solidFill>
                  <a:srgbClr val="888888"/>
                </a:solidFill>
                <a:latin typeface="Times New Roman"/>
                <a:cs typeface="Times New Roman"/>
              </a:defRPr>
            </a:lvl1pPr>
          </a:lstStyle>
          <a:p>
            <a:pPr marL="86678">
              <a:lnSpc>
                <a:spcPts val="930"/>
              </a:lnSpc>
            </a:pPr>
            <a:fld id="{81D60167-4931-47E6-BA6A-407CBD079E47}" type="slidenum">
              <a:rPr lang="en-PK" i="0" u="none" spc="-38" smtClean="0">
                <a:latin typeface="Calibri"/>
                <a:cs typeface="Calibri"/>
              </a:rPr>
              <a:pPr marL="86678">
                <a:lnSpc>
                  <a:spcPts val="930"/>
                </a:lnSpc>
              </a:pPr>
              <a:t>‹#›</a:t>
            </a:fld>
            <a:endParaRPr lang="en-PK" i="0" u="none" spc="-38" dirty="0">
              <a:latin typeface="Calibri"/>
              <a:cs typeface="Calibri"/>
            </a:endParaRPr>
          </a:p>
        </p:txBody>
      </p:sp>
    </p:spTree>
    <p:extLst>
      <p:ext uri="{BB962C8B-B14F-4D97-AF65-F5344CB8AC3E}">
        <p14:creationId xmlns:p14="http://schemas.microsoft.com/office/powerpoint/2010/main" val="388174421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687704" y="220822"/>
            <a:ext cx="7546277" cy="507831"/>
          </a:xfrm>
        </p:spPr>
        <p:txBody>
          <a:bodyPr lIns="0" tIns="0" rIns="0" bIns="0"/>
          <a:lstStyle>
            <a:lvl1pPr>
              <a:defRPr sz="3300" b="0" i="0">
                <a:solidFill>
                  <a:srgbClr val="2E5496"/>
                </a:solidFill>
                <a:latin typeface="Calibri Light"/>
                <a:cs typeface="Calibri Light"/>
              </a:defRPr>
            </a:lvl1pPr>
          </a:lstStyle>
          <a:p>
            <a:endParaRPr/>
          </a:p>
        </p:txBody>
      </p:sp>
      <p:sp>
        <p:nvSpPr>
          <p:cNvPr id="3" name="Holder 3"/>
          <p:cNvSpPr>
            <a:spLocks noGrp="1"/>
          </p:cNvSpPr>
          <p:nvPr>
            <p:ph sz="half" idx="2"/>
          </p:nvPr>
        </p:nvSpPr>
        <p:spPr>
          <a:xfrm>
            <a:off x="457200" y="1577340"/>
            <a:ext cx="397764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276999"/>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1/30/2025</a:t>
            </a:fld>
            <a:endParaRPr lang="en-US"/>
          </a:p>
        </p:txBody>
      </p:sp>
      <p:sp>
        <p:nvSpPr>
          <p:cNvPr id="7" name="Holder 7"/>
          <p:cNvSpPr>
            <a:spLocks noGrp="1"/>
          </p:cNvSpPr>
          <p:nvPr>
            <p:ph type="sldNum" sz="quarter" idx="7"/>
          </p:nvPr>
        </p:nvSpPr>
        <p:spPr/>
        <p:txBody>
          <a:bodyPr lIns="0" tIns="0" rIns="0" bIns="0"/>
          <a:lstStyle>
            <a:lvl1pPr>
              <a:defRPr sz="900" b="0" i="1" u="sng">
                <a:solidFill>
                  <a:srgbClr val="888888"/>
                </a:solidFill>
                <a:latin typeface="Times New Roman"/>
                <a:cs typeface="Times New Roman"/>
              </a:defRPr>
            </a:lvl1pPr>
          </a:lstStyle>
          <a:p>
            <a:pPr marL="86678">
              <a:lnSpc>
                <a:spcPts val="930"/>
              </a:lnSpc>
            </a:pPr>
            <a:fld id="{81D60167-4931-47E6-BA6A-407CBD079E47}" type="slidenum">
              <a:rPr lang="en-PK" i="0" u="none" spc="-38" smtClean="0">
                <a:latin typeface="Calibri"/>
                <a:cs typeface="Calibri"/>
              </a:rPr>
              <a:pPr marL="86678">
                <a:lnSpc>
                  <a:spcPts val="930"/>
                </a:lnSpc>
              </a:pPr>
              <a:t>‹#›</a:t>
            </a:fld>
            <a:endParaRPr lang="en-PK" i="0" u="none" spc="-38" dirty="0">
              <a:latin typeface="Calibri"/>
              <a:cs typeface="Calibri"/>
            </a:endParaRPr>
          </a:p>
        </p:txBody>
      </p:sp>
    </p:spTree>
    <p:extLst>
      <p:ext uri="{BB962C8B-B14F-4D97-AF65-F5344CB8AC3E}">
        <p14:creationId xmlns:p14="http://schemas.microsoft.com/office/powerpoint/2010/main" val="53742623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687704" y="220822"/>
            <a:ext cx="7546277" cy="507831"/>
          </a:xfrm>
        </p:spPr>
        <p:txBody>
          <a:bodyPr lIns="0" tIns="0" rIns="0" bIns="0"/>
          <a:lstStyle>
            <a:lvl1pPr>
              <a:defRPr sz="3300" b="0" i="0">
                <a:solidFill>
                  <a:srgbClr val="2E5496"/>
                </a:solidFill>
                <a:latin typeface="Calibri Light"/>
                <a:cs typeface="Calibri Light"/>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1/30/2025</a:t>
            </a:fld>
            <a:endParaRPr lang="en-US"/>
          </a:p>
        </p:txBody>
      </p:sp>
      <p:sp>
        <p:nvSpPr>
          <p:cNvPr id="5" name="Holder 5"/>
          <p:cNvSpPr>
            <a:spLocks noGrp="1"/>
          </p:cNvSpPr>
          <p:nvPr>
            <p:ph type="sldNum" sz="quarter" idx="7"/>
          </p:nvPr>
        </p:nvSpPr>
        <p:spPr/>
        <p:txBody>
          <a:bodyPr lIns="0" tIns="0" rIns="0" bIns="0"/>
          <a:lstStyle>
            <a:lvl1pPr>
              <a:defRPr sz="900" b="0" i="1" u="sng">
                <a:solidFill>
                  <a:srgbClr val="888888"/>
                </a:solidFill>
                <a:latin typeface="Times New Roman"/>
                <a:cs typeface="Times New Roman"/>
              </a:defRPr>
            </a:lvl1pPr>
          </a:lstStyle>
          <a:p>
            <a:pPr marL="86678">
              <a:lnSpc>
                <a:spcPts val="930"/>
              </a:lnSpc>
            </a:pPr>
            <a:fld id="{81D60167-4931-47E6-BA6A-407CBD079E47}" type="slidenum">
              <a:rPr lang="en-PK" i="0" u="none" spc="-38" smtClean="0">
                <a:latin typeface="Calibri"/>
                <a:cs typeface="Calibri"/>
              </a:rPr>
              <a:pPr marL="86678">
                <a:lnSpc>
                  <a:spcPts val="930"/>
                </a:lnSpc>
              </a:pPr>
              <a:t>‹#›</a:t>
            </a:fld>
            <a:endParaRPr lang="en-PK" i="0" u="none" spc="-38" dirty="0">
              <a:latin typeface="Calibri"/>
              <a:cs typeface="Calibri"/>
            </a:endParaRPr>
          </a:p>
        </p:txBody>
      </p:sp>
    </p:spTree>
    <p:extLst>
      <p:ext uri="{BB962C8B-B14F-4D97-AF65-F5344CB8AC3E}">
        <p14:creationId xmlns:p14="http://schemas.microsoft.com/office/powerpoint/2010/main" val="226197741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1/30/2025</a:t>
            </a:fld>
            <a:endParaRPr lang="en-US"/>
          </a:p>
        </p:txBody>
      </p:sp>
      <p:sp>
        <p:nvSpPr>
          <p:cNvPr id="4" name="Holder 4"/>
          <p:cNvSpPr>
            <a:spLocks noGrp="1"/>
          </p:cNvSpPr>
          <p:nvPr>
            <p:ph type="sldNum" sz="quarter" idx="7"/>
          </p:nvPr>
        </p:nvSpPr>
        <p:spPr/>
        <p:txBody>
          <a:bodyPr lIns="0" tIns="0" rIns="0" bIns="0"/>
          <a:lstStyle>
            <a:lvl1pPr>
              <a:defRPr sz="900" b="0" i="1" u="sng">
                <a:solidFill>
                  <a:srgbClr val="888888"/>
                </a:solidFill>
                <a:latin typeface="Times New Roman"/>
                <a:cs typeface="Times New Roman"/>
              </a:defRPr>
            </a:lvl1pPr>
          </a:lstStyle>
          <a:p>
            <a:pPr marL="86678">
              <a:lnSpc>
                <a:spcPts val="930"/>
              </a:lnSpc>
            </a:pPr>
            <a:fld id="{81D60167-4931-47E6-BA6A-407CBD079E47}" type="slidenum">
              <a:rPr lang="en-PK" i="0" u="none" spc="-38" smtClean="0">
                <a:latin typeface="Calibri"/>
                <a:cs typeface="Calibri"/>
              </a:rPr>
              <a:pPr marL="86678">
                <a:lnSpc>
                  <a:spcPts val="930"/>
                </a:lnSpc>
              </a:pPr>
              <a:t>‹#›</a:t>
            </a:fld>
            <a:endParaRPr lang="en-PK" i="0" u="none" spc="-38" dirty="0">
              <a:latin typeface="Calibri"/>
              <a:cs typeface="Calibri"/>
            </a:endParaRPr>
          </a:p>
        </p:txBody>
      </p:sp>
    </p:spTree>
    <p:extLst>
      <p:ext uri="{BB962C8B-B14F-4D97-AF65-F5344CB8AC3E}">
        <p14:creationId xmlns:p14="http://schemas.microsoft.com/office/powerpoint/2010/main" val="20862651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27.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theme" Target="../theme/theme3.xml"/><Relationship Id="rId5" Type="http://schemas.openxmlformats.org/officeDocument/2006/relationships/slideLayout" Target="../slideLayouts/slideLayout29.xml"/><Relationship Id="rId4"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EE227 - DLD</a:t>
            </a: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Course Instructor : Waqar Baig</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BE6402E-3189-41C4-BB36-EE6F934C63A5}" type="slidenum">
              <a:rPr lang="en-US" smtClean="0"/>
              <a:t>‹#›</a:t>
            </a:fld>
            <a:endParaRPr lang="en-US"/>
          </a:p>
        </p:txBody>
      </p:sp>
    </p:spTree>
    <p:extLst>
      <p:ext uri="{BB962C8B-B14F-4D97-AF65-F5344CB8AC3E}">
        <p14:creationId xmlns:p14="http://schemas.microsoft.com/office/powerpoint/2010/main" val="5308020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28153417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687704" y="220822"/>
            <a:ext cx="7546277" cy="677108"/>
          </a:xfrm>
          <a:prstGeom prst="rect">
            <a:avLst/>
          </a:prstGeom>
        </p:spPr>
        <p:txBody>
          <a:bodyPr wrap="square" lIns="0" tIns="0" rIns="0" bIns="0">
            <a:spAutoFit/>
          </a:bodyPr>
          <a:lstStyle>
            <a:lvl1pPr>
              <a:defRPr sz="4400" b="0" i="0">
                <a:solidFill>
                  <a:srgbClr val="2E5496"/>
                </a:solidFill>
                <a:latin typeface="Calibri Light"/>
                <a:cs typeface="Calibri Light"/>
              </a:defRPr>
            </a:lvl1pPr>
          </a:lstStyle>
          <a:p>
            <a:endParaRPr/>
          </a:p>
        </p:txBody>
      </p:sp>
      <p:sp>
        <p:nvSpPr>
          <p:cNvPr id="3" name="Holder 3"/>
          <p:cNvSpPr>
            <a:spLocks noGrp="1"/>
          </p:cNvSpPr>
          <p:nvPr>
            <p:ph type="body" idx="1"/>
          </p:nvPr>
        </p:nvSpPr>
        <p:spPr>
          <a:xfrm>
            <a:off x="2246709" y="1602677"/>
            <a:ext cx="4398169" cy="276999"/>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3108960" y="6377940"/>
            <a:ext cx="2926080" cy="276999"/>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1/30/2025</a:t>
            </a:fld>
            <a:endParaRPr lang="en-US"/>
          </a:p>
        </p:txBody>
      </p:sp>
      <p:sp>
        <p:nvSpPr>
          <p:cNvPr id="6" name="Holder 6"/>
          <p:cNvSpPr>
            <a:spLocks noGrp="1"/>
          </p:cNvSpPr>
          <p:nvPr>
            <p:ph type="sldNum" sz="quarter" idx="7"/>
          </p:nvPr>
        </p:nvSpPr>
        <p:spPr>
          <a:xfrm>
            <a:off x="8301418" y="6448280"/>
            <a:ext cx="183356" cy="232436"/>
          </a:xfrm>
          <a:prstGeom prst="rect">
            <a:avLst/>
          </a:prstGeom>
        </p:spPr>
        <p:txBody>
          <a:bodyPr wrap="square" lIns="0" tIns="0" rIns="0" bIns="0">
            <a:spAutoFit/>
          </a:bodyPr>
          <a:lstStyle>
            <a:lvl1pPr>
              <a:defRPr sz="900" b="0" i="1" u="sng">
                <a:solidFill>
                  <a:srgbClr val="888888"/>
                </a:solidFill>
                <a:latin typeface="Times New Roman"/>
                <a:cs typeface="Times New Roman"/>
              </a:defRPr>
            </a:lvl1pPr>
          </a:lstStyle>
          <a:p>
            <a:pPr marL="86678">
              <a:lnSpc>
                <a:spcPts val="930"/>
              </a:lnSpc>
            </a:pPr>
            <a:fld id="{81D60167-4931-47E6-BA6A-407CBD079E47}" type="slidenum">
              <a:rPr lang="en-PK" i="0" u="none" spc="-38" smtClean="0">
                <a:latin typeface="Calibri"/>
                <a:cs typeface="Calibri"/>
              </a:rPr>
              <a:pPr marL="86678">
                <a:lnSpc>
                  <a:spcPts val="930"/>
                </a:lnSpc>
              </a:pPr>
              <a:t>‹#›</a:t>
            </a:fld>
            <a:endParaRPr lang="en-PK" i="0" u="none" spc="-38" dirty="0">
              <a:latin typeface="Calibri"/>
              <a:cs typeface="Calibri"/>
            </a:endParaRPr>
          </a:p>
        </p:txBody>
      </p:sp>
    </p:spTree>
    <p:extLst>
      <p:ext uri="{BB962C8B-B14F-4D97-AF65-F5344CB8AC3E}">
        <p14:creationId xmlns:p14="http://schemas.microsoft.com/office/powerpoint/2010/main" val="2604323305"/>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Lst>
  <p:txStyles>
    <p:titleStyle>
      <a:lvl1pPr>
        <a:defRPr>
          <a:latin typeface="+mj-lt"/>
          <a:ea typeface="+mj-ea"/>
          <a:cs typeface="+mj-cs"/>
        </a:defRPr>
      </a:lvl1pPr>
    </p:titleStyle>
    <p:bodyStyle>
      <a:lvl1pPr marL="0">
        <a:defRPr>
          <a:latin typeface="+mn-lt"/>
          <a:ea typeface="+mn-ea"/>
          <a:cs typeface="+mn-cs"/>
        </a:defRPr>
      </a:lvl1pPr>
      <a:lvl2pPr marL="342900">
        <a:defRPr>
          <a:latin typeface="+mn-lt"/>
          <a:ea typeface="+mn-ea"/>
          <a:cs typeface="+mn-cs"/>
        </a:defRPr>
      </a:lvl2pPr>
      <a:lvl3pPr marL="685800">
        <a:defRPr>
          <a:latin typeface="+mn-lt"/>
          <a:ea typeface="+mn-ea"/>
          <a:cs typeface="+mn-cs"/>
        </a:defRPr>
      </a:lvl3pPr>
      <a:lvl4pPr marL="1028700">
        <a:defRPr>
          <a:latin typeface="+mn-lt"/>
          <a:ea typeface="+mn-ea"/>
          <a:cs typeface="+mn-cs"/>
        </a:defRPr>
      </a:lvl4pPr>
      <a:lvl5pPr marL="1371600">
        <a:defRPr>
          <a:latin typeface="+mn-lt"/>
          <a:ea typeface="+mn-ea"/>
          <a:cs typeface="+mn-cs"/>
        </a:defRPr>
      </a:lvl5pPr>
      <a:lvl6pPr marL="1714500">
        <a:defRPr>
          <a:latin typeface="+mn-lt"/>
          <a:ea typeface="+mn-ea"/>
          <a:cs typeface="+mn-cs"/>
        </a:defRPr>
      </a:lvl6pPr>
      <a:lvl7pPr marL="2057400">
        <a:defRPr>
          <a:latin typeface="+mn-lt"/>
          <a:ea typeface="+mn-ea"/>
          <a:cs typeface="+mn-cs"/>
        </a:defRPr>
      </a:lvl7pPr>
      <a:lvl8pPr marL="2400300">
        <a:defRPr>
          <a:latin typeface="+mn-lt"/>
          <a:ea typeface="+mn-ea"/>
          <a:cs typeface="+mn-cs"/>
        </a:defRPr>
      </a:lvl8pPr>
      <a:lvl9pPr marL="2743200">
        <a:defRPr>
          <a:latin typeface="+mn-lt"/>
          <a:ea typeface="+mn-ea"/>
          <a:cs typeface="+mn-cs"/>
        </a:defRPr>
      </a:lvl9pPr>
    </p:bodyStyle>
    <p:otherStyle>
      <a:lvl1pPr marL="0">
        <a:defRPr>
          <a:latin typeface="+mn-lt"/>
          <a:ea typeface="+mn-ea"/>
          <a:cs typeface="+mn-cs"/>
        </a:defRPr>
      </a:lvl1pPr>
      <a:lvl2pPr marL="342900">
        <a:defRPr>
          <a:latin typeface="+mn-lt"/>
          <a:ea typeface="+mn-ea"/>
          <a:cs typeface="+mn-cs"/>
        </a:defRPr>
      </a:lvl2pPr>
      <a:lvl3pPr marL="685800">
        <a:defRPr>
          <a:latin typeface="+mn-lt"/>
          <a:ea typeface="+mn-ea"/>
          <a:cs typeface="+mn-cs"/>
        </a:defRPr>
      </a:lvl3pPr>
      <a:lvl4pPr marL="1028700">
        <a:defRPr>
          <a:latin typeface="+mn-lt"/>
          <a:ea typeface="+mn-ea"/>
          <a:cs typeface="+mn-cs"/>
        </a:defRPr>
      </a:lvl4pPr>
      <a:lvl5pPr marL="1371600">
        <a:defRPr>
          <a:latin typeface="+mn-lt"/>
          <a:ea typeface="+mn-ea"/>
          <a:cs typeface="+mn-cs"/>
        </a:defRPr>
      </a:lvl5pPr>
      <a:lvl6pPr marL="1714500">
        <a:defRPr>
          <a:latin typeface="+mn-lt"/>
          <a:ea typeface="+mn-ea"/>
          <a:cs typeface="+mn-cs"/>
        </a:defRPr>
      </a:lvl6pPr>
      <a:lvl7pPr marL="2057400">
        <a:defRPr>
          <a:latin typeface="+mn-lt"/>
          <a:ea typeface="+mn-ea"/>
          <a:cs typeface="+mn-cs"/>
        </a:defRPr>
      </a:lvl7pPr>
      <a:lvl8pPr marL="2400300">
        <a:defRPr>
          <a:latin typeface="+mn-lt"/>
          <a:ea typeface="+mn-ea"/>
          <a:cs typeface="+mn-cs"/>
        </a:defRPr>
      </a:lvl8pPr>
      <a:lvl9pPr marL="27432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mailto:iqbal.sajid@nu.edu.pk"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5.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5.gi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8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9.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4.emf"/></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EE227 – Digital Logic Design</a:t>
            </a:r>
          </a:p>
        </p:txBody>
      </p:sp>
      <p:sp>
        <p:nvSpPr>
          <p:cNvPr id="3" name="Subtitle 2"/>
          <p:cNvSpPr>
            <a:spLocks noGrp="1"/>
          </p:cNvSpPr>
          <p:nvPr>
            <p:ph type="subTitle" idx="1"/>
          </p:nvPr>
        </p:nvSpPr>
        <p:spPr/>
        <p:txBody>
          <a:bodyPr/>
          <a:lstStyle/>
          <a:p>
            <a:r>
              <a:rPr lang="en-US" dirty="0"/>
              <a:t>Lecture 1 – 3 </a:t>
            </a:r>
          </a:p>
        </p:txBody>
      </p:sp>
    </p:spTree>
    <p:extLst>
      <p:ext uri="{BB962C8B-B14F-4D97-AF65-F5344CB8AC3E}">
        <p14:creationId xmlns:p14="http://schemas.microsoft.com/office/powerpoint/2010/main" val="30482680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normAutofit fontScale="85000" lnSpcReduction="20000"/>
          </a:bodyPr>
          <a:lstStyle/>
          <a:p>
            <a:r>
              <a:rPr lang="en-US" dirty="0"/>
              <a:t>Instructor’s Introduction</a:t>
            </a:r>
          </a:p>
          <a:p>
            <a:r>
              <a:rPr lang="en-US" dirty="0"/>
              <a:t>Course Outline</a:t>
            </a:r>
          </a:p>
          <a:p>
            <a:r>
              <a:rPr lang="en-US" dirty="0"/>
              <a:t>Marks Distribution</a:t>
            </a:r>
          </a:p>
          <a:p>
            <a:endParaRPr lang="en-US" dirty="0"/>
          </a:p>
          <a:p>
            <a:r>
              <a:rPr lang="en-US" dirty="0"/>
              <a:t>Information Processing</a:t>
            </a:r>
          </a:p>
          <a:p>
            <a:r>
              <a:rPr lang="en-US" dirty="0"/>
              <a:t>Analog and Digital Quantities</a:t>
            </a:r>
          </a:p>
          <a:p>
            <a:r>
              <a:rPr lang="en-US" dirty="0"/>
              <a:t>Advantages of Digital System</a:t>
            </a:r>
          </a:p>
          <a:p>
            <a:r>
              <a:rPr lang="en-US" dirty="0"/>
              <a:t>Number Systems</a:t>
            </a:r>
          </a:p>
          <a:p>
            <a:r>
              <a:rPr lang="en-US" dirty="0"/>
              <a:t>Base Conversions</a:t>
            </a:r>
          </a:p>
          <a:p>
            <a:r>
              <a:rPr lang="en-US" dirty="0"/>
              <a:t>Complements of Numbers</a:t>
            </a:r>
          </a:p>
          <a:p>
            <a:endParaRPr lang="en-US" dirty="0"/>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a:p>
            <a:endParaRPr lang="en-US" dirty="0"/>
          </a:p>
        </p:txBody>
      </p:sp>
      <p:sp>
        <p:nvSpPr>
          <p:cNvPr id="6" name="Slide Number Placeholder 5"/>
          <p:cNvSpPr>
            <a:spLocks noGrp="1"/>
          </p:cNvSpPr>
          <p:nvPr>
            <p:ph type="sldNum" sz="quarter" idx="12"/>
          </p:nvPr>
        </p:nvSpPr>
        <p:spPr/>
        <p:txBody>
          <a:bodyPr/>
          <a:lstStyle/>
          <a:p>
            <a:fld id="{CBE6402E-3189-41C4-BB36-EE6F934C63A5}" type="slidenum">
              <a:rPr lang="en-US" smtClean="0"/>
              <a:t>2</a:t>
            </a:fld>
            <a:endParaRPr lang="en-US"/>
          </a:p>
        </p:txBody>
      </p:sp>
    </p:spTree>
    <p:extLst>
      <p:ext uri="{BB962C8B-B14F-4D97-AF65-F5344CB8AC3E}">
        <p14:creationId xmlns:p14="http://schemas.microsoft.com/office/powerpoint/2010/main" val="18313211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Contact Details</a:t>
            </a:r>
          </a:p>
        </p:txBody>
      </p:sp>
      <p:sp>
        <p:nvSpPr>
          <p:cNvPr id="6" name="Content Placeholder 5"/>
          <p:cNvSpPr>
            <a:spLocks noGrp="1"/>
          </p:cNvSpPr>
          <p:nvPr>
            <p:ph idx="1"/>
          </p:nvPr>
        </p:nvSpPr>
        <p:spPr/>
        <p:txBody>
          <a:bodyPr>
            <a:normAutofit/>
          </a:bodyPr>
          <a:lstStyle/>
          <a:p>
            <a:r>
              <a:rPr lang="en-US" dirty="0"/>
              <a:t>Email</a:t>
            </a:r>
          </a:p>
          <a:p>
            <a:pPr lvl="1"/>
            <a:r>
              <a:rPr lang="en-US" dirty="0"/>
              <a:t> waqar.baig</a:t>
            </a:r>
            <a:r>
              <a:rPr lang="en-US" dirty="0">
                <a:hlinkClick r:id="rId2"/>
              </a:rPr>
              <a:t>@nu.edu.pk</a:t>
            </a:r>
            <a:endParaRPr lang="en-US" dirty="0"/>
          </a:p>
          <a:p>
            <a:r>
              <a:rPr lang="en-US" dirty="0"/>
              <a:t>Office: </a:t>
            </a:r>
          </a:p>
          <a:p>
            <a:pPr lvl="1"/>
            <a:r>
              <a:rPr lang="en-US" dirty="0"/>
              <a:t>Room Number , International Office</a:t>
            </a:r>
          </a:p>
          <a:p>
            <a:r>
              <a:rPr lang="en-US" dirty="0"/>
              <a:t>Visiting Hours:</a:t>
            </a:r>
          </a:p>
          <a:p>
            <a:pPr lvl="1"/>
            <a:r>
              <a:rPr lang="en-US" dirty="0"/>
              <a:t>Monday	2:00 PM – 3:00 PM </a:t>
            </a:r>
          </a:p>
          <a:p>
            <a:pPr lvl="1"/>
            <a:r>
              <a:rPr lang="en-US" dirty="0"/>
              <a:t>Wednesday	2:00 PM – 3:00 PM</a:t>
            </a:r>
          </a:p>
          <a:p>
            <a:pPr lvl="1"/>
            <a:r>
              <a:rPr lang="en-US" dirty="0"/>
              <a:t>Or by appointment</a:t>
            </a:r>
          </a:p>
        </p:txBody>
      </p:sp>
      <p:sp>
        <p:nvSpPr>
          <p:cNvPr id="3" name="Date Placeholder 2"/>
          <p:cNvSpPr>
            <a:spLocks noGrp="1"/>
          </p:cNvSpPr>
          <p:nvPr>
            <p:ph type="dt" sz="half" idx="10"/>
          </p:nvPr>
        </p:nvSpPr>
        <p:spPr/>
        <p:txBody>
          <a:bodyPr/>
          <a:lstStyle/>
          <a:p>
            <a:r>
              <a:rPr lang="en-US"/>
              <a:t>EE227 - DLD</a:t>
            </a:r>
          </a:p>
        </p:txBody>
      </p:sp>
      <p:sp>
        <p:nvSpPr>
          <p:cNvPr id="4" name="Footer Placeholder 3"/>
          <p:cNvSpPr>
            <a:spLocks noGrp="1"/>
          </p:cNvSpPr>
          <p:nvPr>
            <p:ph type="ftr" sz="quarter" idx="11"/>
          </p:nvPr>
        </p:nvSpPr>
        <p:spPr/>
        <p:txBody>
          <a:bodyPr/>
          <a:lstStyle/>
          <a:p>
            <a:r>
              <a:rPr lang="en-US" dirty="0"/>
              <a:t>Course Instructor : Waqar Baig</a:t>
            </a:r>
          </a:p>
        </p:txBody>
      </p:sp>
      <p:sp>
        <p:nvSpPr>
          <p:cNvPr id="5" name="Slide Number Placeholder 4"/>
          <p:cNvSpPr>
            <a:spLocks noGrp="1"/>
          </p:cNvSpPr>
          <p:nvPr>
            <p:ph type="sldNum" sz="quarter" idx="12"/>
          </p:nvPr>
        </p:nvSpPr>
        <p:spPr/>
        <p:txBody>
          <a:bodyPr/>
          <a:lstStyle/>
          <a:p>
            <a:fld id="{0A3E2A90-01CA-4B8B-BD4A-CD423E1B531E}" type="slidenum">
              <a:rPr lang="en-US" smtClean="0"/>
              <a:t>3</a:t>
            </a:fld>
            <a:endParaRPr lang="en-US"/>
          </a:p>
        </p:txBody>
      </p:sp>
    </p:spTree>
    <p:extLst>
      <p:ext uri="{BB962C8B-B14F-4D97-AF65-F5344CB8AC3E}">
        <p14:creationId xmlns:p14="http://schemas.microsoft.com/office/powerpoint/2010/main" val="1447651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Books</a:t>
            </a:r>
          </a:p>
        </p:txBody>
      </p:sp>
      <p:sp>
        <p:nvSpPr>
          <p:cNvPr id="3" name="Content Placeholder 2"/>
          <p:cNvSpPr>
            <a:spLocks noGrp="1"/>
          </p:cNvSpPr>
          <p:nvPr>
            <p:ph idx="1"/>
          </p:nvPr>
        </p:nvSpPr>
        <p:spPr/>
        <p:txBody>
          <a:bodyPr>
            <a:normAutofit/>
          </a:bodyPr>
          <a:lstStyle/>
          <a:p>
            <a:r>
              <a:rPr lang="en-US" dirty="0"/>
              <a:t>Text Book</a:t>
            </a:r>
          </a:p>
          <a:p>
            <a:pPr lvl="1"/>
            <a:r>
              <a:rPr lang="en-US" b="1" i="1" dirty="0"/>
              <a:t>M. Morris Mano; Charles R. Kime, Logic and Computer Design Fundamentals Edition: (5 </a:t>
            </a:r>
            <a:r>
              <a:rPr lang="en-US" b="1" i="1" dirty="0" err="1"/>
              <a:t>th</a:t>
            </a:r>
            <a:r>
              <a:rPr lang="en-US" b="1" i="1" dirty="0"/>
              <a:t> Edition Updated, Prentice Hall)</a:t>
            </a:r>
            <a:endParaRPr lang="en-US" dirty="0"/>
          </a:p>
          <a:p>
            <a:r>
              <a:rPr lang="en-US" dirty="0"/>
              <a:t>Reference Book</a:t>
            </a:r>
          </a:p>
          <a:p>
            <a:pPr lvl="1"/>
            <a:r>
              <a:rPr lang="en-US" b="1" i="1" dirty="0"/>
              <a:t> John F. </a:t>
            </a:r>
            <a:r>
              <a:rPr lang="en-US" b="1" i="1" dirty="0" err="1"/>
              <a:t>Wakerly</a:t>
            </a:r>
            <a:r>
              <a:rPr lang="en-US" b="1" i="1" dirty="0"/>
              <a:t>, Digital Design: Principles and Practices (5 </a:t>
            </a:r>
            <a:r>
              <a:rPr lang="en-US" b="1" i="1" dirty="0" err="1"/>
              <a:t>th</a:t>
            </a:r>
            <a:r>
              <a:rPr lang="en-US" b="1" i="1" dirty="0"/>
              <a:t> </a:t>
            </a:r>
            <a:r>
              <a:rPr lang="en-US" b="1" i="1" dirty="0" err="1"/>
              <a:t>Edition,Pearson</a:t>
            </a:r>
            <a:r>
              <a:rPr lang="en-US" b="1" i="1" dirty="0"/>
              <a:t> Education, 2001)</a:t>
            </a:r>
          </a:p>
          <a:p>
            <a:pPr lvl="1"/>
            <a:r>
              <a:rPr lang="en-US" b="1" i="1" dirty="0"/>
              <a:t>Thomas L. Floyd, Digital Fundamentals (7th Edition, Prentice Hall, 2000)</a:t>
            </a:r>
            <a:endParaRPr lang="en-US" dirty="0"/>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4</a:t>
            </a:fld>
            <a:endParaRPr lang="en-US"/>
          </a:p>
        </p:txBody>
      </p:sp>
    </p:spTree>
    <p:extLst>
      <p:ext uri="{BB962C8B-B14F-4D97-AF65-F5344CB8AC3E}">
        <p14:creationId xmlns:p14="http://schemas.microsoft.com/office/powerpoint/2010/main" val="26649498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39762"/>
          </a:xfrm>
        </p:spPr>
        <p:txBody>
          <a:bodyPr>
            <a:normAutofit fontScale="90000"/>
          </a:bodyPr>
          <a:lstStyle/>
          <a:p>
            <a:r>
              <a:rPr lang="en-US" dirty="0"/>
              <a:t>Course Outline</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641181423"/>
              </p:ext>
            </p:extLst>
          </p:nvPr>
        </p:nvGraphicFramePr>
        <p:xfrm>
          <a:off x="457200" y="685800"/>
          <a:ext cx="8229600" cy="5720080"/>
        </p:xfrm>
        <a:graphic>
          <a:graphicData uri="http://schemas.openxmlformats.org/drawingml/2006/table">
            <a:tbl>
              <a:tblPr firstRow="1" bandRow="1">
                <a:tableStyleId>{5C22544A-7EE6-4342-B048-85BDC9FD1C3A}</a:tableStyleId>
              </a:tblPr>
              <a:tblGrid>
                <a:gridCol w="1143000">
                  <a:extLst>
                    <a:ext uri="{9D8B030D-6E8A-4147-A177-3AD203B41FA5}">
                      <a16:colId xmlns:a16="http://schemas.microsoft.com/office/drawing/2014/main" val="20000"/>
                    </a:ext>
                  </a:extLst>
                </a:gridCol>
                <a:gridCol w="61722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tblGrid>
              <a:tr h="370840">
                <a:tc>
                  <a:txBody>
                    <a:bodyPr/>
                    <a:lstStyle/>
                    <a:p>
                      <a:pPr algn="ctr"/>
                      <a:r>
                        <a:rPr lang="en-US" sz="1500" dirty="0"/>
                        <a:t>Week</a:t>
                      </a:r>
                    </a:p>
                  </a:txBody>
                  <a:tcPr/>
                </a:tc>
                <a:tc>
                  <a:txBody>
                    <a:bodyPr/>
                    <a:lstStyle/>
                    <a:p>
                      <a:r>
                        <a:rPr lang="en-US" sz="1500" dirty="0"/>
                        <a:t>Topics</a:t>
                      </a:r>
                    </a:p>
                  </a:txBody>
                  <a:tcPr/>
                </a:tc>
                <a:tc>
                  <a:txBody>
                    <a:bodyPr/>
                    <a:lstStyle/>
                    <a:p>
                      <a:pPr algn="ctr"/>
                      <a:r>
                        <a:rPr lang="en-US" sz="1500" dirty="0"/>
                        <a:t>Chapter</a:t>
                      </a:r>
                    </a:p>
                  </a:txBody>
                  <a:tcPr/>
                </a:tc>
                <a:extLst>
                  <a:ext uri="{0D108BD9-81ED-4DB2-BD59-A6C34878D82A}">
                    <a16:rowId xmlns:a16="http://schemas.microsoft.com/office/drawing/2014/main" val="10000"/>
                  </a:ext>
                </a:extLst>
              </a:tr>
              <a:tr h="370840">
                <a:tc>
                  <a:txBody>
                    <a:bodyPr/>
                    <a:lstStyle/>
                    <a:p>
                      <a:pPr algn="ctr"/>
                      <a:r>
                        <a:rPr lang="en-US" sz="1500" dirty="0"/>
                        <a:t>1, 2</a:t>
                      </a:r>
                    </a:p>
                  </a:txBody>
                  <a:tcPr/>
                </a:tc>
                <a:tc>
                  <a:txBody>
                    <a:bodyPr/>
                    <a:lstStyle/>
                    <a:p>
                      <a:r>
                        <a:rPr lang="en-US" sz="1500" kern="1200" dirty="0">
                          <a:solidFill>
                            <a:schemeClr val="dk1"/>
                          </a:solidFill>
                          <a:effectLst/>
                          <a:latin typeface="+mn-lt"/>
                          <a:ea typeface="+mn-ea"/>
                          <a:cs typeface="+mn-cs"/>
                        </a:rPr>
                        <a:t>Introduction, Number Systems (Binary, Octal and Hexadecimal), Number Ranges, Arithmetic Operations, Conversion from Decimal to Other Bases, Negative number representations </a:t>
                      </a:r>
                      <a:endParaRPr lang="en-US" sz="1500" dirty="0"/>
                    </a:p>
                  </a:txBody>
                  <a:tcPr/>
                </a:tc>
                <a:tc>
                  <a:txBody>
                    <a:bodyPr/>
                    <a:lstStyle/>
                    <a:p>
                      <a:pPr algn="ctr"/>
                      <a:r>
                        <a:rPr lang="en-US" sz="1500" dirty="0"/>
                        <a:t>1</a:t>
                      </a:r>
                    </a:p>
                  </a:txBody>
                  <a:tcPr/>
                </a:tc>
                <a:extLst>
                  <a:ext uri="{0D108BD9-81ED-4DB2-BD59-A6C34878D82A}">
                    <a16:rowId xmlns:a16="http://schemas.microsoft.com/office/drawing/2014/main" val="10001"/>
                  </a:ext>
                </a:extLst>
              </a:tr>
              <a:tr h="370840">
                <a:tc>
                  <a:txBody>
                    <a:bodyPr/>
                    <a:lstStyle/>
                    <a:p>
                      <a:pPr algn="ctr"/>
                      <a:r>
                        <a:rPr lang="en-US" sz="1500" dirty="0"/>
                        <a:t>3, 4, 5</a:t>
                      </a:r>
                    </a:p>
                  </a:txBody>
                  <a:tcPr/>
                </a:tc>
                <a:tc>
                  <a:txBody>
                    <a:bodyPr/>
                    <a:lstStyle/>
                    <a:p>
                      <a:r>
                        <a:rPr lang="en-US" sz="1500" kern="1200" dirty="0">
                          <a:solidFill>
                            <a:schemeClr val="dk1"/>
                          </a:solidFill>
                          <a:effectLst/>
                          <a:latin typeface="+mn-lt"/>
                          <a:ea typeface="+mn-ea"/>
                          <a:cs typeface="+mn-cs"/>
                        </a:rPr>
                        <a:t>Binary Logic and Gates, Boolean Algebra, Standard Forms, Map Simplification,</a:t>
                      </a:r>
                      <a:r>
                        <a:rPr lang="en-US" sz="1500" kern="1200" baseline="0" dirty="0">
                          <a:solidFill>
                            <a:schemeClr val="dk1"/>
                          </a:solidFill>
                          <a:effectLst/>
                          <a:latin typeface="+mn-lt"/>
                          <a:ea typeface="+mn-ea"/>
                          <a:cs typeface="+mn-cs"/>
                        </a:rPr>
                        <a:t> </a:t>
                      </a:r>
                      <a:r>
                        <a:rPr lang="en-US" sz="1500" kern="1200" dirty="0">
                          <a:solidFill>
                            <a:schemeClr val="dk1"/>
                          </a:solidFill>
                          <a:effectLst/>
                          <a:latin typeface="+mn-lt"/>
                          <a:ea typeface="+mn-ea"/>
                          <a:cs typeface="+mn-cs"/>
                        </a:rPr>
                        <a:t>Map Manipulation, Don’t-Care Conditions, NAND, NOR &amp; Exclusive-OR Gates &amp; Circuits, Integrated Circuits, Positive &amp; Negative Logic </a:t>
                      </a:r>
                      <a:endParaRPr lang="en-US" sz="1500" dirty="0"/>
                    </a:p>
                  </a:txBody>
                  <a:tcPr/>
                </a:tc>
                <a:tc>
                  <a:txBody>
                    <a:bodyPr/>
                    <a:lstStyle/>
                    <a:p>
                      <a:pPr algn="ctr"/>
                      <a:r>
                        <a:rPr lang="en-US" sz="1500" dirty="0"/>
                        <a:t>2, 3</a:t>
                      </a:r>
                    </a:p>
                  </a:txBody>
                  <a:tcPr/>
                </a:tc>
                <a:extLst>
                  <a:ext uri="{0D108BD9-81ED-4DB2-BD59-A6C34878D82A}">
                    <a16:rowId xmlns:a16="http://schemas.microsoft.com/office/drawing/2014/main" val="10002"/>
                  </a:ext>
                </a:extLst>
              </a:tr>
              <a:tr h="370840">
                <a:tc>
                  <a:txBody>
                    <a:bodyPr/>
                    <a:lstStyle/>
                    <a:p>
                      <a:pPr algn="ctr"/>
                      <a:r>
                        <a:rPr lang="en-US" sz="1500" dirty="0"/>
                        <a:t>6,</a:t>
                      </a:r>
                      <a:r>
                        <a:rPr lang="en-US" sz="1500" baseline="0" dirty="0"/>
                        <a:t> 7, 8</a:t>
                      </a:r>
                      <a:endParaRPr lang="en-US" sz="1500" dirty="0"/>
                    </a:p>
                  </a:txBody>
                  <a:tcPr/>
                </a:tc>
                <a:tc>
                  <a:txBody>
                    <a:bodyPr/>
                    <a:lstStyle/>
                    <a:p>
                      <a:r>
                        <a:rPr lang="en-US" sz="1500" kern="1200" dirty="0">
                          <a:solidFill>
                            <a:schemeClr val="dk1"/>
                          </a:solidFill>
                          <a:effectLst/>
                          <a:latin typeface="+mn-lt"/>
                          <a:ea typeface="+mn-ea"/>
                          <a:cs typeface="+mn-cs"/>
                        </a:rPr>
                        <a:t>Combinational Circuits, Analysis Procedure, Design Procedure, Decoders, Encoders, Priority Encoders, Multiplexers, </a:t>
                      </a:r>
                      <a:r>
                        <a:rPr lang="en-US" sz="1500" kern="1200" dirty="0" err="1">
                          <a:solidFill>
                            <a:schemeClr val="dk1"/>
                          </a:solidFill>
                          <a:effectLst/>
                          <a:latin typeface="+mn-lt"/>
                          <a:ea typeface="+mn-ea"/>
                          <a:cs typeface="+mn-cs"/>
                        </a:rPr>
                        <a:t>Demultiplexers</a:t>
                      </a:r>
                      <a:r>
                        <a:rPr lang="en-US" sz="1500" kern="1200" dirty="0">
                          <a:solidFill>
                            <a:schemeClr val="dk1"/>
                          </a:solidFill>
                          <a:effectLst/>
                          <a:latin typeface="+mn-lt"/>
                          <a:ea typeface="+mn-ea"/>
                          <a:cs typeface="+mn-cs"/>
                        </a:rPr>
                        <a:t>, Binary Adders (Half, Full, Ripple Carry, Carry </a:t>
                      </a:r>
                      <a:r>
                        <a:rPr lang="en-US" sz="1500" kern="1200" dirty="0" err="1">
                          <a:solidFill>
                            <a:schemeClr val="dk1"/>
                          </a:solidFill>
                          <a:effectLst/>
                          <a:latin typeface="+mn-lt"/>
                          <a:ea typeface="+mn-ea"/>
                          <a:cs typeface="+mn-cs"/>
                        </a:rPr>
                        <a:t>Lookahead</a:t>
                      </a:r>
                      <a:r>
                        <a:rPr lang="en-US" sz="1500" kern="1200" dirty="0">
                          <a:solidFill>
                            <a:schemeClr val="dk1"/>
                          </a:solidFill>
                          <a:effectLst/>
                          <a:latin typeface="+mn-lt"/>
                          <a:ea typeface="+mn-ea"/>
                          <a:cs typeface="+mn-cs"/>
                        </a:rPr>
                        <a:t>), Binary Subtraction, Signed Binary Numbers, Overflow </a:t>
                      </a:r>
                      <a:endParaRPr lang="en-US" sz="1500" dirty="0"/>
                    </a:p>
                  </a:txBody>
                  <a:tcPr/>
                </a:tc>
                <a:tc>
                  <a:txBody>
                    <a:bodyPr/>
                    <a:lstStyle/>
                    <a:p>
                      <a:pPr algn="ctr"/>
                      <a:r>
                        <a:rPr lang="en-US" sz="1500" dirty="0"/>
                        <a:t>4</a:t>
                      </a:r>
                    </a:p>
                  </a:txBody>
                  <a:tcPr/>
                </a:tc>
                <a:extLst>
                  <a:ext uri="{0D108BD9-81ED-4DB2-BD59-A6C34878D82A}">
                    <a16:rowId xmlns:a16="http://schemas.microsoft.com/office/drawing/2014/main" val="10003"/>
                  </a:ext>
                </a:extLst>
              </a:tr>
              <a:tr h="370840">
                <a:tc>
                  <a:txBody>
                    <a:bodyPr/>
                    <a:lstStyle/>
                    <a:p>
                      <a:pPr algn="ctr"/>
                      <a:r>
                        <a:rPr lang="en-US" sz="1500" dirty="0"/>
                        <a:t>9, 10, 11</a:t>
                      </a:r>
                    </a:p>
                  </a:txBody>
                  <a:tcPr/>
                </a:tc>
                <a:tc>
                  <a:txBody>
                    <a:bodyPr/>
                    <a:lstStyle/>
                    <a:p>
                      <a:r>
                        <a:rPr lang="en-US" sz="1500" kern="1200" dirty="0">
                          <a:solidFill>
                            <a:schemeClr val="dk1"/>
                          </a:solidFill>
                          <a:effectLst/>
                          <a:latin typeface="+mn-lt"/>
                          <a:ea typeface="+mn-ea"/>
                          <a:cs typeface="+mn-cs"/>
                        </a:rPr>
                        <a:t>Sequential Circuits, Latches, Flip-Flops, Sequential Circuit Analysis, State Diagram, Sequential Circuit Design (with D Flip-Flops, JK Flip-Flops, T flip flops), word problems </a:t>
                      </a:r>
                      <a:endParaRPr lang="en-US" sz="1500" dirty="0"/>
                    </a:p>
                  </a:txBody>
                  <a:tcPr/>
                </a:tc>
                <a:tc>
                  <a:txBody>
                    <a:bodyPr/>
                    <a:lstStyle/>
                    <a:p>
                      <a:pPr algn="ctr"/>
                      <a:r>
                        <a:rPr lang="en-US" sz="1500" dirty="0"/>
                        <a:t>5</a:t>
                      </a:r>
                    </a:p>
                  </a:txBody>
                  <a:tcPr/>
                </a:tc>
                <a:extLst>
                  <a:ext uri="{0D108BD9-81ED-4DB2-BD59-A6C34878D82A}">
                    <a16:rowId xmlns:a16="http://schemas.microsoft.com/office/drawing/2014/main" val="10004"/>
                  </a:ext>
                </a:extLst>
              </a:tr>
              <a:tr h="370840">
                <a:tc>
                  <a:txBody>
                    <a:bodyPr/>
                    <a:lstStyle/>
                    <a:p>
                      <a:pPr algn="ctr"/>
                      <a:r>
                        <a:rPr lang="en-US" sz="1500" dirty="0"/>
                        <a:t>12, 13, 14</a:t>
                      </a:r>
                    </a:p>
                  </a:txBody>
                  <a:tcPr/>
                </a:tc>
                <a:tc>
                  <a:txBody>
                    <a:bodyPr/>
                    <a:lstStyle/>
                    <a:p>
                      <a:r>
                        <a:rPr lang="en-US" sz="1500" kern="1200" dirty="0">
                          <a:solidFill>
                            <a:schemeClr val="dk1"/>
                          </a:solidFill>
                          <a:effectLst/>
                          <a:latin typeface="+mn-lt"/>
                          <a:ea typeface="+mn-ea"/>
                          <a:cs typeface="+mn-cs"/>
                        </a:rPr>
                        <a:t>Registers and Counters, Register with Parallel Load, Shift Registers, Shift Register with Parallel Load, Bidirectional Shift Register, Ripple Counter, Synchronous Binary Counters, Serial and Parallel Counters, Up-Down Binary Counter, Binary Counter with Parallel Load.  Miscellaneous Counters (BCD Counters, Arbitrary Sequence Counters)</a:t>
                      </a:r>
                      <a:endParaRPr lang="en-US" sz="1500" dirty="0"/>
                    </a:p>
                  </a:txBody>
                  <a:tcPr/>
                </a:tc>
                <a:tc>
                  <a:txBody>
                    <a:bodyPr/>
                    <a:lstStyle/>
                    <a:p>
                      <a:pPr algn="ctr"/>
                      <a:r>
                        <a:rPr lang="en-US" sz="1500" dirty="0"/>
                        <a:t>6</a:t>
                      </a:r>
                    </a:p>
                  </a:txBody>
                  <a:tcPr/>
                </a:tc>
                <a:extLst>
                  <a:ext uri="{0D108BD9-81ED-4DB2-BD59-A6C34878D82A}">
                    <a16:rowId xmlns:a16="http://schemas.microsoft.com/office/drawing/2014/main" val="10005"/>
                  </a:ext>
                </a:extLst>
              </a:tr>
              <a:tr h="370840">
                <a:tc>
                  <a:txBody>
                    <a:bodyPr/>
                    <a:lstStyle/>
                    <a:p>
                      <a:pPr algn="ctr"/>
                      <a:r>
                        <a:rPr lang="en-US" sz="1500" dirty="0"/>
                        <a:t>15, 16</a:t>
                      </a:r>
                    </a:p>
                  </a:txBody>
                  <a:tcPr/>
                </a:tc>
                <a:tc>
                  <a:txBody>
                    <a:bodyPr/>
                    <a:lstStyle/>
                    <a:p>
                      <a:r>
                        <a:rPr lang="en-US" sz="1500" kern="1200" dirty="0">
                          <a:solidFill>
                            <a:schemeClr val="dk1"/>
                          </a:solidFill>
                          <a:effectLst/>
                          <a:latin typeface="+mn-lt"/>
                          <a:ea typeface="+mn-ea"/>
                          <a:cs typeface="+mn-cs"/>
                        </a:rPr>
                        <a:t>Memory and Programmable Logic Devices, Random-access Memory, Dynamic RAM ICs, Programmable Logic Technologies (Read-only Memory, Programmable Logic Arrays, Programmable Array Logic Devices, FPGAs)</a:t>
                      </a:r>
                      <a:endParaRPr lang="en-US" sz="1500" dirty="0"/>
                    </a:p>
                  </a:txBody>
                  <a:tcPr/>
                </a:tc>
                <a:tc>
                  <a:txBody>
                    <a:bodyPr/>
                    <a:lstStyle/>
                    <a:p>
                      <a:pPr algn="ctr"/>
                      <a:r>
                        <a:rPr lang="en-US" sz="1500" dirty="0"/>
                        <a:t>7</a:t>
                      </a:r>
                    </a:p>
                  </a:txBody>
                  <a:tcPr/>
                </a:tc>
                <a:extLst>
                  <a:ext uri="{0D108BD9-81ED-4DB2-BD59-A6C34878D82A}">
                    <a16:rowId xmlns:a16="http://schemas.microsoft.com/office/drawing/2014/main" val="10006"/>
                  </a:ext>
                </a:extLst>
              </a:tr>
            </a:tbl>
          </a:graphicData>
        </a:graphic>
      </p:graphicFrame>
      <p:sp>
        <p:nvSpPr>
          <p:cNvPr id="3" name="Date Placeholder 2"/>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5</a:t>
            </a:fld>
            <a:endParaRPr lang="en-US"/>
          </a:p>
        </p:txBody>
      </p:sp>
    </p:spTree>
    <p:extLst>
      <p:ext uri="{BB962C8B-B14F-4D97-AF65-F5344CB8AC3E}">
        <p14:creationId xmlns:p14="http://schemas.microsoft.com/office/powerpoint/2010/main" val="27590266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Marks Distribution</a:t>
            </a:r>
          </a:p>
        </p:txBody>
      </p:sp>
      <p:sp>
        <p:nvSpPr>
          <p:cNvPr id="3" name="Content Placeholder 2"/>
          <p:cNvSpPr>
            <a:spLocks noGrp="1"/>
          </p:cNvSpPr>
          <p:nvPr>
            <p:ph idx="1"/>
          </p:nvPr>
        </p:nvSpPr>
        <p:spPr/>
        <p:txBody>
          <a:bodyPr>
            <a:normAutofit/>
          </a:bodyPr>
          <a:lstStyle/>
          <a:p>
            <a:pPr marL="1257300" lvl="3" indent="0">
              <a:buNone/>
            </a:pPr>
            <a:endParaRPr lang="en-US" sz="3200" dirty="0"/>
          </a:p>
          <a:p>
            <a:pPr marL="1257300" lvl="3" indent="0">
              <a:buNone/>
            </a:pPr>
            <a:r>
              <a:rPr lang="en-US" sz="3200" dirty="0"/>
              <a:t>Mid Term I			15%</a:t>
            </a:r>
          </a:p>
          <a:p>
            <a:pPr marL="1257300" lvl="3" indent="0">
              <a:buNone/>
            </a:pPr>
            <a:r>
              <a:rPr lang="en-US" sz="3200" dirty="0"/>
              <a:t>Mid Term II			15%</a:t>
            </a:r>
          </a:p>
          <a:p>
            <a:pPr marL="1257300" lvl="3" indent="0">
              <a:buNone/>
            </a:pPr>
            <a:r>
              <a:rPr lang="en-US" sz="3200" dirty="0"/>
              <a:t>Quizzes				15%</a:t>
            </a:r>
          </a:p>
          <a:p>
            <a:pPr marL="1257300" lvl="3" indent="0">
              <a:buNone/>
            </a:pPr>
            <a:r>
              <a:rPr lang="en-US" sz="3200" dirty="0"/>
              <a:t>Assignment/Project		10%</a:t>
            </a:r>
          </a:p>
          <a:p>
            <a:pPr marL="1257300" lvl="3" indent="0">
              <a:buNone/>
            </a:pPr>
            <a:r>
              <a:rPr lang="en-US" sz="3200" dirty="0"/>
              <a:t>Final Exam			45%</a:t>
            </a:r>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6</a:t>
            </a:fld>
            <a:endParaRPr lang="en-US"/>
          </a:p>
        </p:txBody>
      </p:sp>
    </p:spTree>
    <p:extLst>
      <p:ext uri="{BB962C8B-B14F-4D97-AF65-F5344CB8AC3E}">
        <p14:creationId xmlns:p14="http://schemas.microsoft.com/office/powerpoint/2010/main" val="40904061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Attendance Policy</a:t>
            </a:r>
          </a:p>
        </p:txBody>
      </p:sp>
      <p:sp>
        <p:nvSpPr>
          <p:cNvPr id="3" name="Content Placeholder 2"/>
          <p:cNvSpPr>
            <a:spLocks noGrp="1"/>
          </p:cNvSpPr>
          <p:nvPr>
            <p:ph idx="1"/>
          </p:nvPr>
        </p:nvSpPr>
        <p:spPr/>
        <p:txBody>
          <a:bodyPr>
            <a:normAutofit fontScale="92500" lnSpcReduction="10000"/>
          </a:bodyPr>
          <a:lstStyle/>
          <a:p>
            <a:r>
              <a:rPr lang="en-US" dirty="0"/>
              <a:t>In order to appear in final exam, </a:t>
            </a:r>
            <a:r>
              <a:rPr lang="en-US" b="1" dirty="0"/>
              <a:t>80% attendance </a:t>
            </a:r>
            <a:r>
              <a:rPr lang="en-US" dirty="0"/>
              <a:t>is must, and there will be </a:t>
            </a:r>
            <a:r>
              <a:rPr lang="en-US" b="1" dirty="0"/>
              <a:t>zero tolerance</a:t>
            </a:r>
            <a:r>
              <a:rPr lang="en-US" dirty="0"/>
              <a:t> on attendance</a:t>
            </a:r>
          </a:p>
          <a:p>
            <a:r>
              <a:rPr lang="en-US" dirty="0"/>
              <a:t>Attendance will be called at the </a:t>
            </a:r>
            <a:r>
              <a:rPr lang="en-US" b="1" dirty="0"/>
              <a:t>start</a:t>
            </a:r>
            <a:r>
              <a:rPr lang="en-US" dirty="0"/>
              <a:t> of every class and you will be marked as </a:t>
            </a:r>
            <a:r>
              <a:rPr lang="en-US" b="1" dirty="0"/>
              <a:t>absent</a:t>
            </a:r>
            <a:r>
              <a:rPr lang="en-US" dirty="0"/>
              <a:t> if you are more than </a:t>
            </a:r>
            <a:r>
              <a:rPr lang="en-US" b="1" dirty="0"/>
              <a:t>10 minutes late</a:t>
            </a:r>
            <a:endParaRPr lang="en-US" dirty="0"/>
          </a:p>
          <a:p>
            <a:r>
              <a:rPr lang="en-US" dirty="0"/>
              <a:t>Only excuses obtained officially are accepted. Personal excuses are not accepted. No make-up tests/quizzes/exams will be provided until instructed by academic committee</a:t>
            </a:r>
          </a:p>
          <a:p>
            <a:endParaRPr lang="en-US" dirty="0"/>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0A3E2A90-01CA-4B8B-BD4A-CD423E1B531E}" type="slidenum">
              <a:rPr lang="en-US" smtClean="0"/>
              <a:t>7</a:t>
            </a:fld>
            <a:endParaRPr lang="en-US"/>
          </a:p>
        </p:txBody>
      </p:sp>
    </p:spTree>
    <p:extLst>
      <p:ext uri="{BB962C8B-B14F-4D97-AF65-F5344CB8AC3E}">
        <p14:creationId xmlns:p14="http://schemas.microsoft.com/office/powerpoint/2010/main" val="1003821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 Guidelines</a:t>
            </a:r>
          </a:p>
        </p:txBody>
      </p:sp>
      <p:sp>
        <p:nvSpPr>
          <p:cNvPr id="3" name="Content Placeholder 2"/>
          <p:cNvSpPr>
            <a:spLocks noGrp="1"/>
          </p:cNvSpPr>
          <p:nvPr>
            <p:ph idx="1"/>
          </p:nvPr>
        </p:nvSpPr>
        <p:spPr>
          <a:xfrm>
            <a:off x="457200" y="1447800"/>
            <a:ext cx="8229600" cy="4800600"/>
          </a:xfrm>
        </p:spPr>
        <p:txBody>
          <a:bodyPr>
            <a:normAutofit fontScale="85000" lnSpcReduction="20000"/>
          </a:bodyPr>
          <a:lstStyle/>
          <a:p>
            <a:r>
              <a:rPr lang="en-US" dirty="0"/>
              <a:t>Some quizzes will be unannounced</a:t>
            </a:r>
          </a:p>
          <a:p>
            <a:r>
              <a:rPr lang="en-US" dirty="0"/>
              <a:t>The environment of class will be </a:t>
            </a:r>
            <a:r>
              <a:rPr lang="en-US" b="1" dirty="0"/>
              <a:t>friendly</a:t>
            </a:r>
            <a:r>
              <a:rPr lang="en-US" dirty="0"/>
              <a:t> but we have to respect the environment of the class</a:t>
            </a:r>
            <a:endParaRPr lang="en-US" b="1" dirty="0"/>
          </a:p>
          <a:p>
            <a:r>
              <a:rPr lang="en-US" dirty="0"/>
              <a:t>You are free to ask relevant questions during the lecture</a:t>
            </a:r>
          </a:p>
          <a:p>
            <a:r>
              <a:rPr lang="en-US" dirty="0"/>
              <a:t>Use of mobile phones/tablets/laptops in the class is strictly not allowed</a:t>
            </a:r>
          </a:p>
          <a:p>
            <a:r>
              <a:rPr lang="en-US" dirty="0"/>
              <a:t>Grading scheme will be decided according to class performance</a:t>
            </a:r>
          </a:p>
          <a:p>
            <a:r>
              <a:rPr lang="en-US" dirty="0"/>
              <a:t>Partially or fully copied assignments/reports will be marked as </a:t>
            </a:r>
            <a:r>
              <a:rPr lang="en-US" b="1" dirty="0"/>
              <a:t>ZERO</a:t>
            </a:r>
          </a:p>
          <a:p>
            <a:r>
              <a:rPr lang="en-US" dirty="0"/>
              <a:t>There will be no extension in the deadlines</a:t>
            </a:r>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0A3E2A90-01CA-4B8B-BD4A-CD423E1B531E}" type="slidenum">
              <a:rPr lang="en-US" smtClean="0"/>
              <a:t>8</a:t>
            </a:fld>
            <a:endParaRPr lang="en-US"/>
          </a:p>
        </p:txBody>
      </p:sp>
    </p:spTree>
    <p:extLst>
      <p:ext uri="{BB962C8B-B14F-4D97-AF65-F5344CB8AC3E}">
        <p14:creationId xmlns:p14="http://schemas.microsoft.com/office/powerpoint/2010/main" val="2286545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ctrTitle"/>
          </p:nvPr>
        </p:nvSpPr>
        <p:spPr/>
        <p:txBody>
          <a:bodyPr/>
          <a:lstStyle/>
          <a:p>
            <a:r>
              <a:rPr lang="en-US" dirty="0"/>
              <a:t>Now Lets Start the Course</a:t>
            </a:r>
          </a:p>
        </p:txBody>
      </p:sp>
      <p:sp>
        <p:nvSpPr>
          <p:cNvPr id="8" name="Subtitle 7"/>
          <p:cNvSpPr>
            <a:spLocks noGrp="1"/>
          </p:cNvSpPr>
          <p:nvPr>
            <p:ph type="subTitle" idx="1"/>
          </p:nvPr>
        </p:nvSpPr>
        <p:spPr/>
        <p:txBody>
          <a:bodyPr/>
          <a:lstStyle/>
          <a:p>
            <a:r>
              <a:rPr lang="en-US" dirty="0">
                <a:sym typeface="Wingdings" pitchFamily="2" charset="2"/>
              </a:rPr>
              <a:t></a:t>
            </a:r>
            <a:endParaRPr lang="en-US" dirty="0"/>
          </a:p>
        </p:txBody>
      </p:sp>
    </p:spTree>
    <p:extLst>
      <p:ext uri="{BB962C8B-B14F-4D97-AF65-F5344CB8AC3E}">
        <p14:creationId xmlns:p14="http://schemas.microsoft.com/office/powerpoint/2010/main" val="19277791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4C2B167-9861-4595-987F-B371D1064EEE}"/>
              </a:ext>
            </a:extLst>
          </p:cNvPr>
          <p:cNvSpPr/>
          <p:nvPr/>
        </p:nvSpPr>
        <p:spPr>
          <a:xfrm>
            <a:off x="3429000" y="6412468"/>
            <a:ext cx="1910203" cy="369332"/>
          </a:xfrm>
          <a:prstGeom prst="rect">
            <a:avLst/>
          </a:prstGeom>
        </p:spPr>
        <p:txBody>
          <a:bodyPr wrap="none">
            <a:spAutoFit/>
          </a:bodyPr>
          <a:lstStyle/>
          <a:p>
            <a:r>
              <a:rPr lang="en-US" dirty="0"/>
              <a:t>Generic Computer</a:t>
            </a:r>
          </a:p>
        </p:txBody>
      </p:sp>
      <p:pic>
        <p:nvPicPr>
          <p:cNvPr id="6" name="Picture 5">
            <a:extLst>
              <a:ext uri="{FF2B5EF4-FFF2-40B4-BE49-F238E27FC236}">
                <a16:creationId xmlns:a16="http://schemas.microsoft.com/office/drawing/2014/main" id="{CEE71082-FDDD-4C6D-8DE4-8DA5E1EC57A4}"/>
              </a:ext>
            </a:extLst>
          </p:cNvPr>
          <p:cNvPicPr>
            <a:picLocks noChangeAspect="1"/>
          </p:cNvPicPr>
          <p:nvPr/>
        </p:nvPicPr>
        <p:blipFill>
          <a:blip r:embed="rId2"/>
          <a:stretch>
            <a:fillRect/>
          </a:stretch>
        </p:blipFill>
        <p:spPr>
          <a:xfrm>
            <a:off x="2250281" y="465666"/>
            <a:ext cx="4643438" cy="5926667"/>
          </a:xfrm>
          <a:prstGeom prst="rect">
            <a:avLst/>
          </a:prstGeom>
        </p:spPr>
      </p:pic>
    </p:spTree>
    <p:extLst>
      <p:ext uri="{BB962C8B-B14F-4D97-AF65-F5344CB8AC3E}">
        <p14:creationId xmlns:p14="http://schemas.microsoft.com/office/powerpoint/2010/main" val="1007740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Information Processing</a:t>
            </a:r>
          </a:p>
        </p:txBody>
      </p:sp>
      <p:sp>
        <p:nvSpPr>
          <p:cNvPr id="3" name="Content Placeholder 2"/>
          <p:cNvSpPr>
            <a:spLocks noGrp="1"/>
          </p:cNvSpPr>
          <p:nvPr>
            <p:ph idx="1"/>
          </p:nvPr>
        </p:nvSpPr>
        <p:spPr/>
        <p:txBody>
          <a:bodyPr>
            <a:normAutofit fontScale="92500" lnSpcReduction="20000"/>
          </a:bodyPr>
          <a:lstStyle/>
          <a:p>
            <a:r>
              <a:rPr lang="en-US" dirty="0"/>
              <a:t>In our daily life we have to process the following types of data</a:t>
            </a:r>
          </a:p>
          <a:p>
            <a:pPr lvl="1"/>
            <a:r>
              <a:rPr lang="en-US" dirty="0"/>
              <a:t>Text</a:t>
            </a:r>
          </a:p>
          <a:p>
            <a:pPr lvl="1"/>
            <a:r>
              <a:rPr lang="en-US" dirty="0"/>
              <a:t>Numbers</a:t>
            </a:r>
          </a:p>
          <a:p>
            <a:pPr lvl="1"/>
            <a:r>
              <a:rPr lang="en-US" dirty="0"/>
              <a:t>Formulas and Equation</a:t>
            </a:r>
          </a:p>
          <a:p>
            <a:pPr lvl="1"/>
            <a:r>
              <a:rPr lang="en-US" dirty="0"/>
              <a:t>Pictures</a:t>
            </a:r>
          </a:p>
          <a:p>
            <a:pPr lvl="1"/>
            <a:r>
              <a:rPr lang="en-US" dirty="0"/>
              <a:t>Audio</a:t>
            </a:r>
          </a:p>
          <a:p>
            <a:pPr lvl="1"/>
            <a:r>
              <a:rPr lang="en-US" dirty="0"/>
              <a:t>Video</a:t>
            </a:r>
          </a:p>
          <a:p>
            <a:r>
              <a:rPr lang="en-US" dirty="0"/>
              <a:t>All above can be divided in two categories</a:t>
            </a:r>
          </a:p>
          <a:p>
            <a:pPr lvl="1"/>
            <a:r>
              <a:rPr lang="en-US" dirty="0"/>
              <a:t>Analog</a:t>
            </a:r>
          </a:p>
          <a:p>
            <a:pPr lvl="1"/>
            <a:r>
              <a:rPr lang="en-US" dirty="0"/>
              <a:t>Digital</a:t>
            </a:r>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11</a:t>
            </a:fld>
            <a:endParaRPr lang="en-US"/>
          </a:p>
        </p:txBody>
      </p:sp>
    </p:spTree>
    <p:extLst>
      <p:ext uri="{BB962C8B-B14F-4D97-AF65-F5344CB8AC3E}">
        <p14:creationId xmlns:p14="http://schemas.microsoft.com/office/powerpoint/2010/main" val="333211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4060B-B420-4C08-9FA2-EED2875D8EE3}"/>
              </a:ext>
            </a:extLst>
          </p:cNvPr>
          <p:cNvSpPr>
            <a:spLocks noGrp="1"/>
          </p:cNvSpPr>
          <p:nvPr>
            <p:ph type="title"/>
          </p:nvPr>
        </p:nvSpPr>
        <p:spPr/>
        <p:txBody>
          <a:bodyPr/>
          <a:lstStyle/>
          <a:p>
            <a:pPr algn="l"/>
            <a:r>
              <a:rPr lang="en-US" dirty="0"/>
              <a:t>Information Representation (Cont.)</a:t>
            </a:r>
          </a:p>
        </p:txBody>
      </p:sp>
      <p:sp>
        <p:nvSpPr>
          <p:cNvPr id="3" name="Content Placeholder 2">
            <a:extLst>
              <a:ext uri="{FF2B5EF4-FFF2-40B4-BE49-F238E27FC236}">
                <a16:creationId xmlns:a16="http://schemas.microsoft.com/office/drawing/2014/main" id="{C0D81691-CA21-4603-A2BB-2541C837AA4F}"/>
              </a:ext>
            </a:extLst>
          </p:cNvPr>
          <p:cNvSpPr>
            <a:spLocks noGrp="1"/>
          </p:cNvSpPr>
          <p:nvPr>
            <p:ph idx="1"/>
          </p:nvPr>
        </p:nvSpPr>
        <p:spPr/>
        <p:txBody>
          <a:bodyPr/>
          <a:lstStyle/>
          <a:p>
            <a:r>
              <a:rPr lang="en-US" dirty="0"/>
              <a:t>The signals in most present-day electronic digital systems use just two discrete values and are therefore said to be binary.</a:t>
            </a:r>
          </a:p>
          <a:p>
            <a:r>
              <a:rPr lang="en-US" dirty="0"/>
              <a:t>The two discrete values used are often called 0 and 1, the digits for the binary number system.</a:t>
            </a:r>
          </a:p>
          <a:p>
            <a:endParaRPr lang="en-US" dirty="0"/>
          </a:p>
        </p:txBody>
      </p:sp>
      <p:pic>
        <p:nvPicPr>
          <p:cNvPr id="4" name="Picture 3">
            <a:extLst>
              <a:ext uri="{FF2B5EF4-FFF2-40B4-BE49-F238E27FC236}">
                <a16:creationId xmlns:a16="http://schemas.microsoft.com/office/drawing/2014/main" id="{F3C0BE26-BC0C-446B-8606-A7389630CF9E}"/>
              </a:ext>
            </a:extLst>
          </p:cNvPr>
          <p:cNvPicPr>
            <a:picLocks noChangeAspect="1"/>
          </p:cNvPicPr>
          <p:nvPr/>
        </p:nvPicPr>
        <p:blipFill>
          <a:blip r:embed="rId2"/>
          <a:stretch>
            <a:fillRect/>
          </a:stretch>
        </p:blipFill>
        <p:spPr>
          <a:xfrm>
            <a:off x="1752600" y="3429000"/>
            <a:ext cx="7219228" cy="3271604"/>
          </a:xfrm>
          <a:prstGeom prst="rect">
            <a:avLst/>
          </a:prstGeom>
        </p:spPr>
      </p:pic>
      <p:sp>
        <p:nvSpPr>
          <p:cNvPr id="5" name="Rectangle 4">
            <a:extLst>
              <a:ext uri="{FF2B5EF4-FFF2-40B4-BE49-F238E27FC236}">
                <a16:creationId xmlns:a16="http://schemas.microsoft.com/office/drawing/2014/main" id="{516552D3-3518-494A-8335-2172B1A177D1}"/>
              </a:ext>
            </a:extLst>
          </p:cNvPr>
          <p:cNvSpPr/>
          <p:nvPr/>
        </p:nvSpPr>
        <p:spPr>
          <a:xfrm>
            <a:off x="76200" y="4343400"/>
            <a:ext cx="1981200" cy="1200329"/>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(Figure)</a:t>
            </a:r>
            <a:r>
              <a:rPr kumimoji="0" lang="en-US" sz="1800" b="0" i="0" u="none" strike="noStrike" kern="1200" cap="none" spc="0" normalizeH="0" baseline="0" noProof="0" dirty="0">
                <a:ln>
                  <a:noFill/>
                </a:ln>
                <a:solidFill>
                  <a:prstClr val="black"/>
                </a:solidFill>
                <a:effectLst/>
                <a:uLnTx/>
                <a:uFillTx/>
                <a:latin typeface="Calibri"/>
                <a:ea typeface="+mn-ea"/>
                <a:cs typeface="+mn-cs"/>
              </a:rPr>
              <a:t> Examples of Voltage Ranges and Waveforms for Binary Signals.</a:t>
            </a:r>
          </a:p>
        </p:txBody>
      </p:sp>
    </p:spTree>
    <p:extLst>
      <p:ext uri="{BB962C8B-B14F-4D97-AF65-F5344CB8AC3E}">
        <p14:creationId xmlns:p14="http://schemas.microsoft.com/office/powerpoint/2010/main" val="17669800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Analog Quantities</a:t>
            </a:r>
          </a:p>
        </p:txBody>
      </p:sp>
      <p:sp>
        <p:nvSpPr>
          <p:cNvPr id="3" name="Content Placeholder 2"/>
          <p:cNvSpPr>
            <a:spLocks noGrp="1"/>
          </p:cNvSpPr>
          <p:nvPr>
            <p:ph idx="1"/>
          </p:nvPr>
        </p:nvSpPr>
        <p:spPr>
          <a:xfrm>
            <a:off x="457200" y="1447800"/>
            <a:ext cx="8229600" cy="4525963"/>
          </a:xfrm>
        </p:spPr>
        <p:txBody>
          <a:bodyPr/>
          <a:lstStyle/>
          <a:p>
            <a:r>
              <a:rPr lang="en-US" dirty="0"/>
              <a:t>Continuous in nature</a:t>
            </a:r>
          </a:p>
          <a:p>
            <a:pPr lvl="1"/>
            <a:r>
              <a:rPr lang="en-US" dirty="0"/>
              <a:t>Intensity of light</a:t>
            </a:r>
          </a:p>
          <a:p>
            <a:pPr lvl="1"/>
            <a:r>
              <a:rPr lang="en-US" dirty="0"/>
              <a:t>Temperature</a:t>
            </a:r>
          </a:p>
          <a:p>
            <a:pPr lvl="1"/>
            <a:r>
              <a:rPr lang="en-US" dirty="0"/>
              <a:t>Velocity</a:t>
            </a:r>
          </a:p>
        </p:txBody>
      </p:sp>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t="1616" b="59192"/>
          <a:stretch/>
        </p:blipFill>
        <p:spPr>
          <a:xfrm>
            <a:off x="1219200" y="3636818"/>
            <a:ext cx="6366811" cy="2687782"/>
          </a:xfrm>
          <a:prstGeom prst="rect">
            <a:avLst/>
          </a:prstGeom>
        </p:spPr>
      </p:pic>
      <p:sp>
        <p:nvSpPr>
          <p:cNvPr id="6" name="Date Placeholder 5"/>
          <p:cNvSpPr>
            <a:spLocks noGrp="1"/>
          </p:cNvSpPr>
          <p:nvPr>
            <p:ph type="dt" sz="half" idx="10"/>
          </p:nvPr>
        </p:nvSpPr>
        <p:spPr/>
        <p:txBody>
          <a:bodyPr/>
          <a:lstStyle/>
          <a:p>
            <a:r>
              <a:rPr lang="en-US"/>
              <a:t>EE227 - DLD</a:t>
            </a:r>
          </a:p>
        </p:txBody>
      </p:sp>
      <p:sp>
        <p:nvSpPr>
          <p:cNvPr id="7" name="Footer Placeholder 6"/>
          <p:cNvSpPr>
            <a:spLocks noGrp="1"/>
          </p:cNvSpPr>
          <p:nvPr>
            <p:ph type="ftr" sz="quarter" idx="11"/>
          </p:nvPr>
        </p:nvSpPr>
        <p:spPr/>
        <p:txBody>
          <a:bodyPr/>
          <a:lstStyle/>
          <a:p>
            <a:r>
              <a:rPr lang="en-US" dirty="0"/>
              <a:t>Course Instructor : Waqar Baig</a:t>
            </a:r>
          </a:p>
        </p:txBody>
      </p:sp>
      <p:sp>
        <p:nvSpPr>
          <p:cNvPr id="8" name="Slide Number Placeholder 7"/>
          <p:cNvSpPr>
            <a:spLocks noGrp="1"/>
          </p:cNvSpPr>
          <p:nvPr>
            <p:ph type="sldNum" sz="quarter" idx="12"/>
          </p:nvPr>
        </p:nvSpPr>
        <p:spPr/>
        <p:txBody>
          <a:bodyPr/>
          <a:lstStyle/>
          <a:p>
            <a:fld id="{CBE6402E-3189-41C4-BB36-EE6F934C63A5}" type="slidenum">
              <a:rPr lang="en-US" smtClean="0"/>
              <a:t>13</a:t>
            </a:fld>
            <a:endParaRPr lang="en-US"/>
          </a:p>
        </p:txBody>
      </p:sp>
    </p:spTree>
    <p:extLst>
      <p:ext uri="{BB962C8B-B14F-4D97-AF65-F5344CB8AC3E}">
        <p14:creationId xmlns:p14="http://schemas.microsoft.com/office/powerpoint/2010/main" val="21816999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Digital Quantities</a:t>
            </a:r>
          </a:p>
        </p:txBody>
      </p:sp>
      <p:sp>
        <p:nvSpPr>
          <p:cNvPr id="3" name="Content Placeholder 2"/>
          <p:cNvSpPr>
            <a:spLocks noGrp="1"/>
          </p:cNvSpPr>
          <p:nvPr>
            <p:ph idx="1"/>
          </p:nvPr>
        </p:nvSpPr>
        <p:spPr/>
        <p:txBody>
          <a:bodyPr/>
          <a:lstStyle/>
          <a:p>
            <a:r>
              <a:rPr lang="en-US" dirty="0"/>
              <a:t>Discrete set of values</a:t>
            </a:r>
          </a:p>
          <a:p>
            <a:r>
              <a:rPr lang="en-US" dirty="0"/>
              <a:t>Can be obtained by sampling of analog signals</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91796" y="3504262"/>
            <a:ext cx="4099803" cy="2248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 y="3276600"/>
            <a:ext cx="4687009" cy="24002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Date Placeholder 4"/>
          <p:cNvSpPr>
            <a:spLocks noGrp="1"/>
          </p:cNvSpPr>
          <p:nvPr>
            <p:ph type="dt" sz="half" idx="10"/>
          </p:nvPr>
        </p:nvSpPr>
        <p:spPr/>
        <p:txBody>
          <a:bodyPr/>
          <a:lstStyle/>
          <a:p>
            <a:r>
              <a:rPr lang="en-US"/>
              <a:t>EE227 - DLD</a:t>
            </a:r>
          </a:p>
        </p:txBody>
      </p:sp>
      <p:sp>
        <p:nvSpPr>
          <p:cNvPr id="6" name="Footer Placeholder 5"/>
          <p:cNvSpPr>
            <a:spLocks noGrp="1"/>
          </p:cNvSpPr>
          <p:nvPr>
            <p:ph type="ftr" sz="quarter" idx="11"/>
          </p:nvPr>
        </p:nvSpPr>
        <p:spPr/>
        <p:txBody>
          <a:bodyPr/>
          <a:lstStyle/>
          <a:p>
            <a:r>
              <a:rPr lang="en-US" dirty="0"/>
              <a:t>Course Instructor : Waqar Baig</a:t>
            </a:r>
          </a:p>
        </p:txBody>
      </p:sp>
      <p:sp>
        <p:nvSpPr>
          <p:cNvPr id="7" name="Slide Number Placeholder 6"/>
          <p:cNvSpPr>
            <a:spLocks noGrp="1"/>
          </p:cNvSpPr>
          <p:nvPr>
            <p:ph type="sldNum" sz="quarter" idx="12"/>
          </p:nvPr>
        </p:nvSpPr>
        <p:spPr/>
        <p:txBody>
          <a:bodyPr/>
          <a:lstStyle/>
          <a:p>
            <a:fld id="{CBE6402E-3189-41C4-BB36-EE6F934C63A5}" type="slidenum">
              <a:rPr lang="en-US" smtClean="0"/>
              <a:t>14</a:t>
            </a:fld>
            <a:endParaRPr lang="en-US"/>
          </a:p>
        </p:txBody>
      </p:sp>
    </p:spTree>
    <p:extLst>
      <p:ext uri="{BB962C8B-B14F-4D97-AF65-F5344CB8AC3E}">
        <p14:creationId xmlns:p14="http://schemas.microsoft.com/office/powerpoint/2010/main" val="1656203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00ED6-0B0B-4DC9-8C92-D2C4AEBAC853}"/>
              </a:ext>
            </a:extLst>
          </p:cNvPr>
          <p:cNvSpPr>
            <a:spLocks noGrp="1"/>
          </p:cNvSpPr>
          <p:nvPr>
            <p:ph type="title"/>
          </p:nvPr>
        </p:nvSpPr>
        <p:spPr/>
        <p:txBody>
          <a:bodyPr/>
          <a:lstStyle/>
          <a:p>
            <a:pPr algn="l"/>
            <a:r>
              <a:rPr lang="en-US" dirty="0"/>
              <a:t>What is a digital system?</a:t>
            </a:r>
          </a:p>
        </p:txBody>
      </p:sp>
      <p:sp>
        <p:nvSpPr>
          <p:cNvPr id="3" name="Content Placeholder 2">
            <a:extLst>
              <a:ext uri="{FF2B5EF4-FFF2-40B4-BE49-F238E27FC236}">
                <a16:creationId xmlns:a16="http://schemas.microsoft.com/office/drawing/2014/main" id="{7634296F-0689-4D0F-8D28-0BF25A1A7D82}"/>
              </a:ext>
            </a:extLst>
          </p:cNvPr>
          <p:cNvSpPr>
            <a:spLocks noGrp="1"/>
          </p:cNvSpPr>
          <p:nvPr>
            <p:ph idx="1"/>
          </p:nvPr>
        </p:nvSpPr>
        <p:spPr/>
        <p:txBody>
          <a:bodyPr/>
          <a:lstStyle/>
          <a:p>
            <a:r>
              <a:rPr lang="en-US" dirty="0"/>
              <a:t>It is a system that manipulates (processes) discrete elements of information.</a:t>
            </a:r>
          </a:p>
          <a:p>
            <a:r>
              <a:rPr lang="en-US" dirty="0"/>
              <a:t>A digital system is a discrete information processing system.</a:t>
            </a:r>
          </a:p>
          <a:p>
            <a:r>
              <a:rPr lang="en-US" dirty="0"/>
              <a:t>Examples of digital systems: </a:t>
            </a:r>
          </a:p>
          <a:p>
            <a:pPr lvl="1"/>
            <a:r>
              <a:rPr lang="en-US" dirty="0"/>
              <a:t>the calculator, </a:t>
            </a:r>
          </a:p>
          <a:p>
            <a:pPr lvl="1"/>
            <a:r>
              <a:rPr lang="en-US" dirty="0"/>
              <a:t>digital voltmeters, </a:t>
            </a:r>
          </a:p>
          <a:p>
            <a:pPr lvl="1"/>
            <a:r>
              <a:rPr lang="en-US" dirty="0"/>
              <a:t>and general purpose computers. </a:t>
            </a:r>
          </a:p>
          <a:p>
            <a:r>
              <a:rPr lang="en-US" dirty="0"/>
              <a:t>In such systems, all quantities are represented using two values.</a:t>
            </a:r>
          </a:p>
          <a:p>
            <a:r>
              <a:rPr lang="en-US" u="sng" dirty="0"/>
              <a:t>Note</a:t>
            </a:r>
            <a:r>
              <a:rPr lang="en-US" dirty="0"/>
              <a:t>: if the system in Not Digital, it is "Analog".</a:t>
            </a:r>
          </a:p>
        </p:txBody>
      </p:sp>
      <p:pic>
        <p:nvPicPr>
          <p:cNvPr id="5" name="Picture 4">
            <a:extLst>
              <a:ext uri="{FF2B5EF4-FFF2-40B4-BE49-F238E27FC236}">
                <a16:creationId xmlns:a16="http://schemas.microsoft.com/office/drawing/2014/main" id="{08F4457C-7930-47E3-B8DE-EEC10AC18AB4}"/>
              </a:ext>
            </a:extLst>
          </p:cNvPr>
          <p:cNvPicPr>
            <a:picLocks noChangeAspect="1"/>
          </p:cNvPicPr>
          <p:nvPr/>
        </p:nvPicPr>
        <p:blipFill>
          <a:blip r:embed="rId2"/>
          <a:stretch>
            <a:fillRect/>
          </a:stretch>
        </p:blipFill>
        <p:spPr>
          <a:xfrm>
            <a:off x="5715000" y="2895600"/>
            <a:ext cx="3200400" cy="1731818"/>
          </a:xfrm>
          <a:prstGeom prst="rect">
            <a:avLst/>
          </a:prstGeom>
        </p:spPr>
      </p:pic>
    </p:spTree>
    <p:extLst>
      <p:ext uri="{BB962C8B-B14F-4D97-AF65-F5344CB8AC3E}">
        <p14:creationId xmlns:p14="http://schemas.microsoft.com/office/powerpoint/2010/main" val="32705209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E90735-A6FA-4755-8B65-2C6E6A4AD586}"/>
              </a:ext>
            </a:extLst>
          </p:cNvPr>
          <p:cNvSpPr>
            <a:spLocks noGrp="1"/>
          </p:cNvSpPr>
          <p:nvPr>
            <p:ph type="title"/>
          </p:nvPr>
        </p:nvSpPr>
        <p:spPr>
          <a:xfrm>
            <a:off x="199186" y="274638"/>
            <a:ext cx="8792414" cy="1143000"/>
          </a:xfrm>
        </p:spPr>
        <p:txBody>
          <a:bodyPr/>
          <a:lstStyle/>
          <a:p>
            <a:pPr algn="l"/>
            <a:r>
              <a:rPr lang="en-US" dirty="0"/>
              <a:t>What is A/D conversion?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763F87D-88E2-47C8-A669-74FEFC146AEC}"/>
                  </a:ext>
                </a:extLst>
              </p:cNvPr>
              <p:cNvSpPr>
                <a:spLocks noGrp="1"/>
              </p:cNvSpPr>
              <p:nvPr>
                <p:ph idx="1"/>
              </p:nvPr>
            </p:nvSpPr>
            <p:spPr>
              <a:xfrm>
                <a:off x="199186" y="1402700"/>
                <a:ext cx="8792414" cy="5226700"/>
              </a:xfrm>
            </p:spPr>
            <p:txBody>
              <a:bodyPr>
                <a:normAutofit/>
              </a:bodyPr>
              <a:lstStyle/>
              <a:p>
                <a:r>
                  <a:rPr lang="en-US" dirty="0"/>
                  <a:t>To process analog data using a digital system, we need analog to digital (A/D) conversion.</a:t>
                </a:r>
              </a:p>
              <a:p>
                <a:r>
                  <a:rPr lang="en-US" dirty="0"/>
                  <a:t>There are two main steps in order to discretize a signal:</a:t>
                </a:r>
              </a:p>
              <a:p>
                <a:pPr lvl="1"/>
                <a:r>
                  <a:rPr lang="en-US" u="sng" dirty="0"/>
                  <a:t>Sampling</a:t>
                </a:r>
                <a:r>
                  <a:rPr lang="en-US" dirty="0"/>
                  <a:t>: taking finite samples in time (discretize in time). Samples are taken by measuring the value of the signal at regular time intervals.</a:t>
                </a:r>
              </a:p>
              <a:p>
                <a:pPr lvl="1"/>
                <a:r>
                  <a:rPr lang="en-US" u="sng" dirty="0"/>
                  <a:t>Quantization</a:t>
                </a:r>
                <a:r>
                  <a:rPr lang="en-US" dirty="0"/>
                  <a:t>: taking finite values (discretize in value).</a:t>
                </a:r>
              </a:p>
              <a:p>
                <a:pPr lvl="2">
                  <a:buFont typeface="Wingdings" panose="05000000000000000000" pitchFamily="2" charset="2"/>
                  <a:buChar char="§"/>
                </a:pPr>
                <a:r>
                  <a:rPr lang="en-US" dirty="0"/>
                  <a:t>Sampling + quantization + encoding </a:t>
                </a:r>
                <a14:m>
                  <m:oMath xmlns:m="http://schemas.openxmlformats.org/officeDocument/2006/math">
                    <m:r>
                      <a:rPr lang="en-US" i="1" dirty="0" smtClean="0">
                        <a:latin typeface="Cambria Math" panose="02040503050406030204" pitchFamily="18" charset="0"/>
                        <a:ea typeface="Cambria Math" panose="02040503050406030204" pitchFamily="18" charset="0"/>
                      </a:rPr>
                      <m:t>≡</m:t>
                    </m:r>
                  </m:oMath>
                </a14:m>
                <a:r>
                  <a:rPr lang="en-US" dirty="0"/>
                  <a:t> ADC </a:t>
                </a:r>
                <a14:m>
                  <m:oMath xmlns:m="http://schemas.openxmlformats.org/officeDocument/2006/math">
                    <m:r>
                      <a:rPr lang="en-US" i="1" dirty="0" smtClean="0">
                        <a:latin typeface="Cambria Math" panose="02040503050406030204" pitchFamily="18" charset="0"/>
                        <a:ea typeface="Cambria Math" panose="02040503050406030204" pitchFamily="18" charset="0"/>
                      </a:rPr>
                      <m:t>≡</m:t>
                    </m:r>
                  </m:oMath>
                </a14:m>
                <a:r>
                  <a:rPr lang="en-US" dirty="0"/>
                  <a:t> A/D </a:t>
                </a:r>
                <a14:m>
                  <m:oMath xmlns:m="http://schemas.openxmlformats.org/officeDocument/2006/math">
                    <m:r>
                      <a:rPr lang="en-US" i="1" dirty="0" smtClean="0">
                        <a:latin typeface="Cambria Math" panose="02040503050406030204" pitchFamily="18" charset="0"/>
                        <a:ea typeface="Cambria Math" panose="02040503050406030204" pitchFamily="18" charset="0"/>
                      </a:rPr>
                      <m:t>≡</m:t>
                    </m:r>
                  </m:oMath>
                </a14:m>
                <a:r>
                  <a:rPr lang="en-US" dirty="0"/>
                  <a:t> Analog to digital conversion</a:t>
                </a:r>
              </a:p>
            </p:txBody>
          </p:sp>
        </mc:Choice>
        <mc:Fallback xmlns="">
          <p:sp>
            <p:nvSpPr>
              <p:cNvPr id="3" name="Content Placeholder 2">
                <a:extLst>
                  <a:ext uri="{FF2B5EF4-FFF2-40B4-BE49-F238E27FC236}">
                    <a16:creationId xmlns:a16="http://schemas.microsoft.com/office/drawing/2014/main" id="{0763F87D-88E2-47C8-A669-74FEFC146AEC}"/>
                  </a:ext>
                </a:extLst>
              </p:cNvPr>
              <p:cNvSpPr>
                <a:spLocks noGrp="1" noRot="1" noChangeAspect="1" noMove="1" noResize="1" noEditPoints="1" noAdjustHandles="1" noChangeArrowheads="1" noChangeShapeType="1" noTextEdit="1"/>
              </p:cNvSpPr>
              <p:nvPr>
                <p:ph idx="1"/>
              </p:nvPr>
            </p:nvSpPr>
            <p:spPr>
              <a:xfrm>
                <a:off x="199186" y="1402700"/>
                <a:ext cx="8792414" cy="5226700"/>
              </a:xfrm>
              <a:blipFill>
                <a:blip r:embed="rId2"/>
                <a:stretch>
                  <a:fillRect l="-971" t="-932" r="-416"/>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51154F2A-940A-4D32-8240-A7AD1EB4F48A}"/>
              </a:ext>
            </a:extLst>
          </p:cNvPr>
          <p:cNvPicPr>
            <a:picLocks noChangeAspect="1"/>
          </p:cNvPicPr>
          <p:nvPr/>
        </p:nvPicPr>
        <p:blipFill>
          <a:blip r:embed="rId3"/>
          <a:stretch>
            <a:fillRect/>
          </a:stretch>
        </p:blipFill>
        <p:spPr>
          <a:xfrm>
            <a:off x="199186" y="5256294"/>
            <a:ext cx="4372814" cy="1373106"/>
          </a:xfrm>
          <a:prstGeom prst="rect">
            <a:avLst/>
          </a:prstGeom>
        </p:spPr>
      </p:pic>
      <p:pic>
        <p:nvPicPr>
          <p:cNvPr id="7" name="Picture 6">
            <a:extLst>
              <a:ext uri="{FF2B5EF4-FFF2-40B4-BE49-F238E27FC236}">
                <a16:creationId xmlns:a16="http://schemas.microsoft.com/office/drawing/2014/main" id="{BA0EDDCB-754C-4EBA-B46C-69A2F0419A3F}"/>
              </a:ext>
            </a:extLst>
          </p:cNvPr>
          <p:cNvPicPr>
            <a:picLocks noChangeAspect="1"/>
          </p:cNvPicPr>
          <p:nvPr/>
        </p:nvPicPr>
        <p:blipFill>
          <a:blip r:embed="rId4"/>
          <a:stretch>
            <a:fillRect/>
          </a:stretch>
        </p:blipFill>
        <p:spPr>
          <a:xfrm>
            <a:off x="4608226" y="5256294"/>
            <a:ext cx="4383374" cy="1373106"/>
          </a:xfrm>
          <a:prstGeom prst="rect">
            <a:avLst/>
          </a:prstGeom>
        </p:spPr>
      </p:pic>
    </p:spTree>
    <p:extLst>
      <p:ext uri="{BB962C8B-B14F-4D97-AF65-F5344CB8AC3E}">
        <p14:creationId xmlns:p14="http://schemas.microsoft.com/office/powerpoint/2010/main" val="40685514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733C1-D700-4E02-9992-03E0775FE09B}"/>
              </a:ext>
            </a:extLst>
          </p:cNvPr>
          <p:cNvSpPr>
            <a:spLocks noGrp="1"/>
          </p:cNvSpPr>
          <p:nvPr>
            <p:ph type="title"/>
          </p:nvPr>
        </p:nvSpPr>
        <p:spPr/>
        <p:txBody>
          <a:bodyPr/>
          <a:lstStyle/>
          <a:p>
            <a:pPr algn="l"/>
            <a:r>
              <a:rPr lang="en-US" dirty="0"/>
              <a:t>What is A/D conversion? (Cont.)</a:t>
            </a:r>
          </a:p>
        </p:txBody>
      </p:sp>
      <p:pic>
        <p:nvPicPr>
          <p:cNvPr id="4" name="Content Placeholder 3">
            <a:extLst>
              <a:ext uri="{FF2B5EF4-FFF2-40B4-BE49-F238E27FC236}">
                <a16:creationId xmlns:a16="http://schemas.microsoft.com/office/drawing/2014/main" id="{E73CBB4D-5079-46A1-BBE4-E42A8066938D}"/>
              </a:ext>
            </a:extLst>
          </p:cNvPr>
          <p:cNvPicPr>
            <a:picLocks noGrp="1" noChangeAspect="1"/>
          </p:cNvPicPr>
          <p:nvPr>
            <p:ph idx="1"/>
          </p:nvPr>
        </p:nvPicPr>
        <p:blipFill>
          <a:blip r:embed="rId2"/>
          <a:stretch>
            <a:fillRect/>
          </a:stretch>
        </p:blipFill>
        <p:spPr>
          <a:xfrm>
            <a:off x="1562100" y="1401399"/>
            <a:ext cx="6019800" cy="5329700"/>
          </a:xfrm>
          <a:prstGeom prst="rect">
            <a:avLst/>
          </a:prstGeom>
        </p:spPr>
      </p:pic>
    </p:spTree>
    <p:extLst>
      <p:ext uri="{BB962C8B-B14F-4D97-AF65-F5344CB8AC3E}">
        <p14:creationId xmlns:p14="http://schemas.microsoft.com/office/powerpoint/2010/main" val="8217215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69CA6F-3F01-4D4D-9458-25A936605817}"/>
              </a:ext>
            </a:extLst>
          </p:cNvPr>
          <p:cNvSpPr>
            <a:spLocks noGrp="1"/>
          </p:cNvSpPr>
          <p:nvPr>
            <p:ph type="title"/>
          </p:nvPr>
        </p:nvSpPr>
        <p:spPr/>
        <p:txBody>
          <a:bodyPr/>
          <a:lstStyle/>
          <a:p>
            <a:pPr algn="l"/>
            <a:r>
              <a:rPr lang="en-US" dirty="0"/>
              <a:t>What is A/D conversion? (Cont.)</a:t>
            </a:r>
          </a:p>
        </p:txBody>
      </p:sp>
      <p:sp>
        <p:nvSpPr>
          <p:cNvPr id="3" name="Content Placeholder 2">
            <a:extLst>
              <a:ext uri="{FF2B5EF4-FFF2-40B4-BE49-F238E27FC236}">
                <a16:creationId xmlns:a16="http://schemas.microsoft.com/office/drawing/2014/main" id="{F904FFDE-D559-45AD-83F4-0016A6EB5650}"/>
              </a:ext>
            </a:extLst>
          </p:cNvPr>
          <p:cNvSpPr>
            <a:spLocks noGrp="1"/>
          </p:cNvSpPr>
          <p:nvPr>
            <p:ph idx="1"/>
          </p:nvPr>
        </p:nvSpPr>
        <p:spPr>
          <a:xfrm>
            <a:off x="457200" y="1371600"/>
            <a:ext cx="8229600" cy="2174240"/>
          </a:xfrm>
        </p:spPr>
        <p:txBody>
          <a:bodyPr/>
          <a:lstStyle/>
          <a:p>
            <a:r>
              <a:rPr lang="en-US" dirty="0"/>
              <a:t>How many values to consider when quantizing data?</a:t>
            </a:r>
          </a:p>
          <a:p>
            <a:pPr lvl="1"/>
            <a:r>
              <a:rPr lang="en-US" dirty="0"/>
              <a:t>Multi-valued quantization.</a:t>
            </a:r>
          </a:p>
          <a:p>
            <a:pPr lvl="1"/>
            <a:r>
              <a:rPr lang="en-US" dirty="0"/>
              <a:t>Binary-valued quantization</a:t>
            </a:r>
          </a:p>
          <a:p>
            <a:r>
              <a:rPr lang="en-US" u="sng" dirty="0"/>
              <a:t>Example</a:t>
            </a:r>
            <a:r>
              <a:rPr lang="en-US" dirty="0"/>
              <a:t>: Comparison between multi-valued and binary-valued quantization assuming that the voltage range is 0-3.</a:t>
            </a:r>
          </a:p>
          <a:p>
            <a:pPr lvl="1"/>
            <a:endParaRPr lang="en-US" dirty="0"/>
          </a:p>
        </p:txBody>
      </p:sp>
      <p:graphicFrame>
        <p:nvGraphicFramePr>
          <p:cNvPr id="4" name="Table 3">
            <a:extLst>
              <a:ext uri="{FF2B5EF4-FFF2-40B4-BE49-F238E27FC236}">
                <a16:creationId xmlns:a16="http://schemas.microsoft.com/office/drawing/2014/main" id="{76812009-810F-4AFD-94E6-6DC31EB5A7E5}"/>
              </a:ext>
            </a:extLst>
          </p:cNvPr>
          <p:cNvGraphicFramePr>
            <a:graphicFrameLocks noGrp="1"/>
          </p:cNvGraphicFramePr>
          <p:nvPr/>
        </p:nvGraphicFramePr>
        <p:xfrm>
          <a:off x="990600" y="3774440"/>
          <a:ext cx="6629400" cy="2966720"/>
        </p:xfrm>
        <a:graphic>
          <a:graphicData uri="http://schemas.openxmlformats.org/drawingml/2006/table">
            <a:tbl>
              <a:tblPr firstRow="1" bandRow="1">
                <a:tableStyleId>{5940675A-B579-460E-94D1-54222C63F5DA}</a:tableStyleId>
              </a:tblPr>
              <a:tblGrid>
                <a:gridCol w="1733176">
                  <a:extLst>
                    <a:ext uri="{9D8B030D-6E8A-4147-A177-3AD203B41FA5}">
                      <a16:colId xmlns:a16="http://schemas.microsoft.com/office/drawing/2014/main" val="903636662"/>
                    </a:ext>
                  </a:extLst>
                </a:gridCol>
                <a:gridCol w="2925321">
                  <a:extLst>
                    <a:ext uri="{9D8B030D-6E8A-4147-A177-3AD203B41FA5}">
                      <a16:colId xmlns:a16="http://schemas.microsoft.com/office/drawing/2014/main" val="1336182582"/>
                    </a:ext>
                  </a:extLst>
                </a:gridCol>
                <a:gridCol w="1970903">
                  <a:extLst>
                    <a:ext uri="{9D8B030D-6E8A-4147-A177-3AD203B41FA5}">
                      <a16:colId xmlns:a16="http://schemas.microsoft.com/office/drawing/2014/main" val="3449354511"/>
                    </a:ext>
                  </a:extLst>
                </a:gridCol>
              </a:tblGrid>
              <a:tr h="370840">
                <a:tc>
                  <a:txBody>
                    <a:bodyPr/>
                    <a:lstStyle/>
                    <a:p>
                      <a:pPr algn="ctr"/>
                      <a:r>
                        <a:rPr lang="en-US" dirty="0"/>
                        <a:t>Voltage</a:t>
                      </a:r>
                    </a:p>
                  </a:txBody>
                  <a:tcPr/>
                </a:tc>
                <a:tc>
                  <a:txBody>
                    <a:bodyPr/>
                    <a:lstStyle/>
                    <a:p>
                      <a:pPr algn="ctr"/>
                      <a:r>
                        <a:rPr lang="en-US" dirty="0"/>
                        <a:t>Multi-valued</a:t>
                      </a:r>
                    </a:p>
                  </a:txBody>
                  <a:tcPr/>
                </a:tc>
                <a:tc>
                  <a:txBody>
                    <a:bodyPr/>
                    <a:lstStyle/>
                    <a:p>
                      <a:pPr algn="ctr"/>
                      <a:r>
                        <a:rPr lang="en-US" dirty="0"/>
                        <a:t>Binary-valued</a:t>
                      </a:r>
                    </a:p>
                  </a:txBody>
                  <a:tcPr/>
                </a:tc>
                <a:extLst>
                  <a:ext uri="{0D108BD9-81ED-4DB2-BD59-A6C34878D82A}">
                    <a16:rowId xmlns:a16="http://schemas.microsoft.com/office/drawing/2014/main" val="3684266743"/>
                  </a:ext>
                </a:extLst>
              </a:tr>
              <a:tr h="370840">
                <a:tc>
                  <a:txBody>
                    <a:bodyPr/>
                    <a:lstStyle/>
                    <a:p>
                      <a:pPr algn="ctr"/>
                      <a:r>
                        <a:rPr lang="en-US" dirty="0"/>
                        <a:t>0-0.5</a:t>
                      </a:r>
                    </a:p>
                  </a:txBody>
                  <a:tcPr/>
                </a:tc>
                <a:tc>
                  <a:txBody>
                    <a:bodyPr/>
                    <a:lstStyle/>
                    <a:p>
                      <a:pPr algn="ctr"/>
                      <a:r>
                        <a:rPr lang="en-US" dirty="0"/>
                        <a:t>0 </a:t>
                      </a:r>
                    </a:p>
                  </a:txBody>
                  <a:tcPr/>
                </a:tc>
                <a:tc>
                  <a:txBody>
                    <a:bodyPr/>
                    <a:lstStyle/>
                    <a:p>
                      <a:pPr algn="ctr"/>
                      <a:r>
                        <a:rPr lang="en-US" dirty="0"/>
                        <a:t>000</a:t>
                      </a:r>
                    </a:p>
                  </a:txBody>
                  <a:tcPr/>
                </a:tc>
                <a:extLst>
                  <a:ext uri="{0D108BD9-81ED-4DB2-BD59-A6C34878D82A}">
                    <a16:rowId xmlns:a16="http://schemas.microsoft.com/office/drawing/2014/main" val="2016090106"/>
                  </a:ext>
                </a:extLst>
              </a:tr>
              <a:tr h="370840">
                <a:tc>
                  <a:txBody>
                    <a:bodyPr/>
                    <a:lstStyle/>
                    <a:p>
                      <a:pPr algn="ctr"/>
                      <a:r>
                        <a:rPr lang="en-US" dirty="0"/>
                        <a:t>0.5-1</a:t>
                      </a:r>
                    </a:p>
                  </a:txBody>
                  <a:tcPr/>
                </a:tc>
                <a:tc>
                  <a:txBody>
                    <a:bodyPr/>
                    <a:lstStyle/>
                    <a:p>
                      <a:pPr algn="ctr"/>
                      <a:r>
                        <a:rPr lang="en-US" dirty="0"/>
                        <a:t>1</a:t>
                      </a:r>
                    </a:p>
                  </a:txBody>
                  <a:tcPr/>
                </a:tc>
                <a:tc>
                  <a:txBody>
                    <a:bodyPr/>
                    <a:lstStyle/>
                    <a:p>
                      <a:pPr algn="ctr"/>
                      <a:r>
                        <a:rPr lang="en-US" dirty="0"/>
                        <a:t>001 (</a:t>
                      </a:r>
                      <a:r>
                        <a:rPr lang="en-US" dirty="0">
                          <a:solidFill>
                            <a:srgbClr val="FF0000"/>
                          </a:solidFill>
                        </a:rPr>
                        <a:t>encoding</a:t>
                      </a:r>
                      <a:r>
                        <a:rPr lang="en-US" dirty="0"/>
                        <a:t>)</a:t>
                      </a:r>
                    </a:p>
                  </a:txBody>
                  <a:tcPr/>
                </a:tc>
                <a:extLst>
                  <a:ext uri="{0D108BD9-81ED-4DB2-BD59-A6C34878D82A}">
                    <a16:rowId xmlns:a16="http://schemas.microsoft.com/office/drawing/2014/main" val="358348886"/>
                  </a:ext>
                </a:extLst>
              </a:tr>
              <a:tr h="370840">
                <a:tc>
                  <a:txBody>
                    <a:bodyPr/>
                    <a:lstStyle/>
                    <a:p>
                      <a:pPr algn="ctr"/>
                      <a:r>
                        <a:rPr lang="en-US" dirty="0"/>
                        <a:t>1-1.5 </a:t>
                      </a:r>
                    </a:p>
                  </a:txBody>
                  <a:tcPr/>
                </a:tc>
                <a:tc>
                  <a:txBody>
                    <a:bodyPr/>
                    <a:lstStyle/>
                    <a:p>
                      <a:pPr algn="ctr"/>
                      <a:r>
                        <a:rPr lang="en-US" dirty="0"/>
                        <a:t>2</a:t>
                      </a:r>
                    </a:p>
                  </a:txBody>
                  <a:tcPr/>
                </a:tc>
                <a:tc>
                  <a:txBody>
                    <a:bodyPr/>
                    <a:lstStyle/>
                    <a:p>
                      <a:pPr algn="ctr"/>
                      <a:r>
                        <a:rPr lang="en-US" dirty="0"/>
                        <a:t>010</a:t>
                      </a:r>
                    </a:p>
                  </a:txBody>
                  <a:tcPr/>
                </a:tc>
                <a:extLst>
                  <a:ext uri="{0D108BD9-81ED-4DB2-BD59-A6C34878D82A}">
                    <a16:rowId xmlns:a16="http://schemas.microsoft.com/office/drawing/2014/main" val="4232926917"/>
                  </a:ext>
                </a:extLst>
              </a:tr>
              <a:tr h="370840">
                <a:tc>
                  <a:txBody>
                    <a:bodyPr/>
                    <a:lstStyle/>
                    <a:p>
                      <a:pPr algn="ctr"/>
                      <a:r>
                        <a:rPr lang="en-US" dirty="0"/>
                        <a:t>1.5-2 </a:t>
                      </a:r>
                    </a:p>
                  </a:txBody>
                  <a:tcPr/>
                </a:tc>
                <a:tc>
                  <a:txBody>
                    <a:bodyPr/>
                    <a:lstStyle/>
                    <a:p>
                      <a:pPr algn="ctr"/>
                      <a:r>
                        <a:rPr lang="en-US" dirty="0"/>
                        <a:t>3</a:t>
                      </a:r>
                    </a:p>
                  </a:txBody>
                  <a:tcPr/>
                </a:tc>
                <a:tc>
                  <a:txBody>
                    <a:bodyPr/>
                    <a:lstStyle/>
                    <a:p>
                      <a:pPr algn="ctr"/>
                      <a:r>
                        <a:rPr lang="en-US" dirty="0"/>
                        <a:t>011</a:t>
                      </a:r>
                    </a:p>
                  </a:txBody>
                  <a:tcPr/>
                </a:tc>
                <a:extLst>
                  <a:ext uri="{0D108BD9-81ED-4DB2-BD59-A6C34878D82A}">
                    <a16:rowId xmlns:a16="http://schemas.microsoft.com/office/drawing/2014/main" val="486450237"/>
                  </a:ext>
                </a:extLst>
              </a:tr>
              <a:tr h="370840">
                <a:tc>
                  <a:txBody>
                    <a:bodyPr/>
                    <a:lstStyle/>
                    <a:p>
                      <a:pPr algn="ctr"/>
                      <a:r>
                        <a:rPr lang="en-US" dirty="0"/>
                        <a:t>2-2.5 </a:t>
                      </a:r>
                    </a:p>
                  </a:txBody>
                  <a:tcPr/>
                </a:tc>
                <a:tc>
                  <a:txBody>
                    <a:bodyPr/>
                    <a:lstStyle/>
                    <a:p>
                      <a:pPr algn="ctr"/>
                      <a:r>
                        <a:rPr lang="en-US" dirty="0"/>
                        <a:t>4</a:t>
                      </a:r>
                    </a:p>
                  </a:txBody>
                  <a:tcPr/>
                </a:tc>
                <a:tc>
                  <a:txBody>
                    <a:bodyPr/>
                    <a:lstStyle/>
                    <a:p>
                      <a:pPr algn="ctr"/>
                      <a:r>
                        <a:rPr lang="en-US" dirty="0"/>
                        <a:t>100</a:t>
                      </a:r>
                    </a:p>
                  </a:txBody>
                  <a:tcPr/>
                </a:tc>
                <a:extLst>
                  <a:ext uri="{0D108BD9-81ED-4DB2-BD59-A6C34878D82A}">
                    <a16:rowId xmlns:a16="http://schemas.microsoft.com/office/drawing/2014/main" val="2421398004"/>
                  </a:ext>
                </a:extLst>
              </a:tr>
              <a:tr h="370840">
                <a:tc>
                  <a:txBody>
                    <a:bodyPr/>
                    <a:lstStyle/>
                    <a:p>
                      <a:pPr algn="ctr"/>
                      <a:r>
                        <a:rPr lang="en-US" dirty="0"/>
                        <a:t>2.5-3 </a:t>
                      </a:r>
                    </a:p>
                  </a:txBody>
                  <a:tcPr/>
                </a:tc>
                <a:tc>
                  <a:txBody>
                    <a:bodyPr/>
                    <a:lstStyle/>
                    <a:p>
                      <a:pPr algn="ctr"/>
                      <a:r>
                        <a:rPr lang="en-US" dirty="0"/>
                        <a:t>5</a:t>
                      </a:r>
                    </a:p>
                  </a:txBody>
                  <a:tcPr/>
                </a:tc>
                <a:tc>
                  <a:txBody>
                    <a:bodyPr/>
                    <a:lstStyle/>
                    <a:p>
                      <a:pPr algn="ctr"/>
                      <a:r>
                        <a:rPr lang="en-US" dirty="0"/>
                        <a:t>101</a:t>
                      </a:r>
                    </a:p>
                  </a:txBody>
                  <a:tcPr/>
                </a:tc>
                <a:extLst>
                  <a:ext uri="{0D108BD9-81ED-4DB2-BD59-A6C34878D82A}">
                    <a16:rowId xmlns:a16="http://schemas.microsoft.com/office/drawing/2014/main" val="871562103"/>
                  </a:ext>
                </a:extLst>
              </a:tr>
              <a:tr h="370840">
                <a:tc>
                  <a:txBody>
                    <a:bodyPr/>
                    <a:lstStyle/>
                    <a:p>
                      <a:pPr algn="ctr"/>
                      <a:r>
                        <a:rPr lang="en-US" dirty="0"/>
                        <a:t>Sample value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Digital Multi-valued logic </a:t>
                      </a:r>
                    </a:p>
                  </a:txBody>
                  <a:tcPr/>
                </a:tc>
                <a:tc>
                  <a:txBody>
                    <a:bodyPr/>
                    <a:lstStyle/>
                    <a:p>
                      <a:pPr algn="ctr"/>
                      <a:r>
                        <a:rPr lang="en-US" dirty="0"/>
                        <a:t>Digital binary</a:t>
                      </a:r>
                    </a:p>
                  </a:txBody>
                  <a:tcPr/>
                </a:tc>
                <a:extLst>
                  <a:ext uri="{0D108BD9-81ED-4DB2-BD59-A6C34878D82A}">
                    <a16:rowId xmlns:a16="http://schemas.microsoft.com/office/drawing/2014/main" val="4272034076"/>
                  </a:ext>
                </a:extLst>
              </a:tr>
            </a:tbl>
          </a:graphicData>
        </a:graphic>
      </p:graphicFrame>
    </p:spTree>
    <p:extLst>
      <p:ext uri="{BB962C8B-B14F-4D97-AF65-F5344CB8AC3E}">
        <p14:creationId xmlns:p14="http://schemas.microsoft.com/office/powerpoint/2010/main" val="14274962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6903E3-6D16-4493-BF96-D7B113029F5C}"/>
              </a:ext>
            </a:extLst>
          </p:cNvPr>
          <p:cNvSpPr>
            <a:spLocks noGrp="1"/>
          </p:cNvSpPr>
          <p:nvPr>
            <p:ph type="title"/>
          </p:nvPr>
        </p:nvSpPr>
        <p:spPr/>
        <p:txBody>
          <a:bodyPr/>
          <a:lstStyle/>
          <a:p>
            <a:pPr algn="l"/>
            <a:r>
              <a:rPr lang="en-US" dirty="0"/>
              <a:t>What is A/D conversion? (Cont.)</a:t>
            </a:r>
          </a:p>
        </p:txBody>
      </p:sp>
      <p:sp>
        <p:nvSpPr>
          <p:cNvPr id="3" name="Content Placeholder 2">
            <a:extLst>
              <a:ext uri="{FF2B5EF4-FFF2-40B4-BE49-F238E27FC236}">
                <a16:creationId xmlns:a16="http://schemas.microsoft.com/office/drawing/2014/main" id="{4B547FE0-32E9-47DB-A8BB-A01207BEE0C7}"/>
              </a:ext>
            </a:extLst>
          </p:cNvPr>
          <p:cNvSpPr>
            <a:spLocks noGrp="1"/>
          </p:cNvSpPr>
          <p:nvPr>
            <p:ph idx="1"/>
          </p:nvPr>
        </p:nvSpPr>
        <p:spPr>
          <a:xfrm>
            <a:off x="457200" y="1600200"/>
            <a:ext cx="8229600" cy="4983162"/>
          </a:xfrm>
        </p:spPr>
        <p:txBody>
          <a:bodyPr/>
          <a:lstStyle/>
          <a:p>
            <a:r>
              <a:rPr lang="en-US" dirty="0"/>
              <a:t>Note that in order to transfer data in case of multi-valued quantization, we need fewer wires. </a:t>
            </a:r>
          </a:p>
          <a:p>
            <a:r>
              <a:rPr lang="en-US" dirty="0"/>
              <a:t>In this  example,  the  multi-valued  quantized  data  requires  one  wire  whereas  binary-valued quantized  data  requires  three  wires. </a:t>
            </a:r>
          </a:p>
          <a:p>
            <a:pPr>
              <a:buFont typeface="Wingdings" panose="05000000000000000000" pitchFamily="2" charset="2"/>
              <a:buChar char="ü"/>
            </a:pPr>
            <a:r>
              <a:rPr lang="en-US" dirty="0"/>
              <a:t>However,  binary  quantization  is  preferred  over  multi-valued quantization since it provides </a:t>
            </a:r>
            <a:r>
              <a:rPr lang="en-US" u="sng" dirty="0"/>
              <a:t>higher immunity to noise</a:t>
            </a:r>
            <a:r>
              <a:rPr lang="en-US" dirty="0"/>
              <a:t>. </a:t>
            </a:r>
          </a:p>
          <a:p>
            <a:pPr>
              <a:buFont typeface="Wingdings" panose="05000000000000000000" pitchFamily="2" charset="2"/>
              <a:buChar char="ü"/>
            </a:pPr>
            <a:r>
              <a:rPr lang="en-US" dirty="0"/>
              <a:t>In general, binary systems are preferred since they are simpler, easy to design, and extremely reliable.</a:t>
            </a:r>
          </a:p>
          <a:p>
            <a:pPr>
              <a:buFont typeface="Wingdings" panose="05000000000000000000" pitchFamily="2" charset="2"/>
              <a:buChar char="ü"/>
            </a:pPr>
            <a:r>
              <a:rPr lang="en-US" b="1" dirty="0"/>
              <a:t>Note</a:t>
            </a:r>
            <a:r>
              <a:rPr lang="en-US" dirty="0"/>
              <a:t>: Always keep in mind that digital does not mean binary.</a:t>
            </a:r>
          </a:p>
        </p:txBody>
      </p:sp>
    </p:spTree>
    <p:extLst>
      <p:ext uri="{BB962C8B-B14F-4D97-AF65-F5344CB8AC3E}">
        <p14:creationId xmlns:p14="http://schemas.microsoft.com/office/powerpoint/2010/main" val="32451666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78C0A4-16B1-43FD-97AD-8E70DB33DAFB}"/>
              </a:ext>
            </a:extLst>
          </p:cNvPr>
          <p:cNvSpPr>
            <a:spLocks noGrp="1"/>
          </p:cNvSpPr>
          <p:nvPr>
            <p:ph type="title"/>
          </p:nvPr>
        </p:nvSpPr>
        <p:spPr/>
        <p:txBody>
          <a:bodyPr/>
          <a:lstStyle/>
          <a:p>
            <a:pPr algn="l"/>
            <a:r>
              <a:rPr lang="en-US" dirty="0"/>
              <a:t>The Digital Computer</a:t>
            </a:r>
          </a:p>
        </p:txBody>
      </p:sp>
      <p:sp>
        <p:nvSpPr>
          <p:cNvPr id="3" name="Content Placeholder 2">
            <a:extLst>
              <a:ext uri="{FF2B5EF4-FFF2-40B4-BE49-F238E27FC236}">
                <a16:creationId xmlns:a16="http://schemas.microsoft.com/office/drawing/2014/main" id="{B7D3E7FB-7BB0-47BA-A994-B6CA1608F575}"/>
              </a:ext>
            </a:extLst>
          </p:cNvPr>
          <p:cNvSpPr>
            <a:spLocks noGrp="1"/>
          </p:cNvSpPr>
          <p:nvPr>
            <p:ph idx="1"/>
          </p:nvPr>
        </p:nvSpPr>
        <p:spPr/>
        <p:txBody>
          <a:bodyPr/>
          <a:lstStyle/>
          <a:p>
            <a:pPr marL="342900" lvl="1" indent="-342900">
              <a:buFont typeface="Wingdings" panose="05000000000000000000" pitchFamily="2" charset="2"/>
              <a:buChar char="§"/>
            </a:pPr>
            <a:r>
              <a:rPr lang="en-US" dirty="0"/>
              <a:t>General-Purpose Computers are an example of binary systems.</a:t>
            </a:r>
          </a:p>
          <a:p>
            <a:pPr marL="342900" lvl="1" indent="-342900">
              <a:buFont typeface="Wingdings" panose="05000000000000000000" pitchFamily="2" charset="2"/>
              <a:buChar char="§"/>
            </a:pPr>
            <a:r>
              <a:rPr lang="en-US" dirty="0"/>
              <a:t>A block diagram of a digital computer is shown in Figure below. </a:t>
            </a:r>
          </a:p>
          <a:p>
            <a:endParaRPr lang="en-US" dirty="0"/>
          </a:p>
          <a:p>
            <a:endParaRPr lang="en-US" dirty="0"/>
          </a:p>
          <a:p>
            <a:endParaRPr lang="en-US" dirty="0"/>
          </a:p>
          <a:p>
            <a:endParaRPr lang="en-US" dirty="0"/>
          </a:p>
          <a:p>
            <a:endParaRPr lang="en-US" dirty="0"/>
          </a:p>
          <a:p>
            <a:endParaRPr lang="en-US" dirty="0"/>
          </a:p>
          <a:p>
            <a:endParaRPr lang="en-US" dirty="0"/>
          </a:p>
        </p:txBody>
      </p:sp>
      <p:pic>
        <p:nvPicPr>
          <p:cNvPr id="6" name="Picture 5">
            <a:extLst>
              <a:ext uri="{FF2B5EF4-FFF2-40B4-BE49-F238E27FC236}">
                <a16:creationId xmlns:a16="http://schemas.microsoft.com/office/drawing/2014/main" id="{2BB54B05-3EC8-4D4C-A548-CFEB7A310CFB}"/>
              </a:ext>
            </a:extLst>
          </p:cNvPr>
          <p:cNvPicPr>
            <a:picLocks noChangeAspect="1"/>
          </p:cNvPicPr>
          <p:nvPr/>
        </p:nvPicPr>
        <p:blipFill>
          <a:blip r:embed="rId2"/>
          <a:stretch>
            <a:fillRect/>
          </a:stretch>
        </p:blipFill>
        <p:spPr>
          <a:xfrm>
            <a:off x="1905000" y="3359149"/>
            <a:ext cx="4555033" cy="3224213"/>
          </a:xfrm>
          <a:prstGeom prst="rect">
            <a:avLst/>
          </a:prstGeom>
        </p:spPr>
      </p:pic>
    </p:spTree>
    <p:extLst>
      <p:ext uri="{BB962C8B-B14F-4D97-AF65-F5344CB8AC3E}">
        <p14:creationId xmlns:p14="http://schemas.microsoft.com/office/powerpoint/2010/main" val="28806671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7158F-0D70-423D-B34A-E5C32CB64BE1}"/>
              </a:ext>
            </a:extLst>
          </p:cNvPr>
          <p:cNvSpPr>
            <a:spLocks noGrp="1"/>
          </p:cNvSpPr>
          <p:nvPr>
            <p:ph type="title"/>
          </p:nvPr>
        </p:nvSpPr>
        <p:spPr/>
        <p:txBody>
          <a:bodyPr/>
          <a:lstStyle/>
          <a:p>
            <a:pPr algn="l"/>
            <a:r>
              <a:rPr lang="en-US" dirty="0"/>
              <a:t>The Digital Computer</a:t>
            </a:r>
          </a:p>
        </p:txBody>
      </p:sp>
      <p:sp>
        <p:nvSpPr>
          <p:cNvPr id="3" name="Content Placeholder 2">
            <a:extLst>
              <a:ext uri="{FF2B5EF4-FFF2-40B4-BE49-F238E27FC236}">
                <a16:creationId xmlns:a16="http://schemas.microsoft.com/office/drawing/2014/main" id="{BFBE9054-9F68-42DC-9FB4-9ACF2B5F262F}"/>
              </a:ext>
            </a:extLst>
          </p:cNvPr>
          <p:cNvSpPr>
            <a:spLocks noGrp="1"/>
          </p:cNvSpPr>
          <p:nvPr>
            <p:ph idx="1"/>
          </p:nvPr>
        </p:nvSpPr>
        <p:spPr/>
        <p:txBody>
          <a:bodyPr/>
          <a:lstStyle/>
          <a:p>
            <a:r>
              <a:rPr lang="en-US" dirty="0"/>
              <a:t>The memory stores programs as well as input, output, …. </a:t>
            </a:r>
          </a:p>
          <a:p>
            <a:r>
              <a:rPr lang="en-US" dirty="0"/>
              <a:t>The datapath (ALU) performs arithmetic and other data-processing operations as specified by the program.</a:t>
            </a:r>
          </a:p>
          <a:p>
            <a:r>
              <a:rPr lang="en-US" dirty="0"/>
              <a:t>The control unit supervises the flow of information between the various units. </a:t>
            </a:r>
          </a:p>
          <a:p>
            <a:r>
              <a:rPr lang="en-US" dirty="0"/>
              <a:t>A datapath, when combined with the control unit, forms a component referred to as a central processing unit, or CPU.</a:t>
            </a:r>
          </a:p>
          <a:p>
            <a:r>
              <a:rPr lang="en-US" dirty="0"/>
              <a:t>Input device: keyboard.</a:t>
            </a:r>
          </a:p>
          <a:p>
            <a:r>
              <a:rPr lang="en-US" dirty="0"/>
              <a:t>Output device: LCD (liquid crystal display).</a:t>
            </a:r>
          </a:p>
          <a:p>
            <a:pPr lvl="1"/>
            <a:r>
              <a:rPr lang="en-US" dirty="0"/>
              <a:t>These devices use digital logic circuits</a:t>
            </a:r>
          </a:p>
        </p:txBody>
      </p:sp>
    </p:spTree>
    <p:extLst>
      <p:ext uri="{BB962C8B-B14F-4D97-AF65-F5344CB8AC3E}">
        <p14:creationId xmlns:p14="http://schemas.microsoft.com/office/powerpoint/2010/main" val="26578307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7D41D3-ABAE-43F2-9FDE-613B537D02C2}"/>
              </a:ext>
            </a:extLst>
          </p:cNvPr>
          <p:cNvSpPr>
            <a:spLocks noGrp="1"/>
          </p:cNvSpPr>
          <p:nvPr>
            <p:ph type="title"/>
          </p:nvPr>
        </p:nvSpPr>
        <p:spPr/>
        <p:txBody>
          <a:bodyPr/>
          <a:lstStyle/>
          <a:p>
            <a:pPr algn="l"/>
            <a:r>
              <a:rPr lang="en-US" dirty="0"/>
              <a:t>Digital logic (Cont.)</a:t>
            </a:r>
          </a:p>
        </p:txBody>
      </p:sp>
      <p:sp>
        <p:nvSpPr>
          <p:cNvPr id="3" name="Content Placeholder 2">
            <a:extLst>
              <a:ext uri="{FF2B5EF4-FFF2-40B4-BE49-F238E27FC236}">
                <a16:creationId xmlns:a16="http://schemas.microsoft.com/office/drawing/2014/main" id="{B3F9828E-F3DB-4EE2-9213-333AA5C4B06E}"/>
              </a:ext>
            </a:extLst>
          </p:cNvPr>
          <p:cNvSpPr>
            <a:spLocks noGrp="1"/>
          </p:cNvSpPr>
          <p:nvPr>
            <p:ph idx="1"/>
          </p:nvPr>
        </p:nvSpPr>
        <p:spPr/>
        <p:txBody>
          <a:bodyPr/>
          <a:lstStyle/>
          <a:p>
            <a:r>
              <a:rPr lang="en-US" dirty="0"/>
              <a:t>Physical quantities: continuous.</a:t>
            </a:r>
          </a:p>
          <a:p>
            <a:r>
              <a:rPr lang="en-US" dirty="0"/>
              <a:t>Signal: mathematical function that describes physical quantities.</a:t>
            </a:r>
          </a:p>
          <a:p>
            <a:r>
              <a:rPr lang="en-US" dirty="0"/>
              <a:t>Digital signal: discrete in time and finite.</a:t>
            </a:r>
          </a:p>
          <a:p>
            <a:r>
              <a:rPr lang="en-US" dirty="0"/>
              <a:t>Analog signal: infinite values.</a:t>
            </a:r>
          </a:p>
          <a:p>
            <a:r>
              <a:rPr lang="en-US" dirty="0"/>
              <a:t>Again: why digital? </a:t>
            </a:r>
          </a:p>
          <a:p>
            <a:pPr lvl="1"/>
            <a:r>
              <a:rPr lang="en-US" dirty="0"/>
              <a:t>Analog has errors. </a:t>
            </a:r>
          </a:p>
          <a:p>
            <a:pPr lvl="1"/>
            <a:r>
              <a:rPr lang="en-US" dirty="0"/>
              <a:t>Digital systems have excellent noise immunity.</a:t>
            </a:r>
          </a:p>
          <a:p>
            <a:r>
              <a:rPr lang="en-US" dirty="0"/>
              <a:t>Most real life signals are analog signals (continuous)</a:t>
            </a:r>
          </a:p>
        </p:txBody>
      </p:sp>
    </p:spTree>
    <p:extLst>
      <p:ext uri="{BB962C8B-B14F-4D97-AF65-F5344CB8AC3E}">
        <p14:creationId xmlns:p14="http://schemas.microsoft.com/office/powerpoint/2010/main" val="26663140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Why Digital Logic Design is Important?</a:t>
            </a:r>
          </a:p>
        </p:txBody>
      </p:sp>
      <p:sp>
        <p:nvSpPr>
          <p:cNvPr id="3" name="Content Placeholder 2"/>
          <p:cNvSpPr>
            <a:spLocks noGrp="1"/>
          </p:cNvSpPr>
          <p:nvPr>
            <p:ph idx="1"/>
          </p:nvPr>
        </p:nvSpPr>
        <p:spPr/>
        <p:txBody>
          <a:bodyPr/>
          <a:lstStyle/>
          <a:p>
            <a:r>
              <a:rPr lang="en-US" dirty="0"/>
              <a:t>A digital system is an interconnection of digital modules</a:t>
            </a:r>
          </a:p>
          <a:p>
            <a:r>
              <a:rPr lang="en-US" b="1" dirty="0"/>
              <a:t>To understand the operation of each digital module, it is necessary to have a basic knowledge of digital circuits and their logical function</a:t>
            </a:r>
            <a:endParaRPr lang="en-US" dirty="0"/>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23</a:t>
            </a:fld>
            <a:endParaRPr lang="en-US"/>
          </a:p>
        </p:txBody>
      </p:sp>
    </p:spTree>
    <p:extLst>
      <p:ext uri="{BB962C8B-B14F-4D97-AF65-F5344CB8AC3E}">
        <p14:creationId xmlns:p14="http://schemas.microsoft.com/office/powerpoint/2010/main" val="2927783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dirty="0"/>
              <a:t>Data Representation</a:t>
            </a:r>
          </a:p>
        </p:txBody>
      </p:sp>
      <p:sp>
        <p:nvSpPr>
          <p:cNvPr id="3" name="Content Placeholder 2"/>
          <p:cNvSpPr>
            <a:spLocks noGrp="1"/>
          </p:cNvSpPr>
          <p:nvPr>
            <p:ph idx="1"/>
          </p:nvPr>
        </p:nvSpPr>
        <p:spPr>
          <a:xfrm>
            <a:off x="457200" y="1371601"/>
            <a:ext cx="8229600" cy="2209799"/>
          </a:xfrm>
        </p:spPr>
        <p:txBody>
          <a:bodyPr>
            <a:normAutofit fontScale="92500" lnSpcReduction="20000"/>
          </a:bodyPr>
          <a:lstStyle/>
          <a:p>
            <a:r>
              <a:rPr lang="en-US" dirty="0"/>
              <a:t>Four basic data representation techniques</a:t>
            </a:r>
          </a:p>
          <a:p>
            <a:pPr lvl="1"/>
            <a:r>
              <a:rPr lang="en-US" dirty="0"/>
              <a:t>Binary (base 2)</a:t>
            </a:r>
          </a:p>
          <a:p>
            <a:pPr lvl="1"/>
            <a:r>
              <a:rPr lang="en-US" dirty="0"/>
              <a:t>Octal (base 8)</a:t>
            </a:r>
          </a:p>
          <a:p>
            <a:pPr lvl="1"/>
            <a:r>
              <a:rPr lang="en-US" dirty="0"/>
              <a:t>Decimal (base 10)</a:t>
            </a:r>
          </a:p>
          <a:p>
            <a:pPr lvl="1"/>
            <a:r>
              <a:rPr lang="en-US" dirty="0"/>
              <a:t>Hexadecimal (base 16)</a:t>
            </a:r>
          </a:p>
          <a:p>
            <a:endParaRPr lang="en-US" dirty="0"/>
          </a:p>
        </p:txBody>
      </p:sp>
      <p:graphicFrame>
        <p:nvGraphicFramePr>
          <p:cNvPr id="4" name="Content Placeholder 4"/>
          <p:cNvGraphicFramePr>
            <a:graphicFrameLocks/>
          </p:cNvGraphicFramePr>
          <p:nvPr>
            <p:extLst>
              <p:ext uri="{D42A27DB-BD31-4B8C-83A1-F6EECF244321}">
                <p14:modId xmlns:p14="http://schemas.microsoft.com/office/powerpoint/2010/main" val="2696270236"/>
              </p:ext>
            </p:extLst>
          </p:nvPr>
        </p:nvGraphicFramePr>
        <p:xfrm>
          <a:off x="1676400" y="3581400"/>
          <a:ext cx="5715000" cy="2209800"/>
        </p:xfrm>
        <a:graphic>
          <a:graphicData uri="http://schemas.openxmlformats.org/drawingml/2006/table">
            <a:tbl>
              <a:tblPr firstRow="1" bandRow="1">
                <a:tableStyleId>{FABFCF23-3B69-468F-B69F-88F6DE6A72F2}</a:tableStyleId>
              </a:tblPr>
              <a:tblGrid>
                <a:gridCol w="1656522">
                  <a:extLst>
                    <a:ext uri="{9D8B030D-6E8A-4147-A177-3AD203B41FA5}">
                      <a16:colId xmlns:a16="http://schemas.microsoft.com/office/drawing/2014/main" val="20000"/>
                    </a:ext>
                  </a:extLst>
                </a:gridCol>
                <a:gridCol w="828261">
                  <a:extLst>
                    <a:ext uri="{9D8B030D-6E8A-4147-A177-3AD203B41FA5}">
                      <a16:colId xmlns:a16="http://schemas.microsoft.com/office/drawing/2014/main" val="20001"/>
                    </a:ext>
                  </a:extLst>
                </a:gridCol>
                <a:gridCol w="3230217">
                  <a:extLst>
                    <a:ext uri="{9D8B030D-6E8A-4147-A177-3AD203B41FA5}">
                      <a16:colId xmlns:a16="http://schemas.microsoft.com/office/drawing/2014/main" val="20002"/>
                    </a:ext>
                  </a:extLst>
                </a:gridCol>
              </a:tblGrid>
              <a:tr h="441960">
                <a:tc>
                  <a:txBody>
                    <a:bodyPr/>
                    <a:lstStyle/>
                    <a:p>
                      <a:pPr algn="l"/>
                      <a:r>
                        <a:rPr lang="en-US" sz="1800" dirty="0"/>
                        <a:t>System</a:t>
                      </a:r>
                      <a:endParaRPr lang="en-US" sz="1800" dirty="0">
                        <a:latin typeface="Arial" pitchFamily="34" charset="0"/>
                        <a:cs typeface="Arial" pitchFamily="34" charset="0"/>
                      </a:endParaRPr>
                    </a:p>
                  </a:txBody>
                  <a:tcPr/>
                </a:tc>
                <a:tc>
                  <a:txBody>
                    <a:bodyPr/>
                    <a:lstStyle/>
                    <a:p>
                      <a:pPr algn="l"/>
                      <a:r>
                        <a:rPr lang="en-US" sz="1800" dirty="0"/>
                        <a:t>Base</a:t>
                      </a:r>
                      <a:endParaRPr lang="en-US" sz="1800" dirty="0">
                        <a:latin typeface="Arial" pitchFamily="34" charset="0"/>
                        <a:cs typeface="Arial" pitchFamily="34" charset="0"/>
                      </a:endParaRPr>
                    </a:p>
                  </a:txBody>
                  <a:tcPr/>
                </a:tc>
                <a:tc>
                  <a:txBody>
                    <a:bodyPr/>
                    <a:lstStyle/>
                    <a:p>
                      <a:pPr algn="ctr"/>
                      <a:r>
                        <a:rPr lang="en-US" sz="1800" dirty="0"/>
                        <a:t>Possible Digits</a:t>
                      </a:r>
                      <a:endParaRPr lang="en-US" sz="1800" dirty="0">
                        <a:latin typeface="Arial" pitchFamily="34" charset="0"/>
                        <a:cs typeface="Arial" pitchFamily="34" charset="0"/>
                      </a:endParaRPr>
                    </a:p>
                  </a:txBody>
                  <a:tcPr/>
                </a:tc>
                <a:extLst>
                  <a:ext uri="{0D108BD9-81ED-4DB2-BD59-A6C34878D82A}">
                    <a16:rowId xmlns:a16="http://schemas.microsoft.com/office/drawing/2014/main" val="10000"/>
                  </a:ext>
                </a:extLst>
              </a:tr>
              <a:tr h="441960">
                <a:tc>
                  <a:txBody>
                    <a:bodyPr/>
                    <a:lstStyle/>
                    <a:p>
                      <a:r>
                        <a:rPr lang="en-US" sz="1800" dirty="0"/>
                        <a:t>Binary</a:t>
                      </a:r>
                      <a:endParaRPr lang="en-US" sz="1800" dirty="0">
                        <a:latin typeface="Arial" pitchFamily="34" charset="0"/>
                        <a:cs typeface="Arial" pitchFamily="34" charset="0"/>
                      </a:endParaRPr>
                    </a:p>
                  </a:txBody>
                  <a:tcPr/>
                </a:tc>
                <a:tc>
                  <a:txBody>
                    <a:bodyPr/>
                    <a:lstStyle/>
                    <a:p>
                      <a:r>
                        <a:rPr lang="en-US" sz="1800" dirty="0"/>
                        <a:t>2</a:t>
                      </a:r>
                      <a:endParaRPr lang="en-US" sz="1800" dirty="0">
                        <a:latin typeface="Arial" pitchFamily="34" charset="0"/>
                        <a:cs typeface="Arial" pitchFamily="34" charset="0"/>
                      </a:endParaRPr>
                    </a:p>
                  </a:txBody>
                  <a:tcPr/>
                </a:tc>
                <a:tc>
                  <a:txBody>
                    <a:bodyPr/>
                    <a:lstStyle/>
                    <a:p>
                      <a:r>
                        <a:rPr lang="en-US" sz="1800" dirty="0"/>
                        <a:t>0</a:t>
                      </a:r>
                      <a:r>
                        <a:rPr lang="en-US" sz="1800" baseline="0" dirty="0"/>
                        <a:t> 1</a:t>
                      </a:r>
                      <a:endParaRPr lang="en-US" sz="1800" dirty="0">
                        <a:latin typeface="Arial" pitchFamily="34" charset="0"/>
                        <a:cs typeface="Arial" pitchFamily="34" charset="0"/>
                      </a:endParaRPr>
                    </a:p>
                  </a:txBody>
                  <a:tcPr/>
                </a:tc>
                <a:extLst>
                  <a:ext uri="{0D108BD9-81ED-4DB2-BD59-A6C34878D82A}">
                    <a16:rowId xmlns:a16="http://schemas.microsoft.com/office/drawing/2014/main" val="10001"/>
                  </a:ext>
                </a:extLst>
              </a:tr>
              <a:tr h="441960">
                <a:tc>
                  <a:txBody>
                    <a:bodyPr/>
                    <a:lstStyle/>
                    <a:p>
                      <a:r>
                        <a:rPr lang="en-US" sz="1800" dirty="0"/>
                        <a:t>Octal</a:t>
                      </a:r>
                      <a:endParaRPr lang="en-US" sz="1800" dirty="0">
                        <a:latin typeface="Arial" pitchFamily="34" charset="0"/>
                        <a:cs typeface="Arial" pitchFamily="34" charset="0"/>
                      </a:endParaRPr>
                    </a:p>
                  </a:txBody>
                  <a:tcPr/>
                </a:tc>
                <a:tc>
                  <a:txBody>
                    <a:bodyPr/>
                    <a:lstStyle/>
                    <a:p>
                      <a:r>
                        <a:rPr lang="en-US" sz="1800" dirty="0"/>
                        <a:t>8</a:t>
                      </a:r>
                      <a:endParaRPr lang="en-US" sz="1800" dirty="0">
                        <a:latin typeface="Arial" pitchFamily="34" charset="0"/>
                        <a:cs typeface="Arial" pitchFamily="34" charset="0"/>
                      </a:endParaRPr>
                    </a:p>
                  </a:txBody>
                  <a:tcPr/>
                </a:tc>
                <a:tc>
                  <a:txBody>
                    <a:bodyPr/>
                    <a:lstStyle/>
                    <a:p>
                      <a:r>
                        <a:rPr lang="en-US" sz="1800" dirty="0"/>
                        <a:t>0 1 2 3 4 5 6 7</a:t>
                      </a:r>
                      <a:endParaRPr lang="en-US" sz="1800" dirty="0">
                        <a:latin typeface="Arial" pitchFamily="34" charset="0"/>
                        <a:cs typeface="Arial" pitchFamily="34" charset="0"/>
                      </a:endParaRPr>
                    </a:p>
                  </a:txBody>
                  <a:tcPr/>
                </a:tc>
                <a:extLst>
                  <a:ext uri="{0D108BD9-81ED-4DB2-BD59-A6C34878D82A}">
                    <a16:rowId xmlns:a16="http://schemas.microsoft.com/office/drawing/2014/main" val="10002"/>
                  </a:ext>
                </a:extLst>
              </a:tr>
              <a:tr h="441960">
                <a:tc>
                  <a:txBody>
                    <a:bodyPr/>
                    <a:lstStyle/>
                    <a:p>
                      <a:r>
                        <a:rPr lang="en-US" sz="1800" dirty="0"/>
                        <a:t>Decimal</a:t>
                      </a:r>
                      <a:endParaRPr lang="en-US" sz="1800" dirty="0">
                        <a:latin typeface="Arial" pitchFamily="34" charset="0"/>
                        <a:cs typeface="Arial" pitchFamily="34" charset="0"/>
                      </a:endParaRPr>
                    </a:p>
                  </a:txBody>
                  <a:tcPr/>
                </a:tc>
                <a:tc>
                  <a:txBody>
                    <a:bodyPr/>
                    <a:lstStyle/>
                    <a:p>
                      <a:r>
                        <a:rPr lang="en-US" sz="1800" dirty="0"/>
                        <a:t>10</a:t>
                      </a:r>
                      <a:endParaRPr lang="en-US" sz="1800" dirty="0">
                        <a:latin typeface="Arial" pitchFamily="34" charset="0"/>
                        <a:cs typeface="Arial" pitchFamily="34" charset="0"/>
                      </a:endParaRPr>
                    </a:p>
                  </a:txBody>
                  <a:tcPr/>
                </a:tc>
                <a:tc>
                  <a:txBody>
                    <a:bodyPr/>
                    <a:lstStyle/>
                    <a:p>
                      <a:r>
                        <a:rPr lang="en-US" sz="1800" dirty="0"/>
                        <a:t>0</a:t>
                      </a:r>
                      <a:r>
                        <a:rPr lang="en-US" sz="1800" baseline="0" dirty="0"/>
                        <a:t> 1 2 3 4 5 6 7 8 9</a:t>
                      </a:r>
                      <a:endParaRPr lang="en-US" sz="1800" dirty="0">
                        <a:latin typeface="Arial" pitchFamily="34" charset="0"/>
                        <a:cs typeface="Arial" pitchFamily="34" charset="0"/>
                      </a:endParaRPr>
                    </a:p>
                  </a:txBody>
                  <a:tcPr/>
                </a:tc>
                <a:extLst>
                  <a:ext uri="{0D108BD9-81ED-4DB2-BD59-A6C34878D82A}">
                    <a16:rowId xmlns:a16="http://schemas.microsoft.com/office/drawing/2014/main" val="10003"/>
                  </a:ext>
                </a:extLst>
              </a:tr>
              <a:tr h="441960">
                <a:tc>
                  <a:txBody>
                    <a:bodyPr/>
                    <a:lstStyle/>
                    <a:p>
                      <a:r>
                        <a:rPr lang="en-US" sz="1800" dirty="0"/>
                        <a:t>Hexadecimal</a:t>
                      </a:r>
                      <a:endParaRPr lang="en-US" sz="1800" dirty="0">
                        <a:latin typeface="Arial" pitchFamily="34" charset="0"/>
                        <a:cs typeface="Arial" pitchFamily="34" charset="0"/>
                      </a:endParaRPr>
                    </a:p>
                  </a:txBody>
                  <a:tcPr/>
                </a:tc>
                <a:tc>
                  <a:txBody>
                    <a:bodyPr/>
                    <a:lstStyle/>
                    <a:p>
                      <a:r>
                        <a:rPr lang="en-US" sz="1800" dirty="0"/>
                        <a:t>16</a:t>
                      </a:r>
                      <a:endParaRPr lang="en-US" sz="1800" dirty="0">
                        <a:latin typeface="Arial" pitchFamily="34" charset="0"/>
                        <a:cs typeface="Arial" pitchFamily="34" charset="0"/>
                      </a:endParaRPr>
                    </a:p>
                  </a:txBody>
                  <a:tcPr/>
                </a:tc>
                <a:tc>
                  <a:txBody>
                    <a:bodyPr/>
                    <a:lstStyle/>
                    <a:p>
                      <a:r>
                        <a:rPr lang="en-US" sz="1800" dirty="0"/>
                        <a:t>0 1 2 3 4 5 6 7 8 9 A B C D E F</a:t>
                      </a:r>
                      <a:endParaRPr lang="en-US" sz="1800" dirty="0">
                        <a:latin typeface="Arial" pitchFamily="34" charset="0"/>
                        <a:cs typeface="Arial" pitchFamily="34" charset="0"/>
                      </a:endParaRPr>
                    </a:p>
                  </a:txBody>
                  <a:tcPr/>
                </a:tc>
                <a:extLst>
                  <a:ext uri="{0D108BD9-81ED-4DB2-BD59-A6C34878D82A}">
                    <a16:rowId xmlns:a16="http://schemas.microsoft.com/office/drawing/2014/main" val="10004"/>
                  </a:ext>
                </a:extLst>
              </a:tr>
            </a:tbl>
          </a:graphicData>
        </a:graphic>
      </p:graphicFrame>
      <p:sp>
        <p:nvSpPr>
          <p:cNvPr id="5" name="TextBox 4"/>
          <p:cNvSpPr txBox="1"/>
          <p:nvPr/>
        </p:nvSpPr>
        <p:spPr>
          <a:xfrm>
            <a:off x="838200" y="5943600"/>
            <a:ext cx="7696200" cy="369332"/>
          </a:xfrm>
          <a:prstGeom prst="rect">
            <a:avLst/>
          </a:prstGeom>
          <a:noFill/>
        </p:spPr>
        <p:txBody>
          <a:bodyPr wrap="square" rtlCol="0">
            <a:spAutoFit/>
          </a:bodyPr>
          <a:lstStyle/>
          <a:p>
            <a:pPr algn="ctr"/>
            <a:r>
              <a:rPr lang="en-US" b="1" dirty="0"/>
              <a:t>For a valid representation the digits used must be less than the Base</a:t>
            </a:r>
          </a:p>
        </p:txBody>
      </p:sp>
      <p:sp>
        <p:nvSpPr>
          <p:cNvPr id="6" name="Date Placeholder 5"/>
          <p:cNvSpPr>
            <a:spLocks noGrp="1"/>
          </p:cNvSpPr>
          <p:nvPr>
            <p:ph type="dt" sz="half" idx="10"/>
          </p:nvPr>
        </p:nvSpPr>
        <p:spPr/>
        <p:txBody>
          <a:bodyPr/>
          <a:lstStyle/>
          <a:p>
            <a:r>
              <a:rPr lang="en-US"/>
              <a:t>EE227 - DLD</a:t>
            </a:r>
          </a:p>
        </p:txBody>
      </p:sp>
      <p:sp>
        <p:nvSpPr>
          <p:cNvPr id="7" name="Footer Placeholder 6"/>
          <p:cNvSpPr>
            <a:spLocks noGrp="1"/>
          </p:cNvSpPr>
          <p:nvPr>
            <p:ph type="ftr" sz="quarter" idx="11"/>
          </p:nvPr>
        </p:nvSpPr>
        <p:spPr/>
        <p:txBody>
          <a:bodyPr/>
          <a:lstStyle/>
          <a:p>
            <a:r>
              <a:rPr lang="en-US" dirty="0"/>
              <a:t>Course Instructor : Waqar Baig</a:t>
            </a:r>
          </a:p>
        </p:txBody>
      </p:sp>
      <p:sp>
        <p:nvSpPr>
          <p:cNvPr id="8" name="Slide Number Placeholder 7"/>
          <p:cNvSpPr>
            <a:spLocks noGrp="1"/>
          </p:cNvSpPr>
          <p:nvPr>
            <p:ph type="sldNum" sz="quarter" idx="12"/>
          </p:nvPr>
        </p:nvSpPr>
        <p:spPr/>
        <p:txBody>
          <a:bodyPr/>
          <a:lstStyle/>
          <a:p>
            <a:fld id="{CBE6402E-3189-41C4-BB36-EE6F934C63A5}" type="slidenum">
              <a:rPr lang="en-US" smtClean="0"/>
              <a:t>24</a:t>
            </a:fld>
            <a:endParaRPr lang="en-US"/>
          </a:p>
        </p:txBody>
      </p:sp>
    </p:spTree>
    <p:extLst>
      <p:ext uri="{BB962C8B-B14F-4D97-AF65-F5344CB8AC3E}">
        <p14:creationId xmlns:p14="http://schemas.microsoft.com/office/powerpoint/2010/main" val="3879812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Binary Number System (1/2)</a:t>
            </a:r>
          </a:p>
        </p:txBody>
      </p:sp>
      <p:sp>
        <p:nvSpPr>
          <p:cNvPr id="3" name="Content Placeholder 2"/>
          <p:cNvSpPr>
            <a:spLocks noGrp="1"/>
          </p:cNvSpPr>
          <p:nvPr>
            <p:ph idx="1"/>
          </p:nvPr>
        </p:nvSpPr>
        <p:spPr/>
        <p:txBody>
          <a:bodyPr>
            <a:normAutofit fontScale="92500" lnSpcReduction="10000"/>
          </a:bodyPr>
          <a:lstStyle/>
          <a:p>
            <a:r>
              <a:rPr lang="en-US" dirty="0"/>
              <a:t>Data is represented with two possible states</a:t>
            </a:r>
          </a:p>
          <a:p>
            <a:r>
              <a:rPr lang="en-US" dirty="0"/>
              <a:t>Digits 1 and 0 are used to represent</a:t>
            </a:r>
          </a:p>
          <a:p>
            <a:pPr lvl="1">
              <a:buFont typeface="Arial" pitchFamily="34" charset="0"/>
              <a:buChar char="•"/>
            </a:pPr>
            <a:r>
              <a:rPr lang="en-US" dirty="0"/>
              <a:t>1 </a:t>
            </a:r>
            <a:r>
              <a:rPr lang="en-US" dirty="0">
                <a:sym typeface="Wingdings" pitchFamily="2" charset="2"/>
              </a:rPr>
              <a:t> True</a:t>
            </a:r>
          </a:p>
          <a:p>
            <a:pPr lvl="1">
              <a:buFont typeface="Arial" pitchFamily="34" charset="0"/>
              <a:buChar char="•"/>
            </a:pPr>
            <a:r>
              <a:rPr lang="en-US" dirty="0">
                <a:sym typeface="Wingdings" pitchFamily="2" charset="2"/>
              </a:rPr>
              <a:t>0  False</a:t>
            </a:r>
          </a:p>
          <a:p>
            <a:r>
              <a:rPr lang="en-US" dirty="0"/>
              <a:t>Numbers are stored as sequence of 1s and 0s </a:t>
            </a:r>
          </a:p>
          <a:p>
            <a:pPr marL="0" indent="0">
              <a:buNone/>
            </a:pPr>
            <a:endParaRPr lang="en-US" dirty="0"/>
          </a:p>
          <a:p>
            <a:pPr marL="0" indent="0" algn="ctr">
              <a:buNone/>
            </a:pPr>
            <a:r>
              <a:rPr lang="en-US" dirty="0"/>
              <a:t>0 0 1 0 1 0 1 0 1 0 1 1 0 1 1 1</a:t>
            </a:r>
          </a:p>
          <a:p>
            <a:r>
              <a:rPr lang="en-US" dirty="0"/>
              <a:t>Leftmost bit is call Most Significant Bit (MSB)</a:t>
            </a:r>
          </a:p>
          <a:p>
            <a:r>
              <a:rPr lang="en-US" dirty="0"/>
              <a:t>Rightmost bit is called Least Significant Bit (LSB)</a:t>
            </a:r>
          </a:p>
          <a:p>
            <a:endParaRPr lang="en-US" dirty="0"/>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0A3E2A90-01CA-4B8B-BD4A-CD423E1B531E}" type="slidenum">
              <a:rPr lang="en-US" smtClean="0"/>
              <a:t>25</a:t>
            </a:fld>
            <a:endParaRPr lang="en-US"/>
          </a:p>
        </p:txBody>
      </p:sp>
      <p:sp>
        <p:nvSpPr>
          <p:cNvPr id="7" name="TextBox 6"/>
          <p:cNvSpPr txBox="1"/>
          <p:nvPr/>
        </p:nvSpPr>
        <p:spPr>
          <a:xfrm>
            <a:off x="7114641" y="3916279"/>
            <a:ext cx="513282" cy="369332"/>
          </a:xfrm>
          <a:prstGeom prst="rect">
            <a:avLst/>
          </a:prstGeom>
          <a:noFill/>
          <a:ln>
            <a:solidFill>
              <a:schemeClr val="tx1"/>
            </a:solidFill>
          </a:ln>
        </p:spPr>
        <p:txBody>
          <a:bodyPr wrap="none" rtlCol="0">
            <a:spAutoFit/>
          </a:bodyPr>
          <a:lstStyle/>
          <a:p>
            <a:r>
              <a:rPr lang="en-US" dirty="0"/>
              <a:t>LSB</a:t>
            </a:r>
          </a:p>
        </p:txBody>
      </p:sp>
      <p:cxnSp>
        <p:nvCxnSpPr>
          <p:cNvPr id="9" name="Straight Arrow Connector 8"/>
          <p:cNvCxnSpPr/>
          <p:nvPr/>
        </p:nvCxnSpPr>
        <p:spPr>
          <a:xfrm flipH="1">
            <a:off x="6705601" y="4285611"/>
            <a:ext cx="409040" cy="28638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1295400" y="4026932"/>
            <a:ext cx="612668" cy="369332"/>
          </a:xfrm>
          <a:prstGeom prst="rect">
            <a:avLst/>
          </a:prstGeom>
          <a:noFill/>
          <a:ln>
            <a:solidFill>
              <a:schemeClr val="tx1"/>
            </a:solidFill>
          </a:ln>
        </p:spPr>
        <p:txBody>
          <a:bodyPr wrap="none" rtlCol="0">
            <a:spAutoFit/>
          </a:bodyPr>
          <a:lstStyle/>
          <a:p>
            <a:r>
              <a:rPr lang="en-US" dirty="0"/>
              <a:t>MSB</a:t>
            </a:r>
          </a:p>
        </p:txBody>
      </p:sp>
      <p:cxnSp>
        <p:nvCxnSpPr>
          <p:cNvPr id="12" name="Straight Arrow Connector 11"/>
          <p:cNvCxnSpPr/>
          <p:nvPr/>
        </p:nvCxnSpPr>
        <p:spPr>
          <a:xfrm>
            <a:off x="1905000" y="4396264"/>
            <a:ext cx="454132" cy="251936"/>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19900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nodeType="afterEffect">
                                  <p:stCondLst>
                                    <p:cond delay="0"/>
                                  </p:stCondLst>
                                  <p:childTnLst>
                                    <p:set>
                                      <p:cBhvr>
                                        <p:cTn id="15"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9"/>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Binary Number System (2/2)</a:t>
            </a:r>
          </a:p>
        </p:txBody>
      </p:sp>
      <p:sp>
        <p:nvSpPr>
          <p:cNvPr id="3" name="Content Placeholder 2"/>
          <p:cNvSpPr>
            <a:spLocks noGrp="1"/>
          </p:cNvSpPr>
          <p:nvPr>
            <p:ph idx="1"/>
          </p:nvPr>
        </p:nvSpPr>
        <p:spPr/>
        <p:txBody>
          <a:bodyPr>
            <a:normAutofit/>
          </a:bodyPr>
          <a:lstStyle/>
          <a:p>
            <a:r>
              <a:rPr lang="en-US" dirty="0"/>
              <a:t>Each bit is either 0 or 1</a:t>
            </a:r>
          </a:p>
          <a:p>
            <a:r>
              <a:rPr lang="en-US" dirty="0"/>
              <a:t>The weight of each bit is the power of 2</a:t>
            </a:r>
          </a:p>
          <a:p>
            <a:r>
              <a:rPr lang="en-US" dirty="0"/>
              <a:t>Bit number starts from 0</a:t>
            </a:r>
          </a:p>
          <a:p>
            <a:r>
              <a:rPr lang="en-US" dirty="0"/>
              <a:t>And counting starts from LSB</a:t>
            </a:r>
          </a:p>
          <a:p>
            <a:endParaRPr lang="en-US" dirty="0"/>
          </a:p>
          <a:p>
            <a:pPr marL="0" indent="0">
              <a:buNone/>
            </a:pPr>
            <a:r>
              <a:rPr lang="en-US" sz="2200" dirty="0"/>
              <a:t>Bits 	  1	1	1	1	1	1	1	1</a:t>
            </a:r>
          </a:p>
          <a:p>
            <a:pPr marL="0" indent="0">
              <a:buNone/>
            </a:pPr>
            <a:r>
              <a:rPr lang="en-US" sz="2200" dirty="0"/>
              <a:t>Weight	  2</a:t>
            </a:r>
            <a:r>
              <a:rPr lang="en-US" sz="2200" baseline="30000" dirty="0"/>
              <a:t>7</a:t>
            </a:r>
            <a:r>
              <a:rPr lang="en-US" sz="2200" dirty="0"/>
              <a:t>	2</a:t>
            </a:r>
            <a:r>
              <a:rPr lang="en-US" sz="2200" baseline="30000" dirty="0"/>
              <a:t>6</a:t>
            </a:r>
            <a:r>
              <a:rPr lang="en-US" sz="2200" dirty="0"/>
              <a:t>	2</a:t>
            </a:r>
            <a:r>
              <a:rPr lang="en-US" sz="2200" baseline="30000" dirty="0"/>
              <a:t>5</a:t>
            </a:r>
            <a:r>
              <a:rPr lang="en-US" sz="2200" dirty="0"/>
              <a:t>	2</a:t>
            </a:r>
            <a:r>
              <a:rPr lang="en-US" sz="2200" baseline="30000" dirty="0"/>
              <a:t>4</a:t>
            </a:r>
            <a:r>
              <a:rPr lang="en-US" sz="2200" dirty="0"/>
              <a:t>	2</a:t>
            </a:r>
            <a:r>
              <a:rPr lang="en-US" sz="2200" baseline="30000" dirty="0"/>
              <a:t>3</a:t>
            </a:r>
            <a:r>
              <a:rPr lang="en-US" sz="2200" dirty="0"/>
              <a:t>	2</a:t>
            </a:r>
            <a:r>
              <a:rPr lang="en-US" sz="2200" baseline="30000" dirty="0"/>
              <a:t>2</a:t>
            </a:r>
            <a:r>
              <a:rPr lang="en-US" sz="2200" dirty="0"/>
              <a:t>	2</a:t>
            </a:r>
            <a:r>
              <a:rPr lang="en-US" sz="2200" baseline="30000" dirty="0"/>
              <a:t>1</a:t>
            </a:r>
            <a:r>
              <a:rPr lang="en-US" sz="2200" dirty="0"/>
              <a:t>	2</a:t>
            </a:r>
            <a:r>
              <a:rPr lang="en-US" sz="2200" baseline="30000" dirty="0"/>
              <a:t>0</a:t>
            </a:r>
          </a:p>
          <a:p>
            <a:pPr marL="0" indent="0">
              <a:buNone/>
            </a:pPr>
            <a:r>
              <a:rPr lang="en-US" sz="2200" dirty="0">
                <a:solidFill>
                  <a:schemeClr val="bg1"/>
                </a:solidFill>
              </a:rPr>
              <a:t>Weight</a:t>
            </a:r>
            <a:r>
              <a:rPr lang="en-US" sz="2200" dirty="0"/>
              <a:t>	  128	64	32	16	8	4	2	1</a:t>
            </a:r>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0A3E2A90-01CA-4B8B-BD4A-CD423E1B531E}" type="slidenum">
              <a:rPr lang="en-US" smtClean="0"/>
              <a:t>26</a:t>
            </a:fld>
            <a:endParaRPr lang="en-US"/>
          </a:p>
        </p:txBody>
      </p:sp>
    </p:spTree>
    <p:extLst>
      <p:ext uri="{BB962C8B-B14F-4D97-AF65-F5344CB8AC3E}">
        <p14:creationId xmlns:p14="http://schemas.microsoft.com/office/powerpoint/2010/main" val="1654253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Signed and Unsigned Binary Numbers</a:t>
            </a:r>
          </a:p>
        </p:txBody>
      </p:sp>
      <p:sp>
        <p:nvSpPr>
          <p:cNvPr id="3" name="Content Placeholder 2"/>
          <p:cNvSpPr>
            <a:spLocks noGrp="1"/>
          </p:cNvSpPr>
          <p:nvPr>
            <p:ph idx="1"/>
          </p:nvPr>
        </p:nvSpPr>
        <p:spPr/>
        <p:txBody>
          <a:bodyPr/>
          <a:lstStyle/>
          <a:p>
            <a:r>
              <a:rPr lang="en-US" dirty="0"/>
              <a:t>Binary integers can be signed or unsigned</a:t>
            </a:r>
          </a:p>
          <a:p>
            <a:r>
              <a:rPr lang="en-US" dirty="0"/>
              <a:t>Signed integers, as evident from name, are either positive or negative</a:t>
            </a:r>
          </a:p>
          <a:p>
            <a:r>
              <a:rPr lang="en-US" dirty="0"/>
              <a:t>Unsigned integers are by default positive</a:t>
            </a:r>
          </a:p>
          <a:p>
            <a:endParaRPr lang="en-US" dirty="0"/>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0A3E2A90-01CA-4B8B-BD4A-CD423E1B531E}" type="slidenum">
              <a:rPr lang="en-US" smtClean="0"/>
              <a:t>27</a:t>
            </a:fld>
            <a:endParaRPr lang="en-US"/>
          </a:p>
        </p:txBody>
      </p:sp>
    </p:spTree>
    <p:extLst>
      <p:ext uri="{BB962C8B-B14F-4D97-AF65-F5344CB8AC3E}">
        <p14:creationId xmlns:p14="http://schemas.microsoft.com/office/powerpoint/2010/main" val="3057241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Hexadecimal Number System</a:t>
            </a:r>
          </a:p>
        </p:txBody>
      </p:sp>
      <p:sp>
        <p:nvSpPr>
          <p:cNvPr id="3" name="Content Placeholder 2"/>
          <p:cNvSpPr>
            <a:spLocks noGrp="1"/>
          </p:cNvSpPr>
          <p:nvPr>
            <p:ph idx="1"/>
          </p:nvPr>
        </p:nvSpPr>
        <p:spPr/>
        <p:txBody>
          <a:bodyPr/>
          <a:lstStyle/>
          <a:p>
            <a:r>
              <a:rPr lang="en-US" dirty="0"/>
              <a:t>Used to represent large binary numbers</a:t>
            </a:r>
          </a:p>
          <a:p>
            <a:r>
              <a:rPr lang="en-US" dirty="0"/>
              <a:t>Digits 0 to 15 are used in hexadecimal notation where 10 is A, 11 is B, 12 is C, 13 is D, 14 is E, and 15 is F</a:t>
            </a:r>
          </a:p>
          <a:p>
            <a:r>
              <a:rPr lang="en-US" dirty="0"/>
              <a:t>Commonly used to represent memory addresses</a:t>
            </a:r>
          </a:p>
          <a:p>
            <a:r>
              <a:rPr lang="en-US" dirty="0"/>
              <a:t>The weight of each digit is the power of 16</a:t>
            </a:r>
          </a:p>
          <a:p>
            <a:endParaRPr lang="en-US" dirty="0"/>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0A3E2A90-01CA-4B8B-BD4A-CD423E1B531E}" type="slidenum">
              <a:rPr lang="en-US" smtClean="0"/>
              <a:t>28</a:t>
            </a:fld>
            <a:endParaRPr lang="en-US"/>
          </a:p>
        </p:txBody>
      </p:sp>
    </p:spTree>
    <p:extLst>
      <p:ext uri="{BB962C8B-B14F-4D97-AF65-F5344CB8AC3E}">
        <p14:creationId xmlns:p14="http://schemas.microsoft.com/office/powerpoint/2010/main" val="3478637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Decimal and Octal Number System</a:t>
            </a:r>
          </a:p>
        </p:txBody>
      </p:sp>
      <p:sp>
        <p:nvSpPr>
          <p:cNvPr id="3" name="Content Placeholder 2"/>
          <p:cNvSpPr>
            <a:spLocks noGrp="1"/>
          </p:cNvSpPr>
          <p:nvPr>
            <p:ph idx="1"/>
          </p:nvPr>
        </p:nvSpPr>
        <p:spPr/>
        <p:txBody>
          <a:bodyPr>
            <a:normAutofit fontScale="92500" lnSpcReduction="10000"/>
          </a:bodyPr>
          <a:lstStyle/>
          <a:p>
            <a:r>
              <a:rPr lang="en-US" dirty="0"/>
              <a:t>In decimal number system there are 10 possible digits (0 – 9)</a:t>
            </a:r>
          </a:p>
          <a:p>
            <a:r>
              <a:rPr lang="en-US" dirty="0"/>
              <a:t>The weight of each digit is the power of 10</a:t>
            </a:r>
          </a:p>
          <a:p>
            <a:r>
              <a:rPr lang="en-US" dirty="0"/>
              <a:t>For example (9874)</a:t>
            </a:r>
            <a:r>
              <a:rPr lang="en-US" baseline="-25000" dirty="0"/>
              <a:t>10</a:t>
            </a:r>
            <a:r>
              <a:rPr lang="en-US" dirty="0"/>
              <a:t> is a number in decimal number system</a:t>
            </a:r>
          </a:p>
          <a:p>
            <a:r>
              <a:rPr lang="en-US" dirty="0"/>
              <a:t>In Octal number system there are 8 digits (0 – 7 )</a:t>
            </a:r>
          </a:p>
          <a:p>
            <a:r>
              <a:rPr lang="en-US" dirty="0"/>
              <a:t>The weight of each digit is the power of 8</a:t>
            </a:r>
          </a:p>
          <a:p>
            <a:r>
              <a:rPr lang="en-US" dirty="0"/>
              <a:t>For example the number (7301)</a:t>
            </a:r>
            <a:r>
              <a:rPr lang="en-US" baseline="-25000" dirty="0"/>
              <a:t>8</a:t>
            </a:r>
            <a:r>
              <a:rPr lang="en-US" dirty="0"/>
              <a:t> is a number is octal system</a:t>
            </a:r>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0A3E2A90-01CA-4B8B-BD4A-CD423E1B531E}" type="slidenum">
              <a:rPr lang="en-US" smtClean="0"/>
              <a:t>29</a:t>
            </a:fld>
            <a:endParaRPr lang="en-US"/>
          </a:p>
        </p:txBody>
      </p:sp>
    </p:spTree>
    <p:extLst>
      <p:ext uri="{BB962C8B-B14F-4D97-AF65-F5344CB8AC3E}">
        <p14:creationId xmlns:p14="http://schemas.microsoft.com/office/powerpoint/2010/main" val="3190496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Base Conversions</a:t>
            </a:r>
          </a:p>
        </p:txBody>
      </p:sp>
      <p:sp>
        <p:nvSpPr>
          <p:cNvPr id="3" name="Content Placeholder 2"/>
          <p:cNvSpPr>
            <a:spLocks noGrp="1"/>
          </p:cNvSpPr>
          <p:nvPr>
            <p:ph idx="1"/>
          </p:nvPr>
        </p:nvSpPr>
        <p:spPr/>
        <p:txBody>
          <a:bodyPr>
            <a:normAutofit/>
          </a:bodyPr>
          <a:lstStyle/>
          <a:p>
            <a:r>
              <a:rPr lang="en-US" dirty="0"/>
              <a:t>We will discuss the following base conversions during this course</a:t>
            </a:r>
          </a:p>
          <a:p>
            <a:pPr lvl="1"/>
            <a:r>
              <a:rPr lang="en-US" dirty="0"/>
              <a:t>Conversions of unsigned numbers</a:t>
            </a:r>
          </a:p>
          <a:p>
            <a:pPr lvl="1"/>
            <a:r>
              <a:rPr lang="en-US" dirty="0"/>
              <a:t>Conversions of fractions</a:t>
            </a:r>
          </a:p>
          <a:p>
            <a:pPr lvl="1"/>
            <a:r>
              <a:rPr lang="en-US" dirty="0"/>
              <a:t>Conversions of signed numbers</a:t>
            </a:r>
          </a:p>
          <a:p>
            <a:endParaRPr lang="en-US" dirty="0"/>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0A3E2A90-01CA-4B8B-BD4A-CD423E1B531E}" type="slidenum">
              <a:rPr lang="en-US" smtClean="0"/>
              <a:t>30</a:t>
            </a:fld>
            <a:endParaRPr lang="en-US"/>
          </a:p>
        </p:txBody>
      </p:sp>
    </p:spTree>
    <p:extLst>
      <p:ext uri="{BB962C8B-B14F-4D97-AF65-F5344CB8AC3E}">
        <p14:creationId xmlns:p14="http://schemas.microsoft.com/office/powerpoint/2010/main" val="29952808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lvl="1" algn="ctr" rtl="0">
              <a:spcBef>
                <a:spcPct val="0"/>
              </a:spcBef>
            </a:pPr>
            <a:r>
              <a:rPr lang="en-US" sz="4000" dirty="0">
                <a:latin typeface="+mn-lt"/>
              </a:rPr>
              <a:t>Unsigned Binary Integers to Decimal</a:t>
            </a:r>
          </a:p>
        </p:txBody>
      </p:sp>
      <p:sp>
        <p:nvSpPr>
          <p:cNvPr id="3" name="Content Placeholder 2"/>
          <p:cNvSpPr>
            <a:spLocks noGrp="1"/>
          </p:cNvSpPr>
          <p:nvPr>
            <p:ph idx="1"/>
          </p:nvPr>
        </p:nvSpPr>
        <p:spPr/>
        <p:txBody>
          <a:bodyPr>
            <a:normAutofit/>
          </a:bodyPr>
          <a:lstStyle/>
          <a:p>
            <a:r>
              <a:rPr lang="en-US" dirty="0"/>
              <a:t>Weighted Positional Notation method</a:t>
            </a:r>
          </a:p>
          <a:p>
            <a:endParaRPr lang="en-US" dirty="0"/>
          </a:p>
          <a:p>
            <a:endParaRPr lang="en-US" dirty="0"/>
          </a:p>
          <a:p>
            <a:pPr lvl="1"/>
            <a:r>
              <a:rPr lang="en-US" i="1" dirty="0"/>
              <a:t>D</a:t>
            </a:r>
            <a:r>
              <a:rPr lang="en-US" dirty="0"/>
              <a:t> = binary digit</a:t>
            </a:r>
          </a:p>
          <a:p>
            <a:pPr lvl="1"/>
            <a:r>
              <a:rPr lang="en-US" i="1" dirty="0"/>
              <a:t>n</a:t>
            </a:r>
            <a:r>
              <a:rPr lang="en-US" dirty="0"/>
              <a:t> = bit position number in binary number</a:t>
            </a:r>
          </a:p>
          <a:p>
            <a:r>
              <a:rPr lang="en-US" dirty="0"/>
              <a:t>Example</a:t>
            </a:r>
          </a:p>
          <a:p>
            <a:pPr lvl="1"/>
            <a:r>
              <a:rPr lang="en-US" dirty="0"/>
              <a:t>Convert 11010 to decimal</a:t>
            </a:r>
          </a:p>
          <a:p>
            <a:pPr lvl="1"/>
            <a:r>
              <a:rPr lang="en-US" dirty="0"/>
              <a:t>Convert 11001110 to decimal</a:t>
            </a:r>
          </a:p>
          <a:p>
            <a:endParaRPr lang="en-US" dirty="0"/>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0A3E2A90-01CA-4B8B-BD4A-CD423E1B531E}" type="slidenum">
              <a:rPr lang="en-US" smtClean="0"/>
              <a:t>31</a:t>
            </a:fld>
            <a:endParaRPr lang="en-US"/>
          </a:p>
        </p:txBody>
      </p:sp>
      <p:sp>
        <p:nvSpPr>
          <p:cNvPr id="7" name="TextBox 6"/>
          <p:cNvSpPr txBox="1"/>
          <p:nvPr/>
        </p:nvSpPr>
        <p:spPr>
          <a:xfrm>
            <a:off x="457200" y="2510135"/>
            <a:ext cx="8470589" cy="461665"/>
          </a:xfrm>
          <a:prstGeom prst="rect">
            <a:avLst/>
          </a:prstGeom>
          <a:noFill/>
        </p:spPr>
        <p:txBody>
          <a:bodyPr wrap="none" rtlCol="0">
            <a:spAutoFit/>
          </a:bodyPr>
          <a:lstStyle/>
          <a:p>
            <a:r>
              <a:rPr lang="en-US" sz="2400" dirty="0">
                <a:latin typeface="Arial" pitchFamily="34" charset="0"/>
                <a:cs typeface="Arial" pitchFamily="34" charset="0"/>
              </a:rPr>
              <a:t>Dec = (</a:t>
            </a:r>
            <a:r>
              <a:rPr lang="en-US" sz="2400" i="1" dirty="0">
                <a:latin typeface="Arial" pitchFamily="34" charset="0"/>
                <a:cs typeface="Arial" pitchFamily="34" charset="0"/>
              </a:rPr>
              <a:t>D</a:t>
            </a:r>
            <a:r>
              <a:rPr lang="en-US" sz="2400" i="1" baseline="-25000" dirty="0">
                <a:latin typeface="Arial" pitchFamily="34" charset="0"/>
                <a:cs typeface="Arial" pitchFamily="34" charset="0"/>
              </a:rPr>
              <a:t>n</a:t>
            </a:r>
            <a:r>
              <a:rPr lang="en-US" sz="2400" baseline="-25000" dirty="0">
                <a:latin typeface="Arial" pitchFamily="34" charset="0"/>
                <a:cs typeface="Arial" pitchFamily="34" charset="0"/>
              </a:rPr>
              <a:t>-1</a:t>
            </a:r>
            <a:r>
              <a:rPr lang="en-US" sz="2400" dirty="0">
                <a:latin typeface="Arial" pitchFamily="34" charset="0"/>
                <a:cs typeface="Arial" pitchFamily="34" charset="0"/>
              </a:rPr>
              <a:t> x 2</a:t>
            </a:r>
            <a:r>
              <a:rPr lang="en-US" sz="2400" i="1" baseline="30000" dirty="0">
                <a:latin typeface="Arial" pitchFamily="34" charset="0"/>
                <a:cs typeface="Arial" pitchFamily="34" charset="0"/>
              </a:rPr>
              <a:t>n</a:t>
            </a:r>
            <a:r>
              <a:rPr lang="en-US" sz="2400" baseline="30000" dirty="0">
                <a:latin typeface="Arial" pitchFamily="34" charset="0"/>
                <a:cs typeface="Arial" pitchFamily="34" charset="0"/>
              </a:rPr>
              <a:t>-1</a:t>
            </a:r>
            <a:r>
              <a:rPr lang="en-US" sz="2400" dirty="0">
                <a:latin typeface="Arial" pitchFamily="34" charset="0"/>
                <a:cs typeface="Arial" pitchFamily="34" charset="0"/>
              </a:rPr>
              <a:t>) + (</a:t>
            </a:r>
            <a:r>
              <a:rPr lang="en-US" sz="2400" i="1" dirty="0">
                <a:latin typeface="Arial" pitchFamily="34" charset="0"/>
                <a:cs typeface="Arial" pitchFamily="34" charset="0"/>
              </a:rPr>
              <a:t>D</a:t>
            </a:r>
            <a:r>
              <a:rPr lang="en-US" sz="2400" i="1" baseline="-25000" dirty="0">
                <a:latin typeface="Arial" pitchFamily="34" charset="0"/>
                <a:cs typeface="Arial" pitchFamily="34" charset="0"/>
              </a:rPr>
              <a:t>n</a:t>
            </a:r>
            <a:r>
              <a:rPr lang="en-US" sz="2400" baseline="-25000" dirty="0">
                <a:latin typeface="Arial" pitchFamily="34" charset="0"/>
                <a:cs typeface="Arial" pitchFamily="34" charset="0"/>
              </a:rPr>
              <a:t>-2</a:t>
            </a:r>
            <a:r>
              <a:rPr lang="en-US" sz="2400" dirty="0">
                <a:latin typeface="Arial" pitchFamily="34" charset="0"/>
                <a:cs typeface="Arial" pitchFamily="34" charset="0"/>
              </a:rPr>
              <a:t> x 2</a:t>
            </a:r>
            <a:r>
              <a:rPr lang="en-US" sz="2400" i="1" baseline="30000" dirty="0">
                <a:latin typeface="Arial" pitchFamily="34" charset="0"/>
                <a:cs typeface="Arial" pitchFamily="34" charset="0"/>
              </a:rPr>
              <a:t>n</a:t>
            </a:r>
            <a:r>
              <a:rPr lang="en-US" sz="2400" baseline="30000" dirty="0">
                <a:latin typeface="Arial" pitchFamily="34" charset="0"/>
                <a:cs typeface="Arial" pitchFamily="34" charset="0"/>
              </a:rPr>
              <a:t>-2</a:t>
            </a:r>
            <a:r>
              <a:rPr lang="en-US" sz="2400" dirty="0">
                <a:latin typeface="Arial" pitchFamily="34" charset="0"/>
                <a:cs typeface="Arial" pitchFamily="34" charset="0"/>
              </a:rPr>
              <a:t>) + . . . + (</a:t>
            </a:r>
            <a:r>
              <a:rPr lang="en-US" sz="2400" i="1" dirty="0">
                <a:latin typeface="Arial" pitchFamily="34" charset="0"/>
                <a:cs typeface="Arial" pitchFamily="34" charset="0"/>
              </a:rPr>
              <a:t>D</a:t>
            </a:r>
            <a:r>
              <a:rPr lang="en-US" sz="2400" baseline="-25000" dirty="0">
                <a:latin typeface="Arial" pitchFamily="34" charset="0"/>
                <a:cs typeface="Arial" pitchFamily="34" charset="0"/>
              </a:rPr>
              <a:t>1</a:t>
            </a:r>
            <a:r>
              <a:rPr lang="en-US" sz="2400" dirty="0">
                <a:latin typeface="Arial" pitchFamily="34" charset="0"/>
                <a:cs typeface="Arial" pitchFamily="34" charset="0"/>
              </a:rPr>
              <a:t> x 2</a:t>
            </a:r>
            <a:r>
              <a:rPr lang="en-US" sz="2400" baseline="30000" dirty="0">
                <a:latin typeface="Arial" pitchFamily="34" charset="0"/>
                <a:cs typeface="Arial" pitchFamily="34" charset="0"/>
              </a:rPr>
              <a:t>1</a:t>
            </a:r>
            <a:r>
              <a:rPr lang="en-US" sz="2400" dirty="0">
                <a:latin typeface="Arial" pitchFamily="34" charset="0"/>
                <a:cs typeface="Arial" pitchFamily="34" charset="0"/>
              </a:rPr>
              <a:t>) + (</a:t>
            </a:r>
            <a:r>
              <a:rPr lang="en-US" sz="2400" i="1" dirty="0">
                <a:latin typeface="Arial" pitchFamily="34" charset="0"/>
                <a:cs typeface="Arial" pitchFamily="34" charset="0"/>
              </a:rPr>
              <a:t>D</a:t>
            </a:r>
            <a:r>
              <a:rPr lang="en-US" sz="2400" baseline="-25000" dirty="0">
                <a:latin typeface="Arial" pitchFamily="34" charset="0"/>
                <a:cs typeface="Arial" pitchFamily="34" charset="0"/>
              </a:rPr>
              <a:t>0</a:t>
            </a:r>
            <a:r>
              <a:rPr lang="en-US" sz="2400" dirty="0">
                <a:latin typeface="Arial" pitchFamily="34" charset="0"/>
                <a:cs typeface="Arial" pitchFamily="34" charset="0"/>
              </a:rPr>
              <a:t> x 2</a:t>
            </a:r>
            <a:r>
              <a:rPr lang="en-US" sz="2400" baseline="30000" dirty="0">
                <a:latin typeface="Arial" pitchFamily="34" charset="0"/>
                <a:cs typeface="Arial" pitchFamily="34" charset="0"/>
              </a:rPr>
              <a:t>0</a:t>
            </a:r>
            <a:r>
              <a:rPr lang="en-US" sz="2400" dirty="0">
                <a:latin typeface="Arial" pitchFamily="34" charset="0"/>
                <a:cs typeface="Arial" pitchFamily="34" charset="0"/>
              </a:rPr>
              <a:t>)</a:t>
            </a:r>
          </a:p>
        </p:txBody>
      </p:sp>
    </p:spTree>
    <p:extLst>
      <p:ext uri="{BB962C8B-B14F-4D97-AF65-F5344CB8AC3E}">
        <p14:creationId xmlns:p14="http://schemas.microsoft.com/office/powerpoint/2010/main" val="2592895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Decimal to Unsigned Binary Conversion</a:t>
            </a:r>
          </a:p>
        </p:txBody>
      </p:sp>
      <p:sp>
        <p:nvSpPr>
          <p:cNvPr id="3" name="Content Placeholder 2"/>
          <p:cNvSpPr>
            <a:spLocks noGrp="1"/>
          </p:cNvSpPr>
          <p:nvPr>
            <p:ph idx="1"/>
          </p:nvPr>
        </p:nvSpPr>
        <p:spPr/>
        <p:txBody>
          <a:bodyPr>
            <a:normAutofit lnSpcReduction="10000"/>
          </a:bodyPr>
          <a:lstStyle/>
          <a:p>
            <a:r>
              <a:rPr lang="en-US" dirty="0"/>
              <a:t>Repeatedly divide the decimal integer by 2 until the quotient is 0</a:t>
            </a:r>
          </a:p>
          <a:p>
            <a:r>
              <a:rPr lang="en-US" dirty="0"/>
              <a:t>The combination of remainders makes the binary number</a:t>
            </a:r>
          </a:p>
          <a:p>
            <a:r>
              <a:rPr lang="en-US" dirty="0"/>
              <a:t>The first remainder goes at LSB position and last remainder goes at MSB position</a:t>
            </a:r>
          </a:p>
          <a:p>
            <a:r>
              <a:rPr lang="en-US" dirty="0"/>
              <a:t>Example </a:t>
            </a:r>
          </a:p>
          <a:p>
            <a:pPr lvl="1"/>
            <a:r>
              <a:rPr lang="en-US" dirty="0"/>
              <a:t>Convert 25 from decimal to binary</a:t>
            </a:r>
          </a:p>
          <a:p>
            <a:pPr lvl="1"/>
            <a:r>
              <a:rPr lang="en-US" dirty="0"/>
              <a:t>Convert 115 from decimal to binary</a:t>
            </a:r>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0A3E2A90-01CA-4B8B-BD4A-CD423E1B531E}" type="slidenum">
              <a:rPr lang="en-US" smtClean="0"/>
              <a:t>32</a:t>
            </a:fld>
            <a:endParaRPr lang="en-US"/>
          </a:p>
        </p:txBody>
      </p:sp>
    </p:spTree>
    <p:extLst>
      <p:ext uri="{BB962C8B-B14F-4D97-AF65-F5344CB8AC3E}">
        <p14:creationId xmlns:p14="http://schemas.microsoft.com/office/powerpoint/2010/main" val="244460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Hexadecimal to Binary</a:t>
            </a:r>
          </a:p>
        </p:txBody>
      </p:sp>
      <p:sp>
        <p:nvSpPr>
          <p:cNvPr id="3" name="Content Placeholder 2"/>
          <p:cNvSpPr>
            <a:spLocks noGrp="1"/>
          </p:cNvSpPr>
          <p:nvPr>
            <p:ph idx="1"/>
          </p:nvPr>
        </p:nvSpPr>
        <p:spPr/>
        <p:txBody>
          <a:bodyPr/>
          <a:lstStyle/>
          <a:p>
            <a:r>
              <a:rPr lang="en-US" dirty="0"/>
              <a:t>Each hexadecimal integer corresponds to 4 binary bits</a:t>
            </a:r>
          </a:p>
          <a:p>
            <a:r>
              <a:rPr lang="en-US" dirty="0"/>
              <a:t>Convert each hexadecimal number to corresponding binary number</a:t>
            </a:r>
          </a:p>
          <a:p>
            <a:r>
              <a:rPr lang="en-US" dirty="0"/>
              <a:t>Example</a:t>
            </a:r>
          </a:p>
          <a:p>
            <a:pPr lvl="1"/>
            <a:r>
              <a:rPr lang="en-US" dirty="0"/>
              <a:t>Convert 4F91 to binary</a:t>
            </a:r>
          </a:p>
          <a:p>
            <a:endParaRPr lang="en-US" dirty="0"/>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0A3E2A90-01CA-4B8B-BD4A-CD423E1B531E}" type="slidenum">
              <a:rPr lang="en-US" smtClean="0"/>
              <a:t>33</a:t>
            </a:fld>
            <a:endParaRPr lang="en-US"/>
          </a:p>
        </p:txBody>
      </p:sp>
      <p:pic>
        <p:nvPicPr>
          <p:cNvPr id="1026" name="Picture 2"/>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038600" y="3962400"/>
            <a:ext cx="4819650" cy="2400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31352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Binary to Hexadecimal</a:t>
            </a:r>
          </a:p>
        </p:txBody>
      </p:sp>
      <p:sp>
        <p:nvSpPr>
          <p:cNvPr id="3" name="Content Placeholder 2"/>
          <p:cNvSpPr>
            <a:spLocks noGrp="1"/>
          </p:cNvSpPr>
          <p:nvPr>
            <p:ph idx="1"/>
          </p:nvPr>
        </p:nvSpPr>
        <p:spPr>
          <a:xfrm>
            <a:off x="457200" y="1600201"/>
            <a:ext cx="8229600" cy="2619374"/>
          </a:xfrm>
        </p:spPr>
        <p:txBody>
          <a:bodyPr>
            <a:normAutofit fontScale="92500" lnSpcReduction="20000"/>
          </a:bodyPr>
          <a:lstStyle/>
          <a:p>
            <a:r>
              <a:rPr lang="en-US" dirty="0"/>
              <a:t>Starting from right convert each 4 bits of binary into its corresponding hexadecimal</a:t>
            </a:r>
          </a:p>
          <a:p>
            <a:r>
              <a:rPr lang="en-US" dirty="0"/>
              <a:t>If there are less than 4 bits remaining in the end then append zeros to complete the group of 4</a:t>
            </a:r>
          </a:p>
          <a:p>
            <a:r>
              <a:rPr lang="en-US" dirty="0"/>
              <a:t>Example</a:t>
            </a:r>
          </a:p>
          <a:p>
            <a:pPr lvl="1"/>
            <a:r>
              <a:rPr lang="en-US" dirty="0"/>
              <a:t>Convert 0100 1111 1001 0001 to hexadecimal</a:t>
            </a:r>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0A3E2A90-01CA-4B8B-BD4A-CD423E1B531E}" type="slidenum">
              <a:rPr lang="en-US" smtClean="0"/>
              <a:t>34</a:t>
            </a:fld>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90812" y="4219575"/>
            <a:ext cx="3762375" cy="2181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88273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0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Octal to Binary</a:t>
            </a:r>
          </a:p>
        </p:txBody>
      </p:sp>
      <p:sp>
        <p:nvSpPr>
          <p:cNvPr id="3" name="Content Placeholder 2"/>
          <p:cNvSpPr>
            <a:spLocks noGrp="1"/>
          </p:cNvSpPr>
          <p:nvPr>
            <p:ph idx="1"/>
          </p:nvPr>
        </p:nvSpPr>
        <p:spPr/>
        <p:txBody>
          <a:bodyPr/>
          <a:lstStyle/>
          <a:p>
            <a:r>
              <a:rPr lang="en-US" dirty="0"/>
              <a:t>Each octal integer corresponds to 3 binary bits</a:t>
            </a:r>
          </a:p>
          <a:p>
            <a:r>
              <a:rPr lang="en-US" dirty="0"/>
              <a:t>Convert each octal number to corresponding binary number</a:t>
            </a:r>
          </a:p>
          <a:p>
            <a:r>
              <a:rPr lang="en-US" dirty="0"/>
              <a:t>Example</a:t>
            </a:r>
          </a:p>
          <a:p>
            <a:pPr lvl="1"/>
            <a:r>
              <a:rPr lang="en-US" dirty="0"/>
              <a:t>Convert 327 to binary</a:t>
            </a:r>
          </a:p>
          <a:p>
            <a:endParaRPr lang="en-US" dirty="0"/>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0A3E2A90-01CA-4B8B-BD4A-CD423E1B531E}" type="slidenum">
              <a:rPr lang="en-US" smtClean="0"/>
              <a:t>35</a:t>
            </a:fld>
            <a:endParaRPr lang="en-US"/>
          </a:p>
        </p:txBody>
      </p:sp>
      <p:pic>
        <p:nvPicPr>
          <p:cNvPr id="3074" name="Picture 2" descr="Image result for octal to binary conversion"/>
          <p:cNvPicPr>
            <a:picLocks noChangeAspect="1" noChangeArrowheads="1"/>
          </p:cNvPicPr>
          <p:nvPr/>
        </p:nvPicPr>
        <p:blipFill rotWithShape="1">
          <a:blip r:embed="rId2">
            <a:extLst>
              <a:ext uri="{28A0092B-C50C-407E-A947-70E740481C1C}">
                <a14:useLocalDpi xmlns:a14="http://schemas.microsoft.com/office/drawing/2010/main" val="0"/>
              </a:ext>
            </a:extLst>
          </a:blip>
          <a:srcRect l="26459" t="34924" r="20340"/>
          <a:stretch/>
        </p:blipFill>
        <p:spPr bwMode="auto">
          <a:xfrm>
            <a:off x="5207269" y="3810000"/>
            <a:ext cx="3555731" cy="17093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2632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0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Binary to Octal</a:t>
            </a:r>
          </a:p>
        </p:txBody>
      </p:sp>
      <p:sp>
        <p:nvSpPr>
          <p:cNvPr id="3" name="Content Placeholder 2"/>
          <p:cNvSpPr>
            <a:spLocks noGrp="1"/>
          </p:cNvSpPr>
          <p:nvPr>
            <p:ph idx="1"/>
          </p:nvPr>
        </p:nvSpPr>
        <p:spPr>
          <a:xfrm>
            <a:off x="457200" y="1600201"/>
            <a:ext cx="8229600" cy="2619374"/>
          </a:xfrm>
        </p:spPr>
        <p:txBody>
          <a:bodyPr>
            <a:normAutofit fontScale="92500" lnSpcReduction="20000"/>
          </a:bodyPr>
          <a:lstStyle/>
          <a:p>
            <a:r>
              <a:rPr lang="en-US" dirty="0"/>
              <a:t>Starting from right convert each 3 bits of binary into its corresponding octal value</a:t>
            </a:r>
          </a:p>
          <a:p>
            <a:r>
              <a:rPr lang="en-US" dirty="0"/>
              <a:t>If there are less than 3 bits remaining in the end then append zeros to complete the group of 3</a:t>
            </a:r>
          </a:p>
          <a:p>
            <a:r>
              <a:rPr lang="en-US" dirty="0"/>
              <a:t>Example</a:t>
            </a:r>
          </a:p>
          <a:p>
            <a:pPr lvl="1"/>
            <a:r>
              <a:rPr lang="en-US" dirty="0"/>
              <a:t>Convert 11 111 110 001 010 to Octal</a:t>
            </a:r>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0A3E2A90-01CA-4B8B-BD4A-CD423E1B531E}" type="slidenum">
              <a:rPr lang="en-US" smtClean="0"/>
              <a:t>36</a:t>
            </a:fld>
            <a:endParaRPr lang="en-US"/>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4191000"/>
            <a:ext cx="4572000" cy="21261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93670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0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Hexadecimal to Decimal</a:t>
            </a:r>
          </a:p>
        </p:txBody>
      </p:sp>
      <p:sp>
        <p:nvSpPr>
          <p:cNvPr id="3" name="Content Placeholder 2"/>
          <p:cNvSpPr>
            <a:spLocks noGrp="1"/>
          </p:cNvSpPr>
          <p:nvPr>
            <p:ph idx="1"/>
          </p:nvPr>
        </p:nvSpPr>
        <p:spPr/>
        <p:txBody>
          <a:bodyPr/>
          <a:lstStyle/>
          <a:p>
            <a:r>
              <a:rPr lang="en-US" dirty="0"/>
              <a:t>Multiply each hexadecimal digit with its corresponding power of 16</a:t>
            </a:r>
          </a:p>
          <a:p>
            <a:pPr marL="0" indent="0">
              <a:buNone/>
            </a:pPr>
            <a:endParaRPr lang="en-US" i="1" dirty="0"/>
          </a:p>
          <a:p>
            <a:pPr lvl="1"/>
            <a:r>
              <a:rPr lang="en-US" i="1" dirty="0"/>
              <a:t>D</a:t>
            </a:r>
            <a:r>
              <a:rPr lang="en-US" dirty="0"/>
              <a:t> = hexadecimal digit</a:t>
            </a:r>
          </a:p>
          <a:p>
            <a:pPr lvl="1"/>
            <a:r>
              <a:rPr lang="en-US" i="1" dirty="0"/>
              <a:t>n</a:t>
            </a:r>
            <a:r>
              <a:rPr lang="en-US" dirty="0"/>
              <a:t> = digit position number in hexadecimal number</a:t>
            </a:r>
          </a:p>
          <a:p>
            <a:r>
              <a:rPr lang="en-US" dirty="0"/>
              <a:t>Example</a:t>
            </a:r>
          </a:p>
          <a:p>
            <a:pPr lvl="1"/>
            <a:r>
              <a:rPr lang="en-US" dirty="0"/>
              <a:t>Convert 3BA4 to decimal</a:t>
            </a:r>
          </a:p>
          <a:p>
            <a:pPr lvl="1"/>
            <a:r>
              <a:rPr lang="en-US" dirty="0"/>
              <a:t>Convert 23AB to decimal</a:t>
            </a:r>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0A3E2A90-01CA-4B8B-BD4A-CD423E1B531E}" type="slidenum">
              <a:rPr lang="en-US" smtClean="0"/>
              <a:t>37</a:t>
            </a:fld>
            <a:endParaRPr lang="en-US"/>
          </a:p>
        </p:txBody>
      </p:sp>
      <p:sp>
        <p:nvSpPr>
          <p:cNvPr id="7" name="TextBox 6"/>
          <p:cNvSpPr txBox="1"/>
          <p:nvPr/>
        </p:nvSpPr>
        <p:spPr>
          <a:xfrm>
            <a:off x="457200" y="2743200"/>
            <a:ext cx="8210902" cy="430887"/>
          </a:xfrm>
          <a:prstGeom prst="rect">
            <a:avLst/>
          </a:prstGeom>
          <a:noFill/>
        </p:spPr>
        <p:txBody>
          <a:bodyPr wrap="none" rtlCol="0">
            <a:spAutoFit/>
          </a:bodyPr>
          <a:lstStyle/>
          <a:p>
            <a:r>
              <a:rPr lang="en-US" sz="2200" dirty="0">
                <a:latin typeface="Arial" pitchFamily="34" charset="0"/>
                <a:cs typeface="Arial" pitchFamily="34" charset="0"/>
              </a:rPr>
              <a:t>Dec = (</a:t>
            </a:r>
            <a:r>
              <a:rPr lang="en-US" sz="2200" i="1" dirty="0">
                <a:latin typeface="Arial" pitchFamily="34" charset="0"/>
                <a:cs typeface="Arial" pitchFamily="34" charset="0"/>
              </a:rPr>
              <a:t>D</a:t>
            </a:r>
            <a:r>
              <a:rPr lang="en-US" sz="2200" i="1" baseline="-25000" dirty="0">
                <a:latin typeface="Arial" pitchFamily="34" charset="0"/>
                <a:cs typeface="Arial" pitchFamily="34" charset="0"/>
              </a:rPr>
              <a:t>n</a:t>
            </a:r>
            <a:r>
              <a:rPr lang="en-US" sz="2200" baseline="-25000" dirty="0">
                <a:latin typeface="Arial" pitchFamily="34" charset="0"/>
                <a:cs typeface="Arial" pitchFamily="34" charset="0"/>
              </a:rPr>
              <a:t>-1</a:t>
            </a:r>
            <a:r>
              <a:rPr lang="en-US" sz="2200" dirty="0">
                <a:latin typeface="Arial" pitchFamily="34" charset="0"/>
                <a:cs typeface="Arial" pitchFamily="34" charset="0"/>
              </a:rPr>
              <a:t> x 16</a:t>
            </a:r>
            <a:r>
              <a:rPr lang="en-US" sz="2200" i="1" baseline="30000" dirty="0">
                <a:latin typeface="Arial" pitchFamily="34" charset="0"/>
                <a:cs typeface="Arial" pitchFamily="34" charset="0"/>
              </a:rPr>
              <a:t>n</a:t>
            </a:r>
            <a:r>
              <a:rPr lang="en-US" sz="2200" baseline="30000" dirty="0">
                <a:latin typeface="Arial" pitchFamily="34" charset="0"/>
                <a:cs typeface="Arial" pitchFamily="34" charset="0"/>
              </a:rPr>
              <a:t>-1</a:t>
            </a:r>
            <a:r>
              <a:rPr lang="en-US" sz="2200" dirty="0">
                <a:latin typeface="Arial" pitchFamily="34" charset="0"/>
                <a:cs typeface="Arial" pitchFamily="34" charset="0"/>
              </a:rPr>
              <a:t>) + (</a:t>
            </a:r>
            <a:r>
              <a:rPr lang="en-US" sz="2200" i="1" dirty="0">
                <a:latin typeface="Arial" pitchFamily="34" charset="0"/>
                <a:cs typeface="Arial" pitchFamily="34" charset="0"/>
              </a:rPr>
              <a:t>D</a:t>
            </a:r>
            <a:r>
              <a:rPr lang="en-US" sz="2200" i="1" baseline="-25000" dirty="0">
                <a:latin typeface="Arial" pitchFamily="34" charset="0"/>
                <a:cs typeface="Arial" pitchFamily="34" charset="0"/>
              </a:rPr>
              <a:t>n</a:t>
            </a:r>
            <a:r>
              <a:rPr lang="en-US" sz="2200" baseline="-25000" dirty="0">
                <a:latin typeface="Arial" pitchFamily="34" charset="0"/>
                <a:cs typeface="Arial" pitchFamily="34" charset="0"/>
              </a:rPr>
              <a:t>-2</a:t>
            </a:r>
            <a:r>
              <a:rPr lang="en-US" sz="2200" dirty="0">
                <a:latin typeface="Arial" pitchFamily="34" charset="0"/>
                <a:cs typeface="Arial" pitchFamily="34" charset="0"/>
              </a:rPr>
              <a:t> x 16</a:t>
            </a:r>
            <a:r>
              <a:rPr lang="en-US" sz="2200" i="1" baseline="30000" dirty="0">
                <a:latin typeface="Arial" pitchFamily="34" charset="0"/>
                <a:cs typeface="Arial" pitchFamily="34" charset="0"/>
              </a:rPr>
              <a:t>n</a:t>
            </a:r>
            <a:r>
              <a:rPr lang="en-US" sz="2200" baseline="30000" dirty="0">
                <a:latin typeface="Arial" pitchFamily="34" charset="0"/>
                <a:cs typeface="Arial" pitchFamily="34" charset="0"/>
              </a:rPr>
              <a:t>-2</a:t>
            </a:r>
            <a:r>
              <a:rPr lang="en-US" sz="2200" dirty="0">
                <a:latin typeface="Arial" pitchFamily="34" charset="0"/>
                <a:cs typeface="Arial" pitchFamily="34" charset="0"/>
              </a:rPr>
              <a:t>) + . . . + (</a:t>
            </a:r>
            <a:r>
              <a:rPr lang="en-US" sz="2200" i="1" dirty="0">
                <a:latin typeface="Arial" pitchFamily="34" charset="0"/>
                <a:cs typeface="Arial" pitchFamily="34" charset="0"/>
              </a:rPr>
              <a:t>D</a:t>
            </a:r>
            <a:r>
              <a:rPr lang="en-US" sz="2200" baseline="-25000" dirty="0">
                <a:latin typeface="Arial" pitchFamily="34" charset="0"/>
                <a:cs typeface="Arial" pitchFamily="34" charset="0"/>
              </a:rPr>
              <a:t>1</a:t>
            </a:r>
            <a:r>
              <a:rPr lang="en-US" sz="2200" dirty="0">
                <a:latin typeface="Arial" pitchFamily="34" charset="0"/>
                <a:cs typeface="Arial" pitchFamily="34" charset="0"/>
              </a:rPr>
              <a:t> x 16</a:t>
            </a:r>
            <a:r>
              <a:rPr lang="en-US" sz="2200" baseline="30000" dirty="0">
                <a:latin typeface="Arial" pitchFamily="34" charset="0"/>
                <a:cs typeface="Arial" pitchFamily="34" charset="0"/>
              </a:rPr>
              <a:t>1</a:t>
            </a:r>
            <a:r>
              <a:rPr lang="en-US" sz="2200" dirty="0">
                <a:latin typeface="Arial" pitchFamily="34" charset="0"/>
                <a:cs typeface="Arial" pitchFamily="34" charset="0"/>
              </a:rPr>
              <a:t>) + (</a:t>
            </a:r>
            <a:r>
              <a:rPr lang="en-US" sz="2200" i="1" dirty="0">
                <a:latin typeface="Arial" pitchFamily="34" charset="0"/>
                <a:cs typeface="Arial" pitchFamily="34" charset="0"/>
              </a:rPr>
              <a:t>D</a:t>
            </a:r>
            <a:r>
              <a:rPr lang="en-US" sz="2200" baseline="-25000" dirty="0">
                <a:latin typeface="Arial" pitchFamily="34" charset="0"/>
                <a:cs typeface="Arial" pitchFamily="34" charset="0"/>
              </a:rPr>
              <a:t>0</a:t>
            </a:r>
            <a:r>
              <a:rPr lang="en-US" sz="2200" dirty="0">
                <a:latin typeface="Arial" pitchFamily="34" charset="0"/>
                <a:cs typeface="Arial" pitchFamily="34" charset="0"/>
              </a:rPr>
              <a:t> x 16</a:t>
            </a:r>
            <a:r>
              <a:rPr lang="en-US" sz="2200" baseline="30000" dirty="0">
                <a:latin typeface="Arial" pitchFamily="34" charset="0"/>
                <a:cs typeface="Arial" pitchFamily="34" charset="0"/>
              </a:rPr>
              <a:t>0</a:t>
            </a:r>
            <a:r>
              <a:rPr lang="en-US" sz="2200" dirty="0">
                <a:latin typeface="Arial" pitchFamily="34" charset="0"/>
                <a:cs typeface="Arial" pitchFamily="34" charset="0"/>
              </a:rPr>
              <a:t>)</a:t>
            </a:r>
          </a:p>
        </p:txBody>
      </p:sp>
    </p:spTree>
    <p:extLst>
      <p:ext uri="{BB962C8B-B14F-4D97-AF65-F5344CB8AC3E}">
        <p14:creationId xmlns:p14="http://schemas.microsoft.com/office/powerpoint/2010/main" val="1939869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Decimal to Hexadecimal</a:t>
            </a:r>
          </a:p>
        </p:txBody>
      </p:sp>
      <p:sp>
        <p:nvSpPr>
          <p:cNvPr id="3" name="Content Placeholder 2"/>
          <p:cNvSpPr>
            <a:spLocks noGrp="1"/>
          </p:cNvSpPr>
          <p:nvPr>
            <p:ph idx="1"/>
          </p:nvPr>
        </p:nvSpPr>
        <p:spPr/>
        <p:txBody>
          <a:bodyPr>
            <a:normAutofit fontScale="92500" lnSpcReduction="10000"/>
          </a:bodyPr>
          <a:lstStyle/>
          <a:p>
            <a:pPr>
              <a:lnSpc>
                <a:spcPct val="110000"/>
              </a:lnSpc>
            </a:pPr>
            <a:r>
              <a:rPr lang="en-US" dirty="0"/>
              <a:t>Repeatedly divide the decimal integer by 16 until last quotient is 0</a:t>
            </a:r>
          </a:p>
          <a:p>
            <a:pPr>
              <a:lnSpc>
                <a:spcPct val="110000"/>
              </a:lnSpc>
            </a:pPr>
            <a:r>
              <a:rPr lang="en-US" dirty="0"/>
              <a:t>Each remainder is a hex digit</a:t>
            </a:r>
          </a:p>
          <a:p>
            <a:pPr>
              <a:lnSpc>
                <a:spcPct val="110000"/>
              </a:lnSpc>
            </a:pPr>
            <a:r>
              <a:rPr lang="en-US" dirty="0"/>
              <a:t>First remainder goes at least significant position and last remainder goes at most significant position</a:t>
            </a:r>
          </a:p>
          <a:p>
            <a:pPr>
              <a:lnSpc>
                <a:spcPct val="110000"/>
              </a:lnSpc>
            </a:pPr>
            <a:r>
              <a:rPr lang="en-US" dirty="0"/>
              <a:t>Example</a:t>
            </a:r>
          </a:p>
          <a:p>
            <a:pPr lvl="1">
              <a:lnSpc>
                <a:spcPct val="110000"/>
              </a:lnSpc>
            </a:pPr>
            <a:r>
              <a:rPr lang="en-US" dirty="0"/>
              <a:t>Convert 140 to Hexadecimal</a:t>
            </a:r>
          </a:p>
          <a:p>
            <a:pPr lvl="1">
              <a:lnSpc>
                <a:spcPct val="110000"/>
              </a:lnSpc>
            </a:pPr>
            <a:r>
              <a:rPr lang="en-US" dirty="0"/>
              <a:t>Convert 396 to Hexadecimal</a:t>
            </a:r>
          </a:p>
          <a:p>
            <a:endParaRPr lang="en-US" dirty="0"/>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0A3E2A90-01CA-4B8B-BD4A-CD423E1B531E}" type="slidenum">
              <a:rPr lang="en-US" smtClean="0"/>
              <a:t>38</a:t>
            </a:fld>
            <a:endParaRPr lang="en-US"/>
          </a:p>
        </p:txBody>
      </p:sp>
    </p:spTree>
    <p:extLst>
      <p:ext uri="{BB962C8B-B14F-4D97-AF65-F5344CB8AC3E}">
        <p14:creationId xmlns:p14="http://schemas.microsoft.com/office/powerpoint/2010/main" val="1055466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Practice Problem 1</a:t>
            </a:r>
          </a:p>
        </p:txBody>
      </p:sp>
      <p:sp>
        <p:nvSpPr>
          <p:cNvPr id="3" name="Content Placeholder 2"/>
          <p:cNvSpPr>
            <a:spLocks noGrp="1"/>
          </p:cNvSpPr>
          <p:nvPr>
            <p:ph idx="1"/>
          </p:nvPr>
        </p:nvSpPr>
        <p:spPr/>
        <p:txBody>
          <a:bodyPr>
            <a:normAutofit fontScale="85000" lnSpcReduction="20000"/>
          </a:bodyPr>
          <a:lstStyle/>
          <a:p>
            <a:r>
              <a:rPr lang="en-US" dirty="0"/>
              <a:t>Convert the following numbers to decimal</a:t>
            </a:r>
          </a:p>
          <a:p>
            <a:pPr marL="1028700" lvl="1" indent="-571500">
              <a:buFont typeface="+mj-lt"/>
              <a:buAutoNum type="romanLcPeriod"/>
            </a:pPr>
            <a:r>
              <a:rPr lang="en-US" dirty="0"/>
              <a:t>(123)</a:t>
            </a:r>
            <a:r>
              <a:rPr lang="en-US" baseline="-25000" dirty="0"/>
              <a:t>4</a:t>
            </a:r>
          </a:p>
          <a:p>
            <a:pPr marL="1028700" lvl="1" indent="-571500">
              <a:buFont typeface="+mj-lt"/>
              <a:buAutoNum type="romanLcPeriod"/>
            </a:pPr>
            <a:r>
              <a:rPr lang="en-US" dirty="0"/>
              <a:t>(32401)</a:t>
            </a:r>
            <a:r>
              <a:rPr lang="en-US" baseline="-25000" dirty="0"/>
              <a:t>5</a:t>
            </a:r>
          </a:p>
          <a:p>
            <a:pPr marL="1028700" lvl="1" indent="-571500">
              <a:buFont typeface="+mj-lt"/>
              <a:buAutoNum type="romanLcPeriod"/>
            </a:pPr>
            <a:r>
              <a:rPr lang="en-US" dirty="0"/>
              <a:t>(1100101)</a:t>
            </a:r>
            <a:r>
              <a:rPr lang="en-US" baseline="-25000" dirty="0"/>
              <a:t>2</a:t>
            </a:r>
          </a:p>
          <a:p>
            <a:pPr marL="1028700" lvl="1" indent="-571500">
              <a:buFont typeface="+mj-lt"/>
              <a:buAutoNum type="romanLcPeriod"/>
            </a:pPr>
            <a:endParaRPr lang="en-US" baseline="-25000" dirty="0"/>
          </a:p>
          <a:p>
            <a:r>
              <a:rPr lang="en-US" dirty="0"/>
              <a:t>Convert the following decimals numbers to indicated bases</a:t>
            </a:r>
          </a:p>
          <a:p>
            <a:pPr marL="1028700" lvl="1" indent="-571500">
              <a:buFont typeface="+mj-lt"/>
              <a:buAutoNum type="romanLcPeriod"/>
            </a:pPr>
            <a:r>
              <a:rPr lang="en-US" dirty="0"/>
              <a:t>(1254)</a:t>
            </a:r>
            <a:r>
              <a:rPr lang="en-US" baseline="-25000" dirty="0"/>
              <a:t>10</a:t>
            </a:r>
            <a:r>
              <a:rPr lang="en-US" dirty="0"/>
              <a:t> to base 3</a:t>
            </a:r>
          </a:p>
          <a:p>
            <a:pPr marL="1028700" lvl="1" indent="-571500">
              <a:buFont typeface="+mj-lt"/>
              <a:buAutoNum type="romanLcPeriod"/>
            </a:pPr>
            <a:r>
              <a:rPr lang="en-US" dirty="0"/>
              <a:t>(4096)</a:t>
            </a:r>
            <a:r>
              <a:rPr lang="en-US" baseline="-25000" dirty="0"/>
              <a:t>10</a:t>
            </a:r>
            <a:r>
              <a:rPr lang="en-US" dirty="0"/>
              <a:t> to base 16</a:t>
            </a:r>
          </a:p>
          <a:p>
            <a:pPr marL="1028700" lvl="1" indent="-571500">
              <a:buFont typeface="+mj-lt"/>
              <a:buAutoNum type="romanLcPeriod"/>
            </a:pPr>
            <a:r>
              <a:rPr lang="en-US" dirty="0"/>
              <a:t>(0362)</a:t>
            </a:r>
            <a:r>
              <a:rPr lang="en-US" baseline="-25000" dirty="0"/>
              <a:t>10</a:t>
            </a:r>
            <a:r>
              <a:rPr lang="en-US" dirty="0"/>
              <a:t> to base 8</a:t>
            </a:r>
          </a:p>
          <a:p>
            <a:pPr marL="1028700" lvl="1" indent="-571500">
              <a:buFont typeface="+mj-lt"/>
              <a:buAutoNum type="romanLcPeriod"/>
            </a:pPr>
            <a:endParaRPr lang="en-US" dirty="0"/>
          </a:p>
          <a:p>
            <a:r>
              <a:rPr lang="en-US" dirty="0"/>
              <a:t>Convert (2376)</a:t>
            </a:r>
            <a:r>
              <a:rPr lang="en-US" baseline="-25000" dirty="0"/>
              <a:t>8</a:t>
            </a:r>
            <a:r>
              <a:rPr lang="en-US" dirty="0"/>
              <a:t> to hexadecimal equivalent</a:t>
            </a:r>
          </a:p>
          <a:p>
            <a:endParaRPr lang="en-US" dirty="0"/>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39</a:t>
            </a:fld>
            <a:endParaRPr lang="en-US"/>
          </a:p>
        </p:txBody>
      </p:sp>
    </p:spTree>
    <p:extLst>
      <p:ext uri="{BB962C8B-B14F-4D97-AF65-F5344CB8AC3E}">
        <p14:creationId xmlns:p14="http://schemas.microsoft.com/office/powerpoint/2010/main" val="30156902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Converting Fractions to Decimal</a:t>
            </a:r>
          </a:p>
        </p:txBody>
      </p:sp>
      <p:sp>
        <p:nvSpPr>
          <p:cNvPr id="3" name="Content Placeholder 2"/>
          <p:cNvSpPr>
            <a:spLocks noGrp="1"/>
          </p:cNvSpPr>
          <p:nvPr>
            <p:ph idx="1"/>
          </p:nvPr>
        </p:nvSpPr>
        <p:spPr>
          <a:xfrm>
            <a:off x="457200" y="1600201"/>
            <a:ext cx="8229600" cy="4724399"/>
          </a:xfrm>
        </p:spPr>
        <p:txBody>
          <a:bodyPr>
            <a:normAutofit fontScale="85000" lnSpcReduction="20000"/>
          </a:bodyPr>
          <a:lstStyle/>
          <a:p>
            <a:r>
              <a:rPr lang="en-US" altLang="en-US" dirty="0"/>
              <a:t>In any number system the base is also called the radix, and is represented by r</a:t>
            </a:r>
          </a:p>
          <a:p>
            <a:r>
              <a:rPr lang="en-US" altLang="en-US" dirty="0"/>
              <a:t>We can convert the fractions from any base to decimal by using the following relation</a:t>
            </a:r>
          </a:p>
          <a:p>
            <a:endParaRPr lang="en-US" altLang="en-US" dirty="0"/>
          </a:p>
          <a:p>
            <a:pPr marL="0" indent="0">
              <a:buNone/>
            </a:pPr>
            <a:endParaRPr lang="en-US" altLang="en-US" dirty="0"/>
          </a:p>
          <a:p>
            <a:pPr marL="0" indent="0">
              <a:buNone/>
            </a:pPr>
            <a:r>
              <a:rPr lang="en-US" altLang="en-US" b="1" dirty="0"/>
              <a:t>Example</a:t>
            </a:r>
          </a:p>
          <a:p>
            <a:pPr marL="457200" lvl="1" indent="0">
              <a:buNone/>
            </a:pPr>
            <a:r>
              <a:rPr lang="en-US" altLang="en-US" dirty="0"/>
              <a:t>Convert the following numbers to equivalent decimal numbers</a:t>
            </a:r>
          </a:p>
          <a:p>
            <a:pPr marL="1428750" lvl="2" indent="-571500">
              <a:buFont typeface="+mj-lt"/>
              <a:buAutoNum type="romanLcPeriod"/>
            </a:pPr>
            <a:r>
              <a:rPr lang="en-US" sz="2800" dirty="0"/>
              <a:t>(11010.11)</a:t>
            </a:r>
            <a:r>
              <a:rPr lang="en-US" sz="2800" baseline="-25000" dirty="0"/>
              <a:t>2</a:t>
            </a:r>
          </a:p>
          <a:p>
            <a:pPr marL="1428750" lvl="2" indent="-571500">
              <a:buFont typeface="+mj-lt"/>
              <a:buAutoNum type="romanLcPeriod"/>
            </a:pPr>
            <a:r>
              <a:rPr lang="en-US" sz="2800" dirty="0"/>
              <a:t>(4021.2)</a:t>
            </a:r>
            <a:r>
              <a:rPr lang="en-US" sz="2800" baseline="-25000" dirty="0"/>
              <a:t>5</a:t>
            </a:r>
          </a:p>
          <a:p>
            <a:pPr marL="1428750" lvl="2" indent="-571500">
              <a:buFont typeface="+mj-lt"/>
              <a:buAutoNum type="romanLcPeriod"/>
            </a:pPr>
            <a:r>
              <a:rPr lang="en-US" sz="2800" dirty="0"/>
              <a:t>(127.4)</a:t>
            </a:r>
            <a:r>
              <a:rPr lang="en-US" sz="2800" baseline="-25000" dirty="0"/>
              <a:t>8</a:t>
            </a:r>
            <a:r>
              <a:rPr lang="en-US" altLang="en-US" dirty="0"/>
              <a:t>	</a:t>
            </a:r>
          </a:p>
          <a:p>
            <a:pPr>
              <a:buNone/>
            </a:pPr>
            <a:endParaRPr lang="en-US" altLang="en-US" dirty="0"/>
          </a:p>
          <a:p>
            <a:endParaRPr lang="en-US" dirty="0"/>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40</a:t>
            </a:fld>
            <a:endParaRPr lang="en-US"/>
          </a:p>
        </p:txBody>
      </p:sp>
      <p:sp>
        <p:nvSpPr>
          <p:cNvPr id="7" name="TextBox 6"/>
          <p:cNvSpPr txBox="1"/>
          <p:nvPr/>
        </p:nvSpPr>
        <p:spPr>
          <a:xfrm>
            <a:off x="228600" y="3276600"/>
            <a:ext cx="8686800" cy="430887"/>
          </a:xfrm>
          <a:prstGeom prst="rect">
            <a:avLst/>
          </a:prstGeom>
          <a:noFill/>
        </p:spPr>
        <p:txBody>
          <a:bodyPr wrap="square" rtlCol="0">
            <a:spAutoFit/>
          </a:bodyPr>
          <a:lstStyle/>
          <a:p>
            <a:pPr algn="ctr"/>
            <a:r>
              <a:rPr lang="en-US" altLang="en-US" sz="2200" b="1" dirty="0"/>
              <a:t>Dec = (a</a:t>
            </a:r>
            <a:r>
              <a:rPr lang="en-US" altLang="en-US" sz="2200" b="1" baseline="-25000" dirty="0"/>
              <a:t>n</a:t>
            </a:r>
            <a:r>
              <a:rPr lang="en-US" altLang="en-US" sz="2200" b="1" dirty="0"/>
              <a:t> x </a:t>
            </a:r>
            <a:r>
              <a:rPr lang="en-US" altLang="en-US" sz="2200" b="1" dirty="0" err="1"/>
              <a:t>r</a:t>
            </a:r>
            <a:r>
              <a:rPr lang="en-US" altLang="en-US" sz="2200" b="1" baseline="30000" dirty="0" err="1"/>
              <a:t>n</a:t>
            </a:r>
            <a:r>
              <a:rPr lang="en-US" altLang="en-US" sz="2200" b="1" dirty="0"/>
              <a:t> + a</a:t>
            </a:r>
            <a:r>
              <a:rPr lang="en-US" altLang="en-US" sz="2200" b="1" baseline="-25000" dirty="0"/>
              <a:t>n-1</a:t>
            </a:r>
            <a:r>
              <a:rPr lang="en-US" altLang="en-US" sz="2200" b="1" dirty="0"/>
              <a:t> x r</a:t>
            </a:r>
            <a:r>
              <a:rPr lang="en-US" altLang="en-US" sz="2200" b="1" baseline="30000" dirty="0"/>
              <a:t>n-1</a:t>
            </a:r>
            <a:r>
              <a:rPr lang="en-US" altLang="en-US" sz="2200" b="1" dirty="0"/>
              <a:t> + … + a</a:t>
            </a:r>
            <a:r>
              <a:rPr lang="en-US" altLang="en-US" sz="2200" b="1" baseline="-25000" dirty="0"/>
              <a:t>1</a:t>
            </a:r>
            <a:r>
              <a:rPr lang="en-US" altLang="en-US" sz="2200" b="1" dirty="0"/>
              <a:t> x r</a:t>
            </a:r>
            <a:r>
              <a:rPr lang="en-US" altLang="en-US" sz="2200" b="1" baseline="30000" dirty="0"/>
              <a:t>1</a:t>
            </a:r>
            <a:r>
              <a:rPr lang="en-US" altLang="en-US" sz="2200" b="1" dirty="0"/>
              <a:t> + a</a:t>
            </a:r>
            <a:r>
              <a:rPr lang="en-US" altLang="en-US" sz="2200" b="1" baseline="-25000" dirty="0"/>
              <a:t>0</a:t>
            </a:r>
            <a:r>
              <a:rPr lang="en-US" altLang="en-US" sz="2200" b="1" dirty="0"/>
              <a:t> x r</a:t>
            </a:r>
            <a:r>
              <a:rPr lang="en-US" altLang="en-US" sz="2200" b="1" baseline="30000" dirty="0"/>
              <a:t>0</a:t>
            </a:r>
            <a:r>
              <a:rPr lang="en-US" altLang="en-US" sz="2200" b="1" dirty="0"/>
              <a:t>) . (a</a:t>
            </a:r>
            <a:r>
              <a:rPr lang="en-US" altLang="en-US" sz="2200" b="1" baseline="-25000" dirty="0"/>
              <a:t>-1</a:t>
            </a:r>
            <a:r>
              <a:rPr lang="en-US" altLang="en-US" sz="2200" b="1" dirty="0"/>
              <a:t> x r</a:t>
            </a:r>
            <a:r>
              <a:rPr lang="en-US" altLang="en-US" sz="2200" b="1" baseline="30000" dirty="0"/>
              <a:t>-1</a:t>
            </a:r>
            <a:r>
              <a:rPr lang="en-US" altLang="en-US" sz="2200" b="1" dirty="0"/>
              <a:t> + a</a:t>
            </a:r>
            <a:r>
              <a:rPr lang="en-US" altLang="en-US" sz="2200" b="1" baseline="-25000" dirty="0"/>
              <a:t>-2</a:t>
            </a:r>
            <a:r>
              <a:rPr lang="en-US" altLang="en-US" sz="2200" b="1" dirty="0"/>
              <a:t> x r</a:t>
            </a:r>
            <a:r>
              <a:rPr lang="en-US" altLang="en-US" sz="2200" b="1" baseline="30000" dirty="0"/>
              <a:t>-2</a:t>
            </a:r>
            <a:r>
              <a:rPr lang="en-US" altLang="en-US" sz="2200" b="1" dirty="0"/>
              <a:t> + ….)</a:t>
            </a:r>
            <a:endParaRPr lang="en-US" sz="2200" dirty="0"/>
          </a:p>
        </p:txBody>
      </p:sp>
    </p:spTree>
    <p:extLst>
      <p:ext uri="{BB962C8B-B14F-4D97-AF65-F5344CB8AC3E}">
        <p14:creationId xmlns:p14="http://schemas.microsoft.com/office/powerpoint/2010/main" val="3317861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Converting Fractions from Decimal to Other Bases</a:t>
            </a:r>
          </a:p>
        </p:txBody>
      </p:sp>
      <p:sp>
        <p:nvSpPr>
          <p:cNvPr id="3" name="Content Placeholder 2"/>
          <p:cNvSpPr>
            <a:spLocks noGrp="1"/>
          </p:cNvSpPr>
          <p:nvPr>
            <p:ph idx="1"/>
          </p:nvPr>
        </p:nvSpPr>
        <p:spPr/>
        <p:txBody>
          <a:bodyPr>
            <a:normAutofit fontScale="92500" lnSpcReduction="20000"/>
          </a:bodyPr>
          <a:lstStyle/>
          <a:p>
            <a:r>
              <a:rPr lang="en-US" dirty="0"/>
              <a:t>Multiply the fractional part by radix (r), the integer part will be the first digit</a:t>
            </a:r>
          </a:p>
          <a:p>
            <a:r>
              <a:rPr lang="en-US" dirty="0"/>
              <a:t>Take the fractional part of the immediate product and multiply it by r again and note the next digit</a:t>
            </a:r>
          </a:p>
          <a:p>
            <a:r>
              <a:rPr lang="en-US" dirty="0"/>
              <a:t>Continue this process until the fractional part of the subsequent product is 0 or starts to repeat itself</a:t>
            </a:r>
          </a:p>
          <a:p>
            <a:r>
              <a:rPr lang="en-US" dirty="0"/>
              <a:t>For example lets convert 0.5625 to binary</a:t>
            </a:r>
          </a:p>
          <a:p>
            <a:pPr lvl="1"/>
            <a:r>
              <a:rPr lang="en-US" dirty="0"/>
              <a:t>The answer is (0.1001)</a:t>
            </a:r>
            <a:r>
              <a:rPr lang="en-US" baseline="-25000" dirty="0"/>
              <a:t>2</a:t>
            </a:r>
          </a:p>
          <a:p>
            <a:r>
              <a:rPr lang="en-US" dirty="0"/>
              <a:t>If there is an integer part then convert it separately by using the division technique</a:t>
            </a:r>
          </a:p>
          <a:p>
            <a:endParaRPr lang="en-US" dirty="0"/>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41</a:t>
            </a:fld>
            <a:endParaRPr lang="en-US"/>
          </a:p>
        </p:txBody>
      </p:sp>
    </p:spTree>
    <p:extLst>
      <p:ext uri="{BB962C8B-B14F-4D97-AF65-F5344CB8AC3E}">
        <p14:creationId xmlns:p14="http://schemas.microsoft.com/office/powerpoint/2010/main" val="979295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Practice Problem 2</a:t>
            </a:r>
          </a:p>
        </p:txBody>
      </p:sp>
      <p:sp>
        <p:nvSpPr>
          <p:cNvPr id="3" name="Content Placeholder 2"/>
          <p:cNvSpPr>
            <a:spLocks noGrp="1"/>
          </p:cNvSpPr>
          <p:nvPr>
            <p:ph idx="1"/>
          </p:nvPr>
        </p:nvSpPr>
        <p:spPr/>
        <p:txBody>
          <a:bodyPr>
            <a:normAutofit lnSpcReduction="10000"/>
          </a:bodyPr>
          <a:lstStyle/>
          <a:p>
            <a:r>
              <a:rPr lang="en-US" dirty="0"/>
              <a:t>Carry out the following conversions</a:t>
            </a:r>
          </a:p>
          <a:p>
            <a:pPr marL="1028700" lvl="1" indent="-571500">
              <a:buFont typeface="+mj-lt"/>
              <a:buAutoNum type="romanLcPeriod"/>
            </a:pPr>
            <a:r>
              <a:rPr lang="en-US" dirty="0"/>
              <a:t>0.513 to Octal</a:t>
            </a:r>
          </a:p>
          <a:p>
            <a:pPr marL="1028700" lvl="1" indent="-571500">
              <a:buFont typeface="+mj-lt"/>
              <a:buAutoNum type="romanLcPeriod"/>
            </a:pPr>
            <a:r>
              <a:rPr lang="en-US" dirty="0"/>
              <a:t>41.6875 to binary</a:t>
            </a:r>
          </a:p>
          <a:p>
            <a:pPr marL="1028700" lvl="1" indent="-571500">
              <a:buFont typeface="+mj-lt"/>
              <a:buAutoNum type="romanLcPeriod"/>
            </a:pPr>
            <a:r>
              <a:rPr lang="en-US" dirty="0"/>
              <a:t>(10010.100101)</a:t>
            </a:r>
            <a:r>
              <a:rPr lang="en-US" baseline="-25000" dirty="0"/>
              <a:t>2</a:t>
            </a:r>
            <a:r>
              <a:rPr lang="en-US" dirty="0"/>
              <a:t> to decimal</a:t>
            </a:r>
          </a:p>
          <a:p>
            <a:pPr marL="1028700" lvl="1" indent="-571500">
              <a:buFont typeface="+mj-lt"/>
              <a:buAutoNum type="romanLcPeriod"/>
            </a:pPr>
            <a:r>
              <a:rPr lang="en-US" dirty="0"/>
              <a:t>153.125 to octal</a:t>
            </a:r>
          </a:p>
          <a:p>
            <a:pPr marL="1028700" lvl="1" indent="-571500">
              <a:buFont typeface="+mj-lt"/>
              <a:buAutoNum type="romanLcPeriod"/>
            </a:pPr>
            <a:r>
              <a:rPr lang="en-US" dirty="0"/>
              <a:t>(10110001101011  .  11110000011)</a:t>
            </a:r>
            <a:r>
              <a:rPr lang="en-US" baseline="-25000" dirty="0"/>
              <a:t>2</a:t>
            </a:r>
            <a:r>
              <a:rPr lang="en-US" dirty="0"/>
              <a:t> to Octal</a:t>
            </a:r>
          </a:p>
          <a:p>
            <a:pPr marL="1028700" lvl="1" indent="-571500">
              <a:buFont typeface="+mj-lt"/>
              <a:buAutoNum type="romanLcPeriod"/>
            </a:pPr>
            <a:r>
              <a:rPr lang="en-US" dirty="0"/>
              <a:t>(306.D)</a:t>
            </a:r>
            <a:r>
              <a:rPr lang="en-US" baseline="-25000" dirty="0"/>
              <a:t>16</a:t>
            </a:r>
            <a:r>
              <a:rPr lang="en-US" dirty="0"/>
              <a:t> to binary</a:t>
            </a:r>
          </a:p>
          <a:p>
            <a:pPr marL="1028700" lvl="1" indent="-571500">
              <a:buFont typeface="+mj-lt"/>
              <a:buAutoNum type="romanLcPeriod"/>
            </a:pPr>
            <a:r>
              <a:rPr lang="en-US" dirty="0"/>
              <a:t>(673.124)</a:t>
            </a:r>
            <a:r>
              <a:rPr lang="en-US" baseline="-25000" dirty="0"/>
              <a:t>8</a:t>
            </a:r>
            <a:r>
              <a:rPr lang="en-US" dirty="0"/>
              <a:t> to binary</a:t>
            </a:r>
          </a:p>
          <a:p>
            <a:pPr marL="1028700" lvl="1" indent="-571500">
              <a:buFont typeface="+mj-lt"/>
              <a:buAutoNum type="romanLcPeriod"/>
            </a:pPr>
            <a:r>
              <a:rPr lang="en-US" dirty="0"/>
              <a:t>(10110001101011  .  1111001)</a:t>
            </a:r>
            <a:r>
              <a:rPr lang="en-US" baseline="-25000" dirty="0"/>
              <a:t>2</a:t>
            </a:r>
            <a:r>
              <a:rPr lang="en-US" dirty="0"/>
              <a:t> to Hexadecimal</a:t>
            </a:r>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42</a:t>
            </a:fld>
            <a:endParaRPr lang="en-US"/>
          </a:p>
        </p:txBody>
      </p:sp>
    </p:spTree>
    <p:extLst>
      <p:ext uri="{BB962C8B-B14F-4D97-AF65-F5344CB8AC3E}">
        <p14:creationId xmlns:p14="http://schemas.microsoft.com/office/powerpoint/2010/main" val="72495689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ECF0D82C-5633-93E3-FF35-4F3E69FBAF78}"/>
              </a:ext>
            </a:extLst>
          </p:cNvPr>
          <p:cNvSpPr>
            <a:spLocks noGrp="1" noChangeArrowheads="1"/>
          </p:cNvSpPr>
          <p:nvPr>
            <p:ph type="title"/>
          </p:nvPr>
        </p:nvSpPr>
        <p:spPr/>
        <p:txBody>
          <a:bodyPr/>
          <a:lstStyle/>
          <a:p>
            <a:pPr eaLnBrk="1" hangingPunct="1"/>
            <a:r>
              <a:rPr lang="en-US" altLang="en-US" sz="3200">
                <a:latin typeface="Arial" panose="020B0604020202020204" pitchFamily="34" charset="0"/>
                <a:cs typeface="Arial" panose="020B0604020202020204" pitchFamily="34" charset="0"/>
              </a:rPr>
              <a:t>Binary Arithmetic</a:t>
            </a:r>
          </a:p>
        </p:txBody>
      </p:sp>
      <p:sp>
        <p:nvSpPr>
          <p:cNvPr id="27651" name="Rectangle 3">
            <a:extLst>
              <a:ext uri="{FF2B5EF4-FFF2-40B4-BE49-F238E27FC236}">
                <a16:creationId xmlns:a16="http://schemas.microsoft.com/office/drawing/2014/main" id="{D6BE7F87-A050-5661-0CA6-1F63DE8F32B4}"/>
              </a:ext>
            </a:extLst>
          </p:cNvPr>
          <p:cNvSpPr>
            <a:spLocks noGrp="1" noChangeArrowheads="1"/>
          </p:cNvSpPr>
          <p:nvPr>
            <p:ph idx="1"/>
          </p:nvPr>
        </p:nvSpPr>
        <p:spPr/>
        <p:txBody>
          <a:bodyPr/>
          <a:lstStyle/>
          <a:p>
            <a:pPr eaLnBrk="1" hangingPunct="1"/>
            <a:r>
              <a:rPr lang="en-US" altLang="en-US" sz="2800"/>
              <a:t>Binary Addition</a:t>
            </a:r>
          </a:p>
          <a:p>
            <a:pPr eaLnBrk="1" hangingPunct="1"/>
            <a:r>
              <a:rPr lang="en-US" altLang="en-US" sz="2800"/>
              <a:t>Binary Subtraction</a:t>
            </a:r>
          </a:p>
          <a:p>
            <a:pPr eaLnBrk="1" hangingPunct="1"/>
            <a:r>
              <a:rPr lang="en-US" altLang="en-US" sz="2800"/>
              <a:t>Binary Multiplication</a:t>
            </a:r>
          </a:p>
          <a:p>
            <a:pPr eaLnBrk="1" hangingPunct="1"/>
            <a:r>
              <a:rPr lang="en-US" altLang="en-US" sz="2800"/>
              <a:t>Binary Division</a:t>
            </a:r>
          </a:p>
        </p:txBody>
      </p:sp>
    </p:spTree>
  </p:cSld>
  <p:clrMapOvr>
    <a:masterClrMapping/>
  </p:clrMapOvr>
  <p:transition advTm="47440"/>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EA1CB8DC-88CC-FAFF-5F08-64CFEC5BBFC4}"/>
              </a:ext>
            </a:extLst>
          </p:cNvPr>
          <p:cNvSpPr>
            <a:spLocks noGrp="1" noChangeArrowheads="1"/>
          </p:cNvSpPr>
          <p:nvPr>
            <p:ph type="title"/>
          </p:nvPr>
        </p:nvSpPr>
        <p:spPr/>
        <p:txBody>
          <a:bodyPr/>
          <a:lstStyle/>
          <a:p>
            <a:pPr eaLnBrk="1" hangingPunct="1"/>
            <a:r>
              <a:rPr lang="en-US" altLang="en-US" sz="3800">
                <a:latin typeface="Arial" panose="020B0604020202020204" pitchFamily="34" charset="0"/>
                <a:cs typeface="Arial" panose="020B0604020202020204" pitchFamily="34" charset="0"/>
              </a:rPr>
              <a:t>Binary Addition</a:t>
            </a:r>
          </a:p>
        </p:txBody>
      </p:sp>
      <p:sp>
        <p:nvSpPr>
          <p:cNvPr id="29699" name="Rectangle 3">
            <a:extLst>
              <a:ext uri="{FF2B5EF4-FFF2-40B4-BE49-F238E27FC236}">
                <a16:creationId xmlns:a16="http://schemas.microsoft.com/office/drawing/2014/main" id="{F8FFEB5D-CE9C-52E5-383B-FAA98F657196}"/>
              </a:ext>
            </a:extLst>
          </p:cNvPr>
          <p:cNvSpPr>
            <a:spLocks noGrp="1" noChangeArrowheads="1"/>
          </p:cNvSpPr>
          <p:nvPr>
            <p:ph type="body" sz="half" idx="1"/>
          </p:nvPr>
        </p:nvSpPr>
        <p:spPr>
          <a:xfrm>
            <a:off x="457200" y="1600200"/>
            <a:ext cx="8153400" cy="685800"/>
          </a:xfrm>
        </p:spPr>
        <p:txBody>
          <a:bodyPr/>
          <a:lstStyle/>
          <a:p>
            <a:pPr eaLnBrk="1" hangingPunct="1"/>
            <a:r>
              <a:rPr lang="en-US" altLang="en-US" sz="2800"/>
              <a:t>Four Basic rules for binary addition</a:t>
            </a:r>
          </a:p>
        </p:txBody>
      </p:sp>
      <p:graphicFrame>
        <p:nvGraphicFramePr>
          <p:cNvPr id="139399" name="Group 135">
            <a:extLst>
              <a:ext uri="{FF2B5EF4-FFF2-40B4-BE49-F238E27FC236}">
                <a16:creationId xmlns:a16="http://schemas.microsoft.com/office/drawing/2014/main" id="{814A3E3D-FC29-0A65-2712-4C0FA21748A7}"/>
              </a:ext>
            </a:extLst>
          </p:cNvPr>
          <p:cNvGraphicFramePr>
            <a:graphicFrameLocks noGrp="1"/>
          </p:cNvGraphicFramePr>
          <p:nvPr>
            <p:ph sz="half" idx="2"/>
          </p:nvPr>
        </p:nvGraphicFramePr>
        <p:xfrm>
          <a:off x="914400" y="2438400"/>
          <a:ext cx="7239000" cy="2895600"/>
        </p:xfrm>
        <a:graphic>
          <a:graphicData uri="http://schemas.openxmlformats.org/drawingml/2006/table">
            <a:tbl>
              <a:tblPr/>
              <a:tblGrid>
                <a:gridCol w="1741488">
                  <a:extLst>
                    <a:ext uri="{9D8B030D-6E8A-4147-A177-3AD203B41FA5}">
                      <a16:colId xmlns:a16="http://schemas.microsoft.com/office/drawing/2014/main" val="20000"/>
                    </a:ext>
                  </a:extLst>
                </a:gridCol>
                <a:gridCol w="1833562">
                  <a:extLst>
                    <a:ext uri="{9D8B030D-6E8A-4147-A177-3AD203B41FA5}">
                      <a16:colId xmlns:a16="http://schemas.microsoft.com/office/drawing/2014/main" val="20001"/>
                    </a:ext>
                  </a:extLst>
                </a:gridCol>
                <a:gridCol w="1830388">
                  <a:extLst>
                    <a:ext uri="{9D8B030D-6E8A-4147-A177-3AD203B41FA5}">
                      <a16:colId xmlns:a16="http://schemas.microsoft.com/office/drawing/2014/main" val="20002"/>
                    </a:ext>
                  </a:extLst>
                </a:gridCol>
                <a:gridCol w="1833562">
                  <a:extLst>
                    <a:ext uri="{9D8B030D-6E8A-4147-A177-3AD203B41FA5}">
                      <a16:colId xmlns:a16="http://schemas.microsoft.com/office/drawing/2014/main" val="20003"/>
                    </a:ext>
                  </a:extLst>
                </a:gridCol>
              </a:tblGrid>
              <a:tr h="304800">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r>
                        <a:rPr kumimoji="0" lang="en-GB" sz="3200" b="0" i="0" u="none" strike="noStrike" cap="none" normalizeH="0" baseline="30000">
                          <a:ln>
                            <a:noFill/>
                          </a:ln>
                          <a:solidFill>
                            <a:schemeClr val="tx1"/>
                          </a:solidFill>
                          <a:effectLst/>
                          <a:latin typeface="Arial" pitchFamily="34" charset="0"/>
                          <a:cs typeface="Times New Roman" pitchFamily="18" charset="0"/>
                        </a:rPr>
                        <a:t>st</a:t>
                      </a:r>
                      <a:r>
                        <a:rPr kumimoji="0" lang="en-GB" sz="3200" b="0" i="0" u="none" strike="noStrike" cap="none" normalizeH="0" baseline="0">
                          <a:ln>
                            <a:noFill/>
                          </a:ln>
                          <a:solidFill>
                            <a:schemeClr val="tx1"/>
                          </a:solidFill>
                          <a:effectLst/>
                          <a:latin typeface="Arial" pitchFamily="34" charset="0"/>
                          <a:cs typeface="Times New Roman" pitchFamily="18" charset="0"/>
                        </a:rPr>
                        <a:t> digit</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2</a:t>
                      </a:r>
                      <a:r>
                        <a:rPr kumimoji="0" lang="en-GB" sz="3200" b="0" i="0" u="none" strike="noStrike" cap="none" normalizeH="0" baseline="30000">
                          <a:ln>
                            <a:noFill/>
                          </a:ln>
                          <a:solidFill>
                            <a:schemeClr val="tx1"/>
                          </a:solidFill>
                          <a:effectLst/>
                          <a:latin typeface="Arial" pitchFamily="34" charset="0"/>
                          <a:cs typeface="Times New Roman" pitchFamily="18" charset="0"/>
                        </a:rPr>
                        <a:t>nd</a:t>
                      </a:r>
                      <a:r>
                        <a:rPr kumimoji="0" lang="en-GB" sz="3200" b="0" i="0" u="none" strike="noStrike" cap="none" normalizeH="0" baseline="0">
                          <a:ln>
                            <a:noFill/>
                          </a:ln>
                          <a:solidFill>
                            <a:schemeClr val="tx1"/>
                          </a:solidFill>
                          <a:effectLst/>
                          <a:latin typeface="Arial" pitchFamily="34" charset="0"/>
                          <a:cs typeface="Times New Roman" pitchFamily="18" charset="0"/>
                        </a:rPr>
                        <a:t>  digit</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Sum </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Carry</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04800">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04800">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04800">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04800">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29732" name="Rectangle 136">
            <a:extLst>
              <a:ext uri="{FF2B5EF4-FFF2-40B4-BE49-F238E27FC236}">
                <a16:creationId xmlns:a16="http://schemas.microsoft.com/office/drawing/2014/main" id="{8F1EB473-CB76-1BCE-8466-EDDFCB0E9858}"/>
              </a:ext>
            </a:extLst>
          </p:cNvPr>
          <p:cNvSpPr>
            <a:spLocks noChangeArrowheads="1"/>
          </p:cNvSpPr>
          <p:nvPr/>
        </p:nvSpPr>
        <p:spPr bwMode="auto">
          <a:xfrm>
            <a:off x="609600" y="5638800"/>
            <a:ext cx="81534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buClr>
                <a:schemeClr val="hlink"/>
              </a:buClr>
              <a:buSzPct val="60000"/>
              <a:buFont typeface="Wingdings" panose="05000000000000000000" pitchFamily="2" charset="2"/>
              <a:buChar char="n"/>
            </a:pPr>
            <a:r>
              <a:rPr lang="en-US" altLang="en-US" sz="2800">
                <a:latin typeface="Arial" panose="020B0604020202020204" pitchFamily="34" charset="0"/>
              </a:rPr>
              <a:t>Addition of multiple binary numbers</a:t>
            </a:r>
          </a:p>
        </p:txBody>
      </p:sp>
    </p:spTree>
  </p:cSld>
  <p:clrMapOvr>
    <a:masterClrMapping/>
  </p:clrMapOvr>
  <p:transition advTm="126672"/>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F4165EC2-E6C3-A8B3-1C82-33D95E639C76}"/>
              </a:ext>
            </a:extLst>
          </p:cNvPr>
          <p:cNvSpPr>
            <a:spLocks noGrp="1" noChangeArrowheads="1"/>
          </p:cNvSpPr>
          <p:nvPr>
            <p:ph type="title"/>
          </p:nvPr>
        </p:nvSpPr>
        <p:spPr/>
        <p:txBody>
          <a:bodyPr/>
          <a:lstStyle/>
          <a:p>
            <a:pPr eaLnBrk="1" hangingPunct="1"/>
            <a:r>
              <a:rPr lang="en-US" altLang="en-US" sz="3200">
                <a:latin typeface="Arial" panose="020B0604020202020204" pitchFamily="34" charset="0"/>
                <a:cs typeface="Arial" panose="020B0604020202020204" pitchFamily="34" charset="0"/>
              </a:rPr>
              <a:t>Binary Addition</a:t>
            </a:r>
          </a:p>
        </p:txBody>
      </p:sp>
      <p:graphicFrame>
        <p:nvGraphicFramePr>
          <p:cNvPr id="142602" name="Group 266">
            <a:extLst>
              <a:ext uri="{FF2B5EF4-FFF2-40B4-BE49-F238E27FC236}">
                <a16:creationId xmlns:a16="http://schemas.microsoft.com/office/drawing/2014/main" id="{925B417C-3328-635B-D29A-90E9B7F471E7}"/>
              </a:ext>
            </a:extLst>
          </p:cNvPr>
          <p:cNvGraphicFramePr>
            <a:graphicFrameLocks noGrp="1"/>
          </p:cNvGraphicFramePr>
          <p:nvPr>
            <p:ph type="tbl" idx="1"/>
          </p:nvPr>
        </p:nvGraphicFramePr>
        <p:xfrm>
          <a:off x="457200" y="2133600"/>
          <a:ext cx="8229600" cy="4256090"/>
        </p:xfrm>
        <a:graphic>
          <a:graphicData uri="http://schemas.openxmlformats.org/drawingml/2006/table">
            <a:tbl>
              <a:tblPr/>
              <a:tblGrid>
                <a:gridCol w="23622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gridCol w="1143000">
                  <a:extLst>
                    <a:ext uri="{9D8B030D-6E8A-4147-A177-3AD203B41FA5}">
                      <a16:colId xmlns:a16="http://schemas.microsoft.com/office/drawing/2014/main" val="20004"/>
                    </a:ext>
                  </a:extLst>
                </a:gridCol>
                <a:gridCol w="1143000">
                  <a:extLst>
                    <a:ext uri="{9D8B030D-6E8A-4147-A177-3AD203B41FA5}">
                      <a16:colId xmlns:a16="http://schemas.microsoft.com/office/drawing/2014/main" val="20005"/>
                    </a:ext>
                  </a:extLst>
                </a:gridCol>
              </a:tblGrid>
              <a:tr h="762000">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Carry</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endParaRPr kumimoji="0" lang="en-US"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endParaRPr kumimoji="0" lang="en-US"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47713">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r>
                        <a:rPr kumimoji="0" lang="en-GB" sz="3200" b="0" i="0" u="none" strike="noStrike" cap="none" normalizeH="0" baseline="30000">
                          <a:ln>
                            <a:noFill/>
                          </a:ln>
                          <a:solidFill>
                            <a:schemeClr val="tx1"/>
                          </a:solidFill>
                          <a:effectLst/>
                          <a:latin typeface="Arial" pitchFamily="34" charset="0"/>
                          <a:cs typeface="Times New Roman" pitchFamily="18" charset="0"/>
                        </a:rPr>
                        <a:t>st</a:t>
                      </a:r>
                      <a:r>
                        <a:rPr kumimoji="0" lang="en-GB" sz="3200" b="0" i="0" u="none" strike="noStrike" cap="none" normalizeH="0" baseline="0">
                          <a:ln>
                            <a:noFill/>
                          </a:ln>
                          <a:solidFill>
                            <a:schemeClr val="tx1"/>
                          </a:solidFill>
                          <a:effectLst/>
                          <a:latin typeface="Arial" pitchFamily="34" charset="0"/>
                          <a:cs typeface="Times New Roman" pitchFamily="18" charset="0"/>
                        </a:rPr>
                        <a:t> Number</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endParaRPr kumimoji="0" lang="en-US"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00088">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2</a:t>
                      </a:r>
                      <a:r>
                        <a:rPr kumimoji="0" lang="en-GB" sz="3200" b="0" i="0" u="none" strike="noStrike" cap="none" normalizeH="0" baseline="30000">
                          <a:ln>
                            <a:noFill/>
                          </a:ln>
                          <a:solidFill>
                            <a:schemeClr val="tx1"/>
                          </a:solidFill>
                          <a:effectLst/>
                          <a:latin typeface="Arial" pitchFamily="34" charset="0"/>
                          <a:cs typeface="Times New Roman" pitchFamily="18" charset="0"/>
                        </a:rPr>
                        <a:t>nd</a:t>
                      </a:r>
                      <a:r>
                        <a:rPr kumimoji="0" lang="en-GB" sz="3200" b="0" i="0" u="none" strike="noStrike" cap="none" normalizeH="0" baseline="0">
                          <a:ln>
                            <a:noFill/>
                          </a:ln>
                          <a:solidFill>
                            <a:schemeClr val="tx1"/>
                          </a:solidFill>
                          <a:effectLst/>
                          <a:latin typeface="Arial" pitchFamily="34" charset="0"/>
                          <a:cs typeface="Times New Roman" pitchFamily="18" charset="0"/>
                        </a:rPr>
                        <a:t> Number</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endParaRPr kumimoji="0" lang="en-US"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endParaRPr kumimoji="0" lang="en-US"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12788">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3</a:t>
                      </a:r>
                      <a:r>
                        <a:rPr kumimoji="0" lang="en-GB" sz="3200" b="0" i="0" u="none" strike="noStrike" cap="none" normalizeH="0" baseline="30000">
                          <a:ln>
                            <a:noFill/>
                          </a:ln>
                          <a:solidFill>
                            <a:schemeClr val="tx1"/>
                          </a:solidFill>
                          <a:effectLst/>
                          <a:latin typeface="Arial" pitchFamily="34" charset="0"/>
                          <a:cs typeface="Times New Roman" pitchFamily="18" charset="0"/>
                        </a:rPr>
                        <a:t>rd</a:t>
                      </a:r>
                      <a:r>
                        <a:rPr kumimoji="0" lang="en-GB" sz="3200" b="0" i="0" u="none" strike="noStrike" cap="none" normalizeH="0" baseline="0">
                          <a:ln>
                            <a:noFill/>
                          </a:ln>
                          <a:solidFill>
                            <a:schemeClr val="tx1"/>
                          </a:solidFill>
                          <a:effectLst/>
                          <a:latin typeface="Arial" pitchFamily="34" charset="0"/>
                          <a:cs typeface="Times New Roman" pitchFamily="18" charset="0"/>
                        </a:rPr>
                        <a:t> Number</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endParaRPr kumimoji="0" lang="en-US"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731838">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4</a:t>
                      </a:r>
                      <a:r>
                        <a:rPr kumimoji="0" lang="en-GB" sz="3200" b="0" i="0" u="none" strike="noStrike" cap="none" normalizeH="0" baseline="30000">
                          <a:ln>
                            <a:noFill/>
                          </a:ln>
                          <a:solidFill>
                            <a:schemeClr val="tx1"/>
                          </a:solidFill>
                          <a:effectLst/>
                          <a:latin typeface="Arial" pitchFamily="34" charset="0"/>
                          <a:cs typeface="Times New Roman" pitchFamily="18" charset="0"/>
                        </a:rPr>
                        <a:t>th</a:t>
                      </a:r>
                      <a:r>
                        <a:rPr kumimoji="0" lang="en-GB" sz="3200" b="0" i="0" u="none" strike="noStrike" cap="none" normalizeH="0" baseline="0">
                          <a:ln>
                            <a:noFill/>
                          </a:ln>
                          <a:solidFill>
                            <a:schemeClr val="tx1"/>
                          </a:solidFill>
                          <a:effectLst/>
                          <a:latin typeface="Arial" pitchFamily="34" charset="0"/>
                          <a:cs typeface="Times New Roman" pitchFamily="18" charset="0"/>
                        </a:rPr>
                        <a:t> Number</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endParaRPr kumimoji="0" lang="en-US"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endParaRPr kumimoji="0" lang="en-US"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endParaRPr kumimoji="0" lang="en-US"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601663">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Result</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cSld>
  <p:clrMapOvr>
    <a:masterClrMapping/>
  </p:clrMapOvr>
  <p:transition advTm="189472"/>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B127A8DC-ACED-2690-B862-38C99FCA1CCE}"/>
              </a:ext>
            </a:extLst>
          </p:cNvPr>
          <p:cNvSpPr>
            <a:spLocks noGrp="1" noChangeArrowheads="1"/>
          </p:cNvSpPr>
          <p:nvPr>
            <p:ph type="title"/>
          </p:nvPr>
        </p:nvSpPr>
        <p:spPr/>
        <p:txBody>
          <a:bodyPr/>
          <a:lstStyle/>
          <a:p>
            <a:pPr eaLnBrk="1" hangingPunct="1"/>
            <a:r>
              <a:rPr lang="en-US" altLang="en-US" sz="3200">
                <a:latin typeface="Arial" panose="020B0604020202020204" pitchFamily="34" charset="0"/>
                <a:cs typeface="Arial" panose="020B0604020202020204" pitchFamily="34" charset="0"/>
              </a:rPr>
              <a:t>Binary Subtraction</a:t>
            </a:r>
          </a:p>
        </p:txBody>
      </p:sp>
      <p:sp>
        <p:nvSpPr>
          <p:cNvPr id="33795" name="Rectangle 3">
            <a:extLst>
              <a:ext uri="{FF2B5EF4-FFF2-40B4-BE49-F238E27FC236}">
                <a16:creationId xmlns:a16="http://schemas.microsoft.com/office/drawing/2014/main" id="{DA94243D-D4B4-6E3F-AC4A-F5828D9D1609}"/>
              </a:ext>
            </a:extLst>
          </p:cNvPr>
          <p:cNvSpPr>
            <a:spLocks noGrp="1" noChangeArrowheads="1"/>
          </p:cNvSpPr>
          <p:nvPr>
            <p:ph type="body" sz="half" idx="1"/>
          </p:nvPr>
        </p:nvSpPr>
        <p:spPr>
          <a:xfrm>
            <a:off x="457200" y="1600200"/>
            <a:ext cx="8153400" cy="685800"/>
          </a:xfrm>
        </p:spPr>
        <p:txBody>
          <a:bodyPr/>
          <a:lstStyle/>
          <a:p>
            <a:pPr eaLnBrk="1" hangingPunct="1"/>
            <a:r>
              <a:rPr lang="en-US" altLang="en-US" sz="2800"/>
              <a:t>Four Basic rules for binary subtraction</a:t>
            </a:r>
          </a:p>
        </p:txBody>
      </p:sp>
      <p:graphicFrame>
        <p:nvGraphicFramePr>
          <p:cNvPr id="146470" name="Group 38">
            <a:extLst>
              <a:ext uri="{FF2B5EF4-FFF2-40B4-BE49-F238E27FC236}">
                <a16:creationId xmlns:a16="http://schemas.microsoft.com/office/drawing/2014/main" id="{4A1DBD2C-0359-CBE5-80ED-E32B8CC48B7B}"/>
              </a:ext>
            </a:extLst>
          </p:cNvPr>
          <p:cNvGraphicFramePr>
            <a:graphicFrameLocks noGrp="1"/>
          </p:cNvGraphicFramePr>
          <p:nvPr>
            <p:ph sz="half" idx="2"/>
          </p:nvPr>
        </p:nvGraphicFramePr>
        <p:xfrm>
          <a:off x="914400" y="2362200"/>
          <a:ext cx="7239000" cy="2895600"/>
        </p:xfrm>
        <a:graphic>
          <a:graphicData uri="http://schemas.openxmlformats.org/drawingml/2006/table">
            <a:tbl>
              <a:tblPr/>
              <a:tblGrid>
                <a:gridCol w="1741488">
                  <a:extLst>
                    <a:ext uri="{9D8B030D-6E8A-4147-A177-3AD203B41FA5}">
                      <a16:colId xmlns:a16="http://schemas.microsoft.com/office/drawing/2014/main" val="20000"/>
                    </a:ext>
                  </a:extLst>
                </a:gridCol>
                <a:gridCol w="1833562">
                  <a:extLst>
                    <a:ext uri="{9D8B030D-6E8A-4147-A177-3AD203B41FA5}">
                      <a16:colId xmlns:a16="http://schemas.microsoft.com/office/drawing/2014/main" val="20001"/>
                    </a:ext>
                  </a:extLst>
                </a:gridCol>
                <a:gridCol w="213995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tblGrid>
              <a:tr h="30480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r>
                        <a:rPr kumimoji="0" lang="en-GB" sz="3200" b="0" i="0" u="none" strike="noStrike" cap="none" normalizeH="0" baseline="30000">
                          <a:ln>
                            <a:noFill/>
                          </a:ln>
                          <a:solidFill>
                            <a:schemeClr val="tx1"/>
                          </a:solidFill>
                          <a:effectLst/>
                          <a:latin typeface="Arial" pitchFamily="34" charset="0"/>
                          <a:cs typeface="Times New Roman" pitchFamily="18" charset="0"/>
                        </a:rPr>
                        <a:t>st</a:t>
                      </a:r>
                      <a:r>
                        <a:rPr kumimoji="0" lang="en-GB" sz="3200" b="0" i="0" u="none" strike="noStrike" cap="none" normalizeH="0" baseline="0">
                          <a:ln>
                            <a:noFill/>
                          </a:ln>
                          <a:solidFill>
                            <a:schemeClr val="tx1"/>
                          </a:solidFill>
                          <a:effectLst/>
                          <a:latin typeface="Arial" pitchFamily="34" charset="0"/>
                          <a:cs typeface="Times New Roman" pitchFamily="18" charset="0"/>
                        </a:rPr>
                        <a:t> digit</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2</a:t>
                      </a:r>
                      <a:r>
                        <a:rPr kumimoji="0" lang="en-GB" sz="3200" b="0" i="0" u="none" strike="noStrike" cap="none" normalizeH="0" baseline="30000">
                          <a:ln>
                            <a:noFill/>
                          </a:ln>
                          <a:solidFill>
                            <a:schemeClr val="tx1"/>
                          </a:solidFill>
                          <a:effectLst/>
                          <a:latin typeface="Arial" pitchFamily="34" charset="0"/>
                          <a:cs typeface="Times New Roman" pitchFamily="18" charset="0"/>
                        </a:rPr>
                        <a:t>nd</a:t>
                      </a:r>
                      <a:r>
                        <a:rPr kumimoji="0" lang="en-GB" sz="3200" b="0" i="0" u="none" strike="noStrike" cap="none" normalizeH="0" baseline="0">
                          <a:ln>
                            <a:noFill/>
                          </a:ln>
                          <a:solidFill>
                            <a:schemeClr val="tx1"/>
                          </a:solidFill>
                          <a:effectLst/>
                          <a:latin typeface="Arial" pitchFamily="34" charset="0"/>
                          <a:cs typeface="Times New Roman" pitchFamily="18" charset="0"/>
                        </a:rPr>
                        <a:t>  digit</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Difference </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Borrow</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0480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0480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0480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0480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cSld>
  <p:clrMapOvr>
    <a:masterClrMapping/>
  </p:clrMapOvr>
  <p:transition advTm="132816"/>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FC85A96F-4EA6-DD14-4122-295BF91CDFA6}"/>
              </a:ext>
            </a:extLst>
          </p:cNvPr>
          <p:cNvSpPr>
            <a:spLocks noGrp="1" noChangeArrowheads="1"/>
          </p:cNvSpPr>
          <p:nvPr>
            <p:ph type="title"/>
          </p:nvPr>
        </p:nvSpPr>
        <p:spPr/>
        <p:txBody>
          <a:bodyPr/>
          <a:lstStyle/>
          <a:p>
            <a:pPr eaLnBrk="1" hangingPunct="1"/>
            <a:r>
              <a:rPr lang="en-US" altLang="en-US" sz="3200">
                <a:latin typeface="Arial" panose="020B0604020202020204" pitchFamily="34" charset="0"/>
                <a:cs typeface="Arial" panose="020B0604020202020204" pitchFamily="34" charset="0"/>
              </a:rPr>
              <a:t>Binary Subtraction</a:t>
            </a:r>
          </a:p>
        </p:txBody>
      </p:sp>
      <p:graphicFrame>
        <p:nvGraphicFramePr>
          <p:cNvPr id="191580" name="Group 92">
            <a:extLst>
              <a:ext uri="{FF2B5EF4-FFF2-40B4-BE49-F238E27FC236}">
                <a16:creationId xmlns:a16="http://schemas.microsoft.com/office/drawing/2014/main" id="{92E075D0-5CF8-E733-F46B-2D589A19DC98}"/>
              </a:ext>
            </a:extLst>
          </p:cNvPr>
          <p:cNvGraphicFramePr>
            <a:graphicFrameLocks noGrp="1"/>
          </p:cNvGraphicFramePr>
          <p:nvPr>
            <p:ph type="tbl" idx="1"/>
          </p:nvPr>
        </p:nvGraphicFramePr>
        <p:xfrm>
          <a:off x="457200" y="2667000"/>
          <a:ext cx="8153400" cy="2992439"/>
        </p:xfrm>
        <a:graphic>
          <a:graphicData uri="http://schemas.openxmlformats.org/drawingml/2006/table">
            <a:tbl>
              <a:tblPr/>
              <a:tblGrid>
                <a:gridCol w="22860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gridCol w="1143000">
                  <a:extLst>
                    <a:ext uri="{9D8B030D-6E8A-4147-A177-3AD203B41FA5}">
                      <a16:colId xmlns:a16="http://schemas.microsoft.com/office/drawing/2014/main" val="20004"/>
                    </a:ext>
                  </a:extLst>
                </a:gridCol>
                <a:gridCol w="1143000">
                  <a:extLst>
                    <a:ext uri="{9D8B030D-6E8A-4147-A177-3AD203B41FA5}">
                      <a16:colId xmlns:a16="http://schemas.microsoft.com/office/drawing/2014/main" val="20005"/>
                    </a:ext>
                  </a:extLst>
                </a:gridCol>
              </a:tblGrid>
              <a:tr h="811213">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Borrow</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endParaRPr kumimoji="0" lang="en-US"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endParaRPr kumimoji="0" lang="en-US"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endParaRPr kumimoji="0" lang="en-US"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endParaRPr kumimoji="0" lang="en-US"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95338">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r>
                        <a:rPr kumimoji="0" lang="en-GB" sz="3200" b="0" i="0" u="none" strike="noStrike" cap="none" normalizeH="0" baseline="30000">
                          <a:ln>
                            <a:noFill/>
                          </a:ln>
                          <a:solidFill>
                            <a:schemeClr val="tx1"/>
                          </a:solidFill>
                          <a:effectLst/>
                          <a:latin typeface="Arial" pitchFamily="34" charset="0"/>
                          <a:cs typeface="Times New Roman" pitchFamily="18" charset="0"/>
                        </a:rPr>
                        <a:t>st</a:t>
                      </a:r>
                      <a:r>
                        <a:rPr kumimoji="0" lang="en-GB" sz="3200" b="0" i="0" u="none" strike="noStrike" cap="none" normalizeH="0" baseline="0">
                          <a:ln>
                            <a:noFill/>
                          </a:ln>
                          <a:solidFill>
                            <a:schemeClr val="tx1"/>
                          </a:solidFill>
                          <a:effectLst/>
                          <a:latin typeface="Arial" pitchFamily="34" charset="0"/>
                          <a:cs typeface="Times New Roman" pitchFamily="18" charset="0"/>
                        </a:rPr>
                        <a:t> Number</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endParaRPr kumimoji="0" lang="en-US"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46125">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2</a:t>
                      </a:r>
                      <a:r>
                        <a:rPr kumimoji="0" lang="en-GB" sz="3200" b="0" i="0" u="none" strike="noStrike" cap="none" normalizeH="0" baseline="30000">
                          <a:ln>
                            <a:noFill/>
                          </a:ln>
                          <a:solidFill>
                            <a:schemeClr val="tx1"/>
                          </a:solidFill>
                          <a:effectLst/>
                          <a:latin typeface="Arial" pitchFamily="34" charset="0"/>
                          <a:cs typeface="Times New Roman" pitchFamily="18" charset="0"/>
                        </a:rPr>
                        <a:t>nd</a:t>
                      </a:r>
                      <a:r>
                        <a:rPr kumimoji="0" lang="en-GB" sz="3200" b="0" i="0" u="none" strike="noStrike" cap="none" normalizeH="0" baseline="0">
                          <a:ln>
                            <a:noFill/>
                          </a:ln>
                          <a:solidFill>
                            <a:schemeClr val="tx1"/>
                          </a:solidFill>
                          <a:effectLst/>
                          <a:latin typeface="Arial" pitchFamily="34" charset="0"/>
                          <a:cs typeface="Times New Roman" pitchFamily="18" charset="0"/>
                        </a:rPr>
                        <a:t> Number</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endParaRPr kumimoji="0" lang="en-US"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endParaRPr kumimoji="0" lang="en-US"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39763">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Result</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endParaRPr kumimoji="0" lang="en-US"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endParaRPr kumimoji="0" lang="en-US"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cSld>
  <p:clrMapOvr>
    <a:masterClrMapping/>
  </p:clrMapOvr>
  <p:transition advTm="132816"/>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AEB17AD9-5077-645C-E42F-7150EB0E6536}"/>
              </a:ext>
            </a:extLst>
          </p:cNvPr>
          <p:cNvSpPr>
            <a:spLocks noGrp="1" noChangeArrowheads="1"/>
          </p:cNvSpPr>
          <p:nvPr>
            <p:ph type="title"/>
          </p:nvPr>
        </p:nvSpPr>
        <p:spPr/>
        <p:txBody>
          <a:bodyPr/>
          <a:lstStyle/>
          <a:p>
            <a:pPr eaLnBrk="1" hangingPunct="1"/>
            <a:r>
              <a:rPr lang="en-US" altLang="en-US" sz="3200">
                <a:latin typeface="Arial" panose="020B0604020202020204" pitchFamily="34" charset="0"/>
                <a:cs typeface="Arial" panose="020B0604020202020204" pitchFamily="34" charset="0"/>
              </a:rPr>
              <a:t>Binary Multiplication</a:t>
            </a:r>
          </a:p>
        </p:txBody>
      </p:sp>
      <p:sp>
        <p:nvSpPr>
          <p:cNvPr id="37891" name="Rectangle 3">
            <a:extLst>
              <a:ext uri="{FF2B5EF4-FFF2-40B4-BE49-F238E27FC236}">
                <a16:creationId xmlns:a16="http://schemas.microsoft.com/office/drawing/2014/main" id="{3BE7E308-4664-9DF8-ED7A-9DCAD953B7DA}"/>
              </a:ext>
            </a:extLst>
          </p:cNvPr>
          <p:cNvSpPr>
            <a:spLocks noGrp="1" noChangeArrowheads="1"/>
          </p:cNvSpPr>
          <p:nvPr>
            <p:ph type="body" sz="half" idx="1"/>
          </p:nvPr>
        </p:nvSpPr>
        <p:spPr>
          <a:xfrm>
            <a:off x="457200" y="1600200"/>
            <a:ext cx="8153400" cy="685800"/>
          </a:xfrm>
        </p:spPr>
        <p:txBody>
          <a:bodyPr/>
          <a:lstStyle/>
          <a:p>
            <a:pPr eaLnBrk="1" hangingPunct="1"/>
            <a:r>
              <a:rPr lang="en-US" altLang="en-US" sz="2800"/>
              <a:t>Four Basic rules for binary multiplication</a:t>
            </a:r>
          </a:p>
        </p:txBody>
      </p:sp>
      <p:graphicFrame>
        <p:nvGraphicFramePr>
          <p:cNvPr id="148517" name="Group 37">
            <a:extLst>
              <a:ext uri="{FF2B5EF4-FFF2-40B4-BE49-F238E27FC236}">
                <a16:creationId xmlns:a16="http://schemas.microsoft.com/office/drawing/2014/main" id="{49D7DC8A-04C9-C5A4-89B3-E26F65776350}"/>
              </a:ext>
            </a:extLst>
          </p:cNvPr>
          <p:cNvGraphicFramePr>
            <a:graphicFrameLocks noGrp="1"/>
          </p:cNvGraphicFramePr>
          <p:nvPr>
            <p:ph sz="half" idx="2"/>
          </p:nvPr>
        </p:nvGraphicFramePr>
        <p:xfrm>
          <a:off x="1676400" y="2438400"/>
          <a:ext cx="5715000" cy="2944907"/>
        </p:xfrm>
        <a:graphic>
          <a:graphicData uri="http://schemas.openxmlformats.org/drawingml/2006/table">
            <a:tbl>
              <a:tblPr/>
              <a:tblGrid>
                <a:gridCol w="1741488">
                  <a:extLst>
                    <a:ext uri="{9D8B030D-6E8A-4147-A177-3AD203B41FA5}">
                      <a16:colId xmlns:a16="http://schemas.microsoft.com/office/drawing/2014/main" val="20000"/>
                    </a:ext>
                  </a:extLst>
                </a:gridCol>
                <a:gridCol w="1833562">
                  <a:extLst>
                    <a:ext uri="{9D8B030D-6E8A-4147-A177-3AD203B41FA5}">
                      <a16:colId xmlns:a16="http://schemas.microsoft.com/office/drawing/2014/main" val="20001"/>
                    </a:ext>
                  </a:extLst>
                </a:gridCol>
                <a:gridCol w="2139950">
                  <a:extLst>
                    <a:ext uri="{9D8B030D-6E8A-4147-A177-3AD203B41FA5}">
                      <a16:colId xmlns:a16="http://schemas.microsoft.com/office/drawing/2014/main" val="20002"/>
                    </a:ext>
                  </a:extLst>
                </a:gridCol>
              </a:tblGrid>
              <a:tr h="579076">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r>
                        <a:rPr kumimoji="0" lang="en-GB" sz="3200" b="0" i="0" u="none" strike="noStrike" cap="none" normalizeH="0" baseline="30000">
                          <a:ln>
                            <a:noFill/>
                          </a:ln>
                          <a:solidFill>
                            <a:schemeClr val="tx1"/>
                          </a:solidFill>
                          <a:effectLst/>
                          <a:latin typeface="Arial" pitchFamily="34" charset="0"/>
                          <a:cs typeface="Times New Roman" pitchFamily="18" charset="0"/>
                        </a:rPr>
                        <a:t>st</a:t>
                      </a:r>
                      <a:r>
                        <a:rPr kumimoji="0" lang="en-GB" sz="3200" b="0" i="0" u="none" strike="noStrike" cap="none" normalizeH="0" baseline="0">
                          <a:ln>
                            <a:noFill/>
                          </a:ln>
                          <a:solidFill>
                            <a:schemeClr val="tx1"/>
                          </a:solidFill>
                          <a:effectLst/>
                          <a:latin typeface="Arial" pitchFamily="34" charset="0"/>
                          <a:cs typeface="Times New Roman" pitchFamily="18" charset="0"/>
                        </a:rPr>
                        <a:t> digit</a:t>
                      </a:r>
                      <a:endParaRPr kumimoji="0" lang="en-GB" sz="3200" b="0" i="0" u="none" strike="noStrike" cap="none" normalizeH="0" baseline="0">
                        <a:ln>
                          <a:noFill/>
                        </a:ln>
                        <a:solidFill>
                          <a:schemeClr val="tx1"/>
                        </a:solidFill>
                        <a:effectLst/>
                        <a:latin typeface="Arial" pitchFamily="34" charset="0"/>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2</a:t>
                      </a:r>
                      <a:r>
                        <a:rPr kumimoji="0" lang="en-GB" sz="3200" b="0" i="0" u="none" strike="noStrike" cap="none" normalizeH="0" baseline="30000">
                          <a:ln>
                            <a:noFill/>
                          </a:ln>
                          <a:solidFill>
                            <a:schemeClr val="tx1"/>
                          </a:solidFill>
                          <a:effectLst/>
                          <a:latin typeface="Arial" pitchFamily="34" charset="0"/>
                          <a:cs typeface="Times New Roman" pitchFamily="18" charset="0"/>
                        </a:rPr>
                        <a:t>nd</a:t>
                      </a:r>
                      <a:r>
                        <a:rPr kumimoji="0" lang="en-GB" sz="3200" b="0" i="0" u="none" strike="noStrike" cap="none" normalizeH="0" baseline="0">
                          <a:ln>
                            <a:noFill/>
                          </a:ln>
                          <a:solidFill>
                            <a:schemeClr val="tx1"/>
                          </a:solidFill>
                          <a:effectLst/>
                          <a:latin typeface="Arial" pitchFamily="34" charset="0"/>
                          <a:cs typeface="Times New Roman" pitchFamily="18" charset="0"/>
                        </a:rPr>
                        <a:t>  digit</a:t>
                      </a:r>
                      <a:endParaRPr kumimoji="0" lang="en-GB" sz="3200" b="0" i="0" u="none" strike="noStrike" cap="none" normalizeH="0" baseline="0">
                        <a:ln>
                          <a:noFill/>
                        </a:ln>
                        <a:solidFill>
                          <a:schemeClr val="tx1"/>
                        </a:solidFill>
                        <a:effectLst/>
                        <a:latin typeface="Arial" pitchFamily="34" charset="0"/>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Product </a:t>
                      </a:r>
                      <a:endParaRPr kumimoji="0" lang="en-GB" sz="3200" b="0" i="0" u="none" strike="noStrike" cap="none" normalizeH="0" baseline="0">
                        <a:ln>
                          <a:noFill/>
                        </a:ln>
                        <a:solidFill>
                          <a:schemeClr val="tx1"/>
                        </a:solidFill>
                        <a:effectLst/>
                        <a:latin typeface="Arial" pitchFamily="34" charset="0"/>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79076">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a:t>
                      </a:r>
                      <a:endParaRPr kumimoji="0" lang="en-GB" sz="3200" b="0" i="0" u="none" strike="noStrike" cap="none" normalizeH="0" baseline="0">
                        <a:ln>
                          <a:noFill/>
                        </a:ln>
                        <a:solidFill>
                          <a:schemeClr val="tx1"/>
                        </a:solidFill>
                        <a:effectLst/>
                        <a:latin typeface="Arial" pitchFamily="34" charset="0"/>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a:t>
                      </a:r>
                      <a:endParaRPr kumimoji="0" lang="en-GB" sz="3200" b="0" i="0" u="none" strike="noStrike" cap="none" normalizeH="0" baseline="0">
                        <a:ln>
                          <a:noFill/>
                        </a:ln>
                        <a:solidFill>
                          <a:schemeClr val="tx1"/>
                        </a:solidFill>
                        <a:effectLst/>
                        <a:latin typeface="Arial" pitchFamily="34" charset="0"/>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a:t>
                      </a:r>
                      <a:endParaRPr kumimoji="0" lang="en-GB" sz="3200" b="0" i="0" u="none" strike="noStrike" cap="none" normalizeH="0" baseline="0">
                        <a:ln>
                          <a:noFill/>
                        </a:ln>
                        <a:solidFill>
                          <a:schemeClr val="tx1"/>
                        </a:solidFill>
                        <a:effectLst/>
                        <a:latin typeface="Arial" pitchFamily="34" charset="0"/>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79076">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a:t>
                      </a:r>
                      <a:endParaRPr kumimoji="0" lang="en-GB" sz="3200" b="0" i="0" u="none" strike="noStrike" cap="none" normalizeH="0" baseline="0">
                        <a:ln>
                          <a:noFill/>
                        </a:ln>
                        <a:solidFill>
                          <a:schemeClr val="tx1"/>
                        </a:solidFill>
                        <a:effectLst/>
                        <a:latin typeface="Arial" pitchFamily="34" charset="0"/>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endParaRPr kumimoji="0" lang="en-GB" sz="3200" b="0" i="0" u="none" strike="noStrike" cap="none" normalizeH="0" baseline="0">
                        <a:ln>
                          <a:noFill/>
                        </a:ln>
                        <a:solidFill>
                          <a:schemeClr val="tx1"/>
                        </a:solidFill>
                        <a:effectLst/>
                        <a:latin typeface="Arial" pitchFamily="34" charset="0"/>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a:t>
                      </a:r>
                      <a:endParaRPr kumimoji="0" lang="en-GB" sz="3200" b="0" i="0" u="none" strike="noStrike" cap="none" normalizeH="0" baseline="0">
                        <a:ln>
                          <a:noFill/>
                        </a:ln>
                        <a:solidFill>
                          <a:schemeClr val="tx1"/>
                        </a:solidFill>
                        <a:effectLst/>
                        <a:latin typeface="Arial" pitchFamily="34" charset="0"/>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28507">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endParaRPr kumimoji="0" lang="en-GB" sz="3200" b="0" i="0" u="none" strike="noStrike" cap="none" normalizeH="0" baseline="0">
                        <a:ln>
                          <a:noFill/>
                        </a:ln>
                        <a:solidFill>
                          <a:schemeClr val="tx1"/>
                        </a:solidFill>
                        <a:effectLst/>
                        <a:latin typeface="Arial" pitchFamily="34" charset="0"/>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a:t>
                      </a:r>
                      <a:endParaRPr kumimoji="0" lang="en-GB" sz="3200" b="0" i="0" u="none" strike="noStrike" cap="none" normalizeH="0" baseline="0">
                        <a:ln>
                          <a:noFill/>
                        </a:ln>
                        <a:solidFill>
                          <a:schemeClr val="tx1"/>
                        </a:solidFill>
                        <a:effectLst/>
                        <a:latin typeface="Arial" pitchFamily="34" charset="0"/>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a:t>
                      </a:r>
                      <a:endParaRPr kumimoji="0" lang="en-GB" sz="3200" b="0" i="0" u="none" strike="noStrike" cap="none" normalizeH="0" baseline="0">
                        <a:ln>
                          <a:noFill/>
                        </a:ln>
                        <a:solidFill>
                          <a:schemeClr val="tx1"/>
                        </a:solidFill>
                        <a:effectLst/>
                        <a:latin typeface="Arial" pitchFamily="34" charset="0"/>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79076">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endParaRPr kumimoji="0" lang="en-GB" sz="3200" b="0" i="0" u="none" strike="noStrike" cap="none" normalizeH="0" baseline="0">
                        <a:ln>
                          <a:noFill/>
                        </a:ln>
                        <a:solidFill>
                          <a:schemeClr val="tx1"/>
                        </a:solidFill>
                        <a:effectLst/>
                        <a:latin typeface="Arial" pitchFamily="34" charset="0"/>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endParaRPr kumimoji="0" lang="en-GB" sz="3200" b="0" i="0" u="none" strike="noStrike" cap="none" normalizeH="0" baseline="0">
                        <a:ln>
                          <a:noFill/>
                        </a:ln>
                        <a:solidFill>
                          <a:schemeClr val="tx1"/>
                        </a:solidFill>
                        <a:effectLst/>
                        <a:latin typeface="Arial" pitchFamily="34" charset="0"/>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endParaRPr kumimoji="0" lang="en-GB" sz="3200" b="0" i="0" u="none" strike="noStrike" cap="none" normalizeH="0" baseline="0">
                        <a:ln>
                          <a:noFill/>
                        </a:ln>
                        <a:solidFill>
                          <a:schemeClr val="tx1"/>
                        </a:solidFill>
                        <a:effectLst/>
                        <a:latin typeface="Arial" pitchFamily="34" charset="0"/>
                      </a:endParaRPr>
                    </a:p>
                  </a:txBody>
                  <a:tcPr marT="45710" marB="4571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37918" name="Rectangle 38">
            <a:extLst>
              <a:ext uri="{FF2B5EF4-FFF2-40B4-BE49-F238E27FC236}">
                <a16:creationId xmlns:a16="http://schemas.microsoft.com/office/drawing/2014/main" id="{5507CF29-2975-1066-2252-93BCA2328742}"/>
              </a:ext>
            </a:extLst>
          </p:cNvPr>
          <p:cNvSpPr>
            <a:spLocks noChangeArrowheads="1"/>
          </p:cNvSpPr>
          <p:nvPr/>
        </p:nvSpPr>
        <p:spPr bwMode="auto">
          <a:xfrm>
            <a:off x="609600" y="5715000"/>
            <a:ext cx="81534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buClr>
                <a:schemeClr val="hlink"/>
              </a:buClr>
              <a:buSzPct val="60000"/>
              <a:buFont typeface="Wingdings" panose="05000000000000000000" pitchFamily="2" charset="2"/>
              <a:buChar char="n"/>
            </a:pPr>
            <a:r>
              <a:rPr lang="en-US" altLang="en-US" sz="2800">
                <a:latin typeface="Arial" panose="020B0604020202020204" pitchFamily="34" charset="0"/>
              </a:rPr>
              <a:t>Example of Binary Multiplication</a:t>
            </a:r>
          </a:p>
        </p:txBody>
      </p:sp>
    </p:spTree>
  </p:cSld>
  <p:clrMapOvr>
    <a:masterClrMapping/>
  </p:clrMapOvr>
  <p:transition advTm="43824"/>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14CFD96C-4913-1590-2999-DA06A9CBA6B6}"/>
              </a:ext>
            </a:extLst>
          </p:cNvPr>
          <p:cNvSpPr>
            <a:spLocks noGrp="1" noChangeArrowheads="1"/>
          </p:cNvSpPr>
          <p:nvPr>
            <p:ph type="title"/>
          </p:nvPr>
        </p:nvSpPr>
        <p:spPr/>
        <p:txBody>
          <a:bodyPr/>
          <a:lstStyle/>
          <a:p>
            <a:pPr eaLnBrk="1" hangingPunct="1"/>
            <a:r>
              <a:rPr lang="en-US" altLang="en-US" sz="3200">
                <a:latin typeface="Arial" panose="020B0604020202020204" pitchFamily="34" charset="0"/>
                <a:cs typeface="Arial" panose="020B0604020202020204" pitchFamily="34" charset="0"/>
              </a:rPr>
              <a:t>Binary Multiplication</a:t>
            </a:r>
          </a:p>
        </p:txBody>
      </p:sp>
      <p:sp>
        <p:nvSpPr>
          <p:cNvPr id="39939" name="Rectangle 3">
            <a:extLst>
              <a:ext uri="{FF2B5EF4-FFF2-40B4-BE49-F238E27FC236}">
                <a16:creationId xmlns:a16="http://schemas.microsoft.com/office/drawing/2014/main" id="{532D4C77-6F0B-FAAA-F369-B464A6A8BD0C}"/>
              </a:ext>
            </a:extLst>
          </p:cNvPr>
          <p:cNvSpPr>
            <a:spLocks noGrp="1" noChangeArrowheads="1"/>
          </p:cNvSpPr>
          <p:nvPr>
            <p:ph idx="1"/>
          </p:nvPr>
        </p:nvSpPr>
        <p:spPr/>
        <p:txBody>
          <a:bodyPr/>
          <a:lstStyle/>
          <a:p>
            <a:pPr eaLnBrk="1" hangingPunct="1">
              <a:buFont typeface="Wingdings" panose="05000000000000000000" pitchFamily="2" charset="2"/>
              <a:buNone/>
            </a:pPr>
            <a:r>
              <a:rPr lang="en-US" altLang="en-US"/>
              <a:t>						1101		(13)</a:t>
            </a:r>
          </a:p>
          <a:p>
            <a:pPr eaLnBrk="1" hangingPunct="1">
              <a:buFont typeface="Wingdings" panose="05000000000000000000" pitchFamily="2" charset="2"/>
              <a:buNone/>
            </a:pPr>
            <a:r>
              <a:rPr lang="en-US" altLang="en-US"/>
              <a:t>					x	</a:t>
            </a:r>
            <a:r>
              <a:rPr lang="en-US" altLang="en-US" u="sng"/>
              <a:t>  101	</a:t>
            </a:r>
            <a:r>
              <a:rPr lang="en-US" altLang="en-US"/>
              <a:t>	(5)</a:t>
            </a:r>
            <a:endParaRPr lang="en-US" altLang="en-US" u="sng"/>
          </a:p>
          <a:p>
            <a:pPr eaLnBrk="1" hangingPunct="1">
              <a:buFont typeface="Wingdings" panose="05000000000000000000" pitchFamily="2" charset="2"/>
              <a:buNone/>
            </a:pPr>
            <a:r>
              <a:rPr lang="en-US" altLang="en-US"/>
              <a:t>1</a:t>
            </a:r>
            <a:r>
              <a:rPr lang="en-US" altLang="en-US" baseline="30000"/>
              <a:t>st</a:t>
            </a:r>
            <a:r>
              <a:rPr lang="en-US" altLang="en-US"/>
              <a:t> product term			1101</a:t>
            </a:r>
          </a:p>
          <a:p>
            <a:pPr eaLnBrk="1" hangingPunct="1">
              <a:buFont typeface="Wingdings" panose="05000000000000000000" pitchFamily="2" charset="2"/>
              <a:buNone/>
            </a:pPr>
            <a:r>
              <a:rPr lang="en-US" altLang="en-US"/>
              <a:t>2</a:t>
            </a:r>
            <a:r>
              <a:rPr lang="en-US" altLang="en-US" baseline="30000"/>
              <a:t>nd</a:t>
            </a:r>
            <a:r>
              <a:rPr lang="en-US" altLang="en-US"/>
              <a:t> product term	        0000</a:t>
            </a:r>
          </a:p>
          <a:p>
            <a:pPr eaLnBrk="1" hangingPunct="1">
              <a:buFont typeface="Wingdings" panose="05000000000000000000" pitchFamily="2" charset="2"/>
              <a:buNone/>
            </a:pPr>
            <a:r>
              <a:rPr lang="en-US" altLang="en-US"/>
              <a:t>3</a:t>
            </a:r>
            <a:r>
              <a:rPr lang="en-US" altLang="en-US" baseline="30000"/>
              <a:t>rd</a:t>
            </a:r>
            <a:r>
              <a:rPr lang="en-US" altLang="en-US"/>
              <a:t> product term	    	      </a:t>
            </a:r>
            <a:r>
              <a:rPr lang="en-US" altLang="en-US" u="sng"/>
              <a:t>1101	</a:t>
            </a:r>
          </a:p>
          <a:p>
            <a:pPr eaLnBrk="1" hangingPunct="1">
              <a:buFont typeface="Wingdings" panose="05000000000000000000" pitchFamily="2" charset="2"/>
              <a:buNone/>
            </a:pPr>
            <a:r>
              <a:rPr lang="en-US" altLang="en-US"/>
              <a:t>Product			    1000001		(65)	</a:t>
            </a:r>
          </a:p>
        </p:txBody>
      </p:sp>
    </p:spTree>
  </p:cSld>
  <p:clrMapOvr>
    <a:masterClrMapping/>
  </p:clrMapOvr>
  <p:transition advTm="44992"/>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0953B6FE-4117-2462-20AB-5FF15096DBD1}"/>
              </a:ext>
            </a:extLst>
          </p:cNvPr>
          <p:cNvSpPr>
            <a:spLocks noGrp="1" noChangeArrowheads="1"/>
          </p:cNvSpPr>
          <p:nvPr>
            <p:ph type="title"/>
          </p:nvPr>
        </p:nvSpPr>
        <p:spPr/>
        <p:txBody>
          <a:bodyPr/>
          <a:lstStyle/>
          <a:p>
            <a:pPr eaLnBrk="1" hangingPunct="1"/>
            <a:r>
              <a:rPr lang="en-US" altLang="en-US" sz="3200">
                <a:latin typeface="Arial" panose="020B0604020202020204" pitchFamily="34" charset="0"/>
                <a:cs typeface="Arial" panose="020B0604020202020204" pitchFamily="34" charset="0"/>
              </a:rPr>
              <a:t>Multiplication by shifting left</a:t>
            </a:r>
          </a:p>
        </p:txBody>
      </p:sp>
      <p:sp>
        <p:nvSpPr>
          <p:cNvPr id="41987" name="Rectangle 3">
            <a:extLst>
              <a:ext uri="{FF2B5EF4-FFF2-40B4-BE49-F238E27FC236}">
                <a16:creationId xmlns:a16="http://schemas.microsoft.com/office/drawing/2014/main" id="{BB6A42DE-9BFF-61D7-7EE6-250F936C21AB}"/>
              </a:ext>
            </a:extLst>
          </p:cNvPr>
          <p:cNvSpPr>
            <a:spLocks noGrp="1" noChangeArrowheads="1"/>
          </p:cNvSpPr>
          <p:nvPr>
            <p:ph idx="1"/>
          </p:nvPr>
        </p:nvSpPr>
        <p:spPr/>
        <p:txBody>
          <a:bodyPr/>
          <a:lstStyle/>
          <a:p>
            <a:pPr eaLnBrk="1" hangingPunct="1"/>
            <a:r>
              <a:rPr lang="en-US" altLang="en-US" sz="2800"/>
              <a:t>Decimal 29 shifted left by one digit</a:t>
            </a:r>
          </a:p>
          <a:p>
            <a:pPr eaLnBrk="1" hangingPunct="1"/>
            <a:r>
              <a:rPr lang="en-US" altLang="en-US" sz="2800"/>
              <a:t>290</a:t>
            </a:r>
          </a:p>
          <a:p>
            <a:pPr eaLnBrk="1" hangingPunct="1"/>
            <a:r>
              <a:rPr lang="en-US" altLang="en-US" sz="2800"/>
              <a:t>Shift left 1 digit is multiply by 10</a:t>
            </a:r>
          </a:p>
          <a:p>
            <a:pPr eaLnBrk="1" hangingPunct="1">
              <a:buFont typeface="Wingdings" panose="05000000000000000000" pitchFamily="2" charset="2"/>
              <a:buNone/>
            </a:pPr>
            <a:endParaRPr lang="en-US" altLang="en-US" sz="2800"/>
          </a:p>
          <a:p>
            <a:pPr eaLnBrk="1" hangingPunct="1"/>
            <a:r>
              <a:rPr lang="en-US" altLang="en-US" sz="2800"/>
              <a:t>Binary 11101</a:t>
            </a:r>
            <a:r>
              <a:rPr lang="en-US" altLang="en-US" sz="2800" baseline="-25000"/>
              <a:t>2</a:t>
            </a:r>
            <a:r>
              <a:rPr lang="en-US" altLang="en-US" sz="2800"/>
              <a:t> (29) shifted left by one bit</a:t>
            </a:r>
          </a:p>
          <a:p>
            <a:pPr eaLnBrk="1" hangingPunct="1"/>
            <a:r>
              <a:rPr lang="en-US" altLang="en-US" sz="2800"/>
              <a:t>111010</a:t>
            </a:r>
            <a:r>
              <a:rPr lang="en-US" altLang="en-US" sz="2800" baseline="-25000"/>
              <a:t>2</a:t>
            </a:r>
            <a:r>
              <a:rPr lang="en-US" altLang="en-US" sz="2800"/>
              <a:t> (58) </a:t>
            </a:r>
          </a:p>
          <a:p>
            <a:pPr eaLnBrk="1" hangingPunct="1"/>
            <a:r>
              <a:rPr lang="en-US" altLang="en-US" sz="2800"/>
              <a:t>Shift left 1 bit is multiply by 2 </a:t>
            </a:r>
          </a:p>
          <a:p>
            <a:pPr eaLnBrk="1" hangingPunct="1"/>
            <a:endParaRPr lang="en-US" altLang="en-US" sz="2800"/>
          </a:p>
        </p:txBody>
      </p:sp>
    </p:spTree>
  </p:cSld>
  <p:clrMapOvr>
    <a:masterClrMapping/>
  </p:clrMapOvr>
  <p:transition advTm="117488"/>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849562D2-3A56-07D6-B104-58F573032E93}"/>
              </a:ext>
            </a:extLst>
          </p:cNvPr>
          <p:cNvSpPr>
            <a:spLocks noGrp="1" noChangeArrowheads="1"/>
          </p:cNvSpPr>
          <p:nvPr>
            <p:ph type="title"/>
          </p:nvPr>
        </p:nvSpPr>
        <p:spPr/>
        <p:txBody>
          <a:bodyPr/>
          <a:lstStyle/>
          <a:p>
            <a:pPr eaLnBrk="1" hangingPunct="1"/>
            <a:r>
              <a:rPr lang="en-US" altLang="en-US" sz="3200">
                <a:latin typeface="Arial" panose="020B0604020202020204" pitchFamily="34" charset="0"/>
                <a:cs typeface="Arial" panose="020B0604020202020204" pitchFamily="34" charset="0"/>
              </a:rPr>
              <a:t>Binary Division</a:t>
            </a:r>
          </a:p>
        </p:txBody>
      </p:sp>
      <p:sp>
        <p:nvSpPr>
          <p:cNvPr id="44035" name="Rectangle 3">
            <a:extLst>
              <a:ext uri="{FF2B5EF4-FFF2-40B4-BE49-F238E27FC236}">
                <a16:creationId xmlns:a16="http://schemas.microsoft.com/office/drawing/2014/main" id="{11A32254-A918-73BF-9EBB-237FCC91C8B9}"/>
              </a:ext>
            </a:extLst>
          </p:cNvPr>
          <p:cNvSpPr>
            <a:spLocks noGrp="1" noChangeArrowheads="1"/>
          </p:cNvSpPr>
          <p:nvPr>
            <p:ph idx="1"/>
          </p:nvPr>
        </p:nvSpPr>
        <p:spPr/>
        <p:txBody>
          <a:bodyPr/>
          <a:lstStyle/>
          <a:p>
            <a:pPr eaLnBrk="1" hangingPunct="1">
              <a:buFont typeface="Wingdings" panose="05000000000000000000" pitchFamily="2" charset="2"/>
              <a:buNone/>
            </a:pPr>
            <a:r>
              <a:rPr lang="en-US" altLang="en-US"/>
              <a:t>		   </a:t>
            </a:r>
            <a:r>
              <a:rPr lang="en-US" altLang="en-US" u="sng"/>
              <a:t> 10      </a:t>
            </a:r>
            <a:r>
              <a:rPr lang="en-US" altLang="en-US"/>
              <a:t>	</a:t>
            </a:r>
          </a:p>
          <a:p>
            <a:pPr eaLnBrk="1" hangingPunct="1">
              <a:buFont typeface="Wingdings" panose="05000000000000000000" pitchFamily="2" charset="2"/>
              <a:buNone/>
            </a:pPr>
            <a:r>
              <a:rPr lang="en-US" altLang="en-US"/>
              <a:t>	101 | 1101</a:t>
            </a:r>
          </a:p>
          <a:p>
            <a:pPr eaLnBrk="1" hangingPunct="1">
              <a:buFont typeface="Wingdings" panose="05000000000000000000" pitchFamily="2" charset="2"/>
              <a:buNone/>
            </a:pPr>
            <a:r>
              <a:rPr lang="en-US" altLang="en-US"/>
              <a:t>		   </a:t>
            </a:r>
            <a:r>
              <a:rPr lang="en-US" altLang="en-US" u="sng"/>
              <a:t> 101  </a:t>
            </a:r>
          </a:p>
          <a:p>
            <a:pPr eaLnBrk="1" hangingPunct="1">
              <a:buFont typeface="Wingdings" panose="05000000000000000000" pitchFamily="2" charset="2"/>
              <a:buNone/>
            </a:pPr>
            <a:r>
              <a:rPr lang="en-US" altLang="en-US"/>
              <a:t>		      011</a:t>
            </a:r>
          </a:p>
          <a:p>
            <a:pPr eaLnBrk="1" hangingPunct="1">
              <a:buFont typeface="Wingdings" panose="05000000000000000000" pitchFamily="2" charset="2"/>
              <a:buNone/>
            </a:pPr>
            <a:r>
              <a:rPr lang="en-US" altLang="en-US"/>
              <a:t>	         </a:t>
            </a:r>
            <a:r>
              <a:rPr lang="en-US" altLang="en-US" u="sng"/>
              <a:t>   000 </a:t>
            </a:r>
          </a:p>
          <a:p>
            <a:pPr eaLnBrk="1" hangingPunct="1">
              <a:buFont typeface="Wingdings" panose="05000000000000000000" pitchFamily="2" charset="2"/>
              <a:buNone/>
            </a:pPr>
            <a:r>
              <a:rPr lang="en-US" altLang="en-US"/>
              <a:t>		        11</a:t>
            </a:r>
          </a:p>
        </p:txBody>
      </p:sp>
    </p:spTree>
  </p:cSld>
  <p:clrMapOvr>
    <a:masterClrMapping/>
  </p:clrMapOvr>
  <p:transition advTm="40448"/>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BFE272D8-7623-8886-90AB-FF240D40C9B4}"/>
              </a:ext>
            </a:extLst>
          </p:cNvPr>
          <p:cNvSpPr>
            <a:spLocks noGrp="1" noChangeArrowheads="1"/>
          </p:cNvSpPr>
          <p:nvPr>
            <p:ph type="title"/>
          </p:nvPr>
        </p:nvSpPr>
        <p:spPr/>
        <p:txBody>
          <a:bodyPr/>
          <a:lstStyle/>
          <a:p>
            <a:pPr eaLnBrk="1" hangingPunct="1"/>
            <a:r>
              <a:rPr lang="en-US" altLang="en-US" sz="3200">
                <a:latin typeface="Arial" panose="020B0604020202020204" pitchFamily="34" charset="0"/>
                <a:cs typeface="Arial" panose="020B0604020202020204" pitchFamily="34" charset="0"/>
              </a:rPr>
              <a:t>Division by shifting right</a:t>
            </a:r>
          </a:p>
        </p:txBody>
      </p:sp>
      <p:sp>
        <p:nvSpPr>
          <p:cNvPr id="46083" name="Rectangle 3">
            <a:extLst>
              <a:ext uri="{FF2B5EF4-FFF2-40B4-BE49-F238E27FC236}">
                <a16:creationId xmlns:a16="http://schemas.microsoft.com/office/drawing/2014/main" id="{C0DEE00C-8D36-15E9-61D7-B9FC2CD7A9E4}"/>
              </a:ext>
            </a:extLst>
          </p:cNvPr>
          <p:cNvSpPr>
            <a:spLocks noGrp="1" noChangeArrowheads="1"/>
          </p:cNvSpPr>
          <p:nvPr>
            <p:ph idx="1"/>
          </p:nvPr>
        </p:nvSpPr>
        <p:spPr/>
        <p:txBody>
          <a:bodyPr/>
          <a:lstStyle/>
          <a:p>
            <a:pPr eaLnBrk="1" hangingPunct="1"/>
            <a:r>
              <a:rPr lang="en-US" altLang="en-US" sz="2800"/>
              <a:t>Decimal 29 shifted right by one digit</a:t>
            </a:r>
          </a:p>
          <a:p>
            <a:pPr eaLnBrk="1" hangingPunct="1"/>
            <a:r>
              <a:rPr lang="en-US" altLang="en-US" sz="2800"/>
              <a:t>2.9</a:t>
            </a:r>
          </a:p>
          <a:p>
            <a:pPr eaLnBrk="1" hangingPunct="1"/>
            <a:r>
              <a:rPr lang="en-US" altLang="en-US" sz="2800"/>
              <a:t>Shift left 1 digit is divide by 10</a:t>
            </a:r>
          </a:p>
          <a:p>
            <a:pPr eaLnBrk="1" hangingPunct="1">
              <a:buFont typeface="Wingdings" panose="05000000000000000000" pitchFamily="2" charset="2"/>
              <a:buNone/>
            </a:pPr>
            <a:endParaRPr lang="en-US" altLang="en-US" sz="2800"/>
          </a:p>
          <a:p>
            <a:pPr eaLnBrk="1" hangingPunct="1"/>
            <a:r>
              <a:rPr lang="en-US" altLang="en-US" sz="2800"/>
              <a:t>Binary 11101</a:t>
            </a:r>
            <a:r>
              <a:rPr lang="en-US" altLang="en-US" sz="2800" baseline="-25000"/>
              <a:t>2</a:t>
            </a:r>
            <a:r>
              <a:rPr lang="en-US" altLang="en-US" sz="2800"/>
              <a:t> (29) shifted left by one bit</a:t>
            </a:r>
          </a:p>
          <a:p>
            <a:pPr eaLnBrk="1" hangingPunct="1"/>
            <a:r>
              <a:rPr lang="en-US" altLang="en-US" sz="2800"/>
              <a:t>1110.1</a:t>
            </a:r>
            <a:r>
              <a:rPr lang="en-US" altLang="en-US" sz="2800" baseline="-25000"/>
              <a:t>2</a:t>
            </a:r>
            <a:r>
              <a:rPr lang="en-US" altLang="en-US" sz="2800"/>
              <a:t> (14.5) </a:t>
            </a:r>
          </a:p>
          <a:p>
            <a:pPr eaLnBrk="1" hangingPunct="1"/>
            <a:r>
              <a:rPr lang="en-US" altLang="en-US" sz="2800"/>
              <a:t>Shift left 1 bit is divide by 2 </a:t>
            </a:r>
          </a:p>
          <a:p>
            <a:pPr eaLnBrk="1" hangingPunct="1"/>
            <a:endParaRPr lang="en-US" altLang="en-US" sz="2800"/>
          </a:p>
        </p:txBody>
      </p:sp>
    </p:spTree>
  </p:cSld>
  <p:clrMapOvr>
    <a:masterClrMapping/>
  </p:clrMapOvr>
  <p:transition advTm="76000"/>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Binary Addition, Subtraction and Multiplication</a:t>
            </a:r>
          </a:p>
        </p:txBody>
      </p:sp>
      <p:sp>
        <p:nvSpPr>
          <p:cNvPr id="3" name="Content Placeholder 2"/>
          <p:cNvSpPr>
            <a:spLocks noGrp="1"/>
          </p:cNvSpPr>
          <p:nvPr>
            <p:ph idx="1"/>
          </p:nvPr>
        </p:nvSpPr>
        <p:spPr>
          <a:xfrm>
            <a:off x="457200" y="1600201"/>
            <a:ext cx="8229600" cy="3200399"/>
          </a:xfrm>
        </p:spPr>
        <p:txBody>
          <a:bodyPr>
            <a:normAutofit fontScale="92500" lnSpcReduction="10000"/>
          </a:bodyPr>
          <a:lstStyle/>
          <a:p>
            <a:r>
              <a:rPr lang="en-US" dirty="0"/>
              <a:t>Arithmetic operations with numbers in base </a:t>
            </a:r>
            <a:r>
              <a:rPr lang="en-US" i="1" dirty="0"/>
              <a:t>r </a:t>
            </a:r>
            <a:r>
              <a:rPr lang="en-US" dirty="0"/>
              <a:t>follow the same rules as for decimal numbers. When a base other than the familiar base 10 is used, one must be careful to use only the </a:t>
            </a:r>
            <a:r>
              <a:rPr lang="en-US" i="1" dirty="0"/>
              <a:t>r</a:t>
            </a:r>
            <a:r>
              <a:rPr lang="en-US" dirty="0"/>
              <a:t>‐allowable digits</a:t>
            </a:r>
          </a:p>
          <a:p>
            <a:r>
              <a:rPr lang="en-US" dirty="0"/>
              <a:t>Examples of addition, subtraction and multiplication in binary are given below</a:t>
            </a:r>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53</a:t>
            </a:fld>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9225" y="4724400"/>
            <a:ext cx="1323975" cy="1238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62400" y="4724400"/>
            <a:ext cx="1485900" cy="121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91400" y="3486150"/>
            <a:ext cx="1162050" cy="2476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75436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2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Signed Integers</a:t>
            </a:r>
          </a:p>
        </p:txBody>
      </p:sp>
      <p:sp>
        <p:nvSpPr>
          <p:cNvPr id="3" name="Content Placeholder 2"/>
          <p:cNvSpPr>
            <a:spLocks noGrp="1"/>
          </p:cNvSpPr>
          <p:nvPr>
            <p:ph idx="1"/>
          </p:nvPr>
        </p:nvSpPr>
        <p:spPr/>
        <p:txBody>
          <a:bodyPr>
            <a:normAutofit fontScale="92500" lnSpcReduction="20000"/>
          </a:bodyPr>
          <a:lstStyle/>
          <a:p>
            <a:r>
              <a:rPr lang="en-US" dirty="0"/>
              <a:t>Signed integers are either positive or negative</a:t>
            </a:r>
          </a:p>
          <a:p>
            <a:r>
              <a:rPr lang="en-US" dirty="0"/>
              <a:t>Not possible to stick negative sign to a number in binary numbers</a:t>
            </a:r>
          </a:p>
          <a:p>
            <a:r>
              <a:rPr lang="en-US" dirty="0"/>
              <a:t>When explicitly mentioned as signed integer, then MSB decides the +</a:t>
            </a:r>
            <a:r>
              <a:rPr lang="en-US" dirty="0" err="1"/>
              <a:t>ve</a:t>
            </a:r>
            <a:r>
              <a:rPr lang="en-US" dirty="0"/>
              <a:t> and –</a:t>
            </a:r>
            <a:r>
              <a:rPr lang="en-US" dirty="0" err="1"/>
              <a:t>ve</a:t>
            </a:r>
            <a:r>
              <a:rPr lang="en-US" dirty="0"/>
              <a:t> sign</a:t>
            </a:r>
          </a:p>
          <a:p>
            <a:r>
              <a:rPr lang="en-US" dirty="0"/>
              <a:t>In </a:t>
            </a:r>
            <a:r>
              <a:rPr lang="en-US" dirty="0">
                <a:solidFill>
                  <a:srgbClr val="FF0000"/>
                </a:solidFill>
              </a:rPr>
              <a:t>signed binary/octal/hex</a:t>
            </a:r>
            <a:r>
              <a:rPr lang="en-US" dirty="0"/>
              <a:t> integers</a:t>
            </a:r>
          </a:p>
          <a:p>
            <a:pPr lvl="1"/>
            <a:r>
              <a:rPr lang="en-US" dirty="0">
                <a:solidFill>
                  <a:srgbClr val="FF0000"/>
                </a:solidFill>
              </a:rPr>
              <a:t>MSB = 1 </a:t>
            </a:r>
            <a:r>
              <a:rPr lang="en-US" dirty="0">
                <a:solidFill>
                  <a:srgbClr val="FF0000"/>
                </a:solidFill>
                <a:sym typeface="Wingdings" pitchFamily="2" charset="2"/>
              </a:rPr>
              <a:t> integers is negative</a:t>
            </a:r>
          </a:p>
          <a:p>
            <a:pPr lvl="1"/>
            <a:r>
              <a:rPr lang="en-US" dirty="0">
                <a:solidFill>
                  <a:srgbClr val="FF0000"/>
                </a:solidFill>
                <a:sym typeface="Wingdings" pitchFamily="2" charset="2"/>
              </a:rPr>
              <a:t>MSB = 0  integers is positive</a:t>
            </a:r>
          </a:p>
          <a:p>
            <a:r>
              <a:rPr lang="en-US" dirty="0">
                <a:sym typeface="Wingdings" pitchFamily="2" charset="2"/>
              </a:rPr>
              <a:t>Negative integers are represented using 2’s complement notation</a:t>
            </a:r>
            <a:endParaRPr lang="en-US" dirty="0"/>
          </a:p>
        </p:txBody>
      </p:sp>
      <p:sp>
        <p:nvSpPr>
          <p:cNvPr id="4" name="Slide Number Placeholder 3"/>
          <p:cNvSpPr>
            <a:spLocks noGrp="1"/>
          </p:cNvSpPr>
          <p:nvPr>
            <p:ph type="sldNum" sz="quarter" idx="12"/>
          </p:nvPr>
        </p:nvSpPr>
        <p:spPr/>
        <p:txBody>
          <a:bodyPr/>
          <a:lstStyle/>
          <a:p>
            <a:fld id="{F3BB565D-BC98-4CA7-9642-B2EC25C3A286}" type="slidenum">
              <a:rPr lang="en-US" smtClean="0"/>
              <a:t>54</a:t>
            </a:fld>
            <a:endParaRPr lang="en-US"/>
          </a:p>
        </p:txBody>
      </p:sp>
    </p:spTree>
    <p:extLst>
      <p:ext uri="{BB962C8B-B14F-4D97-AF65-F5344CB8AC3E}">
        <p14:creationId xmlns:p14="http://schemas.microsoft.com/office/powerpoint/2010/main" val="199955703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Complements of Numbers</a:t>
            </a:r>
          </a:p>
        </p:txBody>
      </p:sp>
      <p:sp>
        <p:nvSpPr>
          <p:cNvPr id="3" name="Content Placeholder 2"/>
          <p:cNvSpPr>
            <a:spLocks noGrp="1"/>
          </p:cNvSpPr>
          <p:nvPr>
            <p:ph idx="1"/>
          </p:nvPr>
        </p:nvSpPr>
        <p:spPr/>
        <p:txBody>
          <a:bodyPr>
            <a:normAutofit fontScale="92500"/>
          </a:bodyPr>
          <a:lstStyle/>
          <a:p>
            <a:r>
              <a:rPr lang="en-US" dirty="0"/>
              <a:t>Complements are used in digital computers to simplify the subtraction operation and for logical manipulation</a:t>
            </a:r>
          </a:p>
          <a:p>
            <a:r>
              <a:rPr lang="en-US" dirty="0"/>
              <a:t>Simplifying operations leads to simpler, less expensive circuits to implement the operations</a:t>
            </a:r>
          </a:p>
          <a:p>
            <a:r>
              <a:rPr lang="en-US" dirty="0"/>
              <a:t>There are two types of complements for each base‐r system</a:t>
            </a:r>
          </a:p>
          <a:p>
            <a:pPr marL="971550" lvl="1" indent="-514350">
              <a:buFont typeface="+mj-lt"/>
              <a:buAutoNum type="arabicPeriod"/>
            </a:pPr>
            <a:r>
              <a:rPr lang="en-US" dirty="0"/>
              <a:t>Radix complement (r’s complement)</a:t>
            </a:r>
          </a:p>
          <a:p>
            <a:pPr marL="971550" lvl="1" indent="-514350">
              <a:buFont typeface="+mj-lt"/>
              <a:buAutoNum type="arabicPeriod"/>
            </a:pPr>
            <a:r>
              <a:rPr lang="en-US" dirty="0"/>
              <a:t>Diminished radix complement (r – 1’s complement)</a:t>
            </a:r>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55</a:t>
            </a:fld>
            <a:endParaRPr lang="en-US"/>
          </a:p>
        </p:txBody>
      </p:sp>
    </p:spTree>
    <p:extLst>
      <p:ext uri="{BB962C8B-B14F-4D97-AF65-F5344CB8AC3E}">
        <p14:creationId xmlns:p14="http://schemas.microsoft.com/office/powerpoint/2010/main" val="705948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Diminished Radix Complement</a:t>
            </a:r>
          </a:p>
        </p:txBody>
      </p:sp>
      <p:sp>
        <p:nvSpPr>
          <p:cNvPr id="3" name="Content Placeholder 2"/>
          <p:cNvSpPr>
            <a:spLocks noGrp="1"/>
          </p:cNvSpPr>
          <p:nvPr>
            <p:ph idx="1"/>
          </p:nvPr>
        </p:nvSpPr>
        <p:spPr/>
        <p:txBody>
          <a:bodyPr>
            <a:normAutofit fontScale="85000" lnSpcReduction="20000"/>
          </a:bodyPr>
          <a:lstStyle/>
          <a:p>
            <a:r>
              <a:rPr lang="en-US" dirty="0"/>
              <a:t>Given a number N in base r having n digits, the (r - 1)’s complement of N , i.e., its diminished radix complement, is defined as (</a:t>
            </a:r>
            <a:r>
              <a:rPr lang="en-US" dirty="0" err="1"/>
              <a:t>r</a:t>
            </a:r>
            <a:r>
              <a:rPr lang="en-US" baseline="30000" dirty="0" err="1"/>
              <a:t>n</a:t>
            </a:r>
            <a:r>
              <a:rPr lang="en-US" dirty="0"/>
              <a:t> - 1) – N</a:t>
            </a:r>
          </a:p>
          <a:p>
            <a:r>
              <a:rPr lang="en-US" dirty="0"/>
              <a:t>Which means, subtract each digit of the number from (r – 1)</a:t>
            </a:r>
          </a:p>
          <a:p>
            <a:r>
              <a:rPr lang="en-US" dirty="0"/>
              <a:t>For example the diminished radix complement of 546700 is calculated as</a:t>
            </a:r>
          </a:p>
          <a:p>
            <a:pPr marL="0" indent="0" algn="ctr">
              <a:buNone/>
            </a:pPr>
            <a:r>
              <a:rPr lang="en-US" dirty="0"/>
              <a:t>999999 – 546700 = 453299</a:t>
            </a:r>
          </a:p>
          <a:p>
            <a:r>
              <a:rPr lang="en-US" dirty="0"/>
              <a:t>In case of binary numbers it is called 1’s complement and is obtained by inverting all the bits</a:t>
            </a:r>
          </a:p>
          <a:p>
            <a:r>
              <a:rPr lang="en-US" dirty="0"/>
              <a:t>For example the 1’s complement of 11001 is 00110</a:t>
            </a:r>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56</a:t>
            </a:fld>
            <a:endParaRPr lang="en-US"/>
          </a:p>
        </p:txBody>
      </p:sp>
    </p:spTree>
    <p:extLst>
      <p:ext uri="{BB962C8B-B14F-4D97-AF65-F5344CB8AC3E}">
        <p14:creationId xmlns:p14="http://schemas.microsoft.com/office/powerpoint/2010/main" val="3310900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Radix Complement</a:t>
            </a:r>
          </a:p>
        </p:txBody>
      </p:sp>
      <p:sp>
        <p:nvSpPr>
          <p:cNvPr id="3" name="Content Placeholder 2"/>
          <p:cNvSpPr>
            <a:spLocks noGrp="1"/>
          </p:cNvSpPr>
          <p:nvPr>
            <p:ph idx="1"/>
          </p:nvPr>
        </p:nvSpPr>
        <p:spPr>
          <a:xfrm>
            <a:off x="457200" y="1447800"/>
            <a:ext cx="8229600" cy="4800600"/>
          </a:xfrm>
        </p:spPr>
        <p:txBody>
          <a:bodyPr>
            <a:normAutofit fontScale="85000" lnSpcReduction="10000"/>
          </a:bodyPr>
          <a:lstStyle/>
          <a:p>
            <a:r>
              <a:rPr lang="en-US" dirty="0"/>
              <a:t>Radix complement is computed by adding 1 to the diminished radix complement</a:t>
            </a:r>
          </a:p>
          <a:p>
            <a:r>
              <a:rPr lang="en-US" dirty="0"/>
              <a:t>For example the r’s complement of 546700 is calculated as</a:t>
            </a:r>
          </a:p>
          <a:p>
            <a:pPr marL="0" indent="0" algn="ctr">
              <a:buNone/>
            </a:pPr>
            <a:r>
              <a:rPr lang="en-US" dirty="0"/>
              <a:t>999999 – 546700 = 453299 + 1 = 453300</a:t>
            </a:r>
          </a:p>
          <a:p>
            <a:r>
              <a:rPr lang="en-US" dirty="0"/>
              <a:t>In case of binary numbers it is called 2’s complement and can be calculated in two ways</a:t>
            </a:r>
          </a:p>
          <a:p>
            <a:pPr lvl="1"/>
            <a:r>
              <a:rPr lang="en-US" dirty="0"/>
              <a:t>Adding 1 to 1’s complement</a:t>
            </a:r>
          </a:p>
          <a:p>
            <a:pPr lvl="1"/>
            <a:r>
              <a:rPr lang="en-US" dirty="0"/>
              <a:t>By leaving all least significant 0’s and the first 1 unchanged and replacing 1’s with 0’s and 0’s with 1’s in all other higher significant digits</a:t>
            </a:r>
          </a:p>
          <a:p>
            <a:pPr lvl="1"/>
            <a:r>
              <a:rPr lang="en-US" dirty="0"/>
              <a:t>For example the 2’s complement of 1101100 is 0010100</a:t>
            </a:r>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57</a:t>
            </a:fld>
            <a:endParaRPr lang="en-US"/>
          </a:p>
        </p:txBody>
      </p:sp>
    </p:spTree>
    <p:extLst>
      <p:ext uri="{BB962C8B-B14F-4D97-AF65-F5344CB8AC3E}">
        <p14:creationId xmlns:p14="http://schemas.microsoft.com/office/powerpoint/2010/main" val="1922612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Complements of Fractions</a:t>
            </a:r>
          </a:p>
        </p:txBody>
      </p:sp>
      <p:sp>
        <p:nvSpPr>
          <p:cNvPr id="3" name="Content Placeholder 2"/>
          <p:cNvSpPr>
            <a:spLocks noGrp="1"/>
          </p:cNvSpPr>
          <p:nvPr>
            <p:ph idx="1"/>
          </p:nvPr>
        </p:nvSpPr>
        <p:spPr/>
        <p:txBody>
          <a:bodyPr>
            <a:normAutofit fontScale="92500" lnSpcReduction="20000"/>
          </a:bodyPr>
          <a:lstStyle/>
          <a:p>
            <a:r>
              <a:rPr lang="en-US" dirty="0"/>
              <a:t>In the previous definitions, it was assumed that the numbers did not have a radix point</a:t>
            </a:r>
          </a:p>
          <a:p>
            <a:r>
              <a:rPr lang="en-US" dirty="0"/>
              <a:t>If the original number N contains a radix point, the point should be removed temporarily in order to form the r’s or (r - 1)’s complement</a:t>
            </a:r>
          </a:p>
          <a:p>
            <a:r>
              <a:rPr lang="en-US" dirty="0"/>
              <a:t>The radix point is then restored to the complemented number in the same relative position</a:t>
            </a:r>
          </a:p>
          <a:p>
            <a:r>
              <a:rPr lang="en-US" dirty="0"/>
              <a:t>It is also worth mentioning that the complement of the complement restores the number to its original value</a:t>
            </a:r>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58</a:t>
            </a:fld>
            <a:endParaRPr lang="en-US"/>
          </a:p>
        </p:txBody>
      </p:sp>
    </p:spTree>
    <p:extLst>
      <p:ext uri="{BB962C8B-B14F-4D97-AF65-F5344CB8AC3E}">
        <p14:creationId xmlns:p14="http://schemas.microsoft.com/office/powerpoint/2010/main" val="44474328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Practice Problem 3</a:t>
            </a:r>
          </a:p>
        </p:txBody>
      </p:sp>
      <p:sp>
        <p:nvSpPr>
          <p:cNvPr id="3" name="Content Placeholder 2"/>
          <p:cNvSpPr>
            <a:spLocks noGrp="1"/>
          </p:cNvSpPr>
          <p:nvPr>
            <p:ph idx="1"/>
          </p:nvPr>
        </p:nvSpPr>
        <p:spPr/>
        <p:txBody>
          <a:bodyPr>
            <a:normAutofit fontScale="77500" lnSpcReduction="20000"/>
          </a:bodyPr>
          <a:lstStyle/>
          <a:p>
            <a:r>
              <a:rPr lang="en-US" dirty="0"/>
              <a:t>Find the (r – 1)’s complements of the following numbers</a:t>
            </a:r>
          </a:p>
          <a:p>
            <a:pPr marL="1028700" lvl="1" indent="-571500">
              <a:buFont typeface="+mj-lt"/>
              <a:buAutoNum type="romanLcPeriod"/>
            </a:pPr>
            <a:r>
              <a:rPr lang="en-US" dirty="0"/>
              <a:t>(23456)</a:t>
            </a:r>
            <a:r>
              <a:rPr lang="en-US" baseline="-25000" dirty="0"/>
              <a:t>8</a:t>
            </a:r>
          </a:p>
          <a:p>
            <a:pPr marL="1028700" lvl="1" indent="-571500">
              <a:buFont typeface="+mj-lt"/>
              <a:buAutoNum type="romanLcPeriod"/>
            </a:pPr>
            <a:r>
              <a:rPr lang="en-US" dirty="0"/>
              <a:t>(12004)</a:t>
            </a:r>
            <a:r>
              <a:rPr lang="en-US" baseline="-25000" dirty="0"/>
              <a:t>5</a:t>
            </a:r>
          </a:p>
          <a:p>
            <a:pPr marL="1028700" lvl="1" indent="-571500">
              <a:buFont typeface="+mj-lt"/>
              <a:buAutoNum type="romanLcPeriod"/>
            </a:pPr>
            <a:r>
              <a:rPr lang="en-US" dirty="0"/>
              <a:t>(03DBA)</a:t>
            </a:r>
            <a:r>
              <a:rPr lang="en-US" baseline="-25000" dirty="0"/>
              <a:t>16</a:t>
            </a:r>
          </a:p>
          <a:p>
            <a:pPr marL="1028700" lvl="1" indent="-571500">
              <a:buFont typeface="+mj-lt"/>
              <a:buAutoNum type="romanLcPeriod"/>
            </a:pPr>
            <a:r>
              <a:rPr lang="en-US" dirty="0"/>
              <a:t>(00110110)</a:t>
            </a:r>
            <a:r>
              <a:rPr lang="en-US" baseline="-25000" dirty="0"/>
              <a:t>2</a:t>
            </a:r>
          </a:p>
          <a:p>
            <a:pPr marL="1028700" lvl="1" indent="-571500">
              <a:buFont typeface="+mj-lt"/>
              <a:buAutoNum type="romanLcPeriod"/>
            </a:pPr>
            <a:r>
              <a:rPr lang="en-US" dirty="0"/>
              <a:t>(110111 . 1101)</a:t>
            </a:r>
            <a:r>
              <a:rPr lang="en-US" baseline="-25000" dirty="0"/>
              <a:t>2</a:t>
            </a:r>
          </a:p>
          <a:p>
            <a:endParaRPr lang="en-US" dirty="0"/>
          </a:p>
          <a:p>
            <a:r>
              <a:rPr lang="en-US" dirty="0"/>
              <a:t>Find the r’s complements of the following numbers</a:t>
            </a:r>
          </a:p>
          <a:p>
            <a:pPr marL="1028700" lvl="1" indent="-571500">
              <a:buFont typeface="+mj-lt"/>
              <a:buAutoNum type="romanLcPeriod"/>
            </a:pPr>
            <a:r>
              <a:rPr lang="en-US" dirty="0"/>
              <a:t>(11100010)</a:t>
            </a:r>
            <a:r>
              <a:rPr lang="en-US" baseline="-25000" dirty="0"/>
              <a:t>2</a:t>
            </a:r>
          </a:p>
          <a:p>
            <a:pPr marL="1028700" lvl="1" indent="-571500">
              <a:buFont typeface="+mj-lt"/>
              <a:buAutoNum type="romanLcPeriod"/>
            </a:pPr>
            <a:r>
              <a:rPr lang="en-US" dirty="0"/>
              <a:t>(00110011)</a:t>
            </a:r>
            <a:r>
              <a:rPr lang="en-US" baseline="-25000" dirty="0"/>
              <a:t>2</a:t>
            </a:r>
          </a:p>
          <a:p>
            <a:pPr marL="1028700" lvl="1" indent="-571500">
              <a:buFont typeface="+mj-lt"/>
              <a:buAutoNum type="romanLcPeriod"/>
            </a:pPr>
            <a:r>
              <a:rPr lang="en-US" dirty="0"/>
              <a:t>(89C2DF)</a:t>
            </a:r>
            <a:r>
              <a:rPr lang="en-US" baseline="-25000" dirty="0"/>
              <a:t>16</a:t>
            </a:r>
          </a:p>
          <a:p>
            <a:pPr marL="1028700" lvl="1" indent="-571500">
              <a:buFont typeface="+mj-lt"/>
              <a:buAutoNum type="romanLcPeriod"/>
            </a:pPr>
            <a:r>
              <a:rPr lang="en-US" dirty="0"/>
              <a:t>(042142)</a:t>
            </a:r>
            <a:r>
              <a:rPr lang="en-US" baseline="-25000" dirty="0"/>
              <a:t>5</a:t>
            </a:r>
          </a:p>
          <a:p>
            <a:pPr marL="1028700" lvl="1" indent="-571500">
              <a:buFont typeface="+mj-lt"/>
              <a:buAutoNum type="romanLcPeriod"/>
            </a:pPr>
            <a:r>
              <a:rPr lang="en-US" dirty="0"/>
              <a:t>(0723 . 6124)</a:t>
            </a:r>
            <a:r>
              <a:rPr lang="en-US" baseline="-25000" dirty="0"/>
              <a:t>8</a:t>
            </a:r>
          </a:p>
          <a:p>
            <a:endParaRPr lang="en-US" dirty="0"/>
          </a:p>
        </p:txBody>
      </p:sp>
      <p:sp>
        <p:nvSpPr>
          <p:cNvPr id="4" name="Date Placeholder 3"/>
          <p:cNvSpPr>
            <a:spLocks noGrp="1"/>
          </p:cNvSpPr>
          <p:nvPr>
            <p:ph type="dt" sz="half" idx="10"/>
          </p:nvPr>
        </p:nvSpPr>
        <p:spPr/>
        <p:txBody>
          <a:bodyPr/>
          <a:lstStyle/>
          <a:p>
            <a:r>
              <a:rPr lang="en-US"/>
              <a:t>EE227 - DLD</a:t>
            </a:r>
          </a:p>
        </p:txBody>
      </p:sp>
      <p:sp>
        <p:nvSpPr>
          <p:cNvPr id="5" name="Footer Placeholder 4"/>
          <p:cNvSpPr>
            <a:spLocks noGrp="1"/>
          </p:cNvSpPr>
          <p:nvPr>
            <p:ph type="ftr" sz="quarter" idx="11"/>
          </p:nvPr>
        </p:nvSpPr>
        <p:spPr/>
        <p:txBody>
          <a:bodyPr/>
          <a:lstStyle/>
          <a:p>
            <a:r>
              <a:rPr lang="en-US" dirty="0"/>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59</a:t>
            </a:fld>
            <a:endParaRPr lang="en-US"/>
          </a:p>
        </p:txBody>
      </p:sp>
    </p:spTree>
    <p:extLst>
      <p:ext uri="{BB962C8B-B14F-4D97-AF65-F5344CB8AC3E}">
        <p14:creationId xmlns:p14="http://schemas.microsoft.com/office/powerpoint/2010/main" val="133131809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en-GB" sz="3200">
                <a:latin typeface="Arial" pitchFamily="34" charset="0"/>
                <a:cs typeface="Arial" pitchFamily="34" charset="0"/>
              </a:rPr>
              <a:t>2’s Complement form</a:t>
            </a:r>
          </a:p>
        </p:txBody>
      </p:sp>
      <p:sp>
        <p:nvSpPr>
          <p:cNvPr id="9219" name="Rectangle 3"/>
          <p:cNvSpPr>
            <a:spLocks noGrp="1" noChangeArrowheads="1"/>
          </p:cNvSpPr>
          <p:nvPr>
            <p:ph idx="1"/>
          </p:nvPr>
        </p:nvSpPr>
        <p:spPr/>
        <p:txBody>
          <a:bodyPr/>
          <a:lstStyle/>
          <a:p>
            <a:pPr eaLnBrk="1" hangingPunct="1"/>
            <a:r>
              <a:rPr lang="en-GB" sz="2800" dirty="0"/>
              <a:t>1’s complement form</a:t>
            </a:r>
          </a:p>
          <a:p>
            <a:pPr eaLnBrk="1" hangingPunct="1"/>
            <a:r>
              <a:rPr lang="en-GB" sz="2800" dirty="0"/>
              <a:t>2’s complement form</a:t>
            </a:r>
          </a:p>
          <a:p>
            <a:pPr eaLnBrk="1" hangingPunct="1"/>
            <a:endParaRPr lang="en-GB" sz="2800" dirty="0"/>
          </a:p>
          <a:p>
            <a:pPr eaLnBrk="1" hangingPunct="1">
              <a:buFont typeface="Wingdings" pitchFamily="2" charset="2"/>
              <a:buNone/>
            </a:pPr>
            <a:r>
              <a:rPr lang="en-GB" sz="2800" dirty="0"/>
              <a:t>Binary number 	1101	(13)</a:t>
            </a:r>
          </a:p>
          <a:p>
            <a:pPr eaLnBrk="1" hangingPunct="1">
              <a:buFont typeface="Wingdings" pitchFamily="2" charset="2"/>
              <a:buNone/>
            </a:pPr>
            <a:r>
              <a:rPr lang="en-GB" sz="2800" dirty="0"/>
              <a:t>1’s complement	0010</a:t>
            </a:r>
          </a:p>
          <a:p>
            <a:pPr eaLnBrk="1" hangingPunct="1">
              <a:buFont typeface="Wingdings" pitchFamily="2" charset="2"/>
              <a:buNone/>
            </a:pPr>
            <a:r>
              <a:rPr lang="en-GB" sz="2800" dirty="0"/>
              <a:t>				</a:t>
            </a:r>
            <a:r>
              <a:rPr lang="en-GB" sz="2800" u="sng" dirty="0"/>
              <a:t>+      1</a:t>
            </a:r>
          </a:p>
          <a:p>
            <a:pPr eaLnBrk="1" hangingPunct="1">
              <a:buFont typeface="Wingdings" pitchFamily="2" charset="2"/>
              <a:buNone/>
            </a:pPr>
            <a:r>
              <a:rPr lang="en-GB" sz="2800" dirty="0"/>
              <a:t>2’s complement	0011	(-13)</a:t>
            </a:r>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en-GB" sz="3200">
                <a:latin typeface="Arial" pitchFamily="34" charset="0"/>
                <a:cs typeface="Arial" pitchFamily="34" charset="0"/>
              </a:rPr>
              <a:t>Range of Numbers</a:t>
            </a:r>
          </a:p>
        </p:txBody>
      </p:sp>
      <p:sp>
        <p:nvSpPr>
          <p:cNvPr id="13315" name="Rectangle 3"/>
          <p:cNvSpPr>
            <a:spLocks noGrp="1" noChangeArrowheads="1"/>
          </p:cNvSpPr>
          <p:nvPr>
            <p:ph idx="1"/>
          </p:nvPr>
        </p:nvSpPr>
        <p:spPr/>
        <p:txBody>
          <a:bodyPr/>
          <a:lstStyle/>
          <a:p>
            <a:pPr eaLnBrk="1" hangingPunct="1">
              <a:lnSpc>
                <a:spcPct val="90000"/>
              </a:lnSpc>
            </a:pPr>
            <a:r>
              <a:rPr lang="en-GB" sz="2800" b="1"/>
              <a:t>Unsigned</a:t>
            </a:r>
          </a:p>
          <a:p>
            <a:pPr lvl="1" eaLnBrk="1" hangingPunct="1">
              <a:lnSpc>
                <a:spcPct val="90000"/>
              </a:lnSpc>
              <a:buClr>
                <a:schemeClr val="tx1"/>
              </a:buClr>
            </a:pPr>
            <a:r>
              <a:rPr lang="en-GB">
                <a:latin typeface="Arial" pitchFamily="34" charset="0"/>
              </a:rPr>
              <a:t>Positive Numbers Only (0 to 7)</a:t>
            </a:r>
          </a:p>
          <a:p>
            <a:pPr lvl="1" eaLnBrk="1" hangingPunct="1">
              <a:lnSpc>
                <a:spcPct val="90000"/>
              </a:lnSpc>
              <a:buClr>
                <a:schemeClr val="tx1"/>
              </a:buClr>
            </a:pPr>
            <a:r>
              <a:rPr lang="en-GB">
                <a:latin typeface="Arial" pitchFamily="34" charset="0"/>
              </a:rPr>
              <a:t>3-bit</a:t>
            </a:r>
          </a:p>
          <a:p>
            <a:pPr eaLnBrk="1" hangingPunct="1">
              <a:lnSpc>
                <a:spcPct val="90000"/>
              </a:lnSpc>
              <a:buClr>
                <a:schemeClr val="tx1"/>
              </a:buClr>
            </a:pPr>
            <a:r>
              <a:rPr lang="en-GB" sz="2800"/>
              <a:t>Signed Magnitude</a:t>
            </a:r>
          </a:p>
          <a:p>
            <a:pPr lvl="1" eaLnBrk="1" hangingPunct="1">
              <a:lnSpc>
                <a:spcPct val="90000"/>
              </a:lnSpc>
              <a:buClr>
                <a:schemeClr val="tx1"/>
              </a:buClr>
            </a:pPr>
            <a:r>
              <a:rPr lang="en-GB">
                <a:latin typeface="Arial" pitchFamily="34" charset="0"/>
              </a:rPr>
              <a:t>Positive &amp; Negative Numbers (-7 to 7)</a:t>
            </a:r>
          </a:p>
          <a:p>
            <a:pPr lvl="1" eaLnBrk="1" hangingPunct="1">
              <a:lnSpc>
                <a:spcPct val="90000"/>
              </a:lnSpc>
              <a:buClr>
                <a:schemeClr val="tx1"/>
              </a:buClr>
            </a:pPr>
            <a:r>
              <a:rPr lang="en-GB">
                <a:latin typeface="Arial" pitchFamily="34" charset="0"/>
              </a:rPr>
              <a:t>4-bit</a:t>
            </a:r>
          </a:p>
          <a:p>
            <a:pPr eaLnBrk="1" hangingPunct="1">
              <a:lnSpc>
                <a:spcPct val="90000"/>
              </a:lnSpc>
              <a:buClr>
                <a:schemeClr val="tx1"/>
              </a:buClr>
            </a:pPr>
            <a:r>
              <a:rPr lang="en-GB" sz="2800"/>
              <a:t>2’s Complement</a:t>
            </a:r>
          </a:p>
          <a:p>
            <a:pPr lvl="1" eaLnBrk="1" hangingPunct="1">
              <a:lnSpc>
                <a:spcPct val="90000"/>
              </a:lnSpc>
              <a:buClr>
                <a:schemeClr val="tx1"/>
              </a:buClr>
            </a:pPr>
            <a:r>
              <a:rPr lang="en-GB">
                <a:latin typeface="Arial" pitchFamily="34" charset="0"/>
              </a:rPr>
              <a:t>Positive &amp; Negative Numbers (-8 to 7)</a:t>
            </a:r>
          </a:p>
          <a:p>
            <a:pPr lvl="1" eaLnBrk="1" hangingPunct="1">
              <a:lnSpc>
                <a:spcPct val="90000"/>
              </a:lnSpc>
              <a:buClr>
                <a:schemeClr val="tx1"/>
              </a:buClr>
            </a:pPr>
            <a:r>
              <a:rPr lang="en-GB">
                <a:latin typeface="Arial" pitchFamily="34" charset="0"/>
              </a:rPr>
              <a:t>4-bit</a:t>
            </a:r>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en-GB" sz="3200">
                <a:latin typeface="Arial" pitchFamily="34" charset="0"/>
                <a:cs typeface="Arial" pitchFamily="34" charset="0"/>
              </a:rPr>
              <a:t>Range &amp; Overflow</a:t>
            </a:r>
          </a:p>
        </p:txBody>
      </p:sp>
      <p:sp>
        <p:nvSpPr>
          <p:cNvPr id="14339" name="Rectangle 3"/>
          <p:cNvSpPr>
            <a:spLocks noGrp="1" noChangeArrowheads="1"/>
          </p:cNvSpPr>
          <p:nvPr>
            <p:ph idx="1"/>
          </p:nvPr>
        </p:nvSpPr>
        <p:spPr/>
        <p:txBody>
          <a:bodyPr/>
          <a:lstStyle/>
          <a:p>
            <a:pPr eaLnBrk="1" hangingPunct="1"/>
            <a:r>
              <a:rPr lang="en-GB" sz="2800" dirty="0"/>
              <a:t>2 + 7 using 3-bit unsigned binary?</a:t>
            </a:r>
          </a:p>
          <a:p>
            <a:pPr eaLnBrk="1" hangingPunct="1"/>
            <a:r>
              <a:rPr lang="en-GB" sz="2800" dirty="0"/>
              <a:t>9 overflow?</a:t>
            </a:r>
          </a:p>
          <a:p>
            <a:pPr eaLnBrk="1" hangingPunct="1"/>
            <a:r>
              <a:rPr lang="en-GB" sz="2800" dirty="0"/>
              <a:t>2 – 7?</a:t>
            </a:r>
          </a:p>
          <a:p>
            <a:pPr eaLnBrk="1" hangingPunct="1"/>
            <a:r>
              <a:rPr lang="en-GB" sz="2800" dirty="0"/>
              <a:t>Can not represent -7 in unsigned binary</a:t>
            </a:r>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Range and Overflow</a:t>
            </a:r>
          </a:p>
        </p:txBody>
      </p:sp>
      <p:sp>
        <p:nvSpPr>
          <p:cNvPr id="3" name="Content Placeholder 2"/>
          <p:cNvSpPr>
            <a:spLocks noGrp="1"/>
          </p:cNvSpPr>
          <p:nvPr>
            <p:ph idx="1"/>
          </p:nvPr>
        </p:nvSpPr>
        <p:spPr/>
        <p:txBody>
          <a:bodyPr>
            <a:normAutofit fontScale="85000" lnSpcReduction="20000"/>
          </a:bodyPr>
          <a:lstStyle/>
          <a:p>
            <a:r>
              <a:rPr lang="en-US" dirty="0"/>
              <a:t>If an addition operation produces a result that exceeds the </a:t>
            </a:r>
            <a:r>
              <a:rPr lang="en-US" b="1" dirty="0"/>
              <a:t>range</a:t>
            </a:r>
            <a:r>
              <a:rPr lang="en-US" dirty="0"/>
              <a:t> of the number system, </a:t>
            </a:r>
            <a:r>
              <a:rPr lang="en-US" b="1" dirty="0"/>
              <a:t>overflow</a:t>
            </a:r>
            <a:r>
              <a:rPr lang="en-US" dirty="0"/>
              <a:t> is said to occur. </a:t>
            </a:r>
          </a:p>
          <a:p>
            <a:r>
              <a:rPr lang="en-US" dirty="0"/>
              <a:t>If the sum of two positive numbers yields a negative result, the sum has overflowed.</a:t>
            </a:r>
          </a:p>
          <a:p>
            <a:r>
              <a:rPr lang="en-US" dirty="0"/>
              <a:t>If the sum of two negative numbers yields a positive result, the sum has overflowed.</a:t>
            </a:r>
          </a:p>
          <a:p>
            <a:r>
              <a:rPr lang="en-US" dirty="0"/>
              <a:t>Otherwise, the sum has not overflowed.</a:t>
            </a:r>
          </a:p>
          <a:p>
            <a:r>
              <a:rPr lang="en-US" dirty="0"/>
              <a:t>Carryout without overflow. Sum is correct</a:t>
            </a:r>
          </a:p>
          <a:p>
            <a:pPr>
              <a:buNone/>
            </a:pPr>
            <a:br>
              <a:rPr lang="en-US" dirty="0"/>
            </a:br>
            <a:endParaRPr 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en-GB" sz="3200">
                <a:latin typeface="Arial" pitchFamily="34" charset="0"/>
                <a:cs typeface="Arial" pitchFamily="34" charset="0"/>
              </a:rPr>
              <a:t>Addition and Subtraction with 2’s Complement</a:t>
            </a:r>
          </a:p>
        </p:txBody>
      </p:sp>
      <p:sp>
        <p:nvSpPr>
          <p:cNvPr id="10243" name="Rectangle 3"/>
          <p:cNvSpPr>
            <a:spLocks noGrp="1" noChangeArrowheads="1"/>
          </p:cNvSpPr>
          <p:nvPr>
            <p:ph idx="1"/>
          </p:nvPr>
        </p:nvSpPr>
        <p:spPr/>
        <p:txBody>
          <a:bodyPr/>
          <a:lstStyle/>
          <a:p>
            <a:pPr eaLnBrk="1" hangingPunct="1">
              <a:lnSpc>
                <a:spcPct val="90000"/>
              </a:lnSpc>
              <a:buFont typeface="Wingdings" pitchFamily="2" charset="2"/>
              <a:buNone/>
            </a:pPr>
            <a:endParaRPr lang="en-GB" sz="2800"/>
          </a:p>
          <a:p>
            <a:pPr eaLnBrk="1" hangingPunct="1">
              <a:lnSpc>
                <a:spcPct val="90000"/>
              </a:lnSpc>
              <a:buFont typeface="Wingdings" pitchFamily="2" charset="2"/>
              <a:buNone/>
            </a:pPr>
            <a:r>
              <a:rPr lang="en-GB" sz="2800"/>
              <a:t>	0101	+5			0101		+5</a:t>
            </a:r>
            <a:endParaRPr lang="en-GB" sz="2800" u="sng"/>
          </a:p>
          <a:p>
            <a:pPr eaLnBrk="1" hangingPunct="1">
              <a:lnSpc>
                <a:spcPct val="90000"/>
              </a:lnSpc>
              <a:buFont typeface="Wingdings" pitchFamily="2" charset="2"/>
              <a:buNone/>
            </a:pPr>
            <a:r>
              <a:rPr lang="en-GB" sz="2800" u="sng"/>
              <a:t>	0010	+2</a:t>
            </a:r>
            <a:r>
              <a:rPr lang="en-GB" sz="2800"/>
              <a:t>			</a:t>
            </a:r>
            <a:r>
              <a:rPr lang="en-GB" sz="2800" u="sng"/>
              <a:t>1110		 -2</a:t>
            </a:r>
            <a:endParaRPr lang="en-GB" sz="2800"/>
          </a:p>
          <a:p>
            <a:pPr eaLnBrk="1" hangingPunct="1">
              <a:lnSpc>
                <a:spcPct val="90000"/>
              </a:lnSpc>
              <a:buFont typeface="Wingdings" pitchFamily="2" charset="2"/>
              <a:buNone/>
            </a:pPr>
            <a:r>
              <a:rPr lang="en-GB" sz="2800"/>
              <a:t>	0111	+7		         10011		+3</a:t>
            </a:r>
          </a:p>
          <a:p>
            <a:pPr eaLnBrk="1" hangingPunct="1">
              <a:lnSpc>
                <a:spcPct val="90000"/>
              </a:lnSpc>
              <a:buFont typeface="Wingdings" pitchFamily="2" charset="2"/>
              <a:buNone/>
            </a:pPr>
            <a:endParaRPr lang="en-GB" sz="2800"/>
          </a:p>
          <a:p>
            <a:pPr eaLnBrk="1" hangingPunct="1">
              <a:lnSpc>
                <a:spcPct val="90000"/>
              </a:lnSpc>
              <a:buFont typeface="Wingdings" pitchFamily="2" charset="2"/>
              <a:buNone/>
            </a:pPr>
            <a:r>
              <a:rPr lang="en-GB" sz="2800"/>
              <a:t>	1011	-5			1011		 -5</a:t>
            </a:r>
            <a:endParaRPr lang="en-GB" sz="2800" u="sng"/>
          </a:p>
          <a:p>
            <a:pPr eaLnBrk="1" hangingPunct="1">
              <a:lnSpc>
                <a:spcPct val="90000"/>
              </a:lnSpc>
              <a:buFont typeface="Wingdings" pitchFamily="2" charset="2"/>
              <a:buNone/>
            </a:pPr>
            <a:r>
              <a:rPr lang="en-GB" sz="2800" u="sng"/>
              <a:t>	1110	-2</a:t>
            </a:r>
            <a:r>
              <a:rPr lang="en-GB" sz="2800"/>
              <a:t>			</a:t>
            </a:r>
            <a:r>
              <a:rPr lang="en-GB" sz="2800" u="sng"/>
              <a:t>0010		+2</a:t>
            </a:r>
            <a:endParaRPr lang="en-GB" sz="2800"/>
          </a:p>
          <a:p>
            <a:pPr eaLnBrk="1" hangingPunct="1">
              <a:lnSpc>
                <a:spcPct val="90000"/>
              </a:lnSpc>
              <a:buFont typeface="Wingdings" pitchFamily="2" charset="2"/>
              <a:buNone/>
            </a:pPr>
            <a:r>
              <a:rPr lang="en-GB" sz="2800"/>
              <a:t> 11001	-7			1101		 -3</a:t>
            </a:r>
          </a:p>
        </p:txBody>
      </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en-GB" sz="3200">
                <a:latin typeface="Arial" pitchFamily="34" charset="0"/>
                <a:cs typeface="Arial" pitchFamily="34" charset="0"/>
              </a:rPr>
              <a:t>Addition and Subtraction</a:t>
            </a:r>
            <a:br>
              <a:rPr lang="en-GB" sz="3200">
                <a:latin typeface="Arial" pitchFamily="34" charset="0"/>
                <a:cs typeface="Arial" pitchFamily="34" charset="0"/>
              </a:rPr>
            </a:br>
            <a:r>
              <a:rPr lang="en-GB" sz="3200">
                <a:latin typeface="Arial" pitchFamily="34" charset="0"/>
                <a:cs typeface="Arial" pitchFamily="34" charset="0"/>
              </a:rPr>
              <a:t>2’s complement  vs. Signed</a:t>
            </a:r>
          </a:p>
        </p:txBody>
      </p:sp>
      <p:sp>
        <p:nvSpPr>
          <p:cNvPr id="11267" name="Rectangle 3"/>
          <p:cNvSpPr>
            <a:spLocks noGrp="1" noChangeArrowheads="1"/>
          </p:cNvSpPr>
          <p:nvPr>
            <p:ph idx="1"/>
          </p:nvPr>
        </p:nvSpPr>
        <p:spPr/>
        <p:txBody>
          <a:bodyPr/>
          <a:lstStyle/>
          <a:p>
            <a:pPr eaLnBrk="1" hangingPunct="1">
              <a:lnSpc>
                <a:spcPct val="90000"/>
              </a:lnSpc>
              <a:buFont typeface="Wingdings" pitchFamily="2" charset="2"/>
              <a:buNone/>
            </a:pPr>
            <a:r>
              <a:rPr lang="en-GB" sz="2800"/>
              <a:t>2’s Complement		Signed Binary</a:t>
            </a:r>
          </a:p>
          <a:p>
            <a:pPr eaLnBrk="1" hangingPunct="1">
              <a:lnSpc>
                <a:spcPct val="90000"/>
              </a:lnSpc>
              <a:buFont typeface="Wingdings" pitchFamily="2" charset="2"/>
              <a:buNone/>
            </a:pPr>
            <a:r>
              <a:rPr lang="en-GB" sz="2800"/>
              <a:t>   0101	+5			0101		+5</a:t>
            </a:r>
            <a:endParaRPr lang="en-GB" sz="2800" u="sng"/>
          </a:p>
          <a:p>
            <a:pPr eaLnBrk="1" hangingPunct="1">
              <a:lnSpc>
                <a:spcPct val="90000"/>
              </a:lnSpc>
              <a:buFont typeface="Wingdings" pitchFamily="2" charset="2"/>
              <a:buNone/>
            </a:pPr>
            <a:r>
              <a:rPr lang="en-GB" sz="2800" u="sng"/>
              <a:t>   0010	+2</a:t>
            </a:r>
            <a:r>
              <a:rPr lang="en-GB" sz="2800"/>
              <a:t>			</a:t>
            </a:r>
            <a:r>
              <a:rPr lang="en-GB" sz="2800" u="sng"/>
              <a:t>0010		+2</a:t>
            </a:r>
            <a:endParaRPr lang="en-GB" sz="2800"/>
          </a:p>
          <a:p>
            <a:pPr eaLnBrk="1" hangingPunct="1">
              <a:lnSpc>
                <a:spcPct val="90000"/>
              </a:lnSpc>
              <a:buFont typeface="Wingdings" pitchFamily="2" charset="2"/>
              <a:buNone/>
            </a:pPr>
            <a:r>
              <a:rPr lang="en-GB" sz="2800"/>
              <a:t>   0111	+7			0111		+7</a:t>
            </a:r>
          </a:p>
          <a:p>
            <a:pPr eaLnBrk="1" hangingPunct="1">
              <a:lnSpc>
                <a:spcPct val="90000"/>
              </a:lnSpc>
              <a:buFont typeface="Wingdings" pitchFamily="2" charset="2"/>
              <a:buNone/>
            </a:pPr>
            <a:endParaRPr lang="en-GB" sz="2800"/>
          </a:p>
          <a:p>
            <a:pPr eaLnBrk="1" hangingPunct="1">
              <a:lnSpc>
                <a:spcPct val="90000"/>
              </a:lnSpc>
              <a:buFont typeface="Wingdings" pitchFamily="2" charset="2"/>
              <a:buNone/>
            </a:pPr>
            <a:r>
              <a:rPr lang="en-GB" sz="2800"/>
              <a:t>   1011	-5			1101		 -5</a:t>
            </a:r>
            <a:endParaRPr lang="en-GB" sz="2800" u="sng"/>
          </a:p>
          <a:p>
            <a:pPr eaLnBrk="1" hangingPunct="1">
              <a:lnSpc>
                <a:spcPct val="90000"/>
              </a:lnSpc>
              <a:buFont typeface="Wingdings" pitchFamily="2" charset="2"/>
              <a:buNone/>
            </a:pPr>
            <a:r>
              <a:rPr lang="en-GB" sz="2800" u="sng"/>
              <a:t>   1110	-2</a:t>
            </a:r>
            <a:r>
              <a:rPr lang="en-GB" sz="2800"/>
              <a:t>			</a:t>
            </a:r>
            <a:r>
              <a:rPr lang="en-GB" sz="2800" u="sng"/>
              <a:t>1010		 -2</a:t>
            </a:r>
            <a:endParaRPr lang="en-GB" sz="2800"/>
          </a:p>
          <a:p>
            <a:pPr eaLnBrk="1" hangingPunct="1">
              <a:lnSpc>
                <a:spcPct val="90000"/>
              </a:lnSpc>
              <a:buFont typeface="Wingdings" pitchFamily="2" charset="2"/>
              <a:buNone/>
            </a:pPr>
            <a:r>
              <a:rPr lang="en-GB" sz="2800"/>
              <a:t> 11001	-7		          10111		 -7</a:t>
            </a:r>
          </a:p>
        </p:txBody>
      </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en-GB" sz="3200">
                <a:latin typeface="Arial" pitchFamily="34" charset="0"/>
                <a:cs typeface="Arial" pitchFamily="34" charset="0"/>
              </a:rPr>
              <a:t>Addition and Subtraction</a:t>
            </a:r>
            <a:br>
              <a:rPr lang="en-GB" sz="3200">
                <a:latin typeface="Arial" pitchFamily="34" charset="0"/>
                <a:cs typeface="Arial" pitchFamily="34" charset="0"/>
              </a:rPr>
            </a:br>
            <a:r>
              <a:rPr lang="en-GB" sz="3200">
                <a:latin typeface="Arial" pitchFamily="34" charset="0"/>
                <a:cs typeface="Arial" pitchFamily="34" charset="0"/>
              </a:rPr>
              <a:t>2’complement vs. Signed </a:t>
            </a:r>
          </a:p>
        </p:txBody>
      </p:sp>
      <p:sp>
        <p:nvSpPr>
          <p:cNvPr id="12291" name="Rectangle 3"/>
          <p:cNvSpPr>
            <a:spLocks noGrp="1" noChangeArrowheads="1"/>
          </p:cNvSpPr>
          <p:nvPr>
            <p:ph idx="1"/>
          </p:nvPr>
        </p:nvSpPr>
        <p:spPr/>
        <p:txBody>
          <a:bodyPr/>
          <a:lstStyle/>
          <a:p>
            <a:pPr eaLnBrk="1" hangingPunct="1">
              <a:lnSpc>
                <a:spcPct val="90000"/>
              </a:lnSpc>
              <a:buFont typeface="Wingdings" pitchFamily="2" charset="2"/>
              <a:buNone/>
            </a:pPr>
            <a:endParaRPr lang="en-GB" sz="2800" dirty="0"/>
          </a:p>
          <a:p>
            <a:pPr eaLnBrk="1" hangingPunct="1">
              <a:lnSpc>
                <a:spcPct val="90000"/>
              </a:lnSpc>
              <a:buFont typeface="Wingdings" pitchFamily="2" charset="2"/>
              <a:buNone/>
            </a:pPr>
            <a:r>
              <a:rPr lang="en-GB" sz="2800" dirty="0"/>
              <a:t>   0101	+5			0101		+5</a:t>
            </a:r>
            <a:endParaRPr lang="en-GB" sz="2800" u="sng" dirty="0"/>
          </a:p>
          <a:p>
            <a:pPr eaLnBrk="1" hangingPunct="1">
              <a:lnSpc>
                <a:spcPct val="90000"/>
              </a:lnSpc>
              <a:buFont typeface="Wingdings" pitchFamily="2" charset="2"/>
              <a:buNone/>
            </a:pPr>
            <a:r>
              <a:rPr lang="en-GB" sz="2800" u="sng" dirty="0"/>
              <a:t>   1110	 -2</a:t>
            </a:r>
            <a:r>
              <a:rPr lang="en-GB" sz="2800" dirty="0"/>
              <a:t>			</a:t>
            </a:r>
            <a:r>
              <a:rPr lang="en-GB" sz="2800" u="sng" dirty="0"/>
              <a:t>1010		 -2</a:t>
            </a:r>
            <a:endParaRPr lang="en-GB" sz="2800" dirty="0"/>
          </a:p>
          <a:p>
            <a:pPr eaLnBrk="1" hangingPunct="1">
              <a:lnSpc>
                <a:spcPct val="90000"/>
              </a:lnSpc>
              <a:buFont typeface="Wingdings" pitchFamily="2" charset="2"/>
              <a:buNone/>
            </a:pPr>
            <a:r>
              <a:rPr lang="en-GB" sz="2800" dirty="0"/>
              <a:t> 10011	+3			1111		+3</a:t>
            </a:r>
          </a:p>
          <a:p>
            <a:pPr eaLnBrk="1" hangingPunct="1">
              <a:lnSpc>
                <a:spcPct val="90000"/>
              </a:lnSpc>
              <a:buFont typeface="Wingdings" pitchFamily="2" charset="2"/>
              <a:buNone/>
            </a:pPr>
            <a:endParaRPr lang="en-GB" sz="2800" dirty="0"/>
          </a:p>
          <a:p>
            <a:pPr eaLnBrk="1" hangingPunct="1">
              <a:lnSpc>
                <a:spcPct val="90000"/>
              </a:lnSpc>
              <a:buFont typeface="Wingdings" pitchFamily="2" charset="2"/>
              <a:buNone/>
            </a:pPr>
            <a:r>
              <a:rPr lang="en-GB" sz="2800" dirty="0"/>
              <a:t>   1011	-5		1101		 -5</a:t>
            </a:r>
            <a:endParaRPr lang="en-GB" sz="2800" u="sng" dirty="0"/>
          </a:p>
          <a:p>
            <a:pPr eaLnBrk="1" hangingPunct="1">
              <a:lnSpc>
                <a:spcPct val="90000"/>
              </a:lnSpc>
              <a:buFont typeface="Wingdings" pitchFamily="2" charset="2"/>
              <a:buNone/>
            </a:pPr>
            <a:r>
              <a:rPr lang="en-GB" sz="2800" u="sng" dirty="0"/>
              <a:t>   0010      +2</a:t>
            </a:r>
            <a:r>
              <a:rPr lang="en-GB" sz="2800" dirty="0"/>
              <a:t>			</a:t>
            </a:r>
            <a:r>
              <a:rPr lang="en-GB" sz="2800" u="sng" dirty="0"/>
              <a:t>0010		+2</a:t>
            </a:r>
            <a:endParaRPr lang="en-GB" sz="2800" dirty="0"/>
          </a:p>
          <a:p>
            <a:pPr eaLnBrk="1" hangingPunct="1">
              <a:lnSpc>
                <a:spcPct val="90000"/>
              </a:lnSpc>
              <a:buFont typeface="Wingdings" pitchFamily="2" charset="2"/>
              <a:buNone/>
            </a:pPr>
            <a:r>
              <a:rPr lang="en-GB" sz="2800" dirty="0"/>
              <a:t>	1101     -3			1111		 -3</a:t>
            </a:r>
          </a:p>
        </p:txBody>
      </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2900" y="1019233"/>
            <a:ext cx="6172200" cy="945243"/>
          </a:xfrm>
          <a:prstGeom prst="rect">
            <a:avLst/>
          </a:prstGeom>
        </p:spPr>
        <p:txBody>
          <a:bodyPr vert="horz" wrap="square" lIns="0" tIns="265541" rIns="0" bIns="0" rtlCol="0" anchor="ctr">
            <a:spAutoFit/>
          </a:bodyPr>
          <a:lstStyle/>
          <a:p>
            <a:pPr marL="294323">
              <a:spcBef>
                <a:spcPts val="79"/>
              </a:spcBef>
            </a:pPr>
            <a:r>
              <a:rPr spc="-8" dirty="0"/>
              <a:t>Signed</a:t>
            </a:r>
            <a:r>
              <a:rPr spc="-169" dirty="0"/>
              <a:t> </a:t>
            </a:r>
            <a:r>
              <a:rPr spc="-8" dirty="0"/>
              <a:t>Binary</a:t>
            </a:r>
            <a:r>
              <a:rPr spc="-176" dirty="0"/>
              <a:t> </a:t>
            </a:r>
            <a:r>
              <a:rPr spc="-26" dirty="0"/>
              <a:t>Numbers</a:t>
            </a:r>
          </a:p>
        </p:txBody>
      </p:sp>
      <p:pic>
        <p:nvPicPr>
          <p:cNvPr id="3" name="object 3"/>
          <p:cNvPicPr/>
          <p:nvPr/>
        </p:nvPicPr>
        <p:blipFill>
          <a:blip r:embed="rId2" cstate="print"/>
          <a:stretch>
            <a:fillRect/>
          </a:stretch>
        </p:blipFill>
        <p:spPr>
          <a:xfrm>
            <a:off x="2112263" y="1930505"/>
            <a:ext cx="4736327" cy="3960068"/>
          </a:xfrm>
          <a:prstGeom prst="rect">
            <a:avLst/>
          </a:prstGeom>
        </p:spPr>
      </p:pic>
      <p:sp>
        <p:nvSpPr>
          <p:cNvPr id="4" name="object 4"/>
          <p:cNvSpPr txBox="1">
            <a:spLocks noGrp="1"/>
          </p:cNvSpPr>
          <p:nvPr>
            <p:ph type="sldNum" sz="quarter" idx="7"/>
          </p:nvPr>
        </p:nvSpPr>
        <p:spPr>
          <a:xfrm>
            <a:off x="11068557" y="6448280"/>
            <a:ext cx="244475" cy="194733"/>
          </a:xfrm>
          <a:prstGeom prst="rect">
            <a:avLst/>
          </a:prstGeom>
        </p:spPr>
        <p:txBody>
          <a:bodyPr vert="horz" wrap="square" lIns="0" tIns="0" rIns="0" bIns="0" rtlCol="0">
            <a:spAutoFit/>
          </a:bodyPr>
          <a:lstStyle>
            <a:defPPr>
              <a:defRPr kern="0"/>
            </a:defPPr>
            <a:lvl1pPr>
              <a:defRPr sz="1200" b="0" i="1" u="sng">
                <a:solidFill>
                  <a:srgbClr val="888888"/>
                </a:solidFill>
                <a:latin typeface="Times New Roman"/>
                <a:cs typeface="Times New Roman"/>
              </a:defRPr>
            </a:lvl1pPr>
          </a:lstStyle>
          <a:p>
            <a:pPr marL="30480">
              <a:lnSpc>
                <a:spcPts val="1058"/>
              </a:lnSpc>
            </a:pPr>
            <a:fld id="{81D60167-4931-47E6-BA6A-407CBD079E47}" type="slidenum">
              <a:rPr lang="en-PK" i="0" u="none" spc="-50" smtClean="0">
                <a:latin typeface="Calibri"/>
                <a:cs typeface="Calibri"/>
              </a:rPr>
              <a:pPr marL="115570">
                <a:lnSpc>
                  <a:spcPts val="1240"/>
                </a:lnSpc>
              </a:pPr>
              <a:t>67</a:t>
            </a:fld>
            <a:endParaRPr spc="-19"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GB" sz="3200">
                <a:latin typeface="Arial" pitchFamily="34" charset="0"/>
                <a:cs typeface="Arial" pitchFamily="34" charset="0"/>
              </a:rPr>
              <a:t>Range and Overflow</a:t>
            </a:r>
          </a:p>
        </p:txBody>
      </p:sp>
      <p:sp>
        <p:nvSpPr>
          <p:cNvPr id="15363" name="Rectangle 3"/>
          <p:cNvSpPr>
            <a:spLocks noGrp="1" noChangeArrowheads="1"/>
          </p:cNvSpPr>
          <p:nvPr>
            <p:ph idx="1"/>
          </p:nvPr>
        </p:nvSpPr>
        <p:spPr>
          <a:xfrm>
            <a:off x="533400" y="1600200"/>
            <a:ext cx="8229600" cy="4525963"/>
          </a:xfrm>
        </p:spPr>
        <p:txBody>
          <a:bodyPr/>
          <a:lstStyle/>
          <a:p>
            <a:pPr eaLnBrk="1" hangingPunct="1">
              <a:buFont typeface="Wingdings" pitchFamily="2" charset="2"/>
              <a:buNone/>
            </a:pPr>
            <a:r>
              <a:rPr lang="en-GB" sz="2800"/>
              <a:t>	1011     -5			</a:t>
            </a:r>
            <a:endParaRPr lang="en-GB" sz="2800" u="sng"/>
          </a:p>
          <a:p>
            <a:pPr eaLnBrk="1" hangingPunct="1">
              <a:buFont typeface="Wingdings" pitchFamily="2" charset="2"/>
              <a:buNone/>
            </a:pPr>
            <a:r>
              <a:rPr lang="en-GB" sz="2800" u="sng"/>
              <a:t>    1101     -3</a:t>
            </a:r>
            <a:r>
              <a:rPr lang="en-GB" sz="2800"/>
              <a:t>			</a:t>
            </a:r>
          </a:p>
          <a:p>
            <a:pPr eaLnBrk="1" hangingPunct="1">
              <a:buFont typeface="Wingdings" pitchFamily="2" charset="2"/>
              <a:buNone/>
            </a:pPr>
            <a:r>
              <a:rPr lang="en-GB" sz="2800"/>
              <a:t> 11000     -8		      </a:t>
            </a:r>
          </a:p>
          <a:p>
            <a:pPr eaLnBrk="1" hangingPunct="1">
              <a:buFont typeface="Wingdings" pitchFamily="2" charset="2"/>
              <a:buNone/>
            </a:pPr>
            <a:endParaRPr lang="en-GB" sz="2800"/>
          </a:p>
          <a:p>
            <a:pPr eaLnBrk="1" hangingPunct="1">
              <a:buFont typeface="Wingdings" pitchFamily="2" charset="2"/>
              <a:buNone/>
            </a:pPr>
            <a:r>
              <a:rPr lang="en-GB" sz="2800"/>
              <a:t>	1011     -5		            0101		 +5</a:t>
            </a:r>
            <a:endParaRPr lang="en-GB" sz="2800" u="sng"/>
          </a:p>
          <a:p>
            <a:pPr eaLnBrk="1" hangingPunct="1">
              <a:buFont typeface="Wingdings" pitchFamily="2" charset="2"/>
              <a:buNone/>
            </a:pPr>
            <a:r>
              <a:rPr lang="en-GB" sz="2800" u="sng"/>
              <a:t>    1100     -4</a:t>
            </a:r>
            <a:r>
              <a:rPr lang="en-GB" sz="2800"/>
              <a:t>			</a:t>
            </a:r>
            <a:r>
              <a:rPr lang="en-GB" sz="2800" u="sng"/>
              <a:t>0100	 	 +4</a:t>
            </a:r>
            <a:endParaRPr lang="en-GB" sz="2800"/>
          </a:p>
          <a:p>
            <a:pPr eaLnBrk="1" hangingPunct="1">
              <a:buFont typeface="Wingdings" pitchFamily="2" charset="2"/>
              <a:buNone/>
            </a:pPr>
            <a:r>
              <a:rPr lang="en-GB" sz="2800"/>
              <a:t>  10111     -9		           1001 	            +9</a:t>
            </a:r>
          </a:p>
          <a:p>
            <a:pPr eaLnBrk="1" hangingPunct="1">
              <a:buFont typeface="Wingdings" pitchFamily="2" charset="2"/>
              <a:buNone/>
            </a:pPr>
            <a:endParaRPr lang="en-GB" sz="2800"/>
          </a:p>
        </p:txBody>
      </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Range of Signed Numbers</a:t>
            </a:r>
          </a:p>
        </p:txBody>
      </p:sp>
      <p:sp>
        <p:nvSpPr>
          <p:cNvPr id="3" name="Content Placeholder 2"/>
          <p:cNvSpPr>
            <a:spLocks noGrp="1"/>
          </p:cNvSpPr>
          <p:nvPr>
            <p:ph idx="1"/>
          </p:nvPr>
        </p:nvSpPr>
        <p:spPr/>
        <p:txBody>
          <a:bodyPr/>
          <a:lstStyle/>
          <a:p>
            <a:r>
              <a:rPr lang="en-US" dirty="0"/>
              <a:t>A certain number of bits can store only a fixed number of signed integers</a:t>
            </a:r>
          </a:p>
        </p:txBody>
      </p:sp>
      <p:sp>
        <p:nvSpPr>
          <p:cNvPr id="4" name="Slide Number Placeholder 3"/>
          <p:cNvSpPr>
            <a:spLocks noGrp="1"/>
          </p:cNvSpPr>
          <p:nvPr>
            <p:ph type="sldNum" sz="quarter" idx="12"/>
          </p:nvPr>
        </p:nvSpPr>
        <p:spPr/>
        <p:txBody>
          <a:bodyPr/>
          <a:lstStyle/>
          <a:p>
            <a:fld id="{F3BB565D-BC98-4CA7-9642-B2EC25C3A286}" type="slidenum">
              <a:rPr lang="en-US" smtClean="0"/>
              <a:t>69</a:t>
            </a:fld>
            <a:endParaRPr lang="en-US"/>
          </a:p>
        </p:txBody>
      </p:sp>
      <p:graphicFrame>
        <p:nvGraphicFramePr>
          <p:cNvPr id="5" name="Table 4"/>
          <p:cNvGraphicFramePr>
            <a:graphicFrameLocks noGrp="1"/>
          </p:cNvGraphicFramePr>
          <p:nvPr/>
        </p:nvGraphicFramePr>
        <p:xfrm>
          <a:off x="762000" y="2773680"/>
          <a:ext cx="7391400" cy="2103120"/>
        </p:xfrm>
        <a:graphic>
          <a:graphicData uri="http://schemas.openxmlformats.org/drawingml/2006/table">
            <a:tbl>
              <a:tblPr firstRow="1" bandRow="1">
                <a:tableStyleId>{5C22544A-7EE6-4342-B048-85BDC9FD1C3A}</a:tableStyleId>
              </a:tblPr>
              <a:tblGrid>
                <a:gridCol w="632460">
                  <a:extLst>
                    <a:ext uri="{9D8B030D-6E8A-4147-A177-3AD203B41FA5}">
                      <a16:colId xmlns:a16="http://schemas.microsoft.com/office/drawing/2014/main" val="20000"/>
                    </a:ext>
                  </a:extLst>
                </a:gridCol>
                <a:gridCol w="3634740">
                  <a:extLst>
                    <a:ext uri="{9D8B030D-6E8A-4147-A177-3AD203B41FA5}">
                      <a16:colId xmlns:a16="http://schemas.microsoft.com/office/drawing/2014/main" val="20001"/>
                    </a:ext>
                  </a:extLst>
                </a:gridCol>
                <a:gridCol w="3124200">
                  <a:extLst>
                    <a:ext uri="{9D8B030D-6E8A-4147-A177-3AD203B41FA5}">
                      <a16:colId xmlns:a16="http://schemas.microsoft.com/office/drawing/2014/main" val="20002"/>
                    </a:ext>
                  </a:extLst>
                </a:gridCol>
              </a:tblGrid>
              <a:tr h="349767">
                <a:tc>
                  <a:txBody>
                    <a:bodyPr/>
                    <a:lstStyle/>
                    <a:p>
                      <a:r>
                        <a:rPr lang="en-US" dirty="0">
                          <a:latin typeface="Arial" pitchFamily="34" charset="0"/>
                          <a:cs typeface="Arial" pitchFamily="34" charset="0"/>
                        </a:rPr>
                        <a:t>Bits</a:t>
                      </a:r>
                    </a:p>
                  </a:txBody>
                  <a:tcPr>
                    <a:solidFill>
                      <a:srgbClr val="FF6464"/>
                    </a:solidFill>
                  </a:tcPr>
                </a:tc>
                <a:tc>
                  <a:txBody>
                    <a:bodyPr/>
                    <a:lstStyle/>
                    <a:p>
                      <a:r>
                        <a:rPr lang="en-US" dirty="0">
                          <a:latin typeface="Arial" pitchFamily="34" charset="0"/>
                          <a:cs typeface="Arial" pitchFamily="34" charset="0"/>
                        </a:rPr>
                        <a:t>Range</a:t>
                      </a:r>
                    </a:p>
                  </a:txBody>
                  <a:tcPr>
                    <a:solidFill>
                      <a:srgbClr val="FF6464"/>
                    </a:solidFill>
                  </a:tcPr>
                </a:tc>
                <a:tc>
                  <a:txBody>
                    <a:bodyPr/>
                    <a:lstStyle/>
                    <a:p>
                      <a:r>
                        <a:rPr lang="en-US" dirty="0">
                          <a:latin typeface="Arial" pitchFamily="34" charset="0"/>
                          <a:cs typeface="Arial" pitchFamily="34" charset="0"/>
                        </a:rPr>
                        <a:t>Total Numbers</a:t>
                      </a:r>
                    </a:p>
                  </a:txBody>
                  <a:tcPr>
                    <a:solidFill>
                      <a:srgbClr val="FF6464"/>
                    </a:solidFill>
                  </a:tcPr>
                </a:tc>
                <a:extLst>
                  <a:ext uri="{0D108BD9-81ED-4DB2-BD59-A6C34878D82A}">
                    <a16:rowId xmlns:a16="http://schemas.microsoft.com/office/drawing/2014/main" val="10000"/>
                  </a:ext>
                </a:extLst>
              </a:tr>
              <a:tr h="349767">
                <a:tc>
                  <a:txBody>
                    <a:bodyPr/>
                    <a:lstStyle/>
                    <a:p>
                      <a:r>
                        <a:rPr lang="en-US" dirty="0">
                          <a:latin typeface="Arial" pitchFamily="34" charset="0"/>
                          <a:cs typeface="Arial" pitchFamily="34" charset="0"/>
                        </a:rPr>
                        <a:t>8</a:t>
                      </a:r>
                    </a:p>
                  </a:txBody>
                  <a:tcPr>
                    <a:solidFill>
                      <a:srgbClr val="32E164"/>
                    </a:solidFill>
                  </a:tcPr>
                </a:tc>
                <a:tc>
                  <a:txBody>
                    <a:bodyPr/>
                    <a:lstStyle/>
                    <a:p>
                      <a:r>
                        <a:rPr lang="en-US" dirty="0">
                          <a:latin typeface="Arial" pitchFamily="34" charset="0"/>
                          <a:cs typeface="Arial" pitchFamily="34" charset="0"/>
                        </a:rPr>
                        <a:t>-128 to +127</a:t>
                      </a:r>
                    </a:p>
                  </a:txBody>
                  <a:tcPr>
                    <a:solidFill>
                      <a:srgbClr val="32E164"/>
                    </a:solidFill>
                  </a:tcPr>
                </a:tc>
                <a:tc>
                  <a:txBody>
                    <a:bodyPr/>
                    <a:lstStyle/>
                    <a:p>
                      <a:r>
                        <a:rPr lang="en-US" dirty="0">
                          <a:latin typeface="Arial" pitchFamily="34" charset="0"/>
                          <a:cs typeface="Arial" pitchFamily="34" charset="0"/>
                        </a:rPr>
                        <a:t>256</a:t>
                      </a:r>
                    </a:p>
                  </a:txBody>
                  <a:tcPr>
                    <a:solidFill>
                      <a:srgbClr val="32E164"/>
                    </a:solidFill>
                  </a:tcPr>
                </a:tc>
                <a:extLst>
                  <a:ext uri="{0D108BD9-81ED-4DB2-BD59-A6C34878D82A}">
                    <a16:rowId xmlns:a16="http://schemas.microsoft.com/office/drawing/2014/main" val="10001"/>
                  </a:ext>
                </a:extLst>
              </a:tr>
              <a:tr h="349767">
                <a:tc>
                  <a:txBody>
                    <a:bodyPr/>
                    <a:lstStyle/>
                    <a:p>
                      <a:r>
                        <a:rPr lang="en-US" dirty="0">
                          <a:latin typeface="Arial" pitchFamily="34" charset="0"/>
                          <a:cs typeface="Arial" pitchFamily="34" charset="0"/>
                        </a:rPr>
                        <a:t>16</a:t>
                      </a:r>
                    </a:p>
                  </a:txBody>
                  <a:tcPr>
                    <a:solidFill>
                      <a:srgbClr val="32E164"/>
                    </a:solidFill>
                  </a:tcPr>
                </a:tc>
                <a:tc>
                  <a:txBody>
                    <a:bodyPr/>
                    <a:lstStyle/>
                    <a:p>
                      <a:r>
                        <a:rPr lang="en-US" dirty="0">
                          <a:latin typeface="Arial" pitchFamily="34" charset="0"/>
                          <a:cs typeface="Arial" pitchFamily="34" charset="0"/>
                        </a:rPr>
                        <a:t>-32768 to +32767</a:t>
                      </a:r>
                    </a:p>
                  </a:txBody>
                  <a:tcPr>
                    <a:solidFill>
                      <a:srgbClr val="32E164"/>
                    </a:solidFill>
                  </a:tcPr>
                </a:tc>
                <a:tc>
                  <a:txBody>
                    <a:bodyPr/>
                    <a:lstStyle/>
                    <a:p>
                      <a:r>
                        <a:rPr lang="en-US" dirty="0">
                          <a:latin typeface="Arial" pitchFamily="34" charset="0"/>
                          <a:cs typeface="Arial" pitchFamily="34" charset="0"/>
                        </a:rPr>
                        <a:t>65,536</a:t>
                      </a:r>
                    </a:p>
                  </a:txBody>
                  <a:tcPr>
                    <a:solidFill>
                      <a:srgbClr val="32E164"/>
                    </a:solidFill>
                  </a:tcPr>
                </a:tc>
                <a:extLst>
                  <a:ext uri="{0D108BD9-81ED-4DB2-BD59-A6C34878D82A}">
                    <a16:rowId xmlns:a16="http://schemas.microsoft.com/office/drawing/2014/main" val="10002"/>
                  </a:ext>
                </a:extLst>
              </a:tr>
              <a:tr h="350521">
                <a:tc>
                  <a:txBody>
                    <a:bodyPr/>
                    <a:lstStyle/>
                    <a:p>
                      <a:r>
                        <a:rPr lang="en-US" dirty="0">
                          <a:latin typeface="Arial" pitchFamily="34" charset="0"/>
                          <a:cs typeface="Arial" pitchFamily="34" charset="0"/>
                        </a:rPr>
                        <a:t>32</a:t>
                      </a:r>
                    </a:p>
                  </a:txBody>
                  <a:tcPr>
                    <a:solidFill>
                      <a:srgbClr val="32E164"/>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Arial" pitchFamily="34" charset="0"/>
                          <a:cs typeface="Arial" pitchFamily="34" charset="0"/>
                        </a:rPr>
                        <a:t>-2,147,483,648 to +2,147,483,647</a:t>
                      </a:r>
                    </a:p>
                  </a:txBody>
                  <a:tcPr>
                    <a:solidFill>
                      <a:srgbClr val="32E164"/>
                    </a:solidFill>
                  </a:tcPr>
                </a:tc>
                <a:tc>
                  <a:txBody>
                    <a:bodyPr/>
                    <a:lstStyle/>
                    <a:p>
                      <a:r>
                        <a:rPr lang="en-US" dirty="0">
                          <a:latin typeface="Arial" pitchFamily="34" charset="0"/>
                          <a:cs typeface="Arial" pitchFamily="34" charset="0"/>
                        </a:rPr>
                        <a:t>4,294,967,296</a:t>
                      </a:r>
                    </a:p>
                  </a:txBody>
                  <a:tcPr>
                    <a:solidFill>
                      <a:srgbClr val="32E164"/>
                    </a:solidFill>
                  </a:tcPr>
                </a:tc>
                <a:extLst>
                  <a:ext uri="{0D108BD9-81ED-4DB2-BD59-A6C34878D82A}">
                    <a16:rowId xmlns:a16="http://schemas.microsoft.com/office/drawing/2014/main" val="10003"/>
                  </a:ext>
                </a:extLst>
              </a:tr>
              <a:tr h="594361">
                <a:tc>
                  <a:txBody>
                    <a:bodyPr/>
                    <a:lstStyle/>
                    <a:p>
                      <a:r>
                        <a:rPr lang="en-US" dirty="0">
                          <a:latin typeface="Arial" pitchFamily="34" charset="0"/>
                          <a:cs typeface="Arial" pitchFamily="34" charset="0"/>
                        </a:rPr>
                        <a:t>64</a:t>
                      </a:r>
                    </a:p>
                  </a:txBody>
                  <a:tcPr>
                    <a:solidFill>
                      <a:srgbClr val="32E164"/>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Arial" pitchFamily="34" charset="0"/>
                          <a:cs typeface="Arial" pitchFamily="34" charset="0"/>
                        </a:rPr>
                        <a:t>-9,223,372,036,854,775,808 to +9,223,372,036,854,775,807</a:t>
                      </a:r>
                    </a:p>
                  </a:txBody>
                  <a:tcPr>
                    <a:solidFill>
                      <a:srgbClr val="32E164"/>
                    </a:solidFill>
                  </a:tcPr>
                </a:tc>
                <a:tc>
                  <a:txBody>
                    <a:bodyPr/>
                    <a:lstStyle/>
                    <a:p>
                      <a:r>
                        <a:rPr lang="en-US" dirty="0">
                          <a:latin typeface="Arial" pitchFamily="34" charset="0"/>
                          <a:cs typeface="Arial" pitchFamily="34" charset="0"/>
                        </a:rPr>
                        <a:t>18,446,744,073,709,551,616</a:t>
                      </a:r>
                    </a:p>
                  </a:txBody>
                  <a:tcPr>
                    <a:solidFill>
                      <a:srgbClr val="32E164"/>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76370575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Range of Unsigned Numbers</a:t>
            </a:r>
          </a:p>
        </p:txBody>
      </p:sp>
      <p:sp>
        <p:nvSpPr>
          <p:cNvPr id="3" name="Content Placeholder 2"/>
          <p:cNvSpPr>
            <a:spLocks noGrp="1"/>
          </p:cNvSpPr>
          <p:nvPr>
            <p:ph idx="1"/>
          </p:nvPr>
        </p:nvSpPr>
        <p:spPr/>
        <p:txBody>
          <a:bodyPr/>
          <a:lstStyle/>
          <a:p>
            <a:r>
              <a:rPr lang="en-US" dirty="0"/>
              <a:t>Total numbers in signed integers is exactly equal to the total numbers in unsigned integers in the same size of bits</a:t>
            </a:r>
          </a:p>
        </p:txBody>
      </p:sp>
      <p:sp>
        <p:nvSpPr>
          <p:cNvPr id="4" name="Slide Number Placeholder 3"/>
          <p:cNvSpPr>
            <a:spLocks noGrp="1"/>
          </p:cNvSpPr>
          <p:nvPr>
            <p:ph type="sldNum" sz="quarter" idx="12"/>
          </p:nvPr>
        </p:nvSpPr>
        <p:spPr/>
        <p:txBody>
          <a:bodyPr/>
          <a:lstStyle/>
          <a:p>
            <a:fld id="{F3BB565D-BC98-4CA7-9642-B2EC25C3A286}" type="slidenum">
              <a:rPr lang="en-US" smtClean="0"/>
              <a:t>70</a:t>
            </a:fld>
            <a:endParaRPr lang="en-US"/>
          </a:p>
        </p:txBody>
      </p:sp>
      <p:graphicFrame>
        <p:nvGraphicFramePr>
          <p:cNvPr id="5" name="Table 4"/>
          <p:cNvGraphicFramePr>
            <a:graphicFrameLocks noGrp="1"/>
          </p:cNvGraphicFramePr>
          <p:nvPr/>
        </p:nvGraphicFramePr>
        <p:xfrm>
          <a:off x="762000" y="3142896"/>
          <a:ext cx="7391400" cy="1886304"/>
        </p:xfrm>
        <a:graphic>
          <a:graphicData uri="http://schemas.openxmlformats.org/drawingml/2006/table">
            <a:tbl>
              <a:tblPr firstRow="1" bandRow="1">
                <a:tableStyleId>{5C22544A-7EE6-4342-B048-85BDC9FD1C3A}</a:tableStyleId>
              </a:tblPr>
              <a:tblGrid>
                <a:gridCol w="632460">
                  <a:extLst>
                    <a:ext uri="{9D8B030D-6E8A-4147-A177-3AD203B41FA5}">
                      <a16:colId xmlns:a16="http://schemas.microsoft.com/office/drawing/2014/main" val="20000"/>
                    </a:ext>
                  </a:extLst>
                </a:gridCol>
                <a:gridCol w="3634740">
                  <a:extLst>
                    <a:ext uri="{9D8B030D-6E8A-4147-A177-3AD203B41FA5}">
                      <a16:colId xmlns:a16="http://schemas.microsoft.com/office/drawing/2014/main" val="20001"/>
                    </a:ext>
                  </a:extLst>
                </a:gridCol>
                <a:gridCol w="3124200">
                  <a:extLst>
                    <a:ext uri="{9D8B030D-6E8A-4147-A177-3AD203B41FA5}">
                      <a16:colId xmlns:a16="http://schemas.microsoft.com/office/drawing/2014/main" val="20002"/>
                    </a:ext>
                  </a:extLst>
                </a:gridCol>
              </a:tblGrid>
              <a:tr h="332334">
                <a:tc>
                  <a:txBody>
                    <a:bodyPr/>
                    <a:lstStyle/>
                    <a:p>
                      <a:r>
                        <a:rPr lang="en-US" dirty="0">
                          <a:latin typeface="Arial" pitchFamily="34" charset="0"/>
                          <a:cs typeface="Arial" pitchFamily="34" charset="0"/>
                        </a:rPr>
                        <a:t>Bits</a:t>
                      </a:r>
                    </a:p>
                  </a:txBody>
                  <a:tcPr>
                    <a:solidFill>
                      <a:srgbClr val="FF6464"/>
                    </a:solidFill>
                  </a:tcPr>
                </a:tc>
                <a:tc>
                  <a:txBody>
                    <a:bodyPr/>
                    <a:lstStyle/>
                    <a:p>
                      <a:r>
                        <a:rPr lang="en-US" dirty="0">
                          <a:latin typeface="Arial" pitchFamily="34" charset="0"/>
                          <a:cs typeface="Arial" pitchFamily="34" charset="0"/>
                        </a:rPr>
                        <a:t>Range</a:t>
                      </a:r>
                    </a:p>
                  </a:txBody>
                  <a:tcPr>
                    <a:solidFill>
                      <a:srgbClr val="FF6464"/>
                    </a:solidFill>
                  </a:tcPr>
                </a:tc>
                <a:tc>
                  <a:txBody>
                    <a:bodyPr/>
                    <a:lstStyle/>
                    <a:p>
                      <a:r>
                        <a:rPr lang="en-US" dirty="0">
                          <a:latin typeface="Arial" pitchFamily="34" charset="0"/>
                          <a:cs typeface="Arial" pitchFamily="34" charset="0"/>
                        </a:rPr>
                        <a:t>Total Unsigned Numbers</a:t>
                      </a:r>
                    </a:p>
                  </a:txBody>
                  <a:tcPr>
                    <a:solidFill>
                      <a:srgbClr val="FF6464"/>
                    </a:solidFill>
                  </a:tcPr>
                </a:tc>
                <a:extLst>
                  <a:ext uri="{0D108BD9-81ED-4DB2-BD59-A6C34878D82A}">
                    <a16:rowId xmlns:a16="http://schemas.microsoft.com/office/drawing/2014/main" val="10000"/>
                  </a:ext>
                </a:extLst>
              </a:tr>
              <a:tr h="332334">
                <a:tc>
                  <a:txBody>
                    <a:bodyPr/>
                    <a:lstStyle/>
                    <a:p>
                      <a:r>
                        <a:rPr lang="en-US" dirty="0">
                          <a:latin typeface="Arial" pitchFamily="34" charset="0"/>
                          <a:cs typeface="Arial" pitchFamily="34" charset="0"/>
                        </a:rPr>
                        <a:t>8</a:t>
                      </a:r>
                    </a:p>
                  </a:txBody>
                  <a:tcPr>
                    <a:solidFill>
                      <a:srgbClr val="32E164"/>
                    </a:solidFill>
                  </a:tcPr>
                </a:tc>
                <a:tc>
                  <a:txBody>
                    <a:bodyPr/>
                    <a:lstStyle/>
                    <a:p>
                      <a:r>
                        <a:rPr lang="en-US" dirty="0">
                          <a:latin typeface="Arial" pitchFamily="34" charset="0"/>
                          <a:cs typeface="Arial" pitchFamily="34" charset="0"/>
                        </a:rPr>
                        <a:t>0 to 255</a:t>
                      </a:r>
                    </a:p>
                  </a:txBody>
                  <a:tcPr>
                    <a:solidFill>
                      <a:srgbClr val="32E164"/>
                    </a:solidFill>
                  </a:tcPr>
                </a:tc>
                <a:tc>
                  <a:txBody>
                    <a:bodyPr/>
                    <a:lstStyle/>
                    <a:p>
                      <a:r>
                        <a:rPr lang="en-US" dirty="0">
                          <a:latin typeface="Arial" pitchFamily="34" charset="0"/>
                          <a:cs typeface="Arial" pitchFamily="34" charset="0"/>
                        </a:rPr>
                        <a:t>256</a:t>
                      </a:r>
                    </a:p>
                  </a:txBody>
                  <a:tcPr>
                    <a:solidFill>
                      <a:srgbClr val="32E164"/>
                    </a:solidFill>
                  </a:tcPr>
                </a:tc>
                <a:extLst>
                  <a:ext uri="{0D108BD9-81ED-4DB2-BD59-A6C34878D82A}">
                    <a16:rowId xmlns:a16="http://schemas.microsoft.com/office/drawing/2014/main" val="10001"/>
                  </a:ext>
                </a:extLst>
              </a:tr>
              <a:tr h="332334">
                <a:tc>
                  <a:txBody>
                    <a:bodyPr/>
                    <a:lstStyle/>
                    <a:p>
                      <a:r>
                        <a:rPr lang="en-US" dirty="0">
                          <a:latin typeface="Arial" pitchFamily="34" charset="0"/>
                          <a:cs typeface="Arial" pitchFamily="34" charset="0"/>
                        </a:rPr>
                        <a:t>16</a:t>
                      </a:r>
                    </a:p>
                  </a:txBody>
                  <a:tcPr>
                    <a:solidFill>
                      <a:srgbClr val="32E164"/>
                    </a:solidFill>
                  </a:tcPr>
                </a:tc>
                <a:tc>
                  <a:txBody>
                    <a:bodyPr/>
                    <a:lstStyle/>
                    <a:p>
                      <a:r>
                        <a:rPr lang="en-US" dirty="0">
                          <a:latin typeface="Arial" pitchFamily="34" charset="0"/>
                          <a:cs typeface="Arial" pitchFamily="34" charset="0"/>
                        </a:rPr>
                        <a:t>0 to 65,535</a:t>
                      </a:r>
                    </a:p>
                  </a:txBody>
                  <a:tcPr>
                    <a:solidFill>
                      <a:srgbClr val="32E164"/>
                    </a:solidFill>
                  </a:tcPr>
                </a:tc>
                <a:tc>
                  <a:txBody>
                    <a:bodyPr/>
                    <a:lstStyle/>
                    <a:p>
                      <a:r>
                        <a:rPr lang="en-US" dirty="0">
                          <a:latin typeface="Arial" pitchFamily="34" charset="0"/>
                          <a:cs typeface="Arial" pitchFamily="34" charset="0"/>
                        </a:rPr>
                        <a:t>65,536</a:t>
                      </a:r>
                    </a:p>
                  </a:txBody>
                  <a:tcPr>
                    <a:solidFill>
                      <a:srgbClr val="32E164"/>
                    </a:solidFill>
                  </a:tcPr>
                </a:tc>
                <a:extLst>
                  <a:ext uri="{0D108BD9-81ED-4DB2-BD59-A6C34878D82A}">
                    <a16:rowId xmlns:a16="http://schemas.microsoft.com/office/drawing/2014/main" val="10002"/>
                  </a:ext>
                </a:extLst>
              </a:tr>
              <a:tr h="332334">
                <a:tc>
                  <a:txBody>
                    <a:bodyPr/>
                    <a:lstStyle/>
                    <a:p>
                      <a:r>
                        <a:rPr lang="en-US" dirty="0">
                          <a:latin typeface="Arial" pitchFamily="34" charset="0"/>
                          <a:cs typeface="Arial" pitchFamily="34" charset="0"/>
                        </a:rPr>
                        <a:t>32</a:t>
                      </a:r>
                    </a:p>
                  </a:txBody>
                  <a:tcPr>
                    <a:solidFill>
                      <a:srgbClr val="32E164"/>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Arial" pitchFamily="34" charset="0"/>
                          <a:cs typeface="Arial" pitchFamily="34" charset="0"/>
                        </a:rPr>
                        <a:t>0 to 4,294,967,295</a:t>
                      </a:r>
                    </a:p>
                  </a:txBody>
                  <a:tcPr>
                    <a:solidFill>
                      <a:srgbClr val="32E164"/>
                    </a:solidFill>
                  </a:tcPr>
                </a:tc>
                <a:tc>
                  <a:txBody>
                    <a:bodyPr/>
                    <a:lstStyle/>
                    <a:p>
                      <a:r>
                        <a:rPr lang="en-US" dirty="0">
                          <a:latin typeface="Arial" pitchFamily="34" charset="0"/>
                          <a:cs typeface="Arial" pitchFamily="34" charset="0"/>
                        </a:rPr>
                        <a:t>4,294,967,296</a:t>
                      </a:r>
                    </a:p>
                  </a:txBody>
                  <a:tcPr>
                    <a:solidFill>
                      <a:srgbClr val="32E164"/>
                    </a:solidFill>
                  </a:tcPr>
                </a:tc>
                <a:extLst>
                  <a:ext uri="{0D108BD9-81ED-4DB2-BD59-A6C34878D82A}">
                    <a16:rowId xmlns:a16="http://schemas.microsoft.com/office/drawing/2014/main" val="10003"/>
                  </a:ext>
                </a:extLst>
              </a:tr>
              <a:tr h="423264">
                <a:tc>
                  <a:txBody>
                    <a:bodyPr/>
                    <a:lstStyle/>
                    <a:p>
                      <a:r>
                        <a:rPr lang="en-US" dirty="0">
                          <a:latin typeface="Arial" pitchFamily="34" charset="0"/>
                          <a:cs typeface="Arial" pitchFamily="34" charset="0"/>
                        </a:rPr>
                        <a:t>64</a:t>
                      </a:r>
                    </a:p>
                  </a:txBody>
                  <a:tcPr>
                    <a:solidFill>
                      <a:srgbClr val="32E164"/>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Arial" pitchFamily="34" charset="0"/>
                          <a:cs typeface="Arial" pitchFamily="34" charset="0"/>
                        </a:rPr>
                        <a:t>0 to 18,446,744,073,709,551,615</a:t>
                      </a:r>
                    </a:p>
                  </a:txBody>
                  <a:tcPr>
                    <a:solidFill>
                      <a:srgbClr val="32E164"/>
                    </a:solidFill>
                  </a:tcPr>
                </a:tc>
                <a:tc>
                  <a:txBody>
                    <a:bodyPr/>
                    <a:lstStyle/>
                    <a:p>
                      <a:r>
                        <a:rPr lang="en-US" dirty="0">
                          <a:latin typeface="Arial" pitchFamily="34" charset="0"/>
                          <a:cs typeface="Arial" pitchFamily="34" charset="0"/>
                        </a:rPr>
                        <a:t>18,446,744,073,709,551,616</a:t>
                      </a:r>
                    </a:p>
                  </a:txBody>
                  <a:tcPr>
                    <a:solidFill>
                      <a:srgbClr val="32E164"/>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74013228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Ranges of Numbers</a:t>
            </a:r>
          </a:p>
        </p:txBody>
      </p:sp>
      <p:sp>
        <p:nvSpPr>
          <p:cNvPr id="3" name="Content Placeholder 2"/>
          <p:cNvSpPr>
            <a:spLocks noGrp="1"/>
          </p:cNvSpPr>
          <p:nvPr>
            <p:ph idx="1"/>
          </p:nvPr>
        </p:nvSpPr>
        <p:spPr/>
        <p:txBody>
          <a:bodyPr>
            <a:normAutofit/>
          </a:bodyPr>
          <a:lstStyle/>
          <a:p>
            <a:r>
              <a:rPr lang="en-US" dirty="0"/>
              <a:t>For a specific number of bits only a certain range of decimal numbers can be represented.</a:t>
            </a:r>
          </a:p>
          <a:p>
            <a:r>
              <a:rPr lang="en-US" dirty="0"/>
              <a:t>The maximum and minimum number can be found with the following relation</a:t>
            </a:r>
          </a:p>
          <a:p>
            <a:r>
              <a:rPr lang="en-US" dirty="0"/>
              <a:t>For unsigned numbers the range is </a:t>
            </a:r>
          </a:p>
          <a:p>
            <a:endParaRPr lang="en-US" dirty="0"/>
          </a:p>
          <a:p>
            <a:r>
              <a:rPr lang="en-US" dirty="0"/>
              <a:t>For Signed numbers the range is</a:t>
            </a:r>
          </a:p>
          <a:p>
            <a:endParaRPr lang="en-US" dirty="0"/>
          </a:p>
          <a:p>
            <a:endParaRPr lang="en-US" dirty="0"/>
          </a:p>
        </p:txBody>
      </p:sp>
      <p:sp>
        <p:nvSpPr>
          <p:cNvPr id="4" name="Date Placeholder 3"/>
          <p:cNvSpPr>
            <a:spLocks noGrp="1"/>
          </p:cNvSpPr>
          <p:nvPr>
            <p:ph type="dt" sz="half" idx="10"/>
          </p:nvPr>
        </p:nvSpPr>
        <p:spPr/>
        <p:txBody>
          <a:bodyPr/>
          <a:lstStyle/>
          <a:p>
            <a:r>
              <a:rPr lang="en-PK"/>
              <a:t>EE227 - DLD</a:t>
            </a:r>
            <a:endParaRPr lang="en-US"/>
          </a:p>
        </p:txBody>
      </p:sp>
      <p:sp>
        <p:nvSpPr>
          <p:cNvPr id="5" name="Footer Placeholder 4"/>
          <p:cNvSpPr>
            <a:spLocks noGrp="1"/>
          </p:cNvSpPr>
          <p:nvPr>
            <p:ph type="ftr" sz="quarter" idx="11"/>
          </p:nvPr>
        </p:nvSpPr>
        <p:spPr/>
        <p:txBody>
          <a:bodyPr/>
          <a:lstStyle/>
          <a:p>
            <a:r>
              <a:rPr lang="en-US"/>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71</a:t>
            </a:fld>
            <a:endParaRPr lang="en-US"/>
          </a:p>
        </p:txBody>
      </p:sp>
      <p:pic>
        <p:nvPicPr>
          <p:cNvPr id="1024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05050" y="5562600"/>
            <a:ext cx="4533900" cy="771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62300" y="4362450"/>
            <a:ext cx="2819400" cy="438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6691429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Practice Problem 3</a:t>
            </a:r>
          </a:p>
        </p:txBody>
      </p:sp>
      <p:sp>
        <p:nvSpPr>
          <p:cNvPr id="3" name="Content Placeholder 2"/>
          <p:cNvSpPr>
            <a:spLocks noGrp="1"/>
          </p:cNvSpPr>
          <p:nvPr>
            <p:ph idx="1"/>
          </p:nvPr>
        </p:nvSpPr>
        <p:spPr/>
        <p:txBody>
          <a:bodyPr>
            <a:normAutofit fontScale="85000" lnSpcReduction="10000"/>
          </a:bodyPr>
          <a:lstStyle/>
          <a:p>
            <a:r>
              <a:rPr lang="en-US" dirty="0"/>
              <a:t>What is the number of distinct code which can be generated by </a:t>
            </a:r>
          </a:p>
          <a:p>
            <a:pPr marL="1028700" lvl="1" indent="-571500">
              <a:buFont typeface="+mj-lt"/>
              <a:buAutoNum type="romanLcPeriod"/>
            </a:pPr>
            <a:r>
              <a:rPr lang="en-US" dirty="0"/>
              <a:t>4 bit long code</a:t>
            </a:r>
          </a:p>
          <a:p>
            <a:pPr marL="1028700" lvl="1" indent="-571500">
              <a:buFont typeface="+mj-lt"/>
              <a:buAutoNum type="romanLcPeriod"/>
            </a:pPr>
            <a:r>
              <a:rPr lang="en-US" dirty="0"/>
              <a:t>6 bits long binary code</a:t>
            </a:r>
          </a:p>
          <a:p>
            <a:pPr marL="1028700" lvl="1" indent="-571500">
              <a:buFont typeface="+mj-lt"/>
              <a:buAutoNum type="romanLcPeriod"/>
            </a:pPr>
            <a:r>
              <a:rPr lang="en-US" dirty="0"/>
              <a:t>10 bits long binary code</a:t>
            </a:r>
          </a:p>
          <a:p>
            <a:r>
              <a:rPr lang="en-US" dirty="0"/>
              <a:t>What are the minimum number of bits required if we want to code the following number of combinations</a:t>
            </a:r>
          </a:p>
          <a:p>
            <a:pPr marL="971550" lvl="1" indent="-571500">
              <a:buFont typeface="+mj-lt"/>
              <a:buAutoNum type="romanLcPeriod"/>
            </a:pPr>
            <a:r>
              <a:rPr lang="en-US" dirty="0"/>
              <a:t>32 combinations</a:t>
            </a:r>
          </a:p>
          <a:p>
            <a:pPr marL="971550" lvl="1" indent="-571500">
              <a:buFont typeface="+mj-lt"/>
              <a:buAutoNum type="romanLcPeriod"/>
            </a:pPr>
            <a:r>
              <a:rPr lang="en-US" dirty="0"/>
              <a:t>100 combinations</a:t>
            </a:r>
          </a:p>
          <a:p>
            <a:pPr marL="971550" lvl="1" indent="-571500">
              <a:buFont typeface="+mj-lt"/>
              <a:buAutoNum type="romanLcPeriod"/>
            </a:pPr>
            <a:r>
              <a:rPr lang="en-US" dirty="0"/>
              <a:t>200 combinations</a:t>
            </a:r>
          </a:p>
          <a:p>
            <a:pPr marL="971550" lvl="1" indent="-571500">
              <a:buFont typeface="+mj-lt"/>
              <a:buAutoNum type="romanLcPeriod"/>
            </a:pPr>
            <a:r>
              <a:rPr lang="en-US" dirty="0"/>
              <a:t>450 combinations</a:t>
            </a:r>
          </a:p>
          <a:p>
            <a:endParaRPr lang="en-US" dirty="0"/>
          </a:p>
        </p:txBody>
      </p:sp>
      <p:sp>
        <p:nvSpPr>
          <p:cNvPr id="4" name="Date Placeholder 3"/>
          <p:cNvSpPr>
            <a:spLocks noGrp="1"/>
          </p:cNvSpPr>
          <p:nvPr>
            <p:ph type="dt" sz="half" idx="10"/>
          </p:nvPr>
        </p:nvSpPr>
        <p:spPr/>
        <p:txBody>
          <a:bodyPr/>
          <a:lstStyle/>
          <a:p>
            <a:r>
              <a:rPr lang="en-PK"/>
              <a:t>EE227 - DLD</a:t>
            </a:r>
            <a:endParaRPr lang="en-US"/>
          </a:p>
        </p:txBody>
      </p:sp>
      <p:sp>
        <p:nvSpPr>
          <p:cNvPr id="5" name="Footer Placeholder 4"/>
          <p:cNvSpPr>
            <a:spLocks noGrp="1"/>
          </p:cNvSpPr>
          <p:nvPr>
            <p:ph type="ftr" sz="quarter" idx="11"/>
          </p:nvPr>
        </p:nvSpPr>
        <p:spPr/>
        <p:txBody>
          <a:bodyPr/>
          <a:lstStyle/>
          <a:p>
            <a:r>
              <a:rPr lang="en-US"/>
              <a:t>Course Instructor : Waqar Baig</a:t>
            </a:r>
          </a:p>
        </p:txBody>
      </p:sp>
      <p:sp>
        <p:nvSpPr>
          <p:cNvPr id="6" name="Slide Number Placeholder 5"/>
          <p:cNvSpPr>
            <a:spLocks noGrp="1"/>
          </p:cNvSpPr>
          <p:nvPr>
            <p:ph type="sldNum" sz="quarter" idx="12"/>
          </p:nvPr>
        </p:nvSpPr>
        <p:spPr/>
        <p:txBody>
          <a:bodyPr/>
          <a:lstStyle/>
          <a:p>
            <a:fld id="{CBE6402E-3189-41C4-BB36-EE6F934C63A5}" type="slidenum">
              <a:rPr lang="en-US" smtClean="0"/>
              <a:t>72</a:t>
            </a:fld>
            <a:endParaRPr lang="en-US"/>
          </a:p>
        </p:txBody>
      </p:sp>
    </p:spTree>
    <p:extLst>
      <p:ext uri="{BB962C8B-B14F-4D97-AF65-F5344CB8AC3E}">
        <p14:creationId xmlns:p14="http://schemas.microsoft.com/office/powerpoint/2010/main" val="282612799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r>
              <a:rPr lang="en-GB" sz="3800">
                <a:latin typeface="Arial" pitchFamily="34" charset="0"/>
                <a:cs typeface="Arial" pitchFamily="34" charset="0"/>
              </a:rPr>
              <a:t>Counting in Hexadecimal</a:t>
            </a:r>
          </a:p>
        </p:txBody>
      </p:sp>
      <p:graphicFrame>
        <p:nvGraphicFramePr>
          <p:cNvPr id="208239" name="Group 367"/>
          <p:cNvGraphicFramePr>
            <a:graphicFrameLocks noGrp="1"/>
          </p:cNvGraphicFramePr>
          <p:nvPr>
            <p:ph type="tbl" idx="1"/>
          </p:nvPr>
        </p:nvGraphicFramePr>
        <p:xfrm>
          <a:off x="457200" y="1524000"/>
          <a:ext cx="8229600" cy="4606927"/>
        </p:xfrm>
        <a:graphic>
          <a:graphicData uri="http://schemas.openxmlformats.org/drawingml/2006/table">
            <a:tbl>
              <a:tblPr/>
              <a:tblGrid>
                <a:gridCol w="11430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gridCol w="19050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1066800">
                  <a:extLst>
                    <a:ext uri="{9D8B030D-6E8A-4147-A177-3AD203B41FA5}">
                      <a16:colId xmlns:a16="http://schemas.microsoft.com/office/drawing/2014/main" val="20004"/>
                    </a:ext>
                  </a:extLst>
                </a:gridCol>
                <a:gridCol w="1905000">
                  <a:extLst>
                    <a:ext uri="{9D8B030D-6E8A-4147-A177-3AD203B41FA5}">
                      <a16:colId xmlns:a16="http://schemas.microsoft.com/office/drawing/2014/main" val="20005"/>
                    </a:ext>
                  </a:extLst>
                </a:gridCol>
              </a:tblGrid>
              <a:tr h="854075">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Decimal</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Binary</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Hexadecimal</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Decimal</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Binary</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Hexadecimal</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9900">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0</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0000</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0</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8</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1000</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8</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68313">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1</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0001</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1</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9</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1001</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9</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69900">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2</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0010</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2</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10</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1010</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A</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68313">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3</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0011</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3</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11</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1011</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B</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69900">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4</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0100</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4</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12</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1100</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C</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68313">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5</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0101</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5</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13</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1101</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D</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69900">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6</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0110</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6</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14</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1110</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E</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68313">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7</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0111</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7</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15</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1111</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a:ln>
                            <a:noFill/>
                          </a:ln>
                          <a:solidFill>
                            <a:schemeClr val="tx1"/>
                          </a:solidFill>
                          <a:effectLst/>
                          <a:latin typeface="Arial" pitchFamily="34" charset="0"/>
                          <a:cs typeface="Times New Roman" pitchFamily="18" charset="0"/>
                        </a:rPr>
                        <a:t>F</a:t>
                      </a:r>
                      <a:endParaRPr kumimoji="0" lang="en-GB" sz="20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r>
              <a:rPr lang="en-GB" sz="3800">
                <a:latin typeface="Arial" pitchFamily="34" charset="0"/>
                <a:cs typeface="Arial" pitchFamily="34" charset="0"/>
              </a:rPr>
              <a:t>Counting in Hexadecimal</a:t>
            </a:r>
          </a:p>
        </p:txBody>
      </p:sp>
      <p:graphicFrame>
        <p:nvGraphicFramePr>
          <p:cNvPr id="210295" name="Group 375"/>
          <p:cNvGraphicFramePr>
            <a:graphicFrameLocks noGrp="1"/>
          </p:cNvGraphicFramePr>
          <p:nvPr>
            <p:ph type="tbl" idx="1"/>
          </p:nvPr>
        </p:nvGraphicFramePr>
        <p:xfrm>
          <a:off x="381000" y="1905000"/>
          <a:ext cx="8458200" cy="4575812"/>
        </p:xfrm>
        <a:graphic>
          <a:graphicData uri="http://schemas.openxmlformats.org/drawingml/2006/table">
            <a:tbl>
              <a:tblPr/>
              <a:tblGrid>
                <a:gridCol w="12954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295400">
                  <a:extLst>
                    <a:ext uri="{9D8B030D-6E8A-4147-A177-3AD203B41FA5}">
                      <a16:colId xmlns:a16="http://schemas.microsoft.com/office/drawing/2014/main" val="20002"/>
                    </a:ext>
                  </a:extLst>
                </a:gridCol>
                <a:gridCol w="1447800">
                  <a:extLst>
                    <a:ext uri="{9D8B030D-6E8A-4147-A177-3AD203B41FA5}">
                      <a16:colId xmlns:a16="http://schemas.microsoft.com/office/drawing/2014/main" val="20003"/>
                    </a:ext>
                  </a:extLst>
                </a:gridCol>
                <a:gridCol w="1295400">
                  <a:extLst>
                    <a:ext uri="{9D8B030D-6E8A-4147-A177-3AD203B41FA5}">
                      <a16:colId xmlns:a16="http://schemas.microsoft.com/office/drawing/2014/main" val="20004"/>
                    </a:ext>
                  </a:extLst>
                </a:gridCol>
                <a:gridCol w="1600200">
                  <a:extLst>
                    <a:ext uri="{9D8B030D-6E8A-4147-A177-3AD203B41FA5}">
                      <a16:colId xmlns:a16="http://schemas.microsoft.com/office/drawing/2014/main" val="20005"/>
                    </a:ext>
                  </a:extLst>
                </a:gridCol>
              </a:tblGrid>
              <a:tr h="777875">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Decimal</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Hexa-</a:t>
                      </a:r>
                    </a:p>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Decimal</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Decimal</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Hexa-</a:t>
                      </a:r>
                    </a:p>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Decimal</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Decimal</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Hexa-</a:t>
                      </a:r>
                    </a:p>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Decimal</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9900">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16</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10</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24</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18</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32</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20</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68313">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17</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11</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25</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19</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33</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21</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69900">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18</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12</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26</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1A</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34</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22</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68313">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19</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13</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27</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1B</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35</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23</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69900">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20</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14</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28</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1C</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36</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24</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68313">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21</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15</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29</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1D</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37</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25</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69900">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22</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16</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30</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1E</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38</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26</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68313">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23</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17</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31</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1F</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39</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a:ln>
                            <a:noFill/>
                          </a:ln>
                          <a:solidFill>
                            <a:schemeClr val="tx1"/>
                          </a:solidFill>
                          <a:effectLst/>
                          <a:latin typeface="Arial" pitchFamily="34" charset="0"/>
                          <a:cs typeface="Times New Roman" pitchFamily="18" charset="0"/>
                        </a:rPr>
                        <a:t>27</a:t>
                      </a:r>
                      <a:endParaRPr kumimoji="0" lang="en-GB" sz="24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pPr eaLnBrk="1" hangingPunct="1"/>
            <a:r>
              <a:rPr lang="en-GB" sz="3800">
                <a:latin typeface="Arial" pitchFamily="34" charset="0"/>
                <a:cs typeface="Arial" pitchFamily="34" charset="0"/>
              </a:rPr>
              <a:t>Counting in Octal</a:t>
            </a:r>
          </a:p>
        </p:txBody>
      </p:sp>
      <p:graphicFrame>
        <p:nvGraphicFramePr>
          <p:cNvPr id="217274" name="Group 186"/>
          <p:cNvGraphicFramePr>
            <a:graphicFrameLocks noGrp="1"/>
          </p:cNvGraphicFramePr>
          <p:nvPr>
            <p:ph type="tbl" idx="1"/>
          </p:nvPr>
        </p:nvGraphicFramePr>
        <p:xfrm>
          <a:off x="1524000" y="1752600"/>
          <a:ext cx="6096000" cy="4663440"/>
        </p:xfrm>
        <a:graphic>
          <a:graphicData uri="http://schemas.openxmlformats.org/drawingml/2006/table">
            <a:tbl>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160338">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Decimal</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Binary</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Octal</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61925">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0</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000</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0</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60338">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1</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001</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1</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60338">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2</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010</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2</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61925">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3</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011</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3</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60338">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4</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100</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4</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60338">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5</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101</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5</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61925">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6</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110</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6</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160338">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7</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111</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sz="2800" b="0" i="0" u="none" strike="noStrike" cap="none" normalizeH="0" baseline="0">
                          <a:ln>
                            <a:noFill/>
                          </a:ln>
                          <a:solidFill>
                            <a:schemeClr val="tx1"/>
                          </a:solidFill>
                          <a:effectLst/>
                          <a:latin typeface="Arial" pitchFamily="34" charset="0"/>
                          <a:cs typeface="Times New Roman" pitchFamily="18" charset="0"/>
                        </a:rPr>
                        <a:t>7</a:t>
                      </a:r>
                      <a:endParaRPr kumimoji="0" lang="en-GB" sz="28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pPr eaLnBrk="1" hangingPunct="1"/>
            <a:r>
              <a:rPr lang="en-GB" sz="3800">
                <a:latin typeface="Arial" pitchFamily="34" charset="0"/>
                <a:cs typeface="Arial" pitchFamily="34" charset="0"/>
              </a:rPr>
              <a:t>Octal Addition</a:t>
            </a:r>
          </a:p>
        </p:txBody>
      </p:sp>
      <p:sp>
        <p:nvSpPr>
          <p:cNvPr id="46083" name="Rectangle 3"/>
          <p:cNvSpPr>
            <a:spLocks noGrp="1" noChangeArrowheads="1"/>
          </p:cNvSpPr>
          <p:nvPr>
            <p:ph idx="1"/>
          </p:nvPr>
        </p:nvSpPr>
        <p:spPr/>
        <p:txBody>
          <a:bodyPr/>
          <a:lstStyle/>
          <a:p>
            <a:pPr eaLnBrk="1" hangingPunct="1">
              <a:buFont typeface="Wingdings" pitchFamily="2" charset="2"/>
              <a:buNone/>
            </a:pPr>
            <a:r>
              <a:rPr lang="en-GB" dirty="0"/>
              <a:t>Carry	1 	</a:t>
            </a:r>
          </a:p>
          <a:p>
            <a:pPr eaLnBrk="1" hangingPunct="1">
              <a:buFont typeface="Wingdings" pitchFamily="2" charset="2"/>
              <a:buNone/>
            </a:pPr>
            <a:r>
              <a:rPr lang="en-GB" dirty="0"/>
              <a:t>			7602			2+1=3d=  3O </a:t>
            </a:r>
          </a:p>
          <a:p>
            <a:pPr eaLnBrk="1" hangingPunct="1">
              <a:buFont typeface="Wingdings" pitchFamily="2" charset="2"/>
              <a:buNone/>
            </a:pPr>
            <a:r>
              <a:rPr lang="en-GB" dirty="0"/>
              <a:t>		</a:t>
            </a:r>
            <a:r>
              <a:rPr lang="en-GB" u="sng" dirty="0"/>
              <a:t> +      5771</a:t>
            </a:r>
            <a:r>
              <a:rPr lang="en-GB" dirty="0"/>
              <a:t>			0+7=7d=  7O</a:t>
            </a:r>
            <a:endParaRPr lang="en-GB" u="sng" dirty="0"/>
          </a:p>
          <a:p>
            <a:pPr eaLnBrk="1" hangingPunct="1">
              <a:buFont typeface="Wingdings" pitchFamily="2" charset="2"/>
              <a:buNone/>
            </a:pPr>
            <a:r>
              <a:rPr lang="en-GB" dirty="0"/>
              <a:t>        	       15573			6+7=13d= 15O</a:t>
            </a:r>
          </a:p>
          <a:p>
            <a:pPr eaLnBrk="1" hangingPunct="1">
              <a:buFont typeface="Wingdings" pitchFamily="2" charset="2"/>
              <a:buNone/>
            </a:pPr>
            <a:r>
              <a:rPr lang="en-GB" dirty="0"/>
              <a:t>						1+7+5=13d =15O</a:t>
            </a:r>
            <a:endParaRPr lang="en-GB" u="sng" dirty="0"/>
          </a:p>
        </p:txBody>
      </p:sp>
    </p:spTree>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pPr eaLnBrk="1" hangingPunct="1"/>
            <a:r>
              <a:rPr lang="en-GB" sz="3800">
                <a:latin typeface="Arial" pitchFamily="34" charset="0"/>
                <a:cs typeface="Arial" pitchFamily="34" charset="0"/>
              </a:rPr>
              <a:t>Octal Subtraction</a:t>
            </a:r>
          </a:p>
        </p:txBody>
      </p:sp>
      <p:sp>
        <p:nvSpPr>
          <p:cNvPr id="47107" name="Rectangle 3"/>
          <p:cNvSpPr>
            <a:spLocks noGrp="1" noChangeArrowheads="1"/>
          </p:cNvSpPr>
          <p:nvPr>
            <p:ph idx="1"/>
          </p:nvPr>
        </p:nvSpPr>
        <p:spPr/>
        <p:txBody>
          <a:bodyPr/>
          <a:lstStyle/>
          <a:p>
            <a:pPr eaLnBrk="1" hangingPunct="1">
              <a:buFont typeface="Wingdings" pitchFamily="2" charset="2"/>
              <a:buNone/>
            </a:pPr>
            <a:r>
              <a:rPr lang="en-GB"/>
              <a:t>Borrow	  11 	</a:t>
            </a:r>
          </a:p>
          <a:p>
            <a:pPr eaLnBrk="1" hangingPunct="1">
              <a:buFont typeface="Wingdings" pitchFamily="2" charset="2"/>
              <a:buNone/>
            </a:pPr>
            <a:r>
              <a:rPr lang="en-GB"/>
              <a:t>			7602			2-1=1d  1O </a:t>
            </a:r>
          </a:p>
          <a:p>
            <a:pPr eaLnBrk="1" hangingPunct="1">
              <a:buFont typeface="Wingdings" pitchFamily="2" charset="2"/>
              <a:buNone/>
            </a:pPr>
            <a:r>
              <a:rPr lang="en-GB"/>
              <a:t>		</a:t>
            </a:r>
            <a:r>
              <a:rPr lang="en-GB" u="sng"/>
              <a:t> -      5771</a:t>
            </a:r>
            <a:r>
              <a:rPr lang="en-GB"/>
              <a:t>			8-7=1d  1O</a:t>
            </a:r>
            <a:endParaRPr lang="en-GB" u="sng"/>
          </a:p>
          <a:p>
            <a:pPr eaLnBrk="1" hangingPunct="1">
              <a:buFont typeface="Wingdings" pitchFamily="2" charset="2"/>
              <a:buNone/>
            </a:pPr>
            <a:r>
              <a:rPr lang="en-GB"/>
              <a:t>        	        1611			13-7=6d 6O</a:t>
            </a:r>
          </a:p>
          <a:p>
            <a:pPr eaLnBrk="1" hangingPunct="1">
              <a:buFont typeface="Wingdings" pitchFamily="2" charset="2"/>
              <a:buNone/>
            </a:pPr>
            <a:r>
              <a:rPr lang="en-GB"/>
              <a:t>						6-5=1d 1O</a:t>
            </a:r>
            <a:endParaRPr lang="en-GB" u="sng"/>
          </a:p>
        </p:txBody>
      </p:sp>
    </p:spTree>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r>
              <a:rPr lang="en-GB" sz="3800">
                <a:latin typeface="Arial" pitchFamily="34" charset="0"/>
                <a:cs typeface="Arial" pitchFamily="34" charset="0"/>
              </a:rPr>
              <a:t>Hexadecimal Addition</a:t>
            </a:r>
          </a:p>
        </p:txBody>
      </p:sp>
      <p:sp>
        <p:nvSpPr>
          <p:cNvPr id="34819" name="Rectangle 3"/>
          <p:cNvSpPr>
            <a:spLocks noGrp="1" noChangeArrowheads="1"/>
          </p:cNvSpPr>
          <p:nvPr>
            <p:ph idx="1"/>
          </p:nvPr>
        </p:nvSpPr>
        <p:spPr/>
        <p:txBody>
          <a:bodyPr/>
          <a:lstStyle/>
          <a:p>
            <a:pPr eaLnBrk="1" hangingPunct="1">
              <a:buFont typeface="Wingdings" pitchFamily="2" charset="2"/>
              <a:buNone/>
            </a:pPr>
            <a:r>
              <a:rPr lang="en-GB"/>
              <a:t>Carry	  1	</a:t>
            </a:r>
          </a:p>
          <a:p>
            <a:pPr eaLnBrk="1" hangingPunct="1">
              <a:buFont typeface="Wingdings" pitchFamily="2" charset="2"/>
              <a:buNone/>
            </a:pPr>
            <a:r>
              <a:rPr lang="en-GB"/>
              <a:t>			2AC6		6+5=11d  Bh </a:t>
            </a:r>
          </a:p>
          <a:p>
            <a:pPr eaLnBrk="1" hangingPunct="1">
              <a:buFont typeface="Wingdings" pitchFamily="2" charset="2"/>
              <a:buNone/>
            </a:pPr>
            <a:r>
              <a:rPr lang="en-GB"/>
              <a:t>		</a:t>
            </a:r>
            <a:r>
              <a:rPr lang="en-GB" u="sng"/>
              <a:t> +       92B5</a:t>
            </a:r>
            <a:r>
              <a:rPr lang="en-GB"/>
              <a:t>		C+B=23d  17h</a:t>
            </a:r>
            <a:endParaRPr lang="en-GB" u="sng"/>
          </a:p>
          <a:p>
            <a:pPr eaLnBrk="1" hangingPunct="1">
              <a:buFont typeface="Wingdings" pitchFamily="2" charset="2"/>
              <a:buNone/>
            </a:pPr>
            <a:r>
              <a:rPr lang="en-GB"/>
              <a:t>        		BD7B		A+2+1=13d Dh</a:t>
            </a:r>
          </a:p>
          <a:p>
            <a:pPr eaLnBrk="1" hangingPunct="1">
              <a:buFont typeface="Wingdings" pitchFamily="2" charset="2"/>
              <a:buNone/>
            </a:pPr>
            <a:r>
              <a:rPr lang="en-GB"/>
              <a:t>					2+9=11d  Bh</a:t>
            </a:r>
            <a:endParaRPr lang="en-GB" u="sng"/>
          </a:p>
        </p:txBody>
      </p:sp>
    </p:spTree>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eaLnBrk="1" hangingPunct="1"/>
            <a:r>
              <a:rPr lang="en-GB" sz="3800">
                <a:latin typeface="Arial" pitchFamily="34" charset="0"/>
                <a:cs typeface="Arial" pitchFamily="34" charset="0"/>
              </a:rPr>
              <a:t>Hexadecimal Subtraction</a:t>
            </a:r>
          </a:p>
        </p:txBody>
      </p:sp>
      <p:sp>
        <p:nvSpPr>
          <p:cNvPr id="35843" name="Rectangle 3"/>
          <p:cNvSpPr>
            <a:spLocks noGrp="1" noChangeArrowheads="1"/>
          </p:cNvSpPr>
          <p:nvPr>
            <p:ph idx="1"/>
          </p:nvPr>
        </p:nvSpPr>
        <p:spPr/>
        <p:txBody>
          <a:bodyPr/>
          <a:lstStyle/>
          <a:p>
            <a:pPr eaLnBrk="1" hangingPunct="1">
              <a:buFont typeface="Wingdings" pitchFamily="2" charset="2"/>
              <a:buNone/>
            </a:pPr>
            <a:r>
              <a:rPr lang="en-GB" dirty="0"/>
              <a:t>Borrow	111	</a:t>
            </a:r>
          </a:p>
          <a:p>
            <a:pPr eaLnBrk="1" hangingPunct="1">
              <a:buFont typeface="Wingdings" pitchFamily="2" charset="2"/>
              <a:buNone/>
            </a:pPr>
            <a:r>
              <a:rPr lang="en-GB" dirty="0"/>
              <a:t>			92B5		21-6=15d = </a:t>
            </a:r>
            <a:r>
              <a:rPr lang="en-GB" dirty="0" err="1"/>
              <a:t>Fh</a:t>
            </a:r>
            <a:r>
              <a:rPr lang="en-GB" dirty="0"/>
              <a:t> </a:t>
            </a:r>
          </a:p>
          <a:p>
            <a:pPr eaLnBrk="1" hangingPunct="1">
              <a:buFont typeface="Wingdings" pitchFamily="2" charset="2"/>
              <a:buNone/>
            </a:pPr>
            <a:r>
              <a:rPr lang="en-GB" dirty="0"/>
              <a:t>		</a:t>
            </a:r>
            <a:r>
              <a:rPr lang="en-GB" u="sng" dirty="0"/>
              <a:t> -       2AC6</a:t>
            </a:r>
            <a:r>
              <a:rPr lang="en-GB" dirty="0"/>
              <a:t>		26-C=14d = Eh</a:t>
            </a:r>
            <a:endParaRPr lang="en-GB" u="sng" dirty="0"/>
          </a:p>
          <a:p>
            <a:pPr eaLnBrk="1" hangingPunct="1">
              <a:buFont typeface="Wingdings" pitchFamily="2" charset="2"/>
              <a:buNone/>
            </a:pPr>
            <a:r>
              <a:rPr lang="en-GB" dirty="0"/>
              <a:t>        		67EF		17-A=7d =  7h</a:t>
            </a:r>
          </a:p>
          <a:p>
            <a:pPr eaLnBrk="1" hangingPunct="1">
              <a:buFont typeface="Wingdings" pitchFamily="2" charset="2"/>
              <a:buNone/>
            </a:pPr>
            <a:r>
              <a:rPr lang="en-GB" dirty="0"/>
              <a:t>						8-2=6d = 6h</a:t>
            </a:r>
            <a:endParaRPr lang="en-GB" u="sng" dirty="0"/>
          </a:p>
        </p:txBody>
      </p:sp>
    </p:spTree>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Integer Storage System (1/2)</a:t>
            </a:r>
          </a:p>
        </p:txBody>
      </p:sp>
      <p:sp>
        <p:nvSpPr>
          <p:cNvPr id="3" name="Content Placeholder 2"/>
          <p:cNvSpPr>
            <a:spLocks noGrp="1"/>
          </p:cNvSpPr>
          <p:nvPr>
            <p:ph idx="1"/>
          </p:nvPr>
        </p:nvSpPr>
        <p:spPr/>
        <p:txBody>
          <a:bodyPr/>
          <a:lstStyle/>
          <a:p>
            <a:r>
              <a:rPr lang="en-US" b="1" dirty="0"/>
              <a:t>Byte</a:t>
            </a:r>
            <a:r>
              <a:rPr lang="en-US" dirty="0"/>
              <a:t> is the basic storage unit in x86 architecture</a:t>
            </a:r>
          </a:p>
          <a:p>
            <a:r>
              <a:rPr lang="en-US" dirty="0"/>
              <a:t>Byte is composed of </a:t>
            </a:r>
            <a:r>
              <a:rPr lang="en-US" b="1" dirty="0"/>
              <a:t>8 bits</a:t>
            </a:r>
          </a:p>
        </p:txBody>
      </p:sp>
      <p:sp>
        <p:nvSpPr>
          <p:cNvPr id="4" name="Slide Number Placeholder 3"/>
          <p:cNvSpPr>
            <a:spLocks noGrp="1"/>
          </p:cNvSpPr>
          <p:nvPr>
            <p:ph type="sldNum" sz="quarter" idx="12"/>
          </p:nvPr>
        </p:nvSpPr>
        <p:spPr/>
        <p:txBody>
          <a:bodyPr/>
          <a:lstStyle/>
          <a:p>
            <a:fld id="{F3BB565D-BC98-4CA7-9642-B2EC25C3A286}" type="slidenum">
              <a:rPr lang="en-US" smtClean="0"/>
              <a:t>80</a:t>
            </a:fld>
            <a:endParaRPr lang="en-US"/>
          </a:p>
        </p:txBody>
      </p:sp>
      <p:sp>
        <p:nvSpPr>
          <p:cNvPr id="5" name="Rectangle 4"/>
          <p:cNvSpPr/>
          <p:nvPr/>
        </p:nvSpPr>
        <p:spPr>
          <a:xfrm>
            <a:off x="2971800" y="3276600"/>
            <a:ext cx="685800" cy="457200"/>
          </a:xfrm>
          <a:prstGeom prst="rect">
            <a:avLst/>
          </a:prstGeom>
          <a:solidFill>
            <a:srgbClr val="A28A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Arial" pitchFamily="34" charset="0"/>
                <a:cs typeface="Arial" pitchFamily="34" charset="0"/>
              </a:rPr>
              <a:t>8</a:t>
            </a:r>
            <a:endParaRPr lang="en-US" dirty="0">
              <a:latin typeface="Arial" pitchFamily="34" charset="0"/>
              <a:cs typeface="Arial" pitchFamily="34" charset="0"/>
            </a:endParaRPr>
          </a:p>
        </p:txBody>
      </p:sp>
      <p:sp>
        <p:nvSpPr>
          <p:cNvPr id="6" name="Rectangle 5"/>
          <p:cNvSpPr/>
          <p:nvPr/>
        </p:nvSpPr>
        <p:spPr>
          <a:xfrm>
            <a:off x="2971800" y="3886200"/>
            <a:ext cx="1371600" cy="457200"/>
          </a:xfrm>
          <a:prstGeom prst="rect">
            <a:avLst/>
          </a:prstGeom>
          <a:solidFill>
            <a:srgbClr val="A28A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Arial" pitchFamily="34" charset="0"/>
                <a:cs typeface="Arial" pitchFamily="34" charset="0"/>
              </a:rPr>
              <a:t>16</a:t>
            </a:r>
          </a:p>
        </p:txBody>
      </p:sp>
      <p:sp>
        <p:nvSpPr>
          <p:cNvPr id="7" name="Rectangle 6"/>
          <p:cNvSpPr/>
          <p:nvPr/>
        </p:nvSpPr>
        <p:spPr>
          <a:xfrm>
            <a:off x="2971800" y="4495800"/>
            <a:ext cx="2743200" cy="457200"/>
          </a:xfrm>
          <a:prstGeom prst="rect">
            <a:avLst/>
          </a:prstGeom>
          <a:solidFill>
            <a:srgbClr val="A28A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Arial" pitchFamily="34" charset="0"/>
                <a:cs typeface="Arial" pitchFamily="34" charset="0"/>
              </a:rPr>
              <a:t>32</a:t>
            </a:r>
          </a:p>
        </p:txBody>
      </p:sp>
      <p:sp>
        <p:nvSpPr>
          <p:cNvPr id="8" name="Rectangle 7"/>
          <p:cNvSpPr/>
          <p:nvPr/>
        </p:nvSpPr>
        <p:spPr>
          <a:xfrm>
            <a:off x="2971800" y="5105400"/>
            <a:ext cx="5486400" cy="457200"/>
          </a:xfrm>
          <a:prstGeom prst="rect">
            <a:avLst/>
          </a:prstGeom>
          <a:solidFill>
            <a:srgbClr val="A28A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Arial" pitchFamily="34" charset="0"/>
                <a:cs typeface="Arial" pitchFamily="34" charset="0"/>
              </a:rPr>
              <a:t>64</a:t>
            </a:r>
          </a:p>
        </p:txBody>
      </p:sp>
      <p:sp>
        <p:nvSpPr>
          <p:cNvPr id="10" name="TextBox 9"/>
          <p:cNvSpPr txBox="1"/>
          <p:nvPr/>
        </p:nvSpPr>
        <p:spPr>
          <a:xfrm>
            <a:off x="1981200" y="3231932"/>
            <a:ext cx="902811" cy="523220"/>
          </a:xfrm>
          <a:prstGeom prst="rect">
            <a:avLst/>
          </a:prstGeom>
          <a:noFill/>
        </p:spPr>
        <p:txBody>
          <a:bodyPr wrap="none" rtlCol="0">
            <a:spAutoFit/>
          </a:bodyPr>
          <a:lstStyle/>
          <a:p>
            <a:r>
              <a:rPr lang="en-US" sz="2800" dirty="0">
                <a:latin typeface="Arial" pitchFamily="34" charset="0"/>
                <a:cs typeface="Arial" pitchFamily="34" charset="0"/>
              </a:rPr>
              <a:t>Byte</a:t>
            </a:r>
          </a:p>
        </p:txBody>
      </p:sp>
      <p:sp>
        <p:nvSpPr>
          <p:cNvPr id="11" name="TextBox 10"/>
          <p:cNvSpPr txBox="1"/>
          <p:nvPr/>
        </p:nvSpPr>
        <p:spPr>
          <a:xfrm>
            <a:off x="1797766" y="3851712"/>
            <a:ext cx="1037400" cy="523220"/>
          </a:xfrm>
          <a:prstGeom prst="rect">
            <a:avLst/>
          </a:prstGeom>
          <a:noFill/>
        </p:spPr>
        <p:txBody>
          <a:bodyPr wrap="none" rtlCol="0">
            <a:spAutoFit/>
          </a:bodyPr>
          <a:lstStyle/>
          <a:p>
            <a:r>
              <a:rPr lang="en-US" sz="2800" dirty="0">
                <a:latin typeface="Arial" pitchFamily="34" charset="0"/>
                <a:cs typeface="Arial" pitchFamily="34" charset="0"/>
              </a:rPr>
              <a:t>Word</a:t>
            </a:r>
          </a:p>
        </p:txBody>
      </p:sp>
      <p:sp>
        <p:nvSpPr>
          <p:cNvPr id="12" name="TextBox 11"/>
          <p:cNvSpPr txBox="1"/>
          <p:nvPr/>
        </p:nvSpPr>
        <p:spPr>
          <a:xfrm>
            <a:off x="804699" y="4445546"/>
            <a:ext cx="2106667" cy="523220"/>
          </a:xfrm>
          <a:prstGeom prst="rect">
            <a:avLst/>
          </a:prstGeom>
          <a:noFill/>
        </p:spPr>
        <p:txBody>
          <a:bodyPr wrap="none" rtlCol="0">
            <a:spAutoFit/>
          </a:bodyPr>
          <a:lstStyle/>
          <a:p>
            <a:r>
              <a:rPr lang="en-US" sz="2800" dirty="0" err="1">
                <a:latin typeface="Arial" pitchFamily="34" charset="0"/>
                <a:cs typeface="Arial" pitchFamily="34" charset="0"/>
              </a:rPr>
              <a:t>Doubleword</a:t>
            </a:r>
            <a:endParaRPr lang="en-US" sz="2800" dirty="0">
              <a:latin typeface="Arial" pitchFamily="34" charset="0"/>
              <a:cs typeface="Arial" pitchFamily="34" charset="0"/>
            </a:endParaRPr>
          </a:p>
        </p:txBody>
      </p:sp>
      <p:sp>
        <p:nvSpPr>
          <p:cNvPr id="13" name="TextBox 12"/>
          <p:cNvSpPr txBox="1"/>
          <p:nvPr/>
        </p:nvSpPr>
        <p:spPr>
          <a:xfrm>
            <a:off x="1066800" y="5084048"/>
            <a:ext cx="1845377" cy="523220"/>
          </a:xfrm>
          <a:prstGeom prst="rect">
            <a:avLst/>
          </a:prstGeom>
          <a:noFill/>
        </p:spPr>
        <p:txBody>
          <a:bodyPr wrap="none" rtlCol="0">
            <a:spAutoFit/>
          </a:bodyPr>
          <a:lstStyle/>
          <a:p>
            <a:r>
              <a:rPr lang="en-US" sz="2800" dirty="0" err="1">
                <a:latin typeface="Arial" pitchFamily="34" charset="0"/>
                <a:cs typeface="Arial" pitchFamily="34" charset="0"/>
              </a:rPr>
              <a:t>Quadword</a:t>
            </a:r>
            <a:endParaRPr lang="en-US" sz="2800" dirty="0">
              <a:latin typeface="Arial" pitchFamily="34" charset="0"/>
              <a:cs typeface="Arial" pitchFamily="34" charset="0"/>
            </a:endParaRPr>
          </a:p>
        </p:txBody>
      </p:sp>
      <p:cxnSp>
        <p:nvCxnSpPr>
          <p:cNvPr id="14" name="Elbow Connector 13"/>
          <p:cNvCxnSpPr/>
          <p:nvPr/>
        </p:nvCxnSpPr>
        <p:spPr>
          <a:xfrm>
            <a:off x="3657600" y="3886200"/>
            <a:ext cx="0" cy="457200"/>
          </a:xfrm>
          <a:prstGeom prst="straightConnector1">
            <a:avLst/>
          </a:prstGeom>
          <a:ln>
            <a:solidFill>
              <a:schemeClr val="tx2">
                <a:lumMod val="20000"/>
                <a:lumOff val="8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8" name="Elbow Connector 13"/>
          <p:cNvCxnSpPr/>
          <p:nvPr/>
        </p:nvCxnSpPr>
        <p:spPr>
          <a:xfrm>
            <a:off x="3657600" y="4495800"/>
            <a:ext cx="0" cy="457200"/>
          </a:xfrm>
          <a:prstGeom prst="straightConnector1">
            <a:avLst/>
          </a:prstGeom>
          <a:ln>
            <a:solidFill>
              <a:schemeClr val="tx2">
                <a:lumMod val="20000"/>
                <a:lumOff val="8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9" name="Elbow Connector 13"/>
          <p:cNvCxnSpPr/>
          <p:nvPr/>
        </p:nvCxnSpPr>
        <p:spPr>
          <a:xfrm>
            <a:off x="4343400" y="4495800"/>
            <a:ext cx="0" cy="457200"/>
          </a:xfrm>
          <a:prstGeom prst="straightConnector1">
            <a:avLst/>
          </a:prstGeom>
          <a:ln>
            <a:solidFill>
              <a:schemeClr val="tx2">
                <a:lumMod val="20000"/>
                <a:lumOff val="8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20" name="Elbow Connector 13"/>
          <p:cNvCxnSpPr/>
          <p:nvPr/>
        </p:nvCxnSpPr>
        <p:spPr>
          <a:xfrm>
            <a:off x="5029200" y="4495800"/>
            <a:ext cx="0" cy="457200"/>
          </a:xfrm>
          <a:prstGeom prst="straightConnector1">
            <a:avLst/>
          </a:prstGeom>
          <a:ln>
            <a:solidFill>
              <a:schemeClr val="tx2">
                <a:lumMod val="20000"/>
                <a:lumOff val="8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21" name="Elbow Connector 13"/>
          <p:cNvCxnSpPr/>
          <p:nvPr/>
        </p:nvCxnSpPr>
        <p:spPr>
          <a:xfrm>
            <a:off x="3657600" y="5105400"/>
            <a:ext cx="0" cy="457200"/>
          </a:xfrm>
          <a:prstGeom prst="straightConnector1">
            <a:avLst/>
          </a:prstGeom>
          <a:ln>
            <a:solidFill>
              <a:schemeClr val="tx2">
                <a:lumMod val="20000"/>
                <a:lumOff val="8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22" name="Elbow Connector 13"/>
          <p:cNvCxnSpPr/>
          <p:nvPr/>
        </p:nvCxnSpPr>
        <p:spPr>
          <a:xfrm>
            <a:off x="4343400" y="5105400"/>
            <a:ext cx="0" cy="457200"/>
          </a:xfrm>
          <a:prstGeom prst="straightConnector1">
            <a:avLst/>
          </a:prstGeom>
          <a:ln>
            <a:solidFill>
              <a:schemeClr val="tx2">
                <a:lumMod val="20000"/>
                <a:lumOff val="8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23" name="Elbow Connector 13"/>
          <p:cNvCxnSpPr/>
          <p:nvPr/>
        </p:nvCxnSpPr>
        <p:spPr>
          <a:xfrm>
            <a:off x="5029200" y="5105400"/>
            <a:ext cx="0" cy="457200"/>
          </a:xfrm>
          <a:prstGeom prst="straightConnector1">
            <a:avLst/>
          </a:prstGeom>
          <a:ln>
            <a:solidFill>
              <a:schemeClr val="tx2">
                <a:lumMod val="20000"/>
                <a:lumOff val="8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24" name="Elbow Connector 13"/>
          <p:cNvCxnSpPr/>
          <p:nvPr/>
        </p:nvCxnSpPr>
        <p:spPr>
          <a:xfrm>
            <a:off x="5715000" y="5105400"/>
            <a:ext cx="0" cy="457200"/>
          </a:xfrm>
          <a:prstGeom prst="straightConnector1">
            <a:avLst/>
          </a:prstGeom>
          <a:ln>
            <a:solidFill>
              <a:schemeClr val="tx2">
                <a:lumMod val="20000"/>
                <a:lumOff val="8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25" name="Elbow Connector 13"/>
          <p:cNvCxnSpPr/>
          <p:nvPr/>
        </p:nvCxnSpPr>
        <p:spPr>
          <a:xfrm>
            <a:off x="6400800" y="5105400"/>
            <a:ext cx="0" cy="457200"/>
          </a:xfrm>
          <a:prstGeom prst="straightConnector1">
            <a:avLst/>
          </a:prstGeom>
          <a:ln>
            <a:solidFill>
              <a:schemeClr val="tx2">
                <a:lumMod val="20000"/>
                <a:lumOff val="8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26" name="Elbow Connector 13"/>
          <p:cNvCxnSpPr/>
          <p:nvPr/>
        </p:nvCxnSpPr>
        <p:spPr>
          <a:xfrm>
            <a:off x="7086600" y="5105400"/>
            <a:ext cx="0" cy="457200"/>
          </a:xfrm>
          <a:prstGeom prst="straightConnector1">
            <a:avLst/>
          </a:prstGeom>
          <a:ln>
            <a:solidFill>
              <a:schemeClr val="tx2">
                <a:lumMod val="20000"/>
                <a:lumOff val="8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27" name="Elbow Connector 13"/>
          <p:cNvCxnSpPr/>
          <p:nvPr/>
        </p:nvCxnSpPr>
        <p:spPr>
          <a:xfrm>
            <a:off x="7772400" y="5105400"/>
            <a:ext cx="0" cy="457200"/>
          </a:xfrm>
          <a:prstGeom prst="straightConnector1">
            <a:avLst/>
          </a:prstGeom>
          <a:ln>
            <a:solidFill>
              <a:schemeClr val="tx2">
                <a:lumMod val="20000"/>
                <a:lumOff val="80000"/>
              </a:schemeClr>
            </a:solidFil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1817239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Integer Storage System (2/2)</a:t>
            </a:r>
          </a:p>
        </p:txBody>
      </p:sp>
      <p:sp>
        <p:nvSpPr>
          <p:cNvPr id="3" name="Content Placeholder 2"/>
          <p:cNvSpPr>
            <a:spLocks noGrp="1"/>
          </p:cNvSpPr>
          <p:nvPr>
            <p:ph idx="1"/>
          </p:nvPr>
        </p:nvSpPr>
        <p:spPr/>
        <p:txBody>
          <a:bodyPr>
            <a:normAutofit fontScale="92500"/>
          </a:bodyPr>
          <a:lstStyle/>
          <a:p>
            <a:r>
              <a:rPr lang="en-US" dirty="0"/>
              <a:t>Some larger measurements units</a:t>
            </a:r>
          </a:p>
          <a:p>
            <a:pPr lvl="1"/>
            <a:r>
              <a:rPr lang="en-US" dirty="0"/>
              <a:t>One kilobyte = 2</a:t>
            </a:r>
            <a:r>
              <a:rPr lang="en-US" baseline="30000" dirty="0"/>
              <a:t>10</a:t>
            </a:r>
            <a:r>
              <a:rPr lang="en-US" dirty="0"/>
              <a:t> bytes = 1024 bytes</a:t>
            </a:r>
          </a:p>
          <a:p>
            <a:pPr lvl="1"/>
            <a:r>
              <a:rPr lang="en-US" dirty="0"/>
              <a:t>One megabyte = 2</a:t>
            </a:r>
            <a:r>
              <a:rPr lang="en-US" baseline="30000" dirty="0"/>
              <a:t>20</a:t>
            </a:r>
            <a:r>
              <a:rPr lang="en-US" dirty="0"/>
              <a:t> bytes = 1,048,576 bytes</a:t>
            </a:r>
          </a:p>
          <a:p>
            <a:pPr lvl="1"/>
            <a:r>
              <a:rPr lang="en-US" dirty="0"/>
              <a:t>One gigabyte = 2</a:t>
            </a:r>
            <a:r>
              <a:rPr lang="en-US" baseline="30000" dirty="0"/>
              <a:t>30</a:t>
            </a:r>
            <a:r>
              <a:rPr lang="en-US" dirty="0"/>
              <a:t> bytes = 1,073,741,824 bytes</a:t>
            </a:r>
          </a:p>
          <a:p>
            <a:pPr lvl="1"/>
            <a:r>
              <a:rPr lang="en-US" dirty="0"/>
              <a:t>One terabyte = 2</a:t>
            </a:r>
            <a:r>
              <a:rPr lang="en-US" baseline="30000" dirty="0"/>
              <a:t>40</a:t>
            </a:r>
            <a:r>
              <a:rPr lang="en-US" dirty="0"/>
              <a:t> bytes = 1,099,511,627,776 bytes</a:t>
            </a:r>
          </a:p>
          <a:p>
            <a:pPr lvl="1"/>
            <a:r>
              <a:rPr lang="en-US" dirty="0"/>
              <a:t>One petabyte = 2</a:t>
            </a:r>
            <a:r>
              <a:rPr lang="en-US" baseline="30000" dirty="0"/>
              <a:t>50 </a:t>
            </a:r>
            <a:r>
              <a:rPr lang="en-US" dirty="0"/>
              <a:t>bytes = 2</a:t>
            </a:r>
            <a:r>
              <a:rPr lang="en-US" baseline="30000" dirty="0"/>
              <a:t>40</a:t>
            </a:r>
            <a:r>
              <a:rPr lang="en-US" dirty="0"/>
              <a:t> kilobytes</a:t>
            </a:r>
          </a:p>
          <a:p>
            <a:pPr lvl="1"/>
            <a:r>
              <a:rPr lang="en-US" dirty="0"/>
              <a:t>One </a:t>
            </a:r>
            <a:r>
              <a:rPr lang="en-US" dirty="0" err="1"/>
              <a:t>exabyte</a:t>
            </a:r>
            <a:r>
              <a:rPr lang="en-US" dirty="0"/>
              <a:t> = 2</a:t>
            </a:r>
            <a:r>
              <a:rPr lang="en-US" baseline="30000" dirty="0"/>
              <a:t>60</a:t>
            </a:r>
            <a:r>
              <a:rPr lang="en-US" dirty="0"/>
              <a:t> bytes = 2</a:t>
            </a:r>
            <a:r>
              <a:rPr lang="en-US" baseline="30000" dirty="0"/>
              <a:t>10</a:t>
            </a:r>
            <a:r>
              <a:rPr lang="en-US" dirty="0"/>
              <a:t> petabytes</a:t>
            </a:r>
          </a:p>
          <a:p>
            <a:pPr lvl="1"/>
            <a:r>
              <a:rPr lang="en-US" dirty="0"/>
              <a:t>One </a:t>
            </a:r>
            <a:r>
              <a:rPr lang="en-US" dirty="0" err="1"/>
              <a:t>zettabyte</a:t>
            </a:r>
            <a:r>
              <a:rPr lang="en-US" dirty="0"/>
              <a:t> = 2</a:t>
            </a:r>
            <a:r>
              <a:rPr lang="en-US" baseline="30000" dirty="0"/>
              <a:t>70</a:t>
            </a:r>
            <a:r>
              <a:rPr lang="en-US" dirty="0"/>
              <a:t> bytes = 2</a:t>
            </a:r>
            <a:r>
              <a:rPr lang="en-US" baseline="30000" dirty="0"/>
              <a:t>30</a:t>
            </a:r>
            <a:r>
              <a:rPr lang="en-US" dirty="0"/>
              <a:t> terabytes</a:t>
            </a:r>
          </a:p>
          <a:p>
            <a:pPr lvl="1"/>
            <a:r>
              <a:rPr lang="en-US" dirty="0"/>
              <a:t>One </a:t>
            </a:r>
            <a:r>
              <a:rPr lang="en-US" dirty="0" err="1"/>
              <a:t>yottabyte</a:t>
            </a:r>
            <a:r>
              <a:rPr lang="en-US" dirty="0"/>
              <a:t> = 2</a:t>
            </a:r>
            <a:r>
              <a:rPr lang="en-US" baseline="30000" dirty="0"/>
              <a:t>80</a:t>
            </a:r>
            <a:r>
              <a:rPr lang="en-US" dirty="0"/>
              <a:t> bytes = 2</a:t>
            </a:r>
            <a:r>
              <a:rPr lang="en-US" baseline="30000" dirty="0"/>
              <a:t>20</a:t>
            </a:r>
            <a:r>
              <a:rPr lang="en-US" dirty="0"/>
              <a:t> </a:t>
            </a:r>
            <a:r>
              <a:rPr lang="en-US" dirty="0" err="1"/>
              <a:t>exabytes</a:t>
            </a:r>
            <a:endParaRPr lang="en-US" dirty="0"/>
          </a:p>
        </p:txBody>
      </p:sp>
      <p:sp>
        <p:nvSpPr>
          <p:cNvPr id="4" name="Slide Number Placeholder 3"/>
          <p:cNvSpPr>
            <a:spLocks noGrp="1"/>
          </p:cNvSpPr>
          <p:nvPr>
            <p:ph type="sldNum" sz="quarter" idx="12"/>
          </p:nvPr>
        </p:nvSpPr>
        <p:spPr/>
        <p:txBody>
          <a:bodyPr/>
          <a:lstStyle/>
          <a:p>
            <a:fld id="{F3BB565D-BC98-4CA7-9642-B2EC25C3A286}" type="slidenum">
              <a:rPr lang="en-US" smtClean="0"/>
              <a:t>81</a:t>
            </a:fld>
            <a:endParaRPr lang="en-US" dirty="0"/>
          </a:p>
        </p:txBody>
      </p:sp>
    </p:spTree>
    <p:extLst>
      <p:ext uri="{BB962C8B-B14F-4D97-AF65-F5344CB8AC3E}">
        <p14:creationId xmlns:p14="http://schemas.microsoft.com/office/powerpoint/2010/main" val="127764491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4"/>
          <p:cNvSpPr>
            <a:spLocks noGrp="1" noChangeArrowheads="1"/>
          </p:cNvSpPr>
          <p:nvPr>
            <p:ph type="title"/>
          </p:nvPr>
        </p:nvSpPr>
        <p:spPr>
          <a:noFill/>
        </p:spPr>
        <p:txBody>
          <a:bodyPr/>
          <a:lstStyle/>
          <a:p>
            <a:pPr eaLnBrk="1" hangingPunct="1"/>
            <a:r>
              <a:rPr lang="en-GB" sz="3800">
                <a:latin typeface="Arial" pitchFamily="34" charset="0"/>
                <a:cs typeface="Arial" pitchFamily="34" charset="0"/>
              </a:rPr>
              <a:t>Alternate Representations</a:t>
            </a:r>
          </a:p>
        </p:txBody>
      </p:sp>
      <p:sp>
        <p:nvSpPr>
          <p:cNvPr id="48131" name="Rectangle 3"/>
          <p:cNvSpPr>
            <a:spLocks noGrp="1" noChangeArrowheads="1"/>
          </p:cNvSpPr>
          <p:nvPr>
            <p:ph idx="1"/>
          </p:nvPr>
        </p:nvSpPr>
        <p:spPr/>
        <p:txBody>
          <a:bodyPr/>
          <a:lstStyle/>
          <a:p>
            <a:pPr eaLnBrk="1" hangingPunct="1"/>
            <a:r>
              <a:rPr lang="en-GB" dirty="0"/>
              <a:t>BCD Code</a:t>
            </a:r>
          </a:p>
          <a:p>
            <a:pPr marL="457200" lvl="1" indent="0" eaLnBrk="1" hangingPunct="1">
              <a:buClr>
                <a:schemeClr val="tx1"/>
              </a:buClr>
              <a:buNone/>
            </a:pPr>
            <a:endParaRPr lang="en-GB" sz="3200" dirty="0">
              <a:latin typeface="Arial" pitchFamily="34" charset="0"/>
            </a:endParaRPr>
          </a:p>
          <a:p>
            <a:pPr eaLnBrk="1" hangingPunct="1">
              <a:buClr>
                <a:schemeClr val="tx1"/>
              </a:buClr>
            </a:pPr>
            <a:r>
              <a:rPr lang="en-GB" dirty="0" err="1"/>
              <a:t>Gray</a:t>
            </a:r>
            <a:r>
              <a:rPr lang="en-GB" dirty="0"/>
              <a:t> Code</a:t>
            </a:r>
          </a:p>
        </p:txBody>
      </p:sp>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p:nvPr/>
        </p:nvSpPr>
        <p:spPr>
          <a:xfrm>
            <a:off x="7612952" y="5706161"/>
            <a:ext cx="470059" cy="117020"/>
          </a:xfrm>
          <a:prstGeom prst="rect">
            <a:avLst/>
          </a:prstGeom>
        </p:spPr>
        <p:txBody>
          <a:bodyPr vert="horz" wrap="square" lIns="0" tIns="0" rIns="0" bIns="0" rtlCol="0">
            <a:spAutoFit/>
          </a:bodyPr>
          <a:lstStyle/>
          <a:p>
            <a:pPr marL="9525" defTabSz="685800">
              <a:lnSpc>
                <a:spcPts val="930"/>
              </a:lnSpc>
            </a:pPr>
            <a:r>
              <a:rPr sz="900" kern="0" dirty="0">
                <a:solidFill>
                  <a:srgbClr val="888888"/>
                </a:solidFill>
                <a:latin typeface="Calibri"/>
                <a:cs typeface="Calibri"/>
              </a:rPr>
              <a:t>Chapter</a:t>
            </a:r>
            <a:r>
              <a:rPr sz="900" kern="0" spc="-49" dirty="0">
                <a:solidFill>
                  <a:srgbClr val="888888"/>
                </a:solidFill>
                <a:latin typeface="Calibri"/>
                <a:cs typeface="Calibri"/>
              </a:rPr>
              <a:t> </a:t>
            </a:r>
            <a:r>
              <a:rPr sz="900" kern="0" spc="-38" dirty="0">
                <a:solidFill>
                  <a:srgbClr val="888888"/>
                </a:solidFill>
                <a:latin typeface="Calibri"/>
                <a:cs typeface="Calibri"/>
              </a:rPr>
              <a:t>1</a:t>
            </a:r>
            <a:endParaRPr sz="900" kern="0">
              <a:solidFill>
                <a:sysClr val="windowText" lastClr="000000"/>
              </a:solidFill>
              <a:latin typeface="Calibri"/>
              <a:cs typeface="Calibri"/>
            </a:endParaRPr>
          </a:p>
        </p:txBody>
      </p:sp>
      <p:sp>
        <p:nvSpPr>
          <p:cNvPr id="5" name="object 5"/>
          <p:cNvSpPr txBox="1">
            <a:spLocks noGrp="1"/>
          </p:cNvSpPr>
          <p:nvPr>
            <p:ph type="sldNum" sz="quarter" idx="7"/>
          </p:nvPr>
        </p:nvSpPr>
        <p:spPr>
          <a:xfrm>
            <a:off x="6226064" y="5693460"/>
            <a:ext cx="137517" cy="117020"/>
          </a:xfrm>
          <a:prstGeom prst="rect">
            <a:avLst/>
          </a:prstGeom>
        </p:spPr>
        <p:txBody>
          <a:bodyPr vert="horz" wrap="square" lIns="0" tIns="0" rIns="0" bIns="0" rtlCol="0">
            <a:spAutoFit/>
          </a:bodyPr>
          <a:lstStyle/>
          <a:p>
            <a:pPr marL="86678" defTabSz="685800">
              <a:lnSpc>
                <a:spcPts val="930"/>
              </a:lnSpc>
            </a:pPr>
            <a:fld id="{81D60167-4931-47E6-BA6A-407CBD079E47}" type="slidenum">
              <a:rPr i="0" u="none" kern="0" spc="-38" dirty="0">
                <a:latin typeface="Calibri"/>
                <a:cs typeface="Calibri"/>
              </a:rPr>
              <a:pPr marL="86678" defTabSz="685800">
                <a:lnSpc>
                  <a:spcPts val="930"/>
                </a:lnSpc>
              </a:pPr>
              <a:t>83</a:t>
            </a:fld>
            <a:endParaRPr i="0" u="none" kern="0" spc="-38" dirty="0">
              <a:latin typeface="Calibri"/>
              <a:cs typeface="Calibri"/>
            </a:endParaRPr>
          </a:p>
        </p:txBody>
      </p:sp>
      <p:sp>
        <p:nvSpPr>
          <p:cNvPr id="2" name="object 2"/>
          <p:cNvSpPr txBox="1">
            <a:spLocks noGrp="1"/>
          </p:cNvSpPr>
          <p:nvPr>
            <p:ph type="title"/>
          </p:nvPr>
        </p:nvSpPr>
        <p:spPr>
          <a:xfrm>
            <a:off x="515778" y="1022867"/>
            <a:ext cx="5659708" cy="812418"/>
          </a:xfrm>
          <a:prstGeom prst="rect">
            <a:avLst/>
          </a:prstGeom>
        </p:spPr>
        <p:txBody>
          <a:bodyPr vert="horz" wrap="square" lIns="0" tIns="301641" rIns="0" bIns="0" rtlCol="0">
            <a:spAutoFit/>
          </a:bodyPr>
          <a:lstStyle/>
          <a:p>
            <a:pPr marL="9525">
              <a:spcBef>
                <a:spcPts val="79"/>
              </a:spcBef>
            </a:pPr>
            <a:r>
              <a:rPr spc="-8" dirty="0"/>
              <a:t>Binary</a:t>
            </a:r>
            <a:r>
              <a:rPr spc="-165" dirty="0"/>
              <a:t> </a:t>
            </a:r>
            <a:r>
              <a:rPr spc="-8" dirty="0"/>
              <a:t>Coded</a:t>
            </a:r>
            <a:r>
              <a:rPr spc="-161" dirty="0"/>
              <a:t> </a:t>
            </a:r>
            <a:r>
              <a:rPr spc="-23" dirty="0"/>
              <a:t>Decimal</a:t>
            </a:r>
            <a:r>
              <a:rPr spc="-135" dirty="0"/>
              <a:t> </a:t>
            </a:r>
            <a:r>
              <a:rPr spc="-8" dirty="0"/>
              <a:t>(BCD)</a:t>
            </a:r>
          </a:p>
        </p:txBody>
      </p:sp>
      <p:sp>
        <p:nvSpPr>
          <p:cNvPr id="3" name="object 3"/>
          <p:cNvSpPr txBox="1"/>
          <p:nvPr/>
        </p:nvSpPr>
        <p:spPr>
          <a:xfrm>
            <a:off x="687705" y="2146535"/>
            <a:ext cx="7601426" cy="3199883"/>
          </a:xfrm>
          <a:prstGeom prst="rect">
            <a:avLst/>
          </a:prstGeom>
        </p:spPr>
        <p:txBody>
          <a:bodyPr vert="horz" wrap="square" lIns="0" tIns="45244" rIns="0" bIns="0" rtlCol="0">
            <a:spAutoFit/>
          </a:bodyPr>
          <a:lstStyle/>
          <a:p>
            <a:pPr marL="180975" indent="-171450" defTabSz="685800">
              <a:spcBef>
                <a:spcPts val="356"/>
              </a:spcBef>
              <a:buFont typeface="Arial MT"/>
              <a:buChar char="•"/>
              <a:tabLst>
                <a:tab pos="180975" algn="l"/>
              </a:tabLst>
            </a:pPr>
            <a:r>
              <a:rPr sz="1950" kern="0" dirty="0">
                <a:solidFill>
                  <a:sysClr val="windowText" lastClr="000000"/>
                </a:solidFill>
                <a:latin typeface="Calibri"/>
                <a:cs typeface="Calibri"/>
              </a:rPr>
              <a:t>The</a:t>
            </a:r>
            <a:r>
              <a:rPr sz="1950" kern="0" spc="-23" dirty="0">
                <a:solidFill>
                  <a:sysClr val="windowText" lastClr="000000"/>
                </a:solidFill>
                <a:latin typeface="Calibri"/>
                <a:cs typeface="Calibri"/>
              </a:rPr>
              <a:t> </a:t>
            </a:r>
            <a:r>
              <a:rPr sz="1950" kern="0" dirty="0">
                <a:solidFill>
                  <a:sysClr val="windowText" lastClr="000000"/>
                </a:solidFill>
                <a:latin typeface="Calibri"/>
                <a:cs typeface="Calibri"/>
              </a:rPr>
              <a:t>BCD</a:t>
            </a:r>
            <a:r>
              <a:rPr sz="1950" kern="0" spc="-11" dirty="0">
                <a:solidFill>
                  <a:sysClr val="windowText" lastClr="000000"/>
                </a:solidFill>
                <a:latin typeface="Calibri"/>
                <a:cs typeface="Calibri"/>
              </a:rPr>
              <a:t> </a:t>
            </a:r>
            <a:r>
              <a:rPr sz="1950" kern="0" dirty="0">
                <a:solidFill>
                  <a:sysClr val="windowText" lastClr="000000"/>
                </a:solidFill>
                <a:latin typeface="Calibri"/>
                <a:cs typeface="Calibri"/>
              </a:rPr>
              <a:t>code</a:t>
            </a:r>
            <a:r>
              <a:rPr sz="1950" kern="0" spc="-11" dirty="0">
                <a:solidFill>
                  <a:sysClr val="windowText" lastClr="000000"/>
                </a:solidFill>
                <a:latin typeface="Calibri"/>
                <a:cs typeface="Calibri"/>
              </a:rPr>
              <a:t> </a:t>
            </a:r>
            <a:r>
              <a:rPr sz="1950" kern="0" dirty="0">
                <a:solidFill>
                  <a:sysClr val="windowText" lastClr="000000"/>
                </a:solidFill>
                <a:latin typeface="Calibri"/>
                <a:cs typeface="Calibri"/>
              </a:rPr>
              <a:t>is</a:t>
            </a:r>
            <a:r>
              <a:rPr sz="1950" kern="0" spc="-4" dirty="0">
                <a:solidFill>
                  <a:sysClr val="windowText" lastClr="000000"/>
                </a:solidFill>
                <a:latin typeface="Calibri"/>
                <a:cs typeface="Calibri"/>
              </a:rPr>
              <a:t> </a:t>
            </a:r>
            <a:r>
              <a:rPr sz="1950" kern="0" dirty="0">
                <a:solidFill>
                  <a:sysClr val="windowText" lastClr="000000"/>
                </a:solidFill>
                <a:latin typeface="Calibri"/>
                <a:cs typeface="Calibri"/>
              </a:rPr>
              <a:t>the</a:t>
            </a:r>
            <a:r>
              <a:rPr sz="1950" kern="0" spc="-15" dirty="0">
                <a:solidFill>
                  <a:sysClr val="windowText" lastClr="000000"/>
                </a:solidFill>
                <a:latin typeface="Calibri"/>
                <a:cs typeface="Calibri"/>
              </a:rPr>
              <a:t> </a:t>
            </a:r>
            <a:r>
              <a:rPr sz="1950" kern="0" dirty="0">
                <a:solidFill>
                  <a:sysClr val="windowText" lastClr="000000"/>
                </a:solidFill>
                <a:latin typeface="Calibri"/>
                <a:cs typeface="Calibri"/>
              </a:rPr>
              <a:t>8,4,2,1</a:t>
            </a:r>
            <a:r>
              <a:rPr sz="1950" kern="0" spc="-15" dirty="0">
                <a:solidFill>
                  <a:sysClr val="windowText" lastClr="000000"/>
                </a:solidFill>
                <a:latin typeface="Calibri"/>
                <a:cs typeface="Calibri"/>
              </a:rPr>
              <a:t> </a:t>
            </a:r>
            <a:r>
              <a:rPr sz="1950" kern="0" spc="-8" dirty="0">
                <a:solidFill>
                  <a:sysClr val="windowText" lastClr="000000"/>
                </a:solidFill>
                <a:latin typeface="Calibri"/>
                <a:cs typeface="Calibri"/>
              </a:rPr>
              <a:t>code.</a:t>
            </a:r>
            <a:endParaRPr sz="1950" kern="0" dirty="0">
              <a:solidFill>
                <a:sysClr val="windowText" lastClr="000000"/>
              </a:solidFill>
              <a:latin typeface="Calibri"/>
              <a:cs typeface="Calibri"/>
            </a:endParaRPr>
          </a:p>
          <a:p>
            <a:pPr marL="180975" indent="-171450" defTabSz="685800">
              <a:spcBef>
                <a:spcPts val="281"/>
              </a:spcBef>
              <a:buFont typeface="Arial MT"/>
              <a:buChar char="•"/>
              <a:tabLst>
                <a:tab pos="180975" algn="l"/>
              </a:tabLst>
            </a:pPr>
            <a:r>
              <a:rPr sz="1950" b="1" kern="0" dirty="0">
                <a:solidFill>
                  <a:sysClr val="windowText" lastClr="000000"/>
                </a:solidFill>
                <a:latin typeface="Calibri"/>
                <a:cs typeface="Calibri"/>
              </a:rPr>
              <a:t>8,</a:t>
            </a:r>
            <a:r>
              <a:rPr sz="1950" b="1" kern="0" spc="-15" dirty="0">
                <a:solidFill>
                  <a:sysClr val="windowText" lastClr="000000"/>
                </a:solidFill>
                <a:latin typeface="Calibri"/>
                <a:cs typeface="Calibri"/>
              </a:rPr>
              <a:t> </a:t>
            </a:r>
            <a:r>
              <a:rPr sz="1950" b="1" kern="0" dirty="0">
                <a:solidFill>
                  <a:sysClr val="windowText" lastClr="000000"/>
                </a:solidFill>
                <a:latin typeface="Calibri"/>
                <a:cs typeface="Calibri"/>
              </a:rPr>
              <a:t>4,</a:t>
            </a:r>
            <a:r>
              <a:rPr sz="1950" b="1" kern="0" spc="-23" dirty="0">
                <a:solidFill>
                  <a:sysClr val="windowText" lastClr="000000"/>
                </a:solidFill>
                <a:latin typeface="Calibri"/>
                <a:cs typeface="Calibri"/>
              </a:rPr>
              <a:t> </a:t>
            </a:r>
            <a:r>
              <a:rPr sz="1950" b="1" kern="0" dirty="0">
                <a:solidFill>
                  <a:sysClr val="windowText" lastClr="000000"/>
                </a:solidFill>
                <a:latin typeface="Calibri"/>
                <a:cs typeface="Calibri"/>
              </a:rPr>
              <a:t>2,</a:t>
            </a:r>
            <a:r>
              <a:rPr sz="1950" b="1" kern="0" spc="-11" dirty="0">
                <a:solidFill>
                  <a:sysClr val="windowText" lastClr="000000"/>
                </a:solidFill>
                <a:latin typeface="Calibri"/>
                <a:cs typeface="Calibri"/>
              </a:rPr>
              <a:t> </a:t>
            </a:r>
            <a:r>
              <a:rPr sz="1950" b="1" kern="0" dirty="0">
                <a:solidFill>
                  <a:sysClr val="windowText" lastClr="000000"/>
                </a:solidFill>
                <a:latin typeface="Calibri"/>
                <a:cs typeface="Calibri"/>
              </a:rPr>
              <a:t>and</a:t>
            </a:r>
            <a:r>
              <a:rPr sz="1950" b="1" kern="0" spc="-11" dirty="0">
                <a:solidFill>
                  <a:sysClr val="windowText" lastClr="000000"/>
                </a:solidFill>
                <a:latin typeface="Calibri"/>
                <a:cs typeface="Calibri"/>
              </a:rPr>
              <a:t> </a:t>
            </a:r>
            <a:r>
              <a:rPr sz="1950" b="1" kern="0" dirty="0">
                <a:solidFill>
                  <a:sysClr val="windowText" lastClr="000000"/>
                </a:solidFill>
                <a:latin typeface="Calibri"/>
                <a:cs typeface="Calibri"/>
              </a:rPr>
              <a:t>1</a:t>
            </a:r>
            <a:r>
              <a:rPr sz="1950" b="1" kern="0" spc="-11" dirty="0">
                <a:solidFill>
                  <a:sysClr val="windowText" lastClr="000000"/>
                </a:solidFill>
                <a:latin typeface="Calibri"/>
                <a:cs typeface="Calibri"/>
              </a:rPr>
              <a:t> </a:t>
            </a:r>
            <a:r>
              <a:rPr sz="1950" b="1" kern="0" dirty="0">
                <a:solidFill>
                  <a:sysClr val="windowText" lastClr="000000"/>
                </a:solidFill>
                <a:latin typeface="Calibri"/>
                <a:cs typeface="Calibri"/>
              </a:rPr>
              <a:t>are</a:t>
            </a:r>
            <a:r>
              <a:rPr sz="1950" b="1" kern="0" spc="-19" dirty="0">
                <a:solidFill>
                  <a:sysClr val="windowText" lastClr="000000"/>
                </a:solidFill>
                <a:latin typeface="Calibri"/>
                <a:cs typeface="Calibri"/>
              </a:rPr>
              <a:t> </a:t>
            </a:r>
            <a:r>
              <a:rPr sz="1950" b="1" kern="0" spc="-8" dirty="0">
                <a:solidFill>
                  <a:sysClr val="windowText" lastClr="000000"/>
                </a:solidFill>
                <a:latin typeface="Calibri"/>
                <a:cs typeface="Calibri"/>
              </a:rPr>
              <a:t>weights</a:t>
            </a:r>
            <a:endParaRPr sz="1950" kern="0" dirty="0">
              <a:solidFill>
                <a:sysClr val="windowText" lastClr="000000"/>
              </a:solidFill>
              <a:latin typeface="Calibri"/>
              <a:cs typeface="Calibri"/>
            </a:endParaRPr>
          </a:p>
          <a:p>
            <a:pPr marL="180975" indent="-171450" defTabSz="685800">
              <a:spcBef>
                <a:spcPts val="285"/>
              </a:spcBef>
              <a:buFont typeface="Arial MT"/>
              <a:buChar char="•"/>
              <a:tabLst>
                <a:tab pos="180975" algn="l"/>
              </a:tabLst>
            </a:pPr>
            <a:r>
              <a:rPr sz="1950" kern="0" dirty="0">
                <a:solidFill>
                  <a:sysClr val="windowText" lastClr="000000"/>
                </a:solidFill>
                <a:latin typeface="Calibri"/>
                <a:cs typeface="Calibri"/>
              </a:rPr>
              <a:t>BCD</a:t>
            </a:r>
            <a:r>
              <a:rPr sz="1950" kern="0" spc="-26" dirty="0">
                <a:solidFill>
                  <a:sysClr val="windowText" lastClr="000000"/>
                </a:solidFill>
                <a:latin typeface="Calibri"/>
                <a:cs typeface="Calibri"/>
              </a:rPr>
              <a:t> </a:t>
            </a:r>
            <a:r>
              <a:rPr sz="1950" kern="0" dirty="0">
                <a:solidFill>
                  <a:sysClr val="windowText" lastClr="000000"/>
                </a:solidFill>
                <a:latin typeface="Calibri"/>
                <a:cs typeface="Calibri"/>
              </a:rPr>
              <a:t>is</a:t>
            </a:r>
            <a:r>
              <a:rPr sz="1950" kern="0" spc="-19" dirty="0">
                <a:solidFill>
                  <a:sysClr val="windowText" lastClr="000000"/>
                </a:solidFill>
                <a:latin typeface="Calibri"/>
                <a:cs typeface="Calibri"/>
              </a:rPr>
              <a:t> </a:t>
            </a:r>
            <a:r>
              <a:rPr sz="1950" kern="0" dirty="0">
                <a:solidFill>
                  <a:sysClr val="windowText" lastClr="000000"/>
                </a:solidFill>
                <a:latin typeface="Calibri"/>
                <a:cs typeface="Calibri"/>
              </a:rPr>
              <a:t>a</a:t>
            </a:r>
            <a:r>
              <a:rPr sz="1950" kern="0" spc="-23" dirty="0">
                <a:solidFill>
                  <a:sysClr val="windowText" lastClr="000000"/>
                </a:solidFill>
                <a:latin typeface="Calibri"/>
                <a:cs typeface="Calibri"/>
              </a:rPr>
              <a:t> </a:t>
            </a:r>
            <a:r>
              <a:rPr sz="1950" i="1" kern="0" dirty="0">
                <a:solidFill>
                  <a:sysClr val="windowText" lastClr="000000"/>
                </a:solidFill>
                <a:latin typeface="Calibri"/>
                <a:cs typeface="Calibri"/>
              </a:rPr>
              <a:t>weighted</a:t>
            </a:r>
            <a:r>
              <a:rPr sz="1950" i="1" kern="0" spc="-45" dirty="0">
                <a:solidFill>
                  <a:sysClr val="windowText" lastClr="000000"/>
                </a:solidFill>
                <a:latin typeface="Calibri"/>
                <a:cs typeface="Calibri"/>
              </a:rPr>
              <a:t> </a:t>
            </a:r>
            <a:r>
              <a:rPr sz="1950" kern="0" spc="-15" dirty="0">
                <a:solidFill>
                  <a:sysClr val="windowText" lastClr="000000"/>
                </a:solidFill>
                <a:latin typeface="Calibri"/>
                <a:cs typeface="Calibri"/>
              </a:rPr>
              <a:t>code</a:t>
            </a:r>
            <a:endParaRPr sz="1950" kern="0" dirty="0">
              <a:solidFill>
                <a:sysClr val="windowText" lastClr="000000"/>
              </a:solidFill>
              <a:latin typeface="Calibri"/>
              <a:cs typeface="Calibri"/>
            </a:endParaRPr>
          </a:p>
          <a:p>
            <a:pPr marL="180975" marR="3810" indent="-171450" defTabSz="685800">
              <a:lnSpc>
                <a:spcPct val="80000"/>
              </a:lnSpc>
              <a:spcBef>
                <a:spcPts val="750"/>
              </a:spcBef>
              <a:buFont typeface="Arial MT"/>
              <a:buChar char="•"/>
              <a:tabLst>
                <a:tab pos="180975" algn="l"/>
              </a:tabLst>
            </a:pPr>
            <a:r>
              <a:rPr sz="1950" kern="0" dirty="0">
                <a:solidFill>
                  <a:sysClr val="windowText" lastClr="000000"/>
                </a:solidFill>
                <a:latin typeface="Calibri"/>
                <a:cs typeface="Calibri"/>
              </a:rPr>
              <a:t>This</a:t>
            </a:r>
            <a:r>
              <a:rPr sz="1950" kern="0" spc="-41" dirty="0">
                <a:solidFill>
                  <a:sysClr val="windowText" lastClr="000000"/>
                </a:solidFill>
                <a:latin typeface="Calibri"/>
                <a:cs typeface="Calibri"/>
              </a:rPr>
              <a:t> </a:t>
            </a:r>
            <a:r>
              <a:rPr sz="1950" kern="0" dirty="0">
                <a:solidFill>
                  <a:sysClr val="windowText" lastClr="000000"/>
                </a:solidFill>
                <a:latin typeface="Calibri"/>
                <a:cs typeface="Calibri"/>
              </a:rPr>
              <a:t>code</a:t>
            </a:r>
            <a:r>
              <a:rPr sz="1950" kern="0" spc="-30" dirty="0">
                <a:solidFill>
                  <a:sysClr val="windowText" lastClr="000000"/>
                </a:solidFill>
                <a:latin typeface="Calibri"/>
                <a:cs typeface="Calibri"/>
              </a:rPr>
              <a:t> </a:t>
            </a:r>
            <a:r>
              <a:rPr sz="1950" kern="0" dirty="0">
                <a:solidFill>
                  <a:sysClr val="windowText" lastClr="000000"/>
                </a:solidFill>
                <a:latin typeface="Calibri"/>
                <a:cs typeface="Calibri"/>
              </a:rPr>
              <a:t>is</a:t>
            </a:r>
            <a:r>
              <a:rPr sz="1950" kern="0" spc="-23" dirty="0">
                <a:solidFill>
                  <a:sysClr val="windowText" lastClr="000000"/>
                </a:solidFill>
                <a:latin typeface="Calibri"/>
                <a:cs typeface="Calibri"/>
              </a:rPr>
              <a:t> </a:t>
            </a:r>
            <a:r>
              <a:rPr sz="1950" kern="0" dirty="0">
                <a:solidFill>
                  <a:sysClr val="windowText" lastClr="000000"/>
                </a:solidFill>
                <a:latin typeface="Calibri"/>
                <a:cs typeface="Calibri"/>
              </a:rPr>
              <a:t>the</a:t>
            </a:r>
            <a:r>
              <a:rPr sz="1950" kern="0" spc="-38" dirty="0">
                <a:solidFill>
                  <a:sysClr val="windowText" lastClr="000000"/>
                </a:solidFill>
                <a:latin typeface="Calibri"/>
                <a:cs typeface="Calibri"/>
              </a:rPr>
              <a:t> </a:t>
            </a:r>
            <a:r>
              <a:rPr sz="1950" kern="0" dirty="0">
                <a:solidFill>
                  <a:sysClr val="windowText" lastClr="000000"/>
                </a:solidFill>
                <a:latin typeface="Calibri"/>
                <a:cs typeface="Calibri"/>
              </a:rPr>
              <a:t>simplest,</a:t>
            </a:r>
            <a:r>
              <a:rPr sz="1950" kern="0" spc="-38" dirty="0">
                <a:solidFill>
                  <a:sysClr val="windowText" lastClr="000000"/>
                </a:solidFill>
                <a:latin typeface="Calibri"/>
                <a:cs typeface="Calibri"/>
              </a:rPr>
              <a:t> </a:t>
            </a:r>
            <a:r>
              <a:rPr sz="1950" kern="0" dirty="0">
                <a:solidFill>
                  <a:sysClr val="windowText" lastClr="000000"/>
                </a:solidFill>
                <a:latin typeface="Calibri"/>
                <a:cs typeface="Calibri"/>
              </a:rPr>
              <a:t>most</a:t>
            </a:r>
            <a:r>
              <a:rPr sz="1950" kern="0" spc="-23" dirty="0">
                <a:solidFill>
                  <a:sysClr val="windowText" lastClr="000000"/>
                </a:solidFill>
                <a:latin typeface="Calibri"/>
                <a:cs typeface="Calibri"/>
              </a:rPr>
              <a:t> </a:t>
            </a:r>
            <a:r>
              <a:rPr sz="1950" kern="0" dirty="0">
                <a:solidFill>
                  <a:sysClr val="windowText" lastClr="000000"/>
                </a:solidFill>
                <a:latin typeface="Calibri"/>
                <a:cs typeface="Calibri"/>
              </a:rPr>
              <a:t>intuitive</a:t>
            </a:r>
            <a:r>
              <a:rPr sz="1950" kern="0" spc="-41" dirty="0">
                <a:solidFill>
                  <a:sysClr val="windowText" lastClr="000000"/>
                </a:solidFill>
                <a:latin typeface="Calibri"/>
                <a:cs typeface="Calibri"/>
              </a:rPr>
              <a:t> </a:t>
            </a:r>
            <a:r>
              <a:rPr sz="1950" kern="0" dirty="0">
                <a:solidFill>
                  <a:sysClr val="windowText" lastClr="000000"/>
                </a:solidFill>
                <a:latin typeface="Calibri"/>
                <a:cs typeface="Calibri"/>
              </a:rPr>
              <a:t>binary</a:t>
            </a:r>
            <a:r>
              <a:rPr sz="1950" kern="0" spc="-34" dirty="0">
                <a:solidFill>
                  <a:sysClr val="windowText" lastClr="000000"/>
                </a:solidFill>
                <a:latin typeface="Calibri"/>
                <a:cs typeface="Calibri"/>
              </a:rPr>
              <a:t> </a:t>
            </a:r>
            <a:r>
              <a:rPr sz="1950" kern="0" dirty="0">
                <a:solidFill>
                  <a:sysClr val="windowText" lastClr="000000"/>
                </a:solidFill>
                <a:latin typeface="Calibri"/>
                <a:cs typeface="Calibri"/>
              </a:rPr>
              <a:t>code</a:t>
            </a:r>
            <a:r>
              <a:rPr sz="1950" kern="0" spc="-30" dirty="0">
                <a:solidFill>
                  <a:sysClr val="windowText" lastClr="000000"/>
                </a:solidFill>
                <a:latin typeface="Calibri"/>
                <a:cs typeface="Calibri"/>
              </a:rPr>
              <a:t> </a:t>
            </a:r>
            <a:r>
              <a:rPr sz="1950" kern="0" dirty="0">
                <a:solidFill>
                  <a:sysClr val="windowText" lastClr="000000"/>
                </a:solidFill>
                <a:latin typeface="Calibri"/>
                <a:cs typeface="Calibri"/>
              </a:rPr>
              <a:t>for</a:t>
            </a:r>
            <a:r>
              <a:rPr sz="1950" kern="0" spc="-19" dirty="0">
                <a:solidFill>
                  <a:sysClr val="windowText" lastClr="000000"/>
                </a:solidFill>
                <a:latin typeface="Calibri"/>
                <a:cs typeface="Calibri"/>
              </a:rPr>
              <a:t> </a:t>
            </a:r>
            <a:r>
              <a:rPr sz="1950" kern="0" dirty="0">
                <a:solidFill>
                  <a:sysClr val="windowText" lastClr="000000"/>
                </a:solidFill>
                <a:latin typeface="Calibri"/>
                <a:cs typeface="Calibri"/>
              </a:rPr>
              <a:t>decimal</a:t>
            </a:r>
            <a:r>
              <a:rPr sz="1950" kern="0" spc="-38" dirty="0">
                <a:solidFill>
                  <a:sysClr val="windowText" lastClr="000000"/>
                </a:solidFill>
                <a:latin typeface="Calibri"/>
                <a:cs typeface="Calibri"/>
              </a:rPr>
              <a:t> </a:t>
            </a:r>
            <a:r>
              <a:rPr sz="1950" kern="0" dirty="0">
                <a:solidFill>
                  <a:sysClr val="windowText" lastClr="000000"/>
                </a:solidFill>
                <a:latin typeface="Calibri"/>
                <a:cs typeface="Calibri"/>
              </a:rPr>
              <a:t>digits</a:t>
            </a:r>
            <a:r>
              <a:rPr sz="1950" kern="0" spc="-30" dirty="0">
                <a:solidFill>
                  <a:sysClr val="windowText" lastClr="000000"/>
                </a:solidFill>
                <a:latin typeface="Calibri"/>
                <a:cs typeface="Calibri"/>
              </a:rPr>
              <a:t> </a:t>
            </a:r>
            <a:r>
              <a:rPr sz="1950" kern="0" spc="-19" dirty="0">
                <a:solidFill>
                  <a:sysClr val="windowText" lastClr="000000"/>
                </a:solidFill>
                <a:latin typeface="Calibri"/>
                <a:cs typeface="Calibri"/>
              </a:rPr>
              <a:t>and </a:t>
            </a:r>
            <a:r>
              <a:rPr sz="1950" kern="0" dirty="0">
                <a:solidFill>
                  <a:sysClr val="windowText" lastClr="000000"/>
                </a:solidFill>
                <a:latin typeface="Calibri"/>
                <a:cs typeface="Calibri"/>
              </a:rPr>
              <a:t>uses</a:t>
            </a:r>
            <a:r>
              <a:rPr sz="1950" kern="0" spc="-30" dirty="0">
                <a:solidFill>
                  <a:sysClr val="windowText" lastClr="000000"/>
                </a:solidFill>
                <a:latin typeface="Calibri"/>
                <a:cs typeface="Calibri"/>
              </a:rPr>
              <a:t> </a:t>
            </a:r>
            <a:r>
              <a:rPr sz="1950" kern="0" dirty="0">
                <a:solidFill>
                  <a:sysClr val="windowText" lastClr="000000"/>
                </a:solidFill>
                <a:latin typeface="Calibri"/>
                <a:cs typeface="Calibri"/>
              </a:rPr>
              <a:t>the</a:t>
            </a:r>
            <a:r>
              <a:rPr sz="1950" kern="0" spc="-26" dirty="0">
                <a:solidFill>
                  <a:sysClr val="windowText" lastClr="000000"/>
                </a:solidFill>
                <a:latin typeface="Calibri"/>
                <a:cs typeface="Calibri"/>
              </a:rPr>
              <a:t> </a:t>
            </a:r>
            <a:r>
              <a:rPr sz="1950" kern="0" dirty="0">
                <a:solidFill>
                  <a:sysClr val="windowText" lastClr="000000"/>
                </a:solidFill>
                <a:latin typeface="Calibri"/>
                <a:cs typeface="Calibri"/>
              </a:rPr>
              <a:t>same</a:t>
            </a:r>
            <a:r>
              <a:rPr sz="1950" kern="0" spc="-23" dirty="0">
                <a:solidFill>
                  <a:sysClr val="windowText" lastClr="000000"/>
                </a:solidFill>
                <a:latin typeface="Calibri"/>
                <a:cs typeface="Calibri"/>
              </a:rPr>
              <a:t> </a:t>
            </a:r>
            <a:r>
              <a:rPr sz="1950" kern="0" dirty="0">
                <a:solidFill>
                  <a:sysClr val="windowText" lastClr="000000"/>
                </a:solidFill>
                <a:latin typeface="Calibri"/>
                <a:cs typeface="Calibri"/>
              </a:rPr>
              <a:t>powers</a:t>
            </a:r>
            <a:r>
              <a:rPr sz="1950" kern="0" spc="-11" dirty="0">
                <a:solidFill>
                  <a:sysClr val="windowText" lastClr="000000"/>
                </a:solidFill>
                <a:latin typeface="Calibri"/>
                <a:cs typeface="Calibri"/>
              </a:rPr>
              <a:t> </a:t>
            </a:r>
            <a:r>
              <a:rPr sz="1950" kern="0" dirty="0">
                <a:solidFill>
                  <a:sysClr val="windowText" lastClr="000000"/>
                </a:solidFill>
                <a:latin typeface="Calibri"/>
                <a:cs typeface="Calibri"/>
              </a:rPr>
              <a:t>of</a:t>
            </a:r>
            <a:r>
              <a:rPr sz="1950" kern="0" spc="-15" dirty="0">
                <a:solidFill>
                  <a:sysClr val="windowText" lastClr="000000"/>
                </a:solidFill>
                <a:latin typeface="Calibri"/>
                <a:cs typeface="Calibri"/>
              </a:rPr>
              <a:t> </a:t>
            </a:r>
            <a:r>
              <a:rPr sz="1950" kern="0" dirty="0">
                <a:solidFill>
                  <a:sysClr val="windowText" lastClr="000000"/>
                </a:solidFill>
                <a:latin typeface="Calibri"/>
                <a:cs typeface="Calibri"/>
              </a:rPr>
              <a:t>2</a:t>
            </a:r>
            <a:r>
              <a:rPr sz="1950" kern="0" spc="-23" dirty="0">
                <a:solidFill>
                  <a:sysClr val="windowText" lastClr="000000"/>
                </a:solidFill>
                <a:latin typeface="Calibri"/>
                <a:cs typeface="Calibri"/>
              </a:rPr>
              <a:t> </a:t>
            </a:r>
            <a:r>
              <a:rPr sz="1950" kern="0" dirty="0">
                <a:solidFill>
                  <a:sysClr val="windowText" lastClr="000000"/>
                </a:solidFill>
                <a:latin typeface="Calibri"/>
                <a:cs typeface="Calibri"/>
              </a:rPr>
              <a:t>as</a:t>
            </a:r>
            <a:r>
              <a:rPr sz="1950" kern="0" spc="-15" dirty="0">
                <a:solidFill>
                  <a:sysClr val="windowText" lastClr="000000"/>
                </a:solidFill>
                <a:latin typeface="Calibri"/>
                <a:cs typeface="Calibri"/>
              </a:rPr>
              <a:t> </a:t>
            </a:r>
            <a:r>
              <a:rPr sz="1950" kern="0" dirty="0">
                <a:solidFill>
                  <a:sysClr val="windowText" lastClr="000000"/>
                </a:solidFill>
                <a:latin typeface="Calibri"/>
                <a:cs typeface="Calibri"/>
              </a:rPr>
              <a:t>a</a:t>
            </a:r>
            <a:r>
              <a:rPr sz="1950" kern="0" spc="-11" dirty="0">
                <a:solidFill>
                  <a:sysClr val="windowText" lastClr="000000"/>
                </a:solidFill>
                <a:latin typeface="Calibri"/>
                <a:cs typeface="Calibri"/>
              </a:rPr>
              <a:t> </a:t>
            </a:r>
            <a:r>
              <a:rPr sz="1950" kern="0" dirty="0">
                <a:solidFill>
                  <a:sysClr val="windowText" lastClr="000000"/>
                </a:solidFill>
                <a:latin typeface="Calibri"/>
                <a:cs typeface="Calibri"/>
              </a:rPr>
              <a:t>binary</a:t>
            </a:r>
            <a:r>
              <a:rPr sz="1950" kern="0" spc="-26" dirty="0">
                <a:solidFill>
                  <a:sysClr val="windowText" lastClr="000000"/>
                </a:solidFill>
                <a:latin typeface="Calibri"/>
                <a:cs typeface="Calibri"/>
              </a:rPr>
              <a:t> </a:t>
            </a:r>
            <a:r>
              <a:rPr sz="1950" kern="0" spc="-19" dirty="0">
                <a:solidFill>
                  <a:sysClr val="windowText" lastClr="000000"/>
                </a:solidFill>
                <a:latin typeface="Calibri"/>
                <a:cs typeface="Calibri"/>
              </a:rPr>
              <a:t>number,</a:t>
            </a:r>
            <a:r>
              <a:rPr sz="1950" kern="0" spc="-30" dirty="0">
                <a:solidFill>
                  <a:sysClr val="windowText" lastClr="000000"/>
                </a:solidFill>
                <a:latin typeface="Calibri"/>
                <a:cs typeface="Calibri"/>
              </a:rPr>
              <a:t> </a:t>
            </a:r>
            <a:r>
              <a:rPr sz="1950" kern="0" dirty="0">
                <a:solidFill>
                  <a:sysClr val="windowText" lastClr="000000"/>
                </a:solidFill>
                <a:latin typeface="Calibri"/>
                <a:cs typeface="Calibri"/>
              </a:rPr>
              <a:t>but</a:t>
            </a:r>
            <a:r>
              <a:rPr sz="1950" kern="0" spc="-19" dirty="0">
                <a:solidFill>
                  <a:sysClr val="windowText" lastClr="000000"/>
                </a:solidFill>
                <a:latin typeface="Calibri"/>
                <a:cs typeface="Calibri"/>
              </a:rPr>
              <a:t> </a:t>
            </a:r>
            <a:r>
              <a:rPr sz="1950" kern="0" dirty="0">
                <a:solidFill>
                  <a:sysClr val="windowText" lastClr="000000"/>
                </a:solidFill>
                <a:latin typeface="Calibri"/>
                <a:cs typeface="Calibri"/>
              </a:rPr>
              <a:t>only</a:t>
            </a:r>
            <a:r>
              <a:rPr sz="1950" kern="0" spc="-11" dirty="0">
                <a:solidFill>
                  <a:sysClr val="windowText" lastClr="000000"/>
                </a:solidFill>
                <a:latin typeface="Calibri"/>
                <a:cs typeface="Calibri"/>
              </a:rPr>
              <a:t> </a:t>
            </a:r>
            <a:r>
              <a:rPr sz="1950" kern="0" dirty="0">
                <a:solidFill>
                  <a:sysClr val="windowText" lastClr="000000"/>
                </a:solidFill>
                <a:latin typeface="Calibri"/>
                <a:cs typeface="Calibri"/>
              </a:rPr>
              <a:t>encodes</a:t>
            </a:r>
            <a:r>
              <a:rPr sz="1950" kern="0" spc="-34" dirty="0">
                <a:solidFill>
                  <a:sysClr val="windowText" lastClr="000000"/>
                </a:solidFill>
                <a:latin typeface="Calibri"/>
                <a:cs typeface="Calibri"/>
              </a:rPr>
              <a:t> </a:t>
            </a:r>
            <a:r>
              <a:rPr sz="1950" kern="0" dirty="0">
                <a:solidFill>
                  <a:sysClr val="windowText" lastClr="000000"/>
                </a:solidFill>
                <a:latin typeface="Calibri"/>
                <a:cs typeface="Calibri"/>
              </a:rPr>
              <a:t>the</a:t>
            </a:r>
            <a:r>
              <a:rPr sz="1950" kern="0" spc="-26" dirty="0">
                <a:solidFill>
                  <a:sysClr val="windowText" lastClr="000000"/>
                </a:solidFill>
                <a:latin typeface="Calibri"/>
                <a:cs typeface="Calibri"/>
              </a:rPr>
              <a:t> </a:t>
            </a:r>
            <a:r>
              <a:rPr sz="1950" kern="0" spc="-8" dirty="0">
                <a:solidFill>
                  <a:sysClr val="windowText" lastClr="000000"/>
                </a:solidFill>
                <a:latin typeface="Calibri"/>
                <a:cs typeface="Calibri"/>
              </a:rPr>
              <a:t>first </a:t>
            </a:r>
            <a:r>
              <a:rPr sz="1950" kern="0" dirty="0">
                <a:solidFill>
                  <a:sysClr val="windowText" lastClr="000000"/>
                </a:solidFill>
                <a:latin typeface="Calibri"/>
                <a:cs typeface="Calibri"/>
              </a:rPr>
              <a:t>ten</a:t>
            </a:r>
            <a:r>
              <a:rPr sz="1950" kern="0" spc="-41" dirty="0">
                <a:solidFill>
                  <a:sysClr val="windowText" lastClr="000000"/>
                </a:solidFill>
                <a:latin typeface="Calibri"/>
                <a:cs typeface="Calibri"/>
              </a:rPr>
              <a:t> </a:t>
            </a:r>
            <a:r>
              <a:rPr sz="1950" kern="0" dirty="0">
                <a:solidFill>
                  <a:sysClr val="windowText" lastClr="000000"/>
                </a:solidFill>
                <a:latin typeface="Calibri"/>
                <a:cs typeface="Calibri"/>
              </a:rPr>
              <a:t>values</a:t>
            </a:r>
            <a:r>
              <a:rPr sz="1950" kern="0" spc="-41" dirty="0">
                <a:solidFill>
                  <a:sysClr val="windowText" lastClr="000000"/>
                </a:solidFill>
                <a:latin typeface="Calibri"/>
                <a:cs typeface="Calibri"/>
              </a:rPr>
              <a:t> </a:t>
            </a:r>
            <a:r>
              <a:rPr sz="1950" kern="0" dirty="0">
                <a:solidFill>
                  <a:sysClr val="windowText" lastClr="000000"/>
                </a:solidFill>
                <a:latin typeface="Calibri"/>
                <a:cs typeface="Calibri"/>
              </a:rPr>
              <a:t>from</a:t>
            </a:r>
            <a:r>
              <a:rPr sz="1950" kern="0" spc="-19" dirty="0">
                <a:solidFill>
                  <a:sysClr val="windowText" lastClr="000000"/>
                </a:solidFill>
                <a:latin typeface="Calibri"/>
                <a:cs typeface="Calibri"/>
              </a:rPr>
              <a:t> </a:t>
            </a:r>
            <a:r>
              <a:rPr sz="1950" kern="0" dirty="0">
                <a:solidFill>
                  <a:sysClr val="windowText" lastClr="000000"/>
                </a:solidFill>
                <a:latin typeface="Calibri"/>
                <a:cs typeface="Calibri"/>
              </a:rPr>
              <a:t>0</a:t>
            </a:r>
            <a:r>
              <a:rPr sz="1950" kern="0" spc="-34" dirty="0">
                <a:solidFill>
                  <a:sysClr val="windowText" lastClr="000000"/>
                </a:solidFill>
                <a:latin typeface="Calibri"/>
                <a:cs typeface="Calibri"/>
              </a:rPr>
              <a:t> </a:t>
            </a:r>
            <a:r>
              <a:rPr sz="1950" kern="0" dirty="0">
                <a:solidFill>
                  <a:sysClr val="windowText" lastClr="000000"/>
                </a:solidFill>
                <a:latin typeface="Calibri"/>
                <a:cs typeface="Calibri"/>
              </a:rPr>
              <a:t>to</a:t>
            </a:r>
            <a:r>
              <a:rPr sz="1950" kern="0" spc="-19" dirty="0">
                <a:solidFill>
                  <a:sysClr val="windowText" lastClr="000000"/>
                </a:solidFill>
                <a:latin typeface="Calibri"/>
                <a:cs typeface="Calibri"/>
              </a:rPr>
              <a:t> 9.</a:t>
            </a:r>
            <a:endParaRPr sz="1950" kern="0" dirty="0">
              <a:solidFill>
                <a:sysClr val="windowText" lastClr="000000"/>
              </a:solidFill>
              <a:latin typeface="Calibri"/>
              <a:cs typeface="Calibri"/>
            </a:endParaRPr>
          </a:p>
          <a:p>
            <a:pPr marL="180975" indent="-171450" defTabSz="685800">
              <a:spcBef>
                <a:spcPts val="278"/>
              </a:spcBef>
              <a:buFont typeface="Arial MT"/>
              <a:buChar char="•"/>
              <a:tabLst>
                <a:tab pos="180975" algn="l"/>
                <a:tab pos="1235869" algn="l"/>
              </a:tabLst>
            </a:pPr>
            <a:r>
              <a:rPr sz="1950" b="1" kern="0" spc="-8" dirty="0">
                <a:solidFill>
                  <a:sysClr val="windowText" lastClr="000000"/>
                </a:solidFill>
                <a:latin typeface="Calibri"/>
                <a:cs typeface="Calibri"/>
              </a:rPr>
              <a:t>Example:</a:t>
            </a:r>
            <a:r>
              <a:rPr sz="1950" b="1" kern="0" dirty="0">
                <a:solidFill>
                  <a:sysClr val="windowText" lastClr="000000"/>
                </a:solidFill>
                <a:latin typeface="Calibri"/>
                <a:cs typeface="Calibri"/>
              </a:rPr>
              <a:t>	0110</a:t>
            </a:r>
            <a:r>
              <a:rPr sz="1950" b="1" kern="0" spc="-30" dirty="0">
                <a:solidFill>
                  <a:sysClr val="windowText" lastClr="000000"/>
                </a:solidFill>
                <a:latin typeface="Calibri"/>
                <a:cs typeface="Calibri"/>
              </a:rPr>
              <a:t> </a:t>
            </a:r>
            <a:r>
              <a:rPr sz="1950" b="1" kern="0" dirty="0">
                <a:solidFill>
                  <a:sysClr val="windowText" lastClr="000000"/>
                </a:solidFill>
                <a:latin typeface="Calibri"/>
                <a:cs typeface="Calibri"/>
              </a:rPr>
              <a:t>(6)</a:t>
            </a:r>
            <a:r>
              <a:rPr sz="1950" b="1" kern="0" spc="-4" dirty="0">
                <a:solidFill>
                  <a:sysClr val="windowText" lastClr="000000"/>
                </a:solidFill>
                <a:latin typeface="Calibri"/>
                <a:cs typeface="Calibri"/>
              </a:rPr>
              <a:t> </a:t>
            </a:r>
            <a:r>
              <a:rPr sz="1950" b="1" kern="0" dirty="0">
                <a:solidFill>
                  <a:sysClr val="windowText" lastClr="000000"/>
                </a:solidFill>
                <a:latin typeface="Calibri"/>
                <a:cs typeface="Calibri"/>
              </a:rPr>
              <a:t>=</a:t>
            </a:r>
            <a:r>
              <a:rPr sz="1950" b="1" kern="0" spc="-4" dirty="0">
                <a:solidFill>
                  <a:sysClr val="windowText" lastClr="000000"/>
                </a:solidFill>
                <a:latin typeface="Calibri"/>
                <a:cs typeface="Calibri"/>
              </a:rPr>
              <a:t> </a:t>
            </a:r>
            <a:r>
              <a:rPr sz="1950" b="1" kern="0" dirty="0">
                <a:solidFill>
                  <a:sysClr val="windowText" lastClr="000000"/>
                </a:solidFill>
                <a:latin typeface="Calibri"/>
                <a:cs typeface="Calibri"/>
              </a:rPr>
              <a:t>0110</a:t>
            </a:r>
            <a:r>
              <a:rPr sz="1950" b="1" kern="0" spc="-19" dirty="0">
                <a:solidFill>
                  <a:sysClr val="windowText" lastClr="000000"/>
                </a:solidFill>
                <a:latin typeface="Calibri"/>
                <a:cs typeface="Calibri"/>
              </a:rPr>
              <a:t> (6)</a:t>
            </a:r>
            <a:endParaRPr sz="1950" kern="0" dirty="0">
              <a:solidFill>
                <a:sysClr val="windowText" lastClr="000000"/>
              </a:solidFill>
              <a:latin typeface="Calibri"/>
              <a:cs typeface="Calibri"/>
            </a:endParaRPr>
          </a:p>
          <a:p>
            <a:pPr marL="180975" indent="-171450" defTabSz="685800">
              <a:spcBef>
                <a:spcPts val="289"/>
              </a:spcBef>
              <a:buFont typeface="Arial MT"/>
              <a:buChar char="•"/>
              <a:tabLst>
                <a:tab pos="180975" algn="l"/>
              </a:tabLst>
            </a:pPr>
            <a:r>
              <a:rPr sz="1950" b="1" kern="0" dirty="0">
                <a:solidFill>
                  <a:sysClr val="windowText" lastClr="000000"/>
                </a:solidFill>
                <a:latin typeface="Calibri"/>
                <a:cs typeface="Calibri"/>
              </a:rPr>
              <a:t>1010</a:t>
            </a:r>
            <a:r>
              <a:rPr sz="1950" b="1" kern="0" spc="-30" dirty="0">
                <a:solidFill>
                  <a:sysClr val="windowText" lastClr="000000"/>
                </a:solidFill>
                <a:latin typeface="Calibri"/>
                <a:cs typeface="Calibri"/>
              </a:rPr>
              <a:t> </a:t>
            </a:r>
            <a:r>
              <a:rPr sz="1950" b="1" kern="0" dirty="0">
                <a:solidFill>
                  <a:sysClr val="windowText" lastClr="000000"/>
                </a:solidFill>
                <a:latin typeface="Calibri"/>
                <a:cs typeface="Calibri"/>
              </a:rPr>
              <a:t>(10)</a:t>
            </a:r>
            <a:r>
              <a:rPr sz="1950" b="1" kern="0" spc="-8" dirty="0">
                <a:solidFill>
                  <a:sysClr val="windowText" lastClr="000000"/>
                </a:solidFill>
                <a:latin typeface="Calibri"/>
                <a:cs typeface="Calibri"/>
              </a:rPr>
              <a:t> </a:t>
            </a:r>
            <a:r>
              <a:rPr sz="1950" b="1" kern="0" dirty="0">
                <a:solidFill>
                  <a:sysClr val="windowText" lastClr="000000"/>
                </a:solidFill>
                <a:latin typeface="Calibri"/>
                <a:cs typeface="Calibri"/>
              </a:rPr>
              <a:t>=</a:t>
            </a:r>
            <a:r>
              <a:rPr sz="1950" b="1" kern="0" spc="-4" dirty="0">
                <a:solidFill>
                  <a:sysClr val="windowText" lastClr="000000"/>
                </a:solidFill>
                <a:latin typeface="Calibri"/>
                <a:cs typeface="Calibri"/>
              </a:rPr>
              <a:t> </a:t>
            </a:r>
            <a:r>
              <a:rPr sz="1950" b="1" kern="0" dirty="0">
                <a:solidFill>
                  <a:sysClr val="windowText" lastClr="000000"/>
                </a:solidFill>
                <a:latin typeface="Calibri"/>
                <a:cs typeface="Calibri"/>
              </a:rPr>
              <a:t>0001</a:t>
            </a:r>
            <a:r>
              <a:rPr sz="1950" b="1" kern="0" spc="-26" dirty="0">
                <a:solidFill>
                  <a:sysClr val="windowText" lastClr="000000"/>
                </a:solidFill>
                <a:latin typeface="Calibri"/>
                <a:cs typeface="Calibri"/>
              </a:rPr>
              <a:t> </a:t>
            </a:r>
            <a:r>
              <a:rPr sz="1950" b="1" kern="0" dirty="0">
                <a:solidFill>
                  <a:sysClr val="windowText" lastClr="000000"/>
                </a:solidFill>
                <a:latin typeface="Calibri"/>
                <a:cs typeface="Calibri"/>
              </a:rPr>
              <a:t>(1)</a:t>
            </a:r>
            <a:r>
              <a:rPr sz="1950" b="1" kern="0" spc="-8" dirty="0">
                <a:solidFill>
                  <a:sysClr val="windowText" lastClr="000000"/>
                </a:solidFill>
                <a:latin typeface="Calibri"/>
                <a:cs typeface="Calibri"/>
              </a:rPr>
              <a:t> </a:t>
            </a:r>
            <a:r>
              <a:rPr sz="1950" b="1" kern="0" dirty="0">
                <a:solidFill>
                  <a:sysClr val="windowText" lastClr="000000"/>
                </a:solidFill>
                <a:latin typeface="Calibri"/>
                <a:cs typeface="Calibri"/>
              </a:rPr>
              <a:t>+</a:t>
            </a:r>
            <a:r>
              <a:rPr sz="1950" b="1" kern="0" spc="-4" dirty="0">
                <a:solidFill>
                  <a:sysClr val="windowText" lastClr="000000"/>
                </a:solidFill>
                <a:latin typeface="Calibri"/>
                <a:cs typeface="Calibri"/>
              </a:rPr>
              <a:t> </a:t>
            </a:r>
            <a:r>
              <a:rPr sz="1950" b="1" kern="0" dirty="0">
                <a:solidFill>
                  <a:sysClr val="windowText" lastClr="000000"/>
                </a:solidFill>
                <a:latin typeface="Calibri"/>
                <a:cs typeface="Calibri"/>
              </a:rPr>
              <a:t>0000</a:t>
            </a:r>
            <a:r>
              <a:rPr sz="1950" b="1" kern="0" spc="-19" dirty="0">
                <a:solidFill>
                  <a:sysClr val="windowText" lastClr="000000"/>
                </a:solidFill>
                <a:latin typeface="Calibri"/>
                <a:cs typeface="Calibri"/>
              </a:rPr>
              <a:t> (0)</a:t>
            </a:r>
            <a:endParaRPr sz="1950" kern="0" dirty="0">
              <a:solidFill>
                <a:sysClr val="windowText" lastClr="000000"/>
              </a:solidFill>
              <a:latin typeface="Calibri"/>
              <a:cs typeface="Calibri"/>
            </a:endParaRPr>
          </a:p>
          <a:p>
            <a:pPr marL="180975" indent="-171450" defTabSz="685800">
              <a:spcBef>
                <a:spcPts val="281"/>
              </a:spcBef>
              <a:buFont typeface="Arial MT"/>
              <a:buChar char="•"/>
              <a:tabLst>
                <a:tab pos="180975" algn="l"/>
              </a:tabLst>
            </a:pPr>
            <a:r>
              <a:rPr sz="1950" kern="0" dirty="0">
                <a:solidFill>
                  <a:sysClr val="windowText" lastClr="000000"/>
                </a:solidFill>
                <a:latin typeface="Calibri"/>
                <a:cs typeface="Calibri"/>
              </a:rPr>
              <a:t>How</a:t>
            </a:r>
            <a:r>
              <a:rPr sz="1950" kern="0" spc="-41" dirty="0">
                <a:solidFill>
                  <a:sysClr val="windowText" lastClr="000000"/>
                </a:solidFill>
                <a:latin typeface="Calibri"/>
                <a:cs typeface="Calibri"/>
              </a:rPr>
              <a:t> </a:t>
            </a:r>
            <a:r>
              <a:rPr sz="1950" kern="0" dirty="0">
                <a:solidFill>
                  <a:sysClr val="windowText" lastClr="000000"/>
                </a:solidFill>
                <a:latin typeface="Calibri"/>
                <a:cs typeface="Calibri"/>
              </a:rPr>
              <a:t>many</a:t>
            </a:r>
            <a:r>
              <a:rPr sz="1950" kern="0" spc="-45" dirty="0">
                <a:solidFill>
                  <a:sysClr val="windowText" lastClr="000000"/>
                </a:solidFill>
                <a:latin typeface="Calibri"/>
                <a:cs typeface="Calibri"/>
              </a:rPr>
              <a:t> </a:t>
            </a:r>
            <a:r>
              <a:rPr sz="1950" kern="0" spc="-8" dirty="0">
                <a:solidFill>
                  <a:sysClr val="windowText" lastClr="000000"/>
                </a:solidFill>
                <a:latin typeface="Calibri"/>
                <a:cs typeface="Calibri"/>
              </a:rPr>
              <a:t>“invalid”</a:t>
            </a:r>
            <a:r>
              <a:rPr sz="1950" kern="0" spc="-60" dirty="0">
                <a:solidFill>
                  <a:sysClr val="windowText" lastClr="000000"/>
                </a:solidFill>
                <a:latin typeface="Calibri"/>
                <a:cs typeface="Calibri"/>
              </a:rPr>
              <a:t> </a:t>
            </a:r>
            <a:r>
              <a:rPr sz="1950" kern="0" dirty="0">
                <a:solidFill>
                  <a:sysClr val="windowText" lastClr="000000"/>
                </a:solidFill>
                <a:latin typeface="Calibri"/>
                <a:cs typeface="Calibri"/>
              </a:rPr>
              <a:t>code</a:t>
            </a:r>
            <a:r>
              <a:rPr sz="1950" kern="0" spc="-45" dirty="0">
                <a:solidFill>
                  <a:sysClr val="windowText" lastClr="000000"/>
                </a:solidFill>
                <a:latin typeface="Calibri"/>
                <a:cs typeface="Calibri"/>
              </a:rPr>
              <a:t> </a:t>
            </a:r>
            <a:r>
              <a:rPr sz="1950" kern="0" dirty="0">
                <a:solidFill>
                  <a:sysClr val="windowText" lastClr="000000"/>
                </a:solidFill>
                <a:latin typeface="Calibri"/>
                <a:cs typeface="Calibri"/>
              </a:rPr>
              <a:t>words</a:t>
            </a:r>
            <a:r>
              <a:rPr sz="1950" kern="0" spc="-45" dirty="0">
                <a:solidFill>
                  <a:sysClr val="windowText" lastClr="000000"/>
                </a:solidFill>
                <a:latin typeface="Calibri"/>
                <a:cs typeface="Calibri"/>
              </a:rPr>
              <a:t> </a:t>
            </a:r>
            <a:r>
              <a:rPr sz="1950" kern="0" dirty="0">
                <a:solidFill>
                  <a:sysClr val="windowText" lastClr="000000"/>
                </a:solidFill>
                <a:latin typeface="Calibri"/>
                <a:cs typeface="Calibri"/>
              </a:rPr>
              <a:t>are</a:t>
            </a:r>
            <a:r>
              <a:rPr sz="1950" kern="0" spc="-45" dirty="0">
                <a:solidFill>
                  <a:sysClr val="windowText" lastClr="000000"/>
                </a:solidFill>
                <a:latin typeface="Calibri"/>
                <a:cs typeface="Calibri"/>
              </a:rPr>
              <a:t> </a:t>
            </a:r>
            <a:r>
              <a:rPr sz="1950" kern="0" spc="-8" dirty="0">
                <a:solidFill>
                  <a:sysClr val="windowText" lastClr="000000"/>
                </a:solidFill>
                <a:latin typeface="Calibri"/>
                <a:cs typeface="Calibri"/>
              </a:rPr>
              <a:t>there?</a:t>
            </a:r>
            <a:endParaRPr sz="1950" kern="0" dirty="0">
              <a:solidFill>
                <a:sysClr val="windowText" lastClr="000000"/>
              </a:solidFill>
              <a:latin typeface="Calibri"/>
              <a:cs typeface="Calibri"/>
            </a:endParaRPr>
          </a:p>
          <a:p>
            <a:pPr marL="180975" indent="-171450" defTabSz="685800">
              <a:spcBef>
                <a:spcPts val="278"/>
              </a:spcBef>
              <a:buFont typeface="Arial MT"/>
              <a:buChar char="•"/>
              <a:tabLst>
                <a:tab pos="180975" algn="l"/>
              </a:tabLst>
            </a:pPr>
            <a:r>
              <a:rPr sz="1950" kern="0" dirty="0">
                <a:solidFill>
                  <a:sysClr val="windowText" lastClr="000000"/>
                </a:solidFill>
                <a:latin typeface="Calibri"/>
                <a:cs typeface="Calibri"/>
              </a:rPr>
              <a:t>What</a:t>
            </a:r>
            <a:r>
              <a:rPr sz="1950" kern="0" spc="-26" dirty="0">
                <a:solidFill>
                  <a:sysClr val="windowText" lastClr="000000"/>
                </a:solidFill>
                <a:latin typeface="Calibri"/>
                <a:cs typeface="Calibri"/>
              </a:rPr>
              <a:t> </a:t>
            </a:r>
            <a:r>
              <a:rPr sz="1950" kern="0" dirty="0">
                <a:solidFill>
                  <a:sysClr val="windowText" lastClr="000000"/>
                </a:solidFill>
                <a:latin typeface="Calibri"/>
                <a:cs typeface="Calibri"/>
              </a:rPr>
              <a:t>are</a:t>
            </a:r>
            <a:r>
              <a:rPr sz="1950" kern="0" spc="-23" dirty="0">
                <a:solidFill>
                  <a:sysClr val="windowText" lastClr="000000"/>
                </a:solidFill>
                <a:latin typeface="Calibri"/>
                <a:cs typeface="Calibri"/>
              </a:rPr>
              <a:t> </a:t>
            </a:r>
            <a:r>
              <a:rPr sz="1950" kern="0" dirty="0">
                <a:solidFill>
                  <a:sysClr val="windowText" lastClr="000000"/>
                </a:solidFill>
                <a:latin typeface="Calibri"/>
                <a:cs typeface="Calibri"/>
              </a:rPr>
              <a:t>the</a:t>
            </a:r>
            <a:r>
              <a:rPr sz="1950" kern="0" spc="-30" dirty="0">
                <a:solidFill>
                  <a:sysClr val="windowText" lastClr="000000"/>
                </a:solidFill>
                <a:latin typeface="Calibri"/>
                <a:cs typeface="Calibri"/>
              </a:rPr>
              <a:t> </a:t>
            </a:r>
            <a:r>
              <a:rPr sz="1950" kern="0" spc="-8" dirty="0">
                <a:solidFill>
                  <a:sysClr val="windowText" lastClr="000000"/>
                </a:solidFill>
                <a:latin typeface="Calibri"/>
                <a:cs typeface="Calibri"/>
              </a:rPr>
              <a:t>“invalid”</a:t>
            </a:r>
            <a:r>
              <a:rPr sz="1950" kern="0" spc="-38" dirty="0">
                <a:solidFill>
                  <a:sysClr val="windowText" lastClr="000000"/>
                </a:solidFill>
                <a:latin typeface="Calibri"/>
                <a:cs typeface="Calibri"/>
              </a:rPr>
              <a:t> </a:t>
            </a:r>
            <a:r>
              <a:rPr sz="1950" kern="0" dirty="0">
                <a:solidFill>
                  <a:sysClr val="windowText" lastClr="000000"/>
                </a:solidFill>
                <a:latin typeface="Calibri"/>
                <a:cs typeface="Calibri"/>
              </a:rPr>
              <a:t>code</a:t>
            </a:r>
            <a:r>
              <a:rPr sz="1950" kern="0" spc="-30" dirty="0">
                <a:solidFill>
                  <a:sysClr val="windowText" lastClr="000000"/>
                </a:solidFill>
                <a:latin typeface="Calibri"/>
                <a:cs typeface="Calibri"/>
              </a:rPr>
              <a:t> </a:t>
            </a:r>
            <a:r>
              <a:rPr sz="1950" kern="0" spc="-8" dirty="0">
                <a:solidFill>
                  <a:sysClr val="windowText" lastClr="000000"/>
                </a:solidFill>
                <a:latin typeface="Calibri"/>
                <a:cs typeface="Calibri"/>
              </a:rPr>
              <a:t>words?</a:t>
            </a:r>
            <a:endParaRPr sz="1950" kern="0" dirty="0">
              <a:solidFill>
                <a:sysClr val="windowText" lastClr="000000"/>
              </a:solidFill>
              <a:latin typeface="Calibri"/>
              <a:cs typeface="Calibri"/>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pPr eaLnBrk="1" hangingPunct="1"/>
            <a:r>
              <a:rPr lang="en-GB" sz="3800">
                <a:latin typeface="Arial" pitchFamily="34" charset="0"/>
                <a:cs typeface="Arial" pitchFamily="34" charset="0"/>
              </a:rPr>
              <a:t>Alternate Representations</a:t>
            </a:r>
          </a:p>
        </p:txBody>
      </p:sp>
      <p:sp>
        <p:nvSpPr>
          <p:cNvPr id="49155" name="Rectangle 3"/>
          <p:cNvSpPr>
            <a:spLocks noGrp="1" noChangeArrowheads="1"/>
          </p:cNvSpPr>
          <p:nvPr>
            <p:ph type="body" sz="half" idx="1"/>
          </p:nvPr>
        </p:nvSpPr>
        <p:spPr>
          <a:xfrm>
            <a:off x="685800" y="1600200"/>
            <a:ext cx="7772400" cy="4530725"/>
          </a:xfrm>
        </p:spPr>
        <p:txBody>
          <a:bodyPr/>
          <a:lstStyle/>
          <a:p>
            <a:pPr eaLnBrk="1" hangingPunct="1">
              <a:lnSpc>
                <a:spcPct val="90000"/>
              </a:lnSpc>
            </a:pPr>
            <a:r>
              <a:rPr lang="en-GB" sz="2800"/>
              <a:t>BCD (Binary Coded Decimal) Code</a:t>
            </a:r>
          </a:p>
        </p:txBody>
      </p:sp>
      <p:graphicFrame>
        <p:nvGraphicFramePr>
          <p:cNvPr id="224470" name="Group 214"/>
          <p:cNvGraphicFramePr>
            <a:graphicFrameLocks noGrp="1"/>
          </p:cNvGraphicFramePr>
          <p:nvPr>
            <p:ph sz="half" idx="2"/>
          </p:nvPr>
        </p:nvGraphicFramePr>
        <p:xfrm>
          <a:off x="457200" y="2362200"/>
          <a:ext cx="8153400" cy="3474720"/>
        </p:xfrm>
        <a:graphic>
          <a:graphicData uri="http://schemas.openxmlformats.org/drawingml/2006/table">
            <a:tbl>
              <a:tblPr/>
              <a:tblGrid>
                <a:gridCol w="19812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19685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Decimal </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BCD</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Decimal </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BCD</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2860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0000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5</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0101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2860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0001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6</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0110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2860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2</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0010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7</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0111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2860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3</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0011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8</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1000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2860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4</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0100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9</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1001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7612952" y="5706161"/>
            <a:ext cx="470059" cy="117020"/>
          </a:xfrm>
          <a:prstGeom prst="rect">
            <a:avLst/>
          </a:prstGeom>
        </p:spPr>
        <p:txBody>
          <a:bodyPr vert="horz" wrap="square" lIns="0" tIns="0" rIns="0" bIns="0" rtlCol="0">
            <a:spAutoFit/>
          </a:bodyPr>
          <a:lstStyle/>
          <a:p>
            <a:pPr marL="9525">
              <a:lnSpc>
                <a:spcPts val="930"/>
              </a:lnSpc>
            </a:pPr>
            <a:r>
              <a:rPr sz="900" dirty="0">
                <a:solidFill>
                  <a:srgbClr val="888888"/>
                </a:solidFill>
                <a:latin typeface="Calibri"/>
                <a:cs typeface="Calibri"/>
              </a:rPr>
              <a:t>Chapter</a:t>
            </a:r>
            <a:r>
              <a:rPr sz="900" spc="-49" dirty="0">
                <a:solidFill>
                  <a:srgbClr val="888888"/>
                </a:solidFill>
                <a:latin typeface="Calibri"/>
                <a:cs typeface="Calibri"/>
              </a:rPr>
              <a:t> </a:t>
            </a:r>
            <a:r>
              <a:rPr sz="900" spc="-38" dirty="0">
                <a:solidFill>
                  <a:srgbClr val="888888"/>
                </a:solidFill>
                <a:latin typeface="Calibri"/>
                <a:cs typeface="Calibri"/>
              </a:rPr>
              <a:t>1</a:t>
            </a:r>
            <a:endParaRPr sz="900">
              <a:latin typeface="Calibri"/>
              <a:cs typeface="Calibri"/>
            </a:endParaRPr>
          </a:p>
        </p:txBody>
      </p:sp>
      <p:sp>
        <p:nvSpPr>
          <p:cNvPr id="5" name="object 5"/>
          <p:cNvSpPr txBox="1"/>
          <p:nvPr/>
        </p:nvSpPr>
        <p:spPr>
          <a:xfrm>
            <a:off x="8378951" y="5706161"/>
            <a:ext cx="77153" cy="117020"/>
          </a:xfrm>
          <a:prstGeom prst="rect">
            <a:avLst/>
          </a:prstGeom>
        </p:spPr>
        <p:txBody>
          <a:bodyPr vert="horz" wrap="square" lIns="0" tIns="0" rIns="0" bIns="0" rtlCol="0">
            <a:spAutoFit/>
          </a:bodyPr>
          <a:lstStyle/>
          <a:p>
            <a:pPr marL="9525">
              <a:lnSpc>
                <a:spcPts val="930"/>
              </a:lnSpc>
            </a:pPr>
            <a:r>
              <a:rPr sz="900" spc="-38" dirty="0">
                <a:solidFill>
                  <a:srgbClr val="888888"/>
                </a:solidFill>
                <a:latin typeface="Calibri"/>
                <a:cs typeface="Calibri"/>
              </a:rPr>
              <a:t>6</a:t>
            </a:r>
            <a:endParaRPr sz="900">
              <a:latin typeface="Calibri"/>
              <a:cs typeface="Calibri"/>
            </a:endParaRPr>
          </a:p>
        </p:txBody>
      </p:sp>
      <p:sp>
        <p:nvSpPr>
          <p:cNvPr id="2" name="object 2"/>
          <p:cNvSpPr txBox="1">
            <a:spLocks noGrp="1"/>
          </p:cNvSpPr>
          <p:nvPr>
            <p:ph type="title"/>
          </p:nvPr>
        </p:nvSpPr>
        <p:spPr>
          <a:xfrm>
            <a:off x="342900" y="662452"/>
            <a:ext cx="6172200" cy="1658804"/>
          </a:xfrm>
          <a:prstGeom prst="rect">
            <a:avLst/>
          </a:prstGeom>
        </p:spPr>
        <p:txBody>
          <a:bodyPr vert="horz" wrap="square" lIns="0" tIns="301641" rIns="0" bIns="0" rtlCol="0" anchor="ctr">
            <a:spAutoFit/>
          </a:bodyPr>
          <a:lstStyle/>
          <a:p>
            <a:pPr marL="9525">
              <a:spcBef>
                <a:spcPts val="79"/>
              </a:spcBef>
            </a:pPr>
            <a:r>
              <a:rPr spc="-34" dirty="0"/>
              <a:t>Warning:</a:t>
            </a:r>
            <a:r>
              <a:rPr spc="-124" dirty="0"/>
              <a:t> </a:t>
            </a:r>
            <a:r>
              <a:rPr spc="-38" dirty="0"/>
              <a:t>Conversion</a:t>
            </a:r>
            <a:r>
              <a:rPr spc="-135" dirty="0"/>
              <a:t> </a:t>
            </a:r>
            <a:r>
              <a:rPr dirty="0"/>
              <a:t>or</a:t>
            </a:r>
            <a:r>
              <a:rPr spc="-113" dirty="0"/>
              <a:t> </a:t>
            </a:r>
            <a:r>
              <a:rPr spc="-8" dirty="0"/>
              <a:t>Coding?</a:t>
            </a:r>
          </a:p>
        </p:txBody>
      </p:sp>
      <p:sp>
        <p:nvSpPr>
          <p:cNvPr id="3" name="object 3"/>
          <p:cNvSpPr txBox="1"/>
          <p:nvPr/>
        </p:nvSpPr>
        <p:spPr>
          <a:xfrm>
            <a:off x="668654" y="2202370"/>
            <a:ext cx="7527608" cy="1648208"/>
          </a:xfrm>
          <a:prstGeom prst="rect">
            <a:avLst/>
          </a:prstGeom>
        </p:spPr>
        <p:txBody>
          <a:bodyPr vert="horz" wrap="square" lIns="0" tIns="44768" rIns="0" bIns="0" rtlCol="0">
            <a:spAutoFit/>
          </a:bodyPr>
          <a:lstStyle/>
          <a:p>
            <a:pPr marL="199073" marR="22860" indent="-170497">
              <a:lnSpc>
                <a:spcPts val="2273"/>
              </a:lnSpc>
              <a:spcBef>
                <a:spcPts val="353"/>
              </a:spcBef>
              <a:buFont typeface="Arial MT"/>
              <a:buChar char="•"/>
              <a:tabLst>
                <a:tab pos="200025" algn="l"/>
              </a:tabLst>
            </a:pPr>
            <a:r>
              <a:rPr sz="2100" dirty="0">
                <a:latin typeface="Calibri"/>
                <a:cs typeface="Calibri"/>
              </a:rPr>
              <a:t>Do</a:t>
            </a:r>
            <a:r>
              <a:rPr sz="2100" spc="-30" dirty="0">
                <a:latin typeface="Calibri"/>
                <a:cs typeface="Calibri"/>
              </a:rPr>
              <a:t> </a:t>
            </a:r>
            <a:r>
              <a:rPr sz="2100" u="sng" dirty="0">
                <a:uFill>
                  <a:solidFill>
                    <a:srgbClr val="000000"/>
                  </a:solidFill>
                </a:uFill>
                <a:latin typeface="Calibri"/>
                <a:cs typeface="Calibri"/>
              </a:rPr>
              <a:t>NOT</a:t>
            </a:r>
            <a:r>
              <a:rPr sz="2100" spc="-34" dirty="0">
                <a:latin typeface="Calibri"/>
                <a:cs typeface="Calibri"/>
              </a:rPr>
              <a:t> </a:t>
            </a:r>
            <a:r>
              <a:rPr sz="2100" dirty="0">
                <a:latin typeface="Calibri"/>
                <a:cs typeface="Calibri"/>
              </a:rPr>
              <a:t>mix</a:t>
            </a:r>
            <a:r>
              <a:rPr sz="2100" spc="-30" dirty="0">
                <a:latin typeface="Calibri"/>
                <a:cs typeface="Calibri"/>
              </a:rPr>
              <a:t> </a:t>
            </a:r>
            <a:r>
              <a:rPr sz="2100" dirty="0">
                <a:latin typeface="Calibri"/>
                <a:cs typeface="Calibri"/>
              </a:rPr>
              <a:t>up</a:t>
            </a:r>
            <a:r>
              <a:rPr sz="2100" spc="-30" dirty="0">
                <a:latin typeface="Calibri"/>
                <a:cs typeface="Calibri"/>
              </a:rPr>
              <a:t> </a:t>
            </a:r>
            <a:r>
              <a:rPr sz="2100" u="sng" spc="-8" dirty="0">
                <a:uFill>
                  <a:solidFill>
                    <a:srgbClr val="000000"/>
                  </a:solidFill>
                </a:uFill>
                <a:latin typeface="Calibri"/>
                <a:cs typeface="Calibri"/>
              </a:rPr>
              <a:t>conversion</a:t>
            </a:r>
            <a:r>
              <a:rPr sz="2100" spc="-15" dirty="0">
                <a:latin typeface="Calibri"/>
                <a:cs typeface="Calibri"/>
              </a:rPr>
              <a:t> </a:t>
            </a:r>
            <a:r>
              <a:rPr sz="2100" dirty="0">
                <a:latin typeface="Calibri"/>
                <a:cs typeface="Calibri"/>
              </a:rPr>
              <a:t>of</a:t>
            </a:r>
            <a:r>
              <a:rPr sz="2100" spc="-41" dirty="0">
                <a:latin typeface="Calibri"/>
                <a:cs typeface="Calibri"/>
              </a:rPr>
              <a:t> </a:t>
            </a:r>
            <a:r>
              <a:rPr sz="2100" dirty="0">
                <a:latin typeface="Calibri"/>
                <a:cs typeface="Calibri"/>
              </a:rPr>
              <a:t>a</a:t>
            </a:r>
            <a:r>
              <a:rPr sz="2100" spc="-38" dirty="0">
                <a:latin typeface="Calibri"/>
                <a:cs typeface="Calibri"/>
              </a:rPr>
              <a:t> </a:t>
            </a:r>
            <a:r>
              <a:rPr sz="2100" dirty="0">
                <a:latin typeface="Calibri"/>
                <a:cs typeface="Calibri"/>
              </a:rPr>
              <a:t>decimal</a:t>
            </a:r>
            <a:r>
              <a:rPr sz="2100" spc="-34" dirty="0">
                <a:latin typeface="Calibri"/>
                <a:cs typeface="Calibri"/>
              </a:rPr>
              <a:t> </a:t>
            </a:r>
            <a:r>
              <a:rPr sz="2100" dirty="0">
                <a:latin typeface="Calibri"/>
                <a:cs typeface="Calibri"/>
              </a:rPr>
              <a:t>number</a:t>
            </a:r>
            <a:r>
              <a:rPr sz="2100" spc="-23" dirty="0">
                <a:latin typeface="Calibri"/>
                <a:cs typeface="Calibri"/>
              </a:rPr>
              <a:t> </a:t>
            </a:r>
            <a:r>
              <a:rPr sz="2100" dirty="0">
                <a:latin typeface="Calibri"/>
                <a:cs typeface="Calibri"/>
              </a:rPr>
              <a:t>to</a:t>
            </a:r>
            <a:r>
              <a:rPr sz="2100" spc="-41" dirty="0">
                <a:latin typeface="Calibri"/>
                <a:cs typeface="Calibri"/>
              </a:rPr>
              <a:t> </a:t>
            </a:r>
            <a:r>
              <a:rPr sz="2100" dirty="0">
                <a:latin typeface="Calibri"/>
                <a:cs typeface="Calibri"/>
              </a:rPr>
              <a:t>a</a:t>
            </a:r>
            <a:r>
              <a:rPr sz="2100" spc="-38" dirty="0">
                <a:latin typeface="Calibri"/>
                <a:cs typeface="Calibri"/>
              </a:rPr>
              <a:t> </a:t>
            </a:r>
            <a:r>
              <a:rPr sz="2100" dirty="0">
                <a:latin typeface="Calibri"/>
                <a:cs typeface="Calibri"/>
              </a:rPr>
              <a:t>binary</a:t>
            </a:r>
            <a:r>
              <a:rPr sz="2100" spc="-26" dirty="0">
                <a:latin typeface="Calibri"/>
                <a:cs typeface="Calibri"/>
              </a:rPr>
              <a:t> </a:t>
            </a:r>
            <a:r>
              <a:rPr sz="2100" spc="-8" dirty="0">
                <a:latin typeface="Calibri"/>
                <a:cs typeface="Calibri"/>
              </a:rPr>
              <a:t>number 	</a:t>
            </a:r>
            <a:r>
              <a:rPr sz="2100" dirty="0">
                <a:latin typeface="Calibri"/>
                <a:cs typeface="Calibri"/>
              </a:rPr>
              <a:t>with</a:t>
            </a:r>
            <a:r>
              <a:rPr sz="2100" spc="-45" dirty="0">
                <a:latin typeface="Calibri"/>
                <a:cs typeface="Calibri"/>
              </a:rPr>
              <a:t> </a:t>
            </a:r>
            <a:r>
              <a:rPr sz="2100" u="sng" dirty="0">
                <a:uFill>
                  <a:solidFill>
                    <a:srgbClr val="000000"/>
                  </a:solidFill>
                </a:uFill>
                <a:latin typeface="Calibri"/>
                <a:cs typeface="Calibri"/>
              </a:rPr>
              <a:t>coding</a:t>
            </a:r>
            <a:r>
              <a:rPr sz="2100" spc="-45" dirty="0">
                <a:latin typeface="Calibri"/>
                <a:cs typeface="Calibri"/>
              </a:rPr>
              <a:t> </a:t>
            </a:r>
            <a:r>
              <a:rPr sz="2100" dirty="0">
                <a:latin typeface="Calibri"/>
                <a:cs typeface="Calibri"/>
              </a:rPr>
              <a:t>a</a:t>
            </a:r>
            <a:r>
              <a:rPr sz="2100" spc="-49" dirty="0">
                <a:latin typeface="Calibri"/>
                <a:cs typeface="Calibri"/>
              </a:rPr>
              <a:t> </a:t>
            </a:r>
            <a:r>
              <a:rPr sz="2100" dirty="0">
                <a:latin typeface="Calibri"/>
                <a:cs typeface="Calibri"/>
              </a:rPr>
              <a:t>decimal</a:t>
            </a:r>
            <a:r>
              <a:rPr sz="2100" spc="-53" dirty="0">
                <a:latin typeface="Calibri"/>
                <a:cs typeface="Calibri"/>
              </a:rPr>
              <a:t> </a:t>
            </a:r>
            <a:r>
              <a:rPr sz="2100" dirty="0">
                <a:latin typeface="Calibri"/>
                <a:cs typeface="Calibri"/>
              </a:rPr>
              <a:t>number</a:t>
            </a:r>
            <a:r>
              <a:rPr sz="2100" spc="-30" dirty="0">
                <a:latin typeface="Calibri"/>
                <a:cs typeface="Calibri"/>
              </a:rPr>
              <a:t> </a:t>
            </a:r>
            <a:r>
              <a:rPr sz="2100" dirty="0">
                <a:latin typeface="Calibri"/>
                <a:cs typeface="Calibri"/>
              </a:rPr>
              <a:t>with</a:t>
            </a:r>
            <a:r>
              <a:rPr sz="2100" spc="-53" dirty="0">
                <a:latin typeface="Calibri"/>
                <a:cs typeface="Calibri"/>
              </a:rPr>
              <a:t> </a:t>
            </a:r>
            <a:r>
              <a:rPr sz="2100" dirty="0">
                <a:latin typeface="Calibri"/>
                <a:cs typeface="Calibri"/>
              </a:rPr>
              <a:t>a</a:t>
            </a:r>
            <a:r>
              <a:rPr sz="2100" spc="-49" dirty="0">
                <a:latin typeface="Calibri"/>
                <a:cs typeface="Calibri"/>
              </a:rPr>
              <a:t> </a:t>
            </a:r>
            <a:r>
              <a:rPr sz="2100" dirty="0">
                <a:latin typeface="Calibri"/>
                <a:cs typeface="Calibri"/>
              </a:rPr>
              <a:t>BINARY</a:t>
            </a:r>
            <a:r>
              <a:rPr sz="2100" spc="-45" dirty="0">
                <a:latin typeface="Calibri"/>
                <a:cs typeface="Calibri"/>
              </a:rPr>
              <a:t> </a:t>
            </a:r>
            <a:r>
              <a:rPr sz="2100" spc="-8" dirty="0">
                <a:latin typeface="Calibri"/>
                <a:cs typeface="Calibri"/>
              </a:rPr>
              <a:t>CODE.</a:t>
            </a:r>
            <a:endParaRPr sz="2100">
              <a:latin typeface="Calibri"/>
              <a:cs typeface="Calibri"/>
            </a:endParaRPr>
          </a:p>
          <a:p>
            <a:pPr marL="199549" indent="-170974">
              <a:spcBef>
                <a:spcPts val="296"/>
              </a:spcBef>
              <a:buFont typeface="Arial MT"/>
              <a:buChar char="•"/>
              <a:tabLst>
                <a:tab pos="199549" algn="l"/>
              </a:tabLst>
            </a:pPr>
            <a:r>
              <a:rPr sz="3000" dirty="0">
                <a:latin typeface="Calibri"/>
                <a:cs typeface="Calibri"/>
              </a:rPr>
              <a:t>13</a:t>
            </a:r>
            <a:r>
              <a:rPr sz="2981" baseline="-20964" dirty="0">
                <a:latin typeface="Calibri"/>
                <a:cs typeface="Calibri"/>
              </a:rPr>
              <a:t>10</a:t>
            </a:r>
            <a:r>
              <a:rPr sz="2981" spc="293" baseline="-20964" dirty="0">
                <a:latin typeface="Calibri"/>
                <a:cs typeface="Calibri"/>
              </a:rPr>
              <a:t> </a:t>
            </a:r>
            <a:r>
              <a:rPr sz="3000" dirty="0">
                <a:latin typeface="Calibri"/>
                <a:cs typeface="Calibri"/>
              </a:rPr>
              <a:t>=</a:t>
            </a:r>
            <a:r>
              <a:rPr sz="3000" spc="-19" dirty="0">
                <a:latin typeface="Calibri"/>
                <a:cs typeface="Calibri"/>
              </a:rPr>
              <a:t> </a:t>
            </a:r>
            <a:r>
              <a:rPr sz="3000" dirty="0">
                <a:latin typeface="Calibri"/>
                <a:cs typeface="Calibri"/>
              </a:rPr>
              <a:t>1101</a:t>
            </a:r>
            <a:r>
              <a:rPr sz="2981" baseline="-20964" dirty="0">
                <a:latin typeface="Calibri"/>
                <a:cs typeface="Calibri"/>
              </a:rPr>
              <a:t>2</a:t>
            </a:r>
            <a:r>
              <a:rPr sz="2981" spc="314" baseline="-20964" dirty="0">
                <a:latin typeface="Calibri"/>
                <a:cs typeface="Calibri"/>
              </a:rPr>
              <a:t> </a:t>
            </a:r>
            <a:r>
              <a:rPr sz="3000" b="1" dirty="0">
                <a:latin typeface="Calibri"/>
                <a:cs typeface="Calibri"/>
              </a:rPr>
              <a:t>(This</a:t>
            </a:r>
            <a:r>
              <a:rPr sz="3000" b="1" spc="-19" dirty="0">
                <a:latin typeface="Calibri"/>
                <a:cs typeface="Calibri"/>
              </a:rPr>
              <a:t> </a:t>
            </a:r>
            <a:r>
              <a:rPr sz="3000" b="1" dirty="0">
                <a:latin typeface="Calibri"/>
                <a:cs typeface="Calibri"/>
              </a:rPr>
              <a:t>is </a:t>
            </a:r>
            <a:r>
              <a:rPr sz="3000" b="1" u="sng" spc="-8" dirty="0">
                <a:uFill>
                  <a:solidFill>
                    <a:srgbClr val="000000"/>
                  </a:solidFill>
                </a:uFill>
                <a:latin typeface="Calibri"/>
                <a:cs typeface="Calibri"/>
              </a:rPr>
              <a:t>conversion</a:t>
            </a:r>
            <a:r>
              <a:rPr sz="3000" b="1" spc="-8" dirty="0">
                <a:latin typeface="Calibri"/>
                <a:cs typeface="Calibri"/>
              </a:rPr>
              <a:t>)</a:t>
            </a:r>
            <a:endParaRPr sz="3000">
              <a:latin typeface="Calibri"/>
              <a:cs typeface="Calibri"/>
            </a:endParaRPr>
          </a:p>
          <a:p>
            <a:pPr marL="199549" indent="-170974">
              <a:spcBef>
                <a:spcPts val="424"/>
              </a:spcBef>
              <a:buFont typeface="Arial MT"/>
              <a:buChar char="•"/>
              <a:tabLst>
                <a:tab pos="199549" algn="l"/>
                <a:tab pos="756761" algn="l"/>
              </a:tabLst>
            </a:pPr>
            <a:r>
              <a:rPr sz="3000" spc="-19" dirty="0">
                <a:latin typeface="Calibri"/>
                <a:cs typeface="Calibri"/>
              </a:rPr>
              <a:t>13</a:t>
            </a:r>
            <a:r>
              <a:rPr sz="3000" dirty="0">
                <a:latin typeface="Calibri"/>
                <a:cs typeface="Calibri"/>
              </a:rPr>
              <a:t>	</a:t>
            </a:r>
            <a:r>
              <a:rPr sz="3000" dirty="0">
                <a:latin typeface="Symbol"/>
                <a:cs typeface="Symbol"/>
              </a:rPr>
              <a:t></a:t>
            </a:r>
            <a:r>
              <a:rPr sz="3000" spc="-101" dirty="0">
                <a:latin typeface="Times New Roman"/>
                <a:cs typeface="Times New Roman"/>
              </a:rPr>
              <a:t> </a:t>
            </a:r>
            <a:r>
              <a:rPr sz="3000" dirty="0">
                <a:latin typeface="Calibri"/>
                <a:cs typeface="Calibri"/>
              </a:rPr>
              <a:t>0001|0011</a:t>
            </a:r>
            <a:r>
              <a:rPr sz="3000" spc="-30" dirty="0">
                <a:latin typeface="Calibri"/>
                <a:cs typeface="Calibri"/>
              </a:rPr>
              <a:t> </a:t>
            </a:r>
            <a:r>
              <a:rPr sz="3000" b="1" dirty="0">
                <a:latin typeface="Calibri"/>
                <a:cs typeface="Calibri"/>
              </a:rPr>
              <a:t>(This</a:t>
            </a:r>
            <a:r>
              <a:rPr sz="3000" b="1" spc="-23" dirty="0">
                <a:latin typeface="Calibri"/>
                <a:cs typeface="Calibri"/>
              </a:rPr>
              <a:t> </a:t>
            </a:r>
            <a:r>
              <a:rPr sz="3000" b="1" dirty="0">
                <a:latin typeface="Calibri"/>
                <a:cs typeface="Calibri"/>
              </a:rPr>
              <a:t>is</a:t>
            </a:r>
            <a:r>
              <a:rPr sz="3000" b="1" spc="-11" dirty="0">
                <a:latin typeface="Calibri"/>
                <a:cs typeface="Calibri"/>
              </a:rPr>
              <a:t> </a:t>
            </a:r>
            <a:r>
              <a:rPr sz="3000" b="1" u="sng" spc="-8" dirty="0">
                <a:uFill>
                  <a:solidFill>
                    <a:srgbClr val="000000"/>
                  </a:solidFill>
                </a:uFill>
                <a:latin typeface="Calibri"/>
                <a:cs typeface="Calibri"/>
              </a:rPr>
              <a:t>coding</a:t>
            </a:r>
            <a:r>
              <a:rPr sz="3000" b="1" spc="-8" dirty="0">
                <a:latin typeface="Calibri"/>
                <a:cs typeface="Calibri"/>
              </a:rPr>
              <a:t>)</a:t>
            </a:r>
            <a:endParaRPr sz="3000">
              <a:latin typeface="Calibri"/>
              <a:cs typeface="Calibri"/>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7286434" y="5741137"/>
            <a:ext cx="470059" cy="117020"/>
          </a:xfrm>
          <a:prstGeom prst="rect">
            <a:avLst/>
          </a:prstGeom>
        </p:spPr>
        <p:txBody>
          <a:bodyPr vert="horz" wrap="square" lIns="0" tIns="0" rIns="0" bIns="0" rtlCol="0">
            <a:spAutoFit/>
          </a:bodyPr>
          <a:lstStyle/>
          <a:p>
            <a:pPr marL="9525" defTabSz="685800">
              <a:lnSpc>
                <a:spcPts val="930"/>
              </a:lnSpc>
            </a:pPr>
            <a:r>
              <a:rPr sz="900" kern="0" dirty="0">
                <a:solidFill>
                  <a:srgbClr val="888888"/>
                </a:solidFill>
                <a:latin typeface="Calibri"/>
                <a:cs typeface="Calibri"/>
              </a:rPr>
              <a:t>Chapter</a:t>
            </a:r>
            <a:r>
              <a:rPr sz="900" kern="0" spc="-49" dirty="0">
                <a:solidFill>
                  <a:srgbClr val="888888"/>
                </a:solidFill>
                <a:latin typeface="Calibri"/>
                <a:cs typeface="Calibri"/>
              </a:rPr>
              <a:t> </a:t>
            </a:r>
            <a:r>
              <a:rPr sz="900" kern="0" spc="-38" dirty="0">
                <a:solidFill>
                  <a:srgbClr val="888888"/>
                </a:solidFill>
                <a:latin typeface="Calibri"/>
                <a:cs typeface="Calibri"/>
              </a:rPr>
              <a:t>1</a:t>
            </a:r>
            <a:endParaRPr sz="900" kern="0">
              <a:solidFill>
                <a:sysClr val="windowText" lastClr="000000"/>
              </a:solidFill>
              <a:latin typeface="Calibri"/>
              <a:cs typeface="Calibri"/>
            </a:endParaRPr>
          </a:p>
        </p:txBody>
      </p:sp>
      <p:sp>
        <p:nvSpPr>
          <p:cNvPr id="7" name="object 7"/>
          <p:cNvSpPr txBox="1"/>
          <p:nvPr/>
        </p:nvSpPr>
        <p:spPr>
          <a:xfrm>
            <a:off x="8052529" y="5741137"/>
            <a:ext cx="77153" cy="117020"/>
          </a:xfrm>
          <a:prstGeom prst="rect">
            <a:avLst/>
          </a:prstGeom>
        </p:spPr>
        <p:txBody>
          <a:bodyPr vert="horz" wrap="square" lIns="0" tIns="0" rIns="0" bIns="0" rtlCol="0">
            <a:spAutoFit/>
          </a:bodyPr>
          <a:lstStyle/>
          <a:p>
            <a:pPr marL="9525" defTabSz="685800">
              <a:lnSpc>
                <a:spcPts val="930"/>
              </a:lnSpc>
            </a:pPr>
            <a:r>
              <a:rPr sz="900" kern="0" spc="-38" dirty="0">
                <a:solidFill>
                  <a:srgbClr val="888888"/>
                </a:solidFill>
                <a:latin typeface="Calibri"/>
                <a:cs typeface="Calibri"/>
              </a:rPr>
              <a:t>7</a:t>
            </a:r>
            <a:endParaRPr sz="900" kern="0">
              <a:solidFill>
                <a:sysClr val="windowText" lastClr="000000"/>
              </a:solidFill>
              <a:latin typeface="Calibri"/>
              <a:cs typeface="Calibri"/>
            </a:endParaRPr>
          </a:p>
        </p:txBody>
      </p:sp>
      <p:sp>
        <p:nvSpPr>
          <p:cNvPr id="2" name="object 2"/>
          <p:cNvSpPr txBox="1">
            <a:spLocks noGrp="1"/>
          </p:cNvSpPr>
          <p:nvPr>
            <p:ph type="title"/>
          </p:nvPr>
        </p:nvSpPr>
        <p:spPr>
          <a:xfrm>
            <a:off x="515778" y="1022867"/>
            <a:ext cx="5659708" cy="1294104"/>
          </a:xfrm>
          <a:prstGeom prst="rect">
            <a:avLst/>
          </a:prstGeom>
        </p:spPr>
        <p:txBody>
          <a:bodyPr vert="horz" wrap="square" lIns="0" tIns="153828" rIns="0" bIns="0" rtlCol="0">
            <a:spAutoFit/>
          </a:bodyPr>
          <a:lstStyle/>
          <a:p>
            <a:pPr marL="211455">
              <a:spcBef>
                <a:spcPts val="1211"/>
              </a:spcBef>
            </a:pPr>
            <a:r>
              <a:rPr dirty="0"/>
              <a:t>BCD</a:t>
            </a:r>
            <a:r>
              <a:rPr spc="-146" dirty="0"/>
              <a:t> </a:t>
            </a:r>
            <a:r>
              <a:rPr spc="-8" dirty="0"/>
              <a:t>Arithmetic</a:t>
            </a:r>
          </a:p>
          <a:p>
            <a:pPr marL="74771">
              <a:spcBef>
                <a:spcPts val="623"/>
              </a:spcBef>
            </a:pPr>
            <a:r>
              <a:rPr sz="1800" dirty="0">
                <a:solidFill>
                  <a:srgbClr val="000000"/>
                </a:solidFill>
                <a:latin typeface="Calibri"/>
                <a:cs typeface="Calibri"/>
              </a:rPr>
              <a:t>Given</a:t>
            </a:r>
            <a:r>
              <a:rPr sz="1800" spc="-23" dirty="0">
                <a:solidFill>
                  <a:srgbClr val="000000"/>
                </a:solidFill>
                <a:latin typeface="Calibri"/>
                <a:cs typeface="Calibri"/>
              </a:rPr>
              <a:t> </a:t>
            </a:r>
            <a:r>
              <a:rPr sz="1800" dirty="0">
                <a:solidFill>
                  <a:srgbClr val="000000"/>
                </a:solidFill>
                <a:latin typeface="Calibri"/>
                <a:cs typeface="Calibri"/>
              </a:rPr>
              <a:t>a</a:t>
            </a:r>
            <a:r>
              <a:rPr sz="1800" spc="-41" dirty="0">
                <a:solidFill>
                  <a:srgbClr val="000000"/>
                </a:solidFill>
                <a:latin typeface="Calibri"/>
                <a:cs typeface="Calibri"/>
              </a:rPr>
              <a:t> </a:t>
            </a:r>
            <a:r>
              <a:rPr sz="1800" dirty="0">
                <a:solidFill>
                  <a:srgbClr val="000000"/>
                </a:solidFill>
                <a:latin typeface="Calibri"/>
                <a:cs typeface="Calibri"/>
              </a:rPr>
              <a:t>BCD</a:t>
            </a:r>
            <a:r>
              <a:rPr sz="1800" spc="-45" dirty="0">
                <a:solidFill>
                  <a:srgbClr val="000000"/>
                </a:solidFill>
                <a:latin typeface="Calibri"/>
                <a:cs typeface="Calibri"/>
              </a:rPr>
              <a:t> </a:t>
            </a:r>
            <a:r>
              <a:rPr sz="1800" dirty="0">
                <a:solidFill>
                  <a:srgbClr val="000000"/>
                </a:solidFill>
                <a:latin typeface="Calibri"/>
                <a:cs typeface="Calibri"/>
              </a:rPr>
              <a:t>code,</a:t>
            </a:r>
            <a:r>
              <a:rPr sz="1800" spc="-26" dirty="0">
                <a:solidFill>
                  <a:srgbClr val="000000"/>
                </a:solidFill>
                <a:latin typeface="Calibri"/>
                <a:cs typeface="Calibri"/>
              </a:rPr>
              <a:t> </a:t>
            </a:r>
            <a:r>
              <a:rPr sz="1800" dirty="0">
                <a:solidFill>
                  <a:srgbClr val="000000"/>
                </a:solidFill>
                <a:latin typeface="Calibri"/>
                <a:cs typeface="Calibri"/>
              </a:rPr>
              <a:t>we</a:t>
            </a:r>
            <a:r>
              <a:rPr sz="1800" spc="-30" dirty="0">
                <a:solidFill>
                  <a:srgbClr val="000000"/>
                </a:solidFill>
                <a:latin typeface="Calibri"/>
                <a:cs typeface="Calibri"/>
              </a:rPr>
              <a:t> </a:t>
            </a:r>
            <a:r>
              <a:rPr sz="1800" dirty="0">
                <a:solidFill>
                  <a:srgbClr val="000000"/>
                </a:solidFill>
                <a:latin typeface="Calibri"/>
                <a:cs typeface="Calibri"/>
              </a:rPr>
              <a:t>use</a:t>
            </a:r>
            <a:r>
              <a:rPr sz="1800" spc="-30" dirty="0">
                <a:solidFill>
                  <a:srgbClr val="000000"/>
                </a:solidFill>
                <a:latin typeface="Calibri"/>
                <a:cs typeface="Calibri"/>
              </a:rPr>
              <a:t> </a:t>
            </a:r>
            <a:r>
              <a:rPr sz="1800" dirty="0">
                <a:solidFill>
                  <a:srgbClr val="000000"/>
                </a:solidFill>
                <a:latin typeface="Calibri"/>
                <a:cs typeface="Calibri"/>
              </a:rPr>
              <a:t>binary</a:t>
            </a:r>
            <a:r>
              <a:rPr sz="1800" spc="-30" dirty="0">
                <a:solidFill>
                  <a:srgbClr val="000000"/>
                </a:solidFill>
                <a:latin typeface="Calibri"/>
                <a:cs typeface="Calibri"/>
              </a:rPr>
              <a:t> </a:t>
            </a:r>
            <a:r>
              <a:rPr sz="1800" dirty="0">
                <a:solidFill>
                  <a:srgbClr val="000000"/>
                </a:solidFill>
                <a:latin typeface="Calibri"/>
                <a:cs typeface="Calibri"/>
              </a:rPr>
              <a:t>arithmetic</a:t>
            </a:r>
            <a:r>
              <a:rPr sz="1800" spc="-56" dirty="0">
                <a:solidFill>
                  <a:srgbClr val="000000"/>
                </a:solidFill>
                <a:latin typeface="Calibri"/>
                <a:cs typeface="Calibri"/>
              </a:rPr>
              <a:t> </a:t>
            </a:r>
            <a:r>
              <a:rPr sz="1800" dirty="0">
                <a:solidFill>
                  <a:srgbClr val="000000"/>
                </a:solidFill>
                <a:latin typeface="Calibri"/>
                <a:cs typeface="Calibri"/>
              </a:rPr>
              <a:t>to</a:t>
            </a:r>
            <a:r>
              <a:rPr sz="1800" spc="-38" dirty="0">
                <a:solidFill>
                  <a:srgbClr val="000000"/>
                </a:solidFill>
                <a:latin typeface="Calibri"/>
                <a:cs typeface="Calibri"/>
              </a:rPr>
              <a:t> </a:t>
            </a:r>
            <a:r>
              <a:rPr sz="1800" dirty="0">
                <a:solidFill>
                  <a:srgbClr val="000000"/>
                </a:solidFill>
                <a:latin typeface="Calibri"/>
                <a:cs typeface="Calibri"/>
              </a:rPr>
              <a:t>add</a:t>
            </a:r>
            <a:r>
              <a:rPr sz="1800" spc="-30" dirty="0">
                <a:solidFill>
                  <a:srgbClr val="000000"/>
                </a:solidFill>
                <a:latin typeface="Calibri"/>
                <a:cs typeface="Calibri"/>
              </a:rPr>
              <a:t> </a:t>
            </a:r>
            <a:r>
              <a:rPr sz="1800" dirty="0">
                <a:solidFill>
                  <a:srgbClr val="000000"/>
                </a:solidFill>
                <a:latin typeface="Calibri"/>
                <a:cs typeface="Calibri"/>
              </a:rPr>
              <a:t>the</a:t>
            </a:r>
            <a:r>
              <a:rPr sz="1800" spc="-38" dirty="0">
                <a:solidFill>
                  <a:srgbClr val="000000"/>
                </a:solidFill>
                <a:latin typeface="Calibri"/>
                <a:cs typeface="Calibri"/>
              </a:rPr>
              <a:t> </a:t>
            </a:r>
            <a:r>
              <a:rPr sz="1800" spc="-8" dirty="0">
                <a:solidFill>
                  <a:srgbClr val="000000"/>
                </a:solidFill>
                <a:latin typeface="Calibri"/>
                <a:cs typeface="Calibri"/>
              </a:rPr>
              <a:t>digits</a:t>
            </a:r>
            <a:r>
              <a:rPr sz="1800" b="1" spc="-8" dirty="0">
                <a:solidFill>
                  <a:srgbClr val="000000"/>
                </a:solidFill>
                <a:latin typeface="Calibri"/>
                <a:cs typeface="Calibri"/>
              </a:rPr>
              <a:t>:</a:t>
            </a:r>
            <a:endParaRPr sz="1800">
              <a:latin typeface="Calibri"/>
              <a:cs typeface="Calibri"/>
            </a:endParaRPr>
          </a:p>
        </p:txBody>
      </p:sp>
      <p:graphicFrame>
        <p:nvGraphicFramePr>
          <p:cNvPr id="3" name="object 3"/>
          <p:cNvGraphicFramePr>
            <a:graphicFrameLocks noGrp="1"/>
          </p:cNvGraphicFramePr>
          <p:nvPr/>
        </p:nvGraphicFramePr>
        <p:xfrm>
          <a:off x="1840611" y="2204847"/>
          <a:ext cx="2848928" cy="1511300"/>
        </p:xfrm>
        <a:graphic>
          <a:graphicData uri="http://schemas.openxmlformats.org/drawingml/2006/table">
            <a:tbl>
              <a:tblPr firstRow="1" bandRow="1">
                <a:tableStyleId>{2D5ABB26-0587-4C30-8999-92F81FD0307C}</a:tableStyleId>
              </a:tblPr>
              <a:tblGrid>
                <a:gridCol w="620554">
                  <a:extLst>
                    <a:ext uri="{9D8B030D-6E8A-4147-A177-3AD203B41FA5}">
                      <a16:colId xmlns:a16="http://schemas.microsoft.com/office/drawing/2014/main" val="20000"/>
                    </a:ext>
                  </a:extLst>
                </a:gridCol>
                <a:gridCol w="1132999">
                  <a:extLst>
                    <a:ext uri="{9D8B030D-6E8A-4147-A177-3AD203B41FA5}">
                      <a16:colId xmlns:a16="http://schemas.microsoft.com/office/drawing/2014/main" val="20001"/>
                    </a:ext>
                  </a:extLst>
                </a:gridCol>
                <a:gridCol w="1095375">
                  <a:extLst>
                    <a:ext uri="{9D8B030D-6E8A-4147-A177-3AD203B41FA5}">
                      <a16:colId xmlns:a16="http://schemas.microsoft.com/office/drawing/2014/main" val="20002"/>
                    </a:ext>
                  </a:extLst>
                </a:gridCol>
              </a:tblGrid>
              <a:tr h="249079">
                <a:tc>
                  <a:txBody>
                    <a:bodyPr/>
                    <a:lstStyle/>
                    <a:p>
                      <a:pPr marR="471805" algn="r">
                        <a:lnSpc>
                          <a:spcPts val="2280"/>
                        </a:lnSpc>
                      </a:pPr>
                      <a:r>
                        <a:rPr sz="1800" b="1" spc="-50" dirty="0">
                          <a:latin typeface="Calibri"/>
                          <a:cs typeface="Calibri"/>
                        </a:rPr>
                        <a:t>8</a:t>
                      </a:r>
                      <a:endParaRPr sz="1800">
                        <a:latin typeface="Calibri"/>
                        <a:cs typeface="Calibri"/>
                      </a:endParaRPr>
                    </a:p>
                  </a:txBody>
                  <a:tcPr marL="0" marR="0" marT="0" marB="0"/>
                </a:tc>
                <a:tc>
                  <a:txBody>
                    <a:bodyPr/>
                    <a:lstStyle/>
                    <a:p>
                      <a:pPr marR="211454" algn="r">
                        <a:lnSpc>
                          <a:spcPts val="2280"/>
                        </a:lnSpc>
                      </a:pPr>
                      <a:r>
                        <a:rPr sz="1800" b="1" spc="-20" dirty="0">
                          <a:latin typeface="Calibri"/>
                          <a:cs typeface="Calibri"/>
                        </a:rPr>
                        <a:t>1000</a:t>
                      </a:r>
                      <a:endParaRPr sz="1800">
                        <a:latin typeface="Calibri"/>
                        <a:cs typeface="Calibri"/>
                      </a:endParaRPr>
                    </a:p>
                  </a:txBody>
                  <a:tcPr marL="0" marR="0" marT="0" marB="0"/>
                </a:tc>
                <a:tc>
                  <a:txBody>
                    <a:bodyPr/>
                    <a:lstStyle/>
                    <a:p>
                      <a:pPr marL="232410">
                        <a:lnSpc>
                          <a:spcPts val="2280"/>
                        </a:lnSpc>
                      </a:pPr>
                      <a:r>
                        <a:rPr sz="1800" b="1" spc="-10" dirty="0">
                          <a:latin typeface="Calibri"/>
                          <a:cs typeface="Calibri"/>
                        </a:rPr>
                        <a:t>Eight</a:t>
                      </a:r>
                      <a:endParaRPr sz="1800">
                        <a:latin typeface="Calibri"/>
                        <a:cs typeface="Calibri"/>
                      </a:endParaRPr>
                    </a:p>
                  </a:txBody>
                  <a:tcPr marL="0" marR="0" marT="0" marB="0"/>
                </a:tc>
                <a:extLst>
                  <a:ext uri="{0D108BD9-81ED-4DB2-BD59-A6C34878D82A}">
                    <a16:rowId xmlns:a16="http://schemas.microsoft.com/office/drawing/2014/main" val="10000"/>
                  </a:ext>
                </a:extLst>
              </a:tr>
              <a:tr h="269558">
                <a:tc>
                  <a:txBody>
                    <a:bodyPr/>
                    <a:lstStyle/>
                    <a:p>
                      <a:pPr marR="480059" algn="r">
                        <a:lnSpc>
                          <a:spcPts val="2500"/>
                        </a:lnSpc>
                      </a:pPr>
                      <a:r>
                        <a:rPr sz="1800" b="1" u="heavy" spc="-25" dirty="0">
                          <a:uFill>
                            <a:solidFill>
                              <a:srgbClr val="000000"/>
                            </a:solidFill>
                          </a:uFill>
                          <a:latin typeface="Calibri"/>
                          <a:cs typeface="Calibri"/>
                        </a:rPr>
                        <a:t>+5</a:t>
                      </a:r>
                      <a:endParaRPr sz="1800">
                        <a:latin typeface="Calibri"/>
                        <a:cs typeface="Calibri"/>
                      </a:endParaRPr>
                    </a:p>
                  </a:txBody>
                  <a:tcPr marL="0" marR="0" marT="0" marB="0"/>
                </a:tc>
                <a:tc>
                  <a:txBody>
                    <a:bodyPr/>
                    <a:lstStyle/>
                    <a:p>
                      <a:pPr marR="217804" algn="r">
                        <a:lnSpc>
                          <a:spcPts val="2500"/>
                        </a:lnSpc>
                      </a:pPr>
                      <a:r>
                        <a:rPr sz="1800" b="1" u="heavy" spc="-260" dirty="0">
                          <a:uFill>
                            <a:solidFill>
                              <a:srgbClr val="000000"/>
                            </a:solidFill>
                          </a:uFill>
                          <a:latin typeface="Calibri"/>
                          <a:cs typeface="Calibri"/>
                        </a:rPr>
                        <a:t> </a:t>
                      </a:r>
                      <a:r>
                        <a:rPr sz="1800" b="1" u="heavy" spc="-20" dirty="0">
                          <a:uFill>
                            <a:solidFill>
                              <a:srgbClr val="000000"/>
                            </a:solidFill>
                          </a:uFill>
                          <a:latin typeface="Calibri"/>
                          <a:cs typeface="Calibri"/>
                        </a:rPr>
                        <a:t>+0101</a:t>
                      </a:r>
                      <a:endParaRPr sz="1800">
                        <a:latin typeface="Calibri"/>
                        <a:cs typeface="Calibri"/>
                      </a:endParaRPr>
                    </a:p>
                  </a:txBody>
                  <a:tcPr marL="0" marR="0" marT="0" marB="0"/>
                </a:tc>
                <a:tc>
                  <a:txBody>
                    <a:bodyPr/>
                    <a:lstStyle/>
                    <a:p>
                      <a:pPr marL="219075">
                        <a:lnSpc>
                          <a:spcPts val="2500"/>
                        </a:lnSpc>
                      </a:pPr>
                      <a:r>
                        <a:rPr sz="1800" b="1" dirty="0">
                          <a:latin typeface="Calibri"/>
                          <a:cs typeface="Calibri"/>
                        </a:rPr>
                        <a:t>Plus</a:t>
                      </a:r>
                      <a:r>
                        <a:rPr sz="1800" b="1" spc="-45" dirty="0">
                          <a:latin typeface="Calibri"/>
                          <a:cs typeface="Calibri"/>
                        </a:rPr>
                        <a:t> </a:t>
                      </a:r>
                      <a:r>
                        <a:rPr sz="1800" b="1" spc="-50" dirty="0">
                          <a:latin typeface="Calibri"/>
                          <a:cs typeface="Calibri"/>
                        </a:rPr>
                        <a:t>5</a:t>
                      </a:r>
                      <a:endParaRPr sz="1800">
                        <a:latin typeface="Calibri"/>
                        <a:cs typeface="Calibri"/>
                      </a:endParaRPr>
                    </a:p>
                  </a:txBody>
                  <a:tcPr marL="0" marR="0" marT="0" marB="0"/>
                </a:tc>
                <a:extLst>
                  <a:ext uri="{0D108BD9-81ED-4DB2-BD59-A6C34878D82A}">
                    <a16:rowId xmlns:a16="http://schemas.microsoft.com/office/drawing/2014/main" val="10001"/>
                  </a:ext>
                </a:extLst>
              </a:tr>
              <a:tr h="248603">
                <a:tc>
                  <a:txBody>
                    <a:bodyPr/>
                    <a:lstStyle/>
                    <a:p>
                      <a:pPr marR="471805" algn="r">
                        <a:lnSpc>
                          <a:spcPts val="2495"/>
                        </a:lnSpc>
                      </a:pPr>
                      <a:r>
                        <a:rPr sz="1800" b="1" spc="-25" dirty="0">
                          <a:latin typeface="Calibri"/>
                          <a:cs typeface="Calibri"/>
                        </a:rPr>
                        <a:t>13</a:t>
                      </a:r>
                      <a:endParaRPr sz="1800">
                        <a:latin typeface="Calibri"/>
                        <a:cs typeface="Calibri"/>
                      </a:endParaRPr>
                    </a:p>
                  </a:txBody>
                  <a:tcPr marL="0" marR="0" marT="0" marB="0"/>
                </a:tc>
                <a:tc>
                  <a:txBody>
                    <a:bodyPr/>
                    <a:lstStyle/>
                    <a:p>
                      <a:pPr marR="211454" algn="r">
                        <a:lnSpc>
                          <a:spcPts val="2495"/>
                        </a:lnSpc>
                      </a:pPr>
                      <a:r>
                        <a:rPr sz="1800" b="1" spc="-20" dirty="0">
                          <a:latin typeface="Calibri"/>
                          <a:cs typeface="Calibri"/>
                        </a:rPr>
                        <a:t>1101</a:t>
                      </a:r>
                      <a:endParaRPr sz="1800">
                        <a:latin typeface="Calibri"/>
                        <a:cs typeface="Calibri"/>
                      </a:endParaRPr>
                    </a:p>
                  </a:txBody>
                  <a:tcPr marL="0" marR="0" marT="0" marB="0"/>
                </a:tc>
                <a:tc>
                  <a:txBody>
                    <a:bodyPr/>
                    <a:lstStyle/>
                    <a:p>
                      <a:pPr marL="222885">
                        <a:lnSpc>
                          <a:spcPts val="2495"/>
                        </a:lnSpc>
                      </a:pPr>
                      <a:r>
                        <a:rPr sz="1800" b="1" dirty="0">
                          <a:latin typeface="Calibri"/>
                          <a:cs typeface="Calibri"/>
                        </a:rPr>
                        <a:t>is</a:t>
                      </a:r>
                      <a:r>
                        <a:rPr sz="1800" b="1" spc="-20" dirty="0">
                          <a:latin typeface="Calibri"/>
                          <a:cs typeface="Calibri"/>
                        </a:rPr>
                        <a:t> </a:t>
                      </a:r>
                      <a:r>
                        <a:rPr sz="1800" b="1" dirty="0">
                          <a:latin typeface="Calibri"/>
                          <a:cs typeface="Calibri"/>
                        </a:rPr>
                        <a:t>13</a:t>
                      </a:r>
                      <a:r>
                        <a:rPr sz="1800" b="1" spc="-25" dirty="0">
                          <a:latin typeface="Calibri"/>
                          <a:cs typeface="Calibri"/>
                        </a:rPr>
                        <a:t> </a:t>
                      </a:r>
                      <a:r>
                        <a:rPr sz="1800" b="1" dirty="0">
                          <a:latin typeface="Calibri"/>
                          <a:cs typeface="Calibri"/>
                        </a:rPr>
                        <a:t>(&gt;</a:t>
                      </a:r>
                      <a:r>
                        <a:rPr sz="1800" b="1" spc="-20" dirty="0">
                          <a:latin typeface="Calibri"/>
                          <a:cs typeface="Calibri"/>
                        </a:rPr>
                        <a:t> </a:t>
                      </a:r>
                      <a:r>
                        <a:rPr sz="1800" b="1" spc="-25" dirty="0">
                          <a:latin typeface="Calibri"/>
                          <a:cs typeface="Calibri"/>
                        </a:rPr>
                        <a:t>9)</a:t>
                      </a:r>
                      <a:endParaRPr sz="1800">
                        <a:latin typeface="Calibri"/>
                        <a:cs typeface="Calibri"/>
                      </a:endParaRPr>
                    </a:p>
                  </a:txBody>
                  <a:tcPr marL="0" marR="0" marT="0" marB="0"/>
                </a:tc>
                <a:extLst>
                  <a:ext uri="{0D108BD9-81ED-4DB2-BD59-A6C34878D82A}">
                    <a16:rowId xmlns:a16="http://schemas.microsoft.com/office/drawing/2014/main" val="10002"/>
                  </a:ext>
                </a:extLst>
              </a:tr>
            </a:tbl>
          </a:graphicData>
        </a:graphic>
      </p:graphicFrame>
      <p:sp>
        <p:nvSpPr>
          <p:cNvPr id="4" name="object 4"/>
          <p:cNvSpPr txBox="1"/>
          <p:nvPr/>
        </p:nvSpPr>
        <p:spPr>
          <a:xfrm>
            <a:off x="709879" y="2890258"/>
            <a:ext cx="7058978" cy="790601"/>
          </a:xfrm>
          <a:prstGeom prst="rect">
            <a:avLst/>
          </a:prstGeom>
        </p:spPr>
        <p:txBody>
          <a:bodyPr vert="horz" wrap="square" lIns="0" tIns="120015" rIns="0" bIns="0" rtlCol="0">
            <a:spAutoFit/>
          </a:bodyPr>
          <a:lstStyle/>
          <a:p>
            <a:pPr marL="9525" defTabSz="685800">
              <a:spcBef>
                <a:spcPts val="945"/>
              </a:spcBef>
            </a:pPr>
            <a:r>
              <a:rPr b="1" kern="0" dirty="0">
                <a:solidFill>
                  <a:sysClr val="windowText" lastClr="000000"/>
                </a:solidFill>
                <a:latin typeface="Calibri"/>
                <a:cs typeface="Calibri"/>
              </a:rPr>
              <a:t>Note</a:t>
            </a:r>
            <a:r>
              <a:rPr b="1" kern="0" spc="-41" dirty="0">
                <a:solidFill>
                  <a:sysClr val="windowText" lastClr="000000"/>
                </a:solidFill>
                <a:latin typeface="Calibri"/>
                <a:cs typeface="Calibri"/>
              </a:rPr>
              <a:t> </a:t>
            </a:r>
            <a:r>
              <a:rPr b="1" kern="0" dirty="0">
                <a:solidFill>
                  <a:sysClr val="windowText" lastClr="000000"/>
                </a:solidFill>
                <a:latin typeface="Calibri"/>
                <a:cs typeface="Calibri"/>
              </a:rPr>
              <a:t>that</a:t>
            </a:r>
            <a:r>
              <a:rPr b="1" kern="0" spc="-11" dirty="0">
                <a:solidFill>
                  <a:sysClr val="windowText" lastClr="000000"/>
                </a:solidFill>
                <a:latin typeface="Calibri"/>
                <a:cs typeface="Calibri"/>
              </a:rPr>
              <a:t> </a:t>
            </a:r>
            <a:r>
              <a:rPr kern="0" dirty="0">
                <a:solidFill>
                  <a:sysClr val="windowText" lastClr="000000"/>
                </a:solidFill>
                <a:latin typeface="Calibri"/>
                <a:cs typeface="Calibri"/>
              </a:rPr>
              <a:t>the</a:t>
            </a:r>
            <a:r>
              <a:rPr kern="0" spc="-26" dirty="0">
                <a:solidFill>
                  <a:sysClr val="windowText" lastClr="000000"/>
                </a:solidFill>
                <a:latin typeface="Calibri"/>
                <a:cs typeface="Calibri"/>
              </a:rPr>
              <a:t> </a:t>
            </a:r>
            <a:r>
              <a:rPr kern="0" dirty="0">
                <a:solidFill>
                  <a:sysClr val="windowText" lastClr="000000"/>
                </a:solidFill>
                <a:latin typeface="Calibri"/>
                <a:cs typeface="Calibri"/>
              </a:rPr>
              <a:t>result</a:t>
            </a:r>
            <a:r>
              <a:rPr kern="0" spc="-23" dirty="0">
                <a:solidFill>
                  <a:sysClr val="windowText" lastClr="000000"/>
                </a:solidFill>
                <a:latin typeface="Calibri"/>
                <a:cs typeface="Calibri"/>
              </a:rPr>
              <a:t> </a:t>
            </a:r>
            <a:r>
              <a:rPr kern="0" dirty="0">
                <a:solidFill>
                  <a:sysClr val="windowText" lastClr="000000"/>
                </a:solidFill>
                <a:latin typeface="Calibri"/>
                <a:cs typeface="Calibri"/>
              </a:rPr>
              <a:t>is</a:t>
            </a:r>
            <a:r>
              <a:rPr kern="0" spc="-38" dirty="0">
                <a:solidFill>
                  <a:sysClr val="windowText" lastClr="000000"/>
                </a:solidFill>
                <a:latin typeface="Calibri"/>
                <a:cs typeface="Calibri"/>
              </a:rPr>
              <a:t> </a:t>
            </a:r>
            <a:r>
              <a:rPr kern="0" dirty="0">
                <a:solidFill>
                  <a:sysClr val="windowText" lastClr="000000"/>
                </a:solidFill>
                <a:latin typeface="Calibri"/>
                <a:cs typeface="Calibri"/>
              </a:rPr>
              <a:t>MORE</a:t>
            </a:r>
            <a:r>
              <a:rPr kern="0" spc="-30" dirty="0">
                <a:solidFill>
                  <a:sysClr val="windowText" lastClr="000000"/>
                </a:solidFill>
                <a:latin typeface="Calibri"/>
                <a:cs typeface="Calibri"/>
              </a:rPr>
              <a:t> </a:t>
            </a:r>
            <a:r>
              <a:rPr kern="0" dirty="0">
                <a:solidFill>
                  <a:sysClr val="windowText" lastClr="000000"/>
                </a:solidFill>
                <a:latin typeface="Calibri"/>
                <a:cs typeface="Calibri"/>
              </a:rPr>
              <a:t>THAN</a:t>
            </a:r>
            <a:r>
              <a:rPr kern="0" spc="-23" dirty="0">
                <a:solidFill>
                  <a:sysClr val="windowText" lastClr="000000"/>
                </a:solidFill>
                <a:latin typeface="Calibri"/>
                <a:cs typeface="Calibri"/>
              </a:rPr>
              <a:t> </a:t>
            </a:r>
            <a:r>
              <a:rPr kern="0" dirty="0">
                <a:solidFill>
                  <a:sysClr val="windowText" lastClr="000000"/>
                </a:solidFill>
                <a:latin typeface="Calibri"/>
                <a:cs typeface="Calibri"/>
              </a:rPr>
              <a:t>9,</a:t>
            </a:r>
            <a:r>
              <a:rPr kern="0" spc="-23" dirty="0">
                <a:solidFill>
                  <a:sysClr val="windowText" lastClr="000000"/>
                </a:solidFill>
                <a:latin typeface="Calibri"/>
                <a:cs typeface="Calibri"/>
              </a:rPr>
              <a:t> </a:t>
            </a:r>
            <a:r>
              <a:rPr kern="0" dirty="0">
                <a:solidFill>
                  <a:sysClr val="windowText" lastClr="000000"/>
                </a:solidFill>
                <a:latin typeface="Calibri"/>
                <a:cs typeface="Calibri"/>
              </a:rPr>
              <a:t>so</a:t>
            </a:r>
            <a:r>
              <a:rPr kern="0" spc="-34" dirty="0">
                <a:solidFill>
                  <a:sysClr val="windowText" lastClr="000000"/>
                </a:solidFill>
                <a:latin typeface="Calibri"/>
                <a:cs typeface="Calibri"/>
              </a:rPr>
              <a:t> </a:t>
            </a:r>
            <a:r>
              <a:rPr kern="0" dirty="0">
                <a:solidFill>
                  <a:sysClr val="windowText" lastClr="000000"/>
                </a:solidFill>
                <a:latin typeface="Calibri"/>
                <a:cs typeface="Calibri"/>
              </a:rPr>
              <a:t>must</a:t>
            </a:r>
            <a:r>
              <a:rPr kern="0" spc="-38" dirty="0">
                <a:solidFill>
                  <a:sysClr val="windowText" lastClr="000000"/>
                </a:solidFill>
                <a:latin typeface="Calibri"/>
                <a:cs typeface="Calibri"/>
              </a:rPr>
              <a:t> </a:t>
            </a:r>
            <a:r>
              <a:rPr kern="0" dirty="0">
                <a:solidFill>
                  <a:sysClr val="windowText" lastClr="000000"/>
                </a:solidFill>
                <a:latin typeface="Calibri"/>
                <a:cs typeface="Calibri"/>
              </a:rPr>
              <a:t>be</a:t>
            </a:r>
            <a:r>
              <a:rPr kern="0" spc="-23" dirty="0">
                <a:solidFill>
                  <a:sysClr val="windowText" lastClr="000000"/>
                </a:solidFill>
                <a:latin typeface="Calibri"/>
                <a:cs typeface="Calibri"/>
              </a:rPr>
              <a:t> </a:t>
            </a:r>
            <a:r>
              <a:rPr kern="0" spc="-15" dirty="0">
                <a:solidFill>
                  <a:sysClr val="windowText" lastClr="000000"/>
                </a:solidFill>
                <a:latin typeface="Calibri"/>
                <a:cs typeface="Calibri"/>
              </a:rPr>
              <a:t>represented</a:t>
            </a:r>
            <a:r>
              <a:rPr kern="0" spc="-26" dirty="0">
                <a:solidFill>
                  <a:sysClr val="windowText" lastClr="000000"/>
                </a:solidFill>
                <a:latin typeface="Calibri"/>
                <a:cs typeface="Calibri"/>
              </a:rPr>
              <a:t> </a:t>
            </a:r>
            <a:r>
              <a:rPr kern="0" dirty="0">
                <a:solidFill>
                  <a:sysClr val="windowText" lastClr="000000"/>
                </a:solidFill>
                <a:latin typeface="Calibri"/>
                <a:cs typeface="Calibri"/>
              </a:rPr>
              <a:t>by</a:t>
            </a:r>
            <a:r>
              <a:rPr kern="0" spc="-30" dirty="0">
                <a:solidFill>
                  <a:sysClr val="windowText" lastClr="000000"/>
                </a:solidFill>
                <a:latin typeface="Calibri"/>
                <a:cs typeface="Calibri"/>
              </a:rPr>
              <a:t> </a:t>
            </a:r>
            <a:r>
              <a:rPr kern="0" dirty="0">
                <a:solidFill>
                  <a:sysClr val="windowText" lastClr="000000"/>
                </a:solidFill>
                <a:latin typeface="Calibri"/>
                <a:cs typeface="Calibri"/>
              </a:rPr>
              <a:t>two</a:t>
            </a:r>
            <a:r>
              <a:rPr kern="0" spc="-41" dirty="0">
                <a:solidFill>
                  <a:sysClr val="windowText" lastClr="000000"/>
                </a:solidFill>
                <a:latin typeface="Calibri"/>
                <a:cs typeface="Calibri"/>
              </a:rPr>
              <a:t> </a:t>
            </a:r>
            <a:r>
              <a:rPr kern="0" spc="-8" dirty="0">
                <a:solidFill>
                  <a:sysClr val="windowText" lastClr="000000"/>
                </a:solidFill>
                <a:latin typeface="Calibri"/>
                <a:cs typeface="Calibri"/>
              </a:rPr>
              <a:t>digits!</a:t>
            </a:r>
            <a:endParaRPr kern="0">
              <a:solidFill>
                <a:sysClr val="windowText" lastClr="000000"/>
              </a:solidFill>
              <a:latin typeface="Calibri"/>
              <a:cs typeface="Calibri"/>
            </a:endParaRPr>
          </a:p>
          <a:p>
            <a:pPr marL="19050" defTabSz="685800">
              <a:spcBef>
                <a:spcPts val="870"/>
              </a:spcBef>
            </a:pPr>
            <a:r>
              <a:rPr kern="0" spc="-83" dirty="0">
                <a:solidFill>
                  <a:sysClr val="windowText" lastClr="000000"/>
                </a:solidFill>
                <a:latin typeface="Calibri"/>
                <a:cs typeface="Calibri"/>
              </a:rPr>
              <a:t>To</a:t>
            </a:r>
            <a:r>
              <a:rPr kern="0" spc="-19" dirty="0">
                <a:solidFill>
                  <a:sysClr val="windowText" lastClr="000000"/>
                </a:solidFill>
                <a:latin typeface="Calibri"/>
                <a:cs typeface="Calibri"/>
              </a:rPr>
              <a:t> </a:t>
            </a:r>
            <a:r>
              <a:rPr kern="0" dirty="0">
                <a:solidFill>
                  <a:sysClr val="windowText" lastClr="000000"/>
                </a:solidFill>
                <a:latin typeface="Calibri"/>
                <a:cs typeface="Calibri"/>
              </a:rPr>
              <a:t>correct</a:t>
            </a:r>
            <a:r>
              <a:rPr kern="0" spc="-49" dirty="0">
                <a:solidFill>
                  <a:sysClr val="windowText" lastClr="000000"/>
                </a:solidFill>
                <a:latin typeface="Calibri"/>
                <a:cs typeface="Calibri"/>
              </a:rPr>
              <a:t> </a:t>
            </a:r>
            <a:r>
              <a:rPr kern="0" dirty="0">
                <a:solidFill>
                  <a:sysClr val="windowText" lastClr="000000"/>
                </a:solidFill>
                <a:latin typeface="Calibri"/>
                <a:cs typeface="Calibri"/>
              </a:rPr>
              <a:t>the</a:t>
            </a:r>
            <a:r>
              <a:rPr kern="0" spc="-34" dirty="0">
                <a:solidFill>
                  <a:sysClr val="windowText" lastClr="000000"/>
                </a:solidFill>
                <a:latin typeface="Calibri"/>
                <a:cs typeface="Calibri"/>
              </a:rPr>
              <a:t> </a:t>
            </a:r>
            <a:r>
              <a:rPr kern="0" dirty="0">
                <a:solidFill>
                  <a:sysClr val="windowText" lastClr="000000"/>
                </a:solidFill>
                <a:latin typeface="Calibri"/>
                <a:cs typeface="Calibri"/>
              </a:rPr>
              <a:t>digit,</a:t>
            </a:r>
            <a:r>
              <a:rPr kern="0" spc="-38" dirty="0">
                <a:solidFill>
                  <a:sysClr val="windowText" lastClr="000000"/>
                </a:solidFill>
                <a:latin typeface="Calibri"/>
                <a:cs typeface="Calibri"/>
              </a:rPr>
              <a:t> </a:t>
            </a:r>
            <a:r>
              <a:rPr kern="0" dirty="0">
                <a:solidFill>
                  <a:sysClr val="windowText" lastClr="000000"/>
                </a:solidFill>
                <a:latin typeface="Calibri"/>
                <a:cs typeface="Calibri"/>
              </a:rPr>
              <a:t>add</a:t>
            </a:r>
            <a:r>
              <a:rPr kern="0" spc="-30" dirty="0">
                <a:solidFill>
                  <a:sysClr val="windowText" lastClr="000000"/>
                </a:solidFill>
                <a:latin typeface="Calibri"/>
                <a:cs typeface="Calibri"/>
              </a:rPr>
              <a:t> </a:t>
            </a:r>
            <a:r>
              <a:rPr kern="0" spc="-19" dirty="0">
                <a:solidFill>
                  <a:sysClr val="windowText" lastClr="000000"/>
                </a:solidFill>
                <a:latin typeface="Calibri"/>
                <a:cs typeface="Calibri"/>
              </a:rPr>
              <a:t>6:</a:t>
            </a:r>
            <a:endParaRPr kern="0">
              <a:solidFill>
                <a:sysClr val="windowText" lastClr="000000"/>
              </a:solidFill>
              <a:latin typeface="Calibri"/>
              <a:cs typeface="Calibri"/>
            </a:endParaRPr>
          </a:p>
        </p:txBody>
      </p:sp>
      <p:graphicFrame>
        <p:nvGraphicFramePr>
          <p:cNvPr id="5" name="object 5"/>
          <p:cNvGraphicFramePr>
            <a:graphicFrameLocks noGrp="1"/>
          </p:cNvGraphicFramePr>
          <p:nvPr/>
        </p:nvGraphicFramePr>
        <p:xfrm>
          <a:off x="1870330" y="3791140"/>
          <a:ext cx="4451984" cy="2463800"/>
        </p:xfrm>
        <a:graphic>
          <a:graphicData uri="http://schemas.openxmlformats.org/drawingml/2006/table">
            <a:tbl>
              <a:tblPr firstRow="1" bandRow="1">
                <a:tableStyleId>{2D5ABB26-0587-4C30-8999-92F81FD0307C}</a:tableStyleId>
              </a:tblPr>
              <a:tblGrid>
                <a:gridCol w="335756">
                  <a:extLst>
                    <a:ext uri="{9D8B030D-6E8A-4147-A177-3AD203B41FA5}">
                      <a16:colId xmlns:a16="http://schemas.microsoft.com/office/drawing/2014/main" val="20000"/>
                    </a:ext>
                  </a:extLst>
                </a:gridCol>
                <a:gridCol w="1621631">
                  <a:extLst>
                    <a:ext uri="{9D8B030D-6E8A-4147-A177-3AD203B41FA5}">
                      <a16:colId xmlns:a16="http://schemas.microsoft.com/office/drawing/2014/main" val="20001"/>
                    </a:ext>
                  </a:extLst>
                </a:gridCol>
                <a:gridCol w="2494597">
                  <a:extLst>
                    <a:ext uri="{9D8B030D-6E8A-4147-A177-3AD203B41FA5}">
                      <a16:colId xmlns:a16="http://schemas.microsoft.com/office/drawing/2014/main" val="20002"/>
                    </a:ext>
                  </a:extLst>
                </a:gridCol>
              </a:tblGrid>
              <a:tr h="249079">
                <a:tc>
                  <a:txBody>
                    <a:bodyPr/>
                    <a:lstStyle/>
                    <a:p>
                      <a:pPr marR="91440" algn="r">
                        <a:lnSpc>
                          <a:spcPts val="2280"/>
                        </a:lnSpc>
                      </a:pPr>
                      <a:r>
                        <a:rPr sz="1800" b="1" spc="-50" dirty="0">
                          <a:latin typeface="Calibri"/>
                          <a:cs typeface="Calibri"/>
                        </a:rPr>
                        <a:t>8</a:t>
                      </a:r>
                      <a:endParaRPr sz="1800">
                        <a:latin typeface="Calibri"/>
                        <a:cs typeface="Calibri"/>
                      </a:endParaRPr>
                    </a:p>
                  </a:txBody>
                  <a:tcPr marL="0" marR="0" marT="0" marB="0"/>
                </a:tc>
                <a:tc>
                  <a:txBody>
                    <a:bodyPr/>
                    <a:lstStyle/>
                    <a:p>
                      <a:pPr marR="173355" algn="r">
                        <a:lnSpc>
                          <a:spcPts val="2280"/>
                        </a:lnSpc>
                      </a:pPr>
                      <a:r>
                        <a:rPr sz="1800" spc="-20" dirty="0">
                          <a:latin typeface="Calibri"/>
                          <a:cs typeface="Calibri"/>
                        </a:rPr>
                        <a:t>1000</a:t>
                      </a:r>
                      <a:endParaRPr sz="1800">
                        <a:latin typeface="Calibri"/>
                        <a:cs typeface="Calibri"/>
                      </a:endParaRPr>
                    </a:p>
                  </a:txBody>
                  <a:tcPr marL="0" marR="0" marT="0" marB="0"/>
                </a:tc>
                <a:tc>
                  <a:txBody>
                    <a:bodyPr/>
                    <a:lstStyle/>
                    <a:p>
                      <a:pPr marL="176530">
                        <a:lnSpc>
                          <a:spcPts val="2280"/>
                        </a:lnSpc>
                      </a:pPr>
                      <a:r>
                        <a:rPr sz="1800" spc="-10" dirty="0">
                          <a:latin typeface="Calibri"/>
                          <a:cs typeface="Calibri"/>
                        </a:rPr>
                        <a:t>Eight</a:t>
                      </a:r>
                      <a:endParaRPr sz="1800">
                        <a:latin typeface="Calibri"/>
                        <a:cs typeface="Calibri"/>
                      </a:endParaRPr>
                    </a:p>
                  </a:txBody>
                  <a:tcPr marL="0" marR="0" marT="0" marB="0"/>
                </a:tc>
                <a:extLst>
                  <a:ext uri="{0D108BD9-81ED-4DB2-BD59-A6C34878D82A}">
                    <a16:rowId xmlns:a16="http://schemas.microsoft.com/office/drawing/2014/main" val="10000"/>
                  </a:ext>
                </a:extLst>
              </a:tr>
              <a:tr h="270034">
                <a:tc>
                  <a:txBody>
                    <a:bodyPr/>
                    <a:lstStyle/>
                    <a:p>
                      <a:pPr marR="100330" algn="r">
                        <a:lnSpc>
                          <a:spcPts val="2500"/>
                        </a:lnSpc>
                      </a:pPr>
                      <a:r>
                        <a:rPr sz="1800" b="1" u="heavy" spc="-25" dirty="0">
                          <a:uFill>
                            <a:solidFill>
                              <a:srgbClr val="000000"/>
                            </a:solidFill>
                          </a:uFill>
                          <a:latin typeface="Calibri"/>
                          <a:cs typeface="Calibri"/>
                        </a:rPr>
                        <a:t>+5</a:t>
                      </a:r>
                      <a:endParaRPr sz="1800">
                        <a:latin typeface="Calibri"/>
                        <a:cs typeface="Calibri"/>
                      </a:endParaRPr>
                    </a:p>
                  </a:txBody>
                  <a:tcPr marL="0" marR="0" marT="0" marB="0"/>
                </a:tc>
                <a:tc>
                  <a:txBody>
                    <a:bodyPr/>
                    <a:lstStyle/>
                    <a:p>
                      <a:pPr marR="182245" algn="r">
                        <a:lnSpc>
                          <a:spcPts val="2500"/>
                        </a:lnSpc>
                      </a:pPr>
                      <a:r>
                        <a:rPr sz="1800" u="heavy" spc="-235" dirty="0">
                          <a:uFill>
                            <a:solidFill>
                              <a:srgbClr val="000000"/>
                            </a:solidFill>
                          </a:uFill>
                          <a:latin typeface="Calibri"/>
                          <a:cs typeface="Calibri"/>
                        </a:rPr>
                        <a:t> </a:t>
                      </a:r>
                      <a:r>
                        <a:rPr sz="1800" u="heavy" spc="-10" dirty="0">
                          <a:uFill>
                            <a:solidFill>
                              <a:srgbClr val="000000"/>
                            </a:solidFill>
                          </a:uFill>
                          <a:latin typeface="Calibri"/>
                          <a:cs typeface="Calibri"/>
                        </a:rPr>
                        <a:t>+0101</a:t>
                      </a:r>
                      <a:endParaRPr sz="1800">
                        <a:latin typeface="Calibri"/>
                        <a:cs typeface="Calibri"/>
                      </a:endParaRPr>
                    </a:p>
                  </a:txBody>
                  <a:tcPr marL="0" marR="0" marT="0" marB="0"/>
                </a:tc>
                <a:tc>
                  <a:txBody>
                    <a:bodyPr/>
                    <a:lstStyle/>
                    <a:p>
                      <a:pPr marL="164465">
                        <a:lnSpc>
                          <a:spcPts val="2500"/>
                        </a:lnSpc>
                      </a:pPr>
                      <a:r>
                        <a:rPr sz="1800" dirty="0">
                          <a:latin typeface="Calibri"/>
                          <a:cs typeface="Calibri"/>
                        </a:rPr>
                        <a:t>Plus</a:t>
                      </a:r>
                      <a:r>
                        <a:rPr sz="1800" spc="-35" dirty="0">
                          <a:latin typeface="Calibri"/>
                          <a:cs typeface="Calibri"/>
                        </a:rPr>
                        <a:t> </a:t>
                      </a:r>
                      <a:r>
                        <a:rPr sz="1800" spc="-50" dirty="0">
                          <a:latin typeface="Calibri"/>
                          <a:cs typeface="Calibri"/>
                        </a:rPr>
                        <a:t>5</a:t>
                      </a:r>
                      <a:endParaRPr sz="1800">
                        <a:latin typeface="Calibri"/>
                        <a:cs typeface="Calibri"/>
                      </a:endParaRPr>
                    </a:p>
                  </a:txBody>
                  <a:tcPr marL="0" marR="0" marT="0" marB="0"/>
                </a:tc>
                <a:extLst>
                  <a:ext uri="{0D108BD9-81ED-4DB2-BD59-A6C34878D82A}">
                    <a16:rowId xmlns:a16="http://schemas.microsoft.com/office/drawing/2014/main" val="10001"/>
                  </a:ext>
                </a:extLst>
              </a:tr>
              <a:tr h="269081">
                <a:tc>
                  <a:txBody>
                    <a:bodyPr/>
                    <a:lstStyle/>
                    <a:p>
                      <a:pPr marR="92075" algn="r">
                        <a:lnSpc>
                          <a:spcPts val="2500"/>
                        </a:lnSpc>
                      </a:pPr>
                      <a:r>
                        <a:rPr sz="1800" b="1" spc="-25" dirty="0">
                          <a:latin typeface="Calibri"/>
                          <a:cs typeface="Calibri"/>
                        </a:rPr>
                        <a:t>13</a:t>
                      </a:r>
                      <a:endParaRPr sz="1800">
                        <a:latin typeface="Calibri"/>
                        <a:cs typeface="Calibri"/>
                      </a:endParaRPr>
                    </a:p>
                  </a:txBody>
                  <a:tcPr marL="0" marR="0" marT="0" marB="0"/>
                </a:tc>
                <a:tc>
                  <a:txBody>
                    <a:bodyPr/>
                    <a:lstStyle/>
                    <a:p>
                      <a:pPr marR="173355" algn="r">
                        <a:lnSpc>
                          <a:spcPts val="2500"/>
                        </a:lnSpc>
                      </a:pPr>
                      <a:r>
                        <a:rPr sz="1800" spc="-20" dirty="0">
                          <a:latin typeface="Calibri"/>
                          <a:cs typeface="Calibri"/>
                        </a:rPr>
                        <a:t>1101</a:t>
                      </a:r>
                      <a:endParaRPr sz="1800">
                        <a:latin typeface="Calibri"/>
                        <a:cs typeface="Calibri"/>
                      </a:endParaRPr>
                    </a:p>
                  </a:txBody>
                  <a:tcPr marL="0" marR="0" marT="0" marB="0"/>
                </a:tc>
                <a:tc>
                  <a:txBody>
                    <a:bodyPr/>
                    <a:lstStyle/>
                    <a:p>
                      <a:pPr marL="167005">
                        <a:lnSpc>
                          <a:spcPts val="2500"/>
                        </a:lnSpc>
                      </a:pPr>
                      <a:r>
                        <a:rPr sz="1800" dirty="0">
                          <a:latin typeface="Calibri"/>
                          <a:cs typeface="Calibri"/>
                        </a:rPr>
                        <a:t>is</a:t>
                      </a:r>
                      <a:r>
                        <a:rPr sz="1800" spc="-20" dirty="0">
                          <a:latin typeface="Calibri"/>
                          <a:cs typeface="Calibri"/>
                        </a:rPr>
                        <a:t> </a:t>
                      </a:r>
                      <a:r>
                        <a:rPr sz="1800" dirty="0">
                          <a:latin typeface="Calibri"/>
                          <a:cs typeface="Calibri"/>
                        </a:rPr>
                        <a:t>13</a:t>
                      </a:r>
                      <a:r>
                        <a:rPr sz="1800" spc="-25" dirty="0">
                          <a:latin typeface="Calibri"/>
                          <a:cs typeface="Calibri"/>
                        </a:rPr>
                        <a:t> </a:t>
                      </a:r>
                      <a:r>
                        <a:rPr sz="1800" dirty="0">
                          <a:latin typeface="Calibri"/>
                          <a:cs typeface="Calibri"/>
                        </a:rPr>
                        <a:t>(&gt;</a:t>
                      </a:r>
                      <a:r>
                        <a:rPr sz="1800" spc="-20" dirty="0">
                          <a:latin typeface="Calibri"/>
                          <a:cs typeface="Calibri"/>
                        </a:rPr>
                        <a:t> </a:t>
                      </a:r>
                      <a:r>
                        <a:rPr sz="1800" spc="-25" dirty="0">
                          <a:latin typeface="Calibri"/>
                          <a:cs typeface="Calibri"/>
                        </a:rPr>
                        <a:t>9)</a:t>
                      </a:r>
                      <a:endParaRPr sz="1800">
                        <a:latin typeface="Calibri"/>
                        <a:cs typeface="Calibri"/>
                      </a:endParaRPr>
                    </a:p>
                  </a:txBody>
                  <a:tcPr marL="0" marR="0" marT="0" marB="0"/>
                </a:tc>
                <a:extLst>
                  <a:ext uri="{0D108BD9-81ED-4DB2-BD59-A6C34878D82A}">
                    <a16:rowId xmlns:a16="http://schemas.microsoft.com/office/drawing/2014/main" val="10002"/>
                  </a:ext>
                </a:extLst>
              </a:tr>
              <a:tr h="269558">
                <a:tc>
                  <a:txBody>
                    <a:bodyPr/>
                    <a:lstStyle/>
                    <a:p>
                      <a:pPr>
                        <a:lnSpc>
                          <a:spcPct val="100000"/>
                        </a:lnSpc>
                      </a:pPr>
                      <a:endParaRPr sz="1700">
                        <a:latin typeface="Times New Roman"/>
                        <a:cs typeface="Times New Roman"/>
                      </a:endParaRPr>
                    </a:p>
                  </a:txBody>
                  <a:tcPr marL="0" marR="0" marT="0" marB="0"/>
                </a:tc>
                <a:tc>
                  <a:txBody>
                    <a:bodyPr/>
                    <a:lstStyle/>
                    <a:p>
                      <a:pPr marR="180975" algn="r">
                        <a:lnSpc>
                          <a:spcPts val="2495"/>
                        </a:lnSpc>
                      </a:pPr>
                      <a:r>
                        <a:rPr sz="1800" u="heavy" spc="-325" dirty="0">
                          <a:uFill>
                            <a:solidFill>
                              <a:srgbClr val="000000"/>
                            </a:solidFill>
                          </a:uFill>
                          <a:latin typeface="Calibri"/>
                          <a:cs typeface="Calibri"/>
                        </a:rPr>
                        <a:t> </a:t>
                      </a:r>
                      <a:r>
                        <a:rPr sz="1800" u="heavy" spc="-10" dirty="0">
                          <a:uFill>
                            <a:solidFill>
                              <a:srgbClr val="000000"/>
                            </a:solidFill>
                          </a:uFill>
                          <a:latin typeface="Calibri"/>
                          <a:cs typeface="Calibri"/>
                        </a:rPr>
                        <a:t>+0110</a:t>
                      </a:r>
                      <a:endParaRPr sz="1800">
                        <a:latin typeface="Calibri"/>
                        <a:cs typeface="Calibri"/>
                      </a:endParaRPr>
                    </a:p>
                  </a:txBody>
                  <a:tcPr marL="0" marR="0" marT="0" marB="0"/>
                </a:tc>
                <a:tc>
                  <a:txBody>
                    <a:bodyPr/>
                    <a:lstStyle/>
                    <a:p>
                      <a:pPr marL="148590">
                        <a:lnSpc>
                          <a:spcPts val="2495"/>
                        </a:lnSpc>
                      </a:pPr>
                      <a:r>
                        <a:rPr sz="1800" dirty="0">
                          <a:latin typeface="Calibri"/>
                          <a:cs typeface="Calibri"/>
                        </a:rPr>
                        <a:t>so</a:t>
                      </a:r>
                      <a:r>
                        <a:rPr sz="1800" spc="-35" dirty="0">
                          <a:latin typeface="Calibri"/>
                          <a:cs typeface="Calibri"/>
                        </a:rPr>
                        <a:t> </a:t>
                      </a:r>
                      <a:r>
                        <a:rPr sz="1800" dirty="0">
                          <a:latin typeface="Calibri"/>
                          <a:cs typeface="Calibri"/>
                        </a:rPr>
                        <a:t>add</a:t>
                      </a:r>
                      <a:r>
                        <a:rPr sz="1800" spc="-10" dirty="0">
                          <a:latin typeface="Calibri"/>
                          <a:cs typeface="Calibri"/>
                        </a:rPr>
                        <a:t> </a:t>
                      </a:r>
                      <a:r>
                        <a:rPr sz="1800" spc="-50" dirty="0">
                          <a:latin typeface="Calibri"/>
                          <a:cs typeface="Calibri"/>
                        </a:rPr>
                        <a:t>6</a:t>
                      </a:r>
                      <a:endParaRPr sz="1800">
                        <a:latin typeface="Calibri"/>
                        <a:cs typeface="Calibri"/>
                      </a:endParaRPr>
                    </a:p>
                  </a:txBody>
                  <a:tcPr marL="0" marR="0" marT="0" marB="0"/>
                </a:tc>
                <a:extLst>
                  <a:ext uri="{0D108BD9-81ED-4DB2-BD59-A6C34878D82A}">
                    <a16:rowId xmlns:a16="http://schemas.microsoft.com/office/drawing/2014/main" val="10003"/>
                  </a:ext>
                </a:extLst>
              </a:tr>
              <a:tr h="518160">
                <a:tc>
                  <a:txBody>
                    <a:bodyPr/>
                    <a:lstStyle/>
                    <a:p>
                      <a:pPr>
                        <a:lnSpc>
                          <a:spcPct val="100000"/>
                        </a:lnSpc>
                      </a:pPr>
                      <a:endParaRPr sz="1800">
                        <a:latin typeface="Times New Roman"/>
                        <a:cs typeface="Times New Roman"/>
                      </a:endParaRPr>
                    </a:p>
                  </a:txBody>
                  <a:tcPr marL="0" marR="0" marT="0" marB="0"/>
                </a:tc>
                <a:tc>
                  <a:txBody>
                    <a:bodyPr/>
                    <a:lstStyle/>
                    <a:p>
                      <a:pPr marR="200025" algn="r">
                        <a:lnSpc>
                          <a:spcPts val="2470"/>
                        </a:lnSpc>
                        <a:tabLst>
                          <a:tab pos="1238885" algn="l"/>
                        </a:tabLst>
                      </a:pPr>
                      <a:r>
                        <a:rPr sz="1800" dirty="0">
                          <a:latin typeface="Calibri"/>
                          <a:cs typeface="Calibri"/>
                        </a:rPr>
                        <a:t>carry</a:t>
                      </a:r>
                      <a:r>
                        <a:rPr sz="1800" spc="-50" dirty="0">
                          <a:latin typeface="Calibri"/>
                          <a:cs typeface="Calibri"/>
                        </a:rPr>
                        <a:t> </a:t>
                      </a:r>
                      <a:r>
                        <a:rPr sz="1800" dirty="0">
                          <a:latin typeface="Calibri"/>
                          <a:cs typeface="Calibri"/>
                        </a:rPr>
                        <a:t>=</a:t>
                      </a:r>
                      <a:r>
                        <a:rPr sz="1800" spc="-30" dirty="0">
                          <a:latin typeface="Calibri"/>
                          <a:cs typeface="Calibri"/>
                        </a:rPr>
                        <a:t> </a:t>
                      </a:r>
                      <a:r>
                        <a:rPr sz="1800" spc="-50" dirty="0">
                          <a:latin typeface="Calibri"/>
                          <a:cs typeface="Calibri"/>
                        </a:rPr>
                        <a:t>1</a:t>
                      </a:r>
                      <a:r>
                        <a:rPr sz="1800" dirty="0">
                          <a:latin typeface="Calibri"/>
                          <a:cs typeface="Calibri"/>
                        </a:rPr>
                        <a:t>	</a:t>
                      </a:r>
                      <a:r>
                        <a:rPr sz="1800" spc="-20" dirty="0">
                          <a:latin typeface="Calibri"/>
                          <a:cs typeface="Calibri"/>
                        </a:rPr>
                        <a:t>0011</a:t>
                      </a:r>
                      <a:endParaRPr sz="1800">
                        <a:latin typeface="Calibri"/>
                        <a:cs typeface="Calibri"/>
                      </a:endParaRPr>
                    </a:p>
                    <a:p>
                      <a:pPr marR="140970" algn="r">
                        <a:lnSpc>
                          <a:spcPts val="2850"/>
                        </a:lnSpc>
                      </a:pPr>
                      <a:r>
                        <a:rPr sz="1800" b="1" dirty="0">
                          <a:latin typeface="Calibri"/>
                          <a:cs typeface="Calibri"/>
                        </a:rPr>
                        <a:t>0001</a:t>
                      </a:r>
                      <a:r>
                        <a:rPr sz="1800" b="1" spc="-35" dirty="0">
                          <a:latin typeface="Calibri"/>
                          <a:cs typeface="Calibri"/>
                        </a:rPr>
                        <a:t> </a:t>
                      </a:r>
                      <a:r>
                        <a:rPr sz="1800" b="1" dirty="0">
                          <a:latin typeface="Calibri"/>
                          <a:cs typeface="Calibri"/>
                        </a:rPr>
                        <a:t>|</a:t>
                      </a:r>
                      <a:r>
                        <a:rPr sz="1800" b="1" spc="-5" dirty="0">
                          <a:latin typeface="Calibri"/>
                          <a:cs typeface="Calibri"/>
                        </a:rPr>
                        <a:t> </a:t>
                      </a:r>
                      <a:r>
                        <a:rPr sz="1800" b="1" spc="-20" dirty="0">
                          <a:latin typeface="Calibri"/>
                          <a:cs typeface="Calibri"/>
                        </a:rPr>
                        <a:t>0011</a:t>
                      </a:r>
                      <a:endParaRPr sz="1800">
                        <a:latin typeface="Calibri"/>
                        <a:cs typeface="Calibri"/>
                      </a:endParaRPr>
                    </a:p>
                  </a:txBody>
                  <a:tcPr marL="0" marR="0" marT="0" marB="0"/>
                </a:tc>
                <a:tc>
                  <a:txBody>
                    <a:bodyPr/>
                    <a:lstStyle/>
                    <a:p>
                      <a:pPr marL="191135">
                        <a:lnSpc>
                          <a:spcPts val="2470"/>
                        </a:lnSpc>
                      </a:pPr>
                      <a:r>
                        <a:rPr sz="1800" dirty="0">
                          <a:latin typeface="Calibri"/>
                          <a:cs typeface="Calibri"/>
                        </a:rPr>
                        <a:t>leaving</a:t>
                      </a:r>
                      <a:r>
                        <a:rPr sz="1800" spc="-35" dirty="0">
                          <a:latin typeface="Calibri"/>
                          <a:cs typeface="Calibri"/>
                        </a:rPr>
                        <a:t> </a:t>
                      </a:r>
                      <a:r>
                        <a:rPr sz="1800" dirty="0">
                          <a:latin typeface="Calibri"/>
                          <a:cs typeface="Calibri"/>
                        </a:rPr>
                        <a:t>3</a:t>
                      </a:r>
                      <a:r>
                        <a:rPr sz="1800" spc="-50" dirty="0">
                          <a:latin typeface="Calibri"/>
                          <a:cs typeface="Calibri"/>
                        </a:rPr>
                        <a:t> </a:t>
                      </a:r>
                      <a:r>
                        <a:rPr sz="1800" dirty="0">
                          <a:latin typeface="Calibri"/>
                          <a:cs typeface="Calibri"/>
                        </a:rPr>
                        <a:t>+</a:t>
                      </a:r>
                      <a:r>
                        <a:rPr sz="1800" spc="-30" dirty="0">
                          <a:latin typeface="Calibri"/>
                          <a:cs typeface="Calibri"/>
                        </a:rPr>
                        <a:t> </a:t>
                      </a:r>
                      <a:r>
                        <a:rPr sz="1800" spc="-25" dirty="0">
                          <a:latin typeface="Calibri"/>
                          <a:cs typeface="Calibri"/>
                        </a:rPr>
                        <a:t>cy</a:t>
                      </a:r>
                      <a:endParaRPr sz="1800">
                        <a:latin typeface="Calibri"/>
                        <a:cs typeface="Calibri"/>
                      </a:endParaRPr>
                    </a:p>
                    <a:p>
                      <a:pPr marL="195580">
                        <a:lnSpc>
                          <a:spcPts val="2850"/>
                        </a:lnSpc>
                      </a:pPr>
                      <a:r>
                        <a:rPr sz="1800" b="1" dirty="0">
                          <a:latin typeface="Calibri"/>
                          <a:cs typeface="Calibri"/>
                        </a:rPr>
                        <a:t>Final</a:t>
                      </a:r>
                      <a:r>
                        <a:rPr sz="1800" b="1" spc="-45" dirty="0">
                          <a:latin typeface="Calibri"/>
                          <a:cs typeface="Calibri"/>
                        </a:rPr>
                        <a:t> </a:t>
                      </a:r>
                      <a:r>
                        <a:rPr sz="1800" b="1" dirty="0">
                          <a:latin typeface="Calibri"/>
                          <a:cs typeface="Calibri"/>
                        </a:rPr>
                        <a:t>answer</a:t>
                      </a:r>
                      <a:r>
                        <a:rPr sz="1800" b="1" spc="-50" dirty="0">
                          <a:latin typeface="Calibri"/>
                          <a:cs typeface="Calibri"/>
                        </a:rPr>
                        <a:t> </a:t>
                      </a:r>
                      <a:r>
                        <a:rPr sz="1800" b="1" dirty="0">
                          <a:latin typeface="Calibri"/>
                          <a:cs typeface="Calibri"/>
                        </a:rPr>
                        <a:t>(two</a:t>
                      </a:r>
                      <a:r>
                        <a:rPr sz="1800" b="1" spc="-40" dirty="0">
                          <a:latin typeface="Calibri"/>
                          <a:cs typeface="Calibri"/>
                        </a:rPr>
                        <a:t> </a:t>
                      </a:r>
                      <a:r>
                        <a:rPr sz="1800" b="1" spc="-10" dirty="0">
                          <a:latin typeface="Calibri"/>
                          <a:cs typeface="Calibri"/>
                        </a:rPr>
                        <a:t>digits)</a:t>
                      </a:r>
                      <a:endParaRPr sz="1800">
                        <a:latin typeface="Calibri"/>
                        <a:cs typeface="Calibri"/>
                      </a:endParaRPr>
                    </a:p>
                  </a:txBody>
                  <a:tcPr marL="0" marR="0" marT="0" marB="0"/>
                </a:tc>
                <a:extLst>
                  <a:ext uri="{0D108BD9-81ED-4DB2-BD59-A6C34878D82A}">
                    <a16:rowId xmlns:a16="http://schemas.microsoft.com/office/drawing/2014/main" val="10004"/>
                  </a:ext>
                </a:extLst>
              </a:tr>
            </a:tbl>
          </a:graphicData>
        </a:graphic>
      </p:graphicFrame>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142523" y="1100099"/>
            <a:ext cx="5396388" cy="1505380"/>
          </a:xfrm>
          <a:prstGeom prst="rect">
            <a:avLst/>
          </a:prstGeom>
        </p:spPr>
        <p:txBody>
          <a:bodyPr vert="horz" wrap="square" lIns="0" tIns="10001" rIns="0" bIns="0" rtlCol="0">
            <a:spAutoFit/>
          </a:bodyPr>
          <a:lstStyle/>
          <a:p>
            <a:pPr marL="28575" defTabSz="685800">
              <a:spcBef>
                <a:spcPts val="79"/>
              </a:spcBef>
            </a:pPr>
            <a:r>
              <a:rPr sz="3300" kern="0" dirty="0">
                <a:solidFill>
                  <a:srgbClr val="2E5496"/>
                </a:solidFill>
                <a:latin typeface="Calibri Light"/>
                <a:cs typeface="Calibri Light"/>
              </a:rPr>
              <a:t>BCD</a:t>
            </a:r>
            <a:r>
              <a:rPr sz="3300" kern="0" spc="-143" dirty="0">
                <a:solidFill>
                  <a:srgbClr val="2E5496"/>
                </a:solidFill>
                <a:latin typeface="Calibri Light"/>
                <a:cs typeface="Calibri Light"/>
              </a:rPr>
              <a:t> </a:t>
            </a:r>
            <a:r>
              <a:rPr sz="3300" kern="0" spc="-23" dirty="0">
                <a:solidFill>
                  <a:srgbClr val="2E5496"/>
                </a:solidFill>
                <a:latin typeface="Calibri Light"/>
                <a:cs typeface="Calibri Light"/>
              </a:rPr>
              <a:t>Addition</a:t>
            </a:r>
            <a:r>
              <a:rPr sz="3300" kern="0" spc="-143" dirty="0">
                <a:solidFill>
                  <a:srgbClr val="2E5496"/>
                </a:solidFill>
                <a:latin typeface="Calibri Light"/>
                <a:cs typeface="Calibri Light"/>
              </a:rPr>
              <a:t> </a:t>
            </a:r>
            <a:r>
              <a:rPr sz="3300" kern="0" spc="-8" dirty="0">
                <a:solidFill>
                  <a:srgbClr val="2E5496"/>
                </a:solidFill>
                <a:latin typeface="Calibri Light"/>
                <a:cs typeface="Calibri Light"/>
              </a:rPr>
              <a:t>Example</a:t>
            </a:r>
            <a:endParaRPr sz="3300" kern="0">
              <a:solidFill>
                <a:sysClr val="windowText" lastClr="000000"/>
              </a:solidFill>
              <a:latin typeface="Calibri Light"/>
              <a:cs typeface="Calibri Light"/>
            </a:endParaRPr>
          </a:p>
          <a:p>
            <a:pPr marL="236696" marR="22860" indent="-171450" defTabSz="685800">
              <a:lnSpc>
                <a:spcPts val="3563"/>
              </a:lnSpc>
              <a:spcBef>
                <a:spcPts val="461"/>
              </a:spcBef>
              <a:buFont typeface="Arial MT"/>
              <a:buChar char="•"/>
              <a:tabLst>
                <a:tab pos="236696" algn="l"/>
              </a:tabLst>
            </a:pPr>
            <a:r>
              <a:rPr sz="3000" kern="0" dirty="0">
                <a:solidFill>
                  <a:sysClr val="windowText" lastClr="000000"/>
                </a:solidFill>
                <a:latin typeface="Calibri"/>
                <a:cs typeface="Calibri"/>
              </a:rPr>
              <a:t>Add</a:t>
            </a:r>
            <a:r>
              <a:rPr sz="3000" kern="0" spc="-11" dirty="0">
                <a:solidFill>
                  <a:sysClr val="windowText" lastClr="000000"/>
                </a:solidFill>
                <a:latin typeface="Calibri"/>
                <a:cs typeface="Calibri"/>
              </a:rPr>
              <a:t> </a:t>
            </a:r>
            <a:r>
              <a:rPr sz="3000" kern="0" dirty="0">
                <a:solidFill>
                  <a:sysClr val="windowText" lastClr="000000"/>
                </a:solidFill>
                <a:latin typeface="Calibri"/>
                <a:cs typeface="Calibri"/>
              </a:rPr>
              <a:t>1897</a:t>
            </a:r>
            <a:r>
              <a:rPr sz="3263" kern="0" baseline="-9578" dirty="0">
                <a:solidFill>
                  <a:sysClr val="windowText" lastClr="000000"/>
                </a:solidFill>
                <a:latin typeface="Calibri"/>
                <a:cs typeface="Calibri"/>
              </a:rPr>
              <a:t>BCD</a:t>
            </a:r>
            <a:r>
              <a:rPr sz="3263" kern="0" spc="-17" baseline="-9578" dirty="0">
                <a:solidFill>
                  <a:sysClr val="windowText" lastClr="000000"/>
                </a:solidFill>
                <a:latin typeface="Calibri"/>
                <a:cs typeface="Calibri"/>
              </a:rPr>
              <a:t> </a:t>
            </a:r>
            <a:r>
              <a:rPr sz="3000" kern="0" spc="-30" dirty="0">
                <a:solidFill>
                  <a:sysClr val="windowText" lastClr="000000"/>
                </a:solidFill>
                <a:latin typeface="Calibri"/>
                <a:cs typeface="Calibri"/>
              </a:rPr>
              <a:t>to</a:t>
            </a:r>
            <a:r>
              <a:rPr sz="3000" kern="0" spc="-180" dirty="0">
                <a:solidFill>
                  <a:sysClr val="windowText" lastClr="000000"/>
                </a:solidFill>
                <a:latin typeface="Calibri"/>
                <a:cs typeface="Calibri"/>
              </a:rPr>
              <a:t> </a:t>
            </a:r>
            <a:r>
              <a:rPr sz="3000" kern="0" dirty="0">
                <a:solidFill>
                  <a:sysClr val="windowText" lastClr="000000"/>
                </a:solidFill>
                <a:latin typeface="Calibri"/>
                <a:cs typeface="Calibri"/>
              </a:rPr>
              <a:t>2905</a:t>
            </a:r>
            <a:r>
              <a:rPr sz="3263" kern="0" baseline="-9578" dirty="0">
                <a:solidFill>
                  <a:sysClr val="windowText" lastClr="000000"/>
                </a:solidFill>
                <a:latin typeface="Calibri"/>
                <a:cs typeface="Calibri"/>
              </a:rPr>
              <a:t>BCD</a:t>
            </a:r>
            <a:r>
              <a:rPr sz="3263" kern="0" spc="5" baseline="-9578" dirty="0">
                <a:solidFill>
                  <a:sysClr val="windowText" lastClr="000000"/>
                </a:solidFill>
                <a:latin typeface="Calibri"/>
                <a:cs typeface="Calibri"/>
              </a:rPr>
              <a:t> </a:t>
            </a:r>
            <a:r>
              <a:rPr sz="3300" kern="0" spc="-8" dirty="0">
                <a:solidFill>
                  <a:sysClr val="windowText" lastClr="000000"/>
                </a:solidFill>
                <a:latin typeface="Calibri"/>
                <a:cs typeface="Calibri"/>
              </a:rPr>
              <a:t>showing </a:t>
            </a:r>
            <a:r>
              <a:rPr sz="3300" kern="0" dirty="0">
                <a:solidFill>
                  <a:sysClr val="windowText" lastClr="000000"/>
                </a:solidFill>
                <a:latin typeface="Calibri"/>
                <a:cs typeface="Calibri"/>
              </a:rPr>
              <a:t>carries</a:t>
            </a:r>
            <a:r>
              <a:rPr sz="3300" kern="0" spc="-71" dirty="0">
                <a:solidFill>
                  <a:sysClr val="windowText" lastClr="000000"/>
                </a:solidFill>
                <a:latin typeface="Calibri"/>
                <a:cs typeface="Calibri"/>
              </a:rPr>
              <a:t> </a:t>
            </a:r>
            <a:r>
              <a:rPr sz="3300" kern="0" dirty="0">
                <a:solidFill>
                  <a:sysClr val="windowText" lastClr="000000"/>
                </a:solidFill>
                <a:latin typeface="Calibri"/>
                <a:cs typeface="Calibri"/>
              </a:rPr>
              <a:t>and</a:t>
            </a:r>
            <a:r>
              <a:rPr sz="3300" kern="0" spc="-64" dirty="0">
                <a:solidFill>
                  <a:sysClr val="windowText" lastClr="000000"/>
                </a:solidFill>
                <a:latin typeface="Calibri"/>
                <a:cs typeface="Calibri"/>
              </a:rPr>
              <a:t> </a:t>
            </a:r>
            <a:r>
              <a:rPr sz="3300" kern="0" dirty="0">
                <a:solidFill>
                  <a:sysClr val="windowText" lastClr="000000"/>
                </a:solidFill>
                <a:latin typeface="Calibri"/>
                <a:cs typeface="Calibri"/>
              </a:rPr>
              <a:t>digit</a:t>
            </a:r>
            <a:r>
              <a:rPr sz="3300" kern="0" spc="-68" dirty="0">
                <a:solidFill>
                  <a:sysClr val="windowText" lastClr="000000"/>
                </a:solidFill>
                <a:latin typeface="Calibri"/>
                <a:cs typeface="Calibri"/>
              </a:rPr>
              <a:t> </a:t>
            </a:r>
            <a:r>
              <a:rPr sz="3300" kern="0" spc="-8" dirty="0">
                <a:solidFill>
                  <a:sysClr val="windowText" lastClr="000000"/>
                </a:solidFill>
                <a:latin typeface="Calibri"/>
                <a:cs typeface="Calibri"/>
              </a:rPr>
              <a:t>corrections</a:t>
            </a:r>
            <a:r>
              <a:rPr sz="3300" b="1" kern="0" spc="-8" dirty="0">
                <a:solidFill>
                  <a:sysClr val="windowText" lastClr="000000"/>
                </a:solidFill>
                <a:latin typeface="Calibri"/>
                <a:cs typeface="Calibri"/>
              </a:rPr>
              <a:t>.</a:t>
            </a:r>
            <a:endParaRPr sz="3300" kern="0">
              <a:solidFill>
                <a:sysClr val="windowText" lastClr="000000"/>
              </a:solidFill>
              <a:latin typeface="Calibri"/>
              <a:cs typeface="Calibri"/>
            </a:endParaRPr>
          </a:p>
        </p:txBody>
      </p:sp>
      <p:grpSp>
        <p:nvGrpSpPr>
          <p:cNvPr id="3" name="object 3"/>
          <p:cNvGrpSpPr/>
          <p:nvPr/>
        </p:nvGrpSpPr>
        <p:grpSpPr>
          <a:xfrm>
            <a:off x="2450402" y="2482114"/>
            <a:ext cx="1887379" cy="1664970"/>
            <a:chOff x="3267202" y="2166485"/>
            <a:chExt cx="2516505" cy="2219960"/>
          </a:xfrm>
        </p:grpSpPr>
        <p:sp>
          <p:nvSpPr>
            <p:cNvPr id="4" name="object 4"/>
            <p:cNvSpPr/>
            <p:nvPr/>
          </p:nvSpPr>
          <p:spPr>
            <a:xfrm>
              <a:off x="3267202" y="4036441"/>
              <a:ext cx="2516505" cy="33655"/>
            </a:xfrm>
            <a:custGeom>
              <a:avLst/>
              <a:gdLst/>
              <a:ahLst/>
              <a:cxnLst/>
              <a:rect l="l" t="t" r="r" b="b"/>
              <a:pathLst>
                <a:path w="2516504" h="33654">
                  <a:moveTo>
                    <a:pt x="1030224" y="0"/>
                  </a:moveTo>
                  <a:lnTo>
                    <a:pt x="0" y="0"/>
                  </a:lnTo>
                  <a:lnTo>
                    <a:pt x="0" y="33528"/>
                  </a:lnTo>
                  <a:lnTo>
                    <a:pt x="1030224" y="33528"/>
                  </a:lnTo>
                  <a:lnTo>
                    <a:pt x="1030224" y="0"/>
                  </a:lnTo>
                  <a:close/>
                </a:path>
                <a:path w="2516504" h="33654">
                  <a:moveTo>
                    <a:pt x="2516124" y="0"/>
                  </a:moveTo>
                  <a:lnTo>
                    <a:pt x="1485900" y="0"/>
                  </a:lnTo>
                  <a:lnTo>
                    <a:pt x="1485900" y="33528"/>
                  </a:lnTo>
                  <a:lnTo>
                    <a:pt x="2516124" y="33528"/>
                  </a:lnTo>
                  <a:lnTo>
                    <a:pt x="2516124" y="0"/>
                  </a:lnTo>
                  <a:close/>
                </a:path>
              </a:pathLst>
            </a:custGeom>
            <a:solidFill>
              <a:srgbClr val="000000"/>
            </a:solidFill>
          </p:spPr>
          <p:txBody>
            <a:bodyPr wrap="square" lIns="0" tIns="0" rIns="0" bIns="0" rtlCol="0"/>
            <a:lstStyle/>
            <a:p>
              <a:pPr defTabSz="685800"/>
              <a:endParaRPr sz="1350" kern="0">
                <a:solidFill>
                  <a:sysClr val="windowText" lastClr="000000"/>
                </a:solidFill>
              </a:endParaRPr>
            </a:p>
          </p:txBody>
        </p:sp>
        <p:sp>
          <p:nvSpPr>
            <p:cNvPr id="5" name="object 5"/>
            <p:cNvSpPr/>
            <p:nvPr/>
          </p:nvSpPr>
          <p:spPr>
            <a:xfrm>
              <a:off x="4498848" y="4108704"/>
              <a:ext cx="323215" cy="271780"/>
            </a:xfrm>
            <a:custGeom>
              <a:avLst/>
              <a:gdLst/>
              <a:ahLst/>
              <a:cxnLst/>
              <a:rect l="l" t="t" r="r" b="b"/>
              <a:pathLst>
                <a:path w="323214" h="271779">
                  <a:moveTo>
                    <a:pt x="0" y="135636"/>
                  </a:moveTo>
                  <a:lnTo>
                    <a:pt x="8229" y="92756"/>
                  </a:lnTo>
                  <a:lnTo>
                    <a:pt x="31150" y="55522"/>
                  </a:lnTo>
                  <a:lnTo>
                    <a:pt x="66111" y="26164"/>
                  </a:lnTo>
                  <a:lnTo>
                    <a:pt x="110459" y="6912"/>
                  </a:lnTo>
                  <a:lnTo>
                    <a:pt x="161543" y="0"/>
                  </a:lnTo>
                  <a:lnTo>
                    <a:pt x="212628" y="6912"/>
                  </a:lnTo>
                  <a:lnTo>
                    <a:pt x="256976" y="26164"/>
                  </a:lnTo>
                  <a:lnTo>
                    <a:pt x="291937" y="55522"/>
                  </a:lnTo>
                  <a:lnTo>
                    <a:pt x="314858" y="92756"/>
                  </a:lnTo>
                  <a:lnTo>
                    <a:pt x="323088" y="135636"/>
                  </a:lnTo>
                  <a:lnTo>
                    <a:pt x="314858" y="178515"/>
                  </a:lnTo>
                  <a:lnTo>
                    <a:pt x="291937" y="215749"/>
                  </a:lnTo>
                  <a:lnTo>
                    <a:pt x="256976" y="245107"/>
                  </a:lnTo>
                  <a:lnTo>
                    <a:pt x="212628" y="264359"/>
                  </a:lnTo>
                  <a:lnTo>
                    <a:pt x="161543" y="271272"/>
                  </a:lnTo>
                  <a:lnTo>
                    <a:pt x="110459" y="264359"/>
                  </a:lnTo>
                  <a:lnTo>
                    <a:pt x="66111" y="245107"/>
                  </a:lnTo>
                  <a:lnTo>
                    <a:pt x="31150" y="215749"/>
                  </a:lnTo>
                  <a:lnTo>
                    <a:pt x="8229" y="178515"/>
                  </a:lnTo>
                  <a:lnTo>
                    <a:pt x="0" y="135636"/>
                  </a:lnTo>
                  <a:close/>
                </a:path>
              </a:pathLst>
            </a:custGeom>
            <a:ln w="12192">
              <a:solidFill>
                <a:srgbClr val="000000"/>
              </a:solidFill>
            </a:ln>
          </p:spPr>
          <p:txBody>
            <a:bodyPr wrap="square" lIns="0" tIns="0" rIns="0" bIns="0" rtlCol="0"/>
            <a:lstStyle/>
            <a:p>
              <a:pPr defTabSz="685800"/>
              <a:endParaRPr sz="1350" kern="0">
                <a:solidFill>
                  <a:sysClr val="windowText" lastClr="000000"/>
                </a:solidFill>
              </a:endParaRPr>
            </a:p>
          </p:txBody>
        </p:sp>
        <p:sp>
          <p:nvSpPr>
            <p:cNvPr id="6" name="object 6"/>
            <p:cNvSpPr/>
            <p:nvPr/>
          </p:nvSpPr>
          <p:spPr>
            <a:xfrm>
              <a:off x="4093591" y="2172581"/>
              <a:ext cx="643255" cy="1968500"/>
            </a:xfrm>
            <a:custGeom>
              <a:avLst/>
              <a:gdLst/>
              <a:ahLst/>
              <a:cxnLst/>
              <a:rect l="l" t="t" r="r" b="b"/>
              <a:pathLst>
                <a:path w="643254" h="1968500">
                  <a:moveTo>
                    <a:pt x="643001" y="1968126"/>
                  </a:moveTo>
                  <a:lnTo>
                    <a:pt x="630900" y="1903978"/>
                  </a:lnTo>
                  <a:lnTo>
                    <a:pt x="618806" y="1839889"/>
                  </a:lnTo>
                  <a:lnTo>
                    <a:pt x="606725" y="1775919"/>
                  </a:lnTo>
                  <a:lnTo>
                    <a:pt x="594665" y="1712127"/>
                  </a:lnTo>
                  <a:lnTo>
                    <a:pt x="582631" y="1648574"/>
                  </a:lnTo>
                  <a:lnTo>
                    <a:pt x="570631" y="1585318"/>
                  </a:lnTo>
                  <a:lnTo>
                    <a:pt x="558671" y="1522419"/>
                  </a:lnTo>
                  <a:lnTo>
                    <a:pt x="546758" y="1459937"/>
                  </a:lnTo>
                  <a:lnTo>
                    <a:pt x="534898" y="1397931"/>
                  </a:lnTo>
                  <a:lnTo>
                    <a:pt x="523098" y="1336460"/>
                  </a:lnTo>
                  <a:lnTo>
                    <a:pt x="511366" y="1275584"/>
                  </a:lnTo>
                  <a:lnTo>
                    <a:pt x="499707" y="1215363"/>
                  </a:lnTo>
                  <a:lnTo>
                    <a:pt x="488129" y="1155856"/>
                  </a:lnTo>
                  <a:lnTo>
                    <a:pt x="476637" y="1097122"/>
                  </a:lnTo>
                  <a:lnTo>
                    <a:pt x="465239" y="1039222"/>
                  </a:lnTo>
                  <a:lnTo>
                    <a:pt x="453942" y="982214"/>
                  </a:lnTo>
                  <a:lnTo>
                    <a:pt x="442751" y="926158"/>
                  </a:lnTo>
                  <a:lnTo>
                    <a:pt x="431675" y="871114"/>
                  </a:lnTo>
                  <a:lnTo>
                    <a:pt x="420719" y="817141"/>
                  </a:lnTo>
                  <a:lnTo>
                    <a:pt x="409890" y="764299"/>
                  </a:lnTo>
                  <a:lnTo>
                    <a:pt x="399195" y="712646"/>
                  </a:lnTo>
                  <a:lnTo>
                    <a:pt x="388640" y="662243"/>
                  </a:lnTo>
                  <a:lnTo>
                    <a:pt x="378233" y="613150"/>
                  </a:lnTo>
                  <a:lnTo>
                    <a:pt x="367980" y="565425"/>
                  </a:lnTo>
                  <a:lnTo>
                    <a:pt x="357887" y="519128"/>
                  </a:lnTo>
                  <a:lnTo>
                    <a:pt x="347962" y="474319"/>
                  </a:lnTo>
                  <a:lnTo>
                    <a:pt x="338211" y="431056"/>
                  </a:lnTo>
                  <a:lnTo>
                    <a:pt x="328640" y="389401"/>
                  </a:lnTo>
                  <a:lnTo>
                    <a:pt x="319257" y="349411"/>
                  </a:lnTo>
                  <a:lnTo>
                    <a:pt x="310068" y="311148"/>
                  </a:lnTo>
                  <a:lnTo>
                    <a:pt x="292299" y="240035"/>
                  </a:lnTo>
                  <a:lnTo>
                    <a:pt x="275387" y="176540"/>
                  </a:lnTo>
                  <a:lnTo>
                    <a:pt x="259385" y="121136"/>
                  </a:lnTo>
                  <a:lnTo>
                    <a:pt x="244348" y="74302"/>
                  </a:lnTo>
                  <a:lnTo>
                    <a:pt x="228793" y="35013"/>
                  </a:lnTo>
                  <a:lnTo>
                    <a:pt x="201649" y="0"/>
                  </a:lnTo>
                  <a:lnTo>
                    <a:pt x="189841" y="1049"/>
                  </a:lnTo>
                  <a:lnTo>
                    <a:pt x="160155" y="59073"/>
                  </a:lnTo>
                  <a:lnTo>
                    <a:pt x="144047" y="127357"/>
                  </a:lnTo>
                  <a:lnTo>
                    <a:pt x="136768" y="165541"/>
                  </a:lnTo>
                  <a:lnTo>
                    <a:pt x="129860" y="204270"/>
                  </a:lnTo>
                  <a:lnTo>
                    <a:pt x="123212" y="241931"/>
                  </a:lnTo>
                  <a:lnTo>
                    <a:pt x="116716" y="276910"/>
                  </a:lnTo>
                  <a:lnTo>
                    <a:pt x="110260" y="307597"/>
                  </a:lnTo>
                  <a:lnTo>
                    <a:pt x="103736" y="332376"/>
                  </a:lnTo>
                  <a:lnTo>
                    <a:pt x="97033" y="349637"/>
                  </a:lnTo>
                  <a:lnTo>
                    <a:pt x="90043" y="357766"/>
                  </a:lnTo>
                  <a:lnTo>
                    <a:pt x="58775" y="336821"/>
                  </a:lnTo>
                  <a:lnTo>
                    <a:pt x="29733" y="274026"/>
                  </a:lnTo>
                  <a:lnTo>
                    <a:pt x="8336" y="208015"/>
                  </a:lnTo>
                  <a:lnTo>
                    <a:pt x="0" y="177426"/>
                  </a:lnTo>
                  <a:lnTo>
                    <a:pt x="5705" y="199147"/>
                  </a:lnTo>
                  <a:lnTo>
                    <a:pt x="23256" y="251467"/>
                  </a:lnTo>
                  <a:lnTo>
                    <a:pt x="48452" y="305406"/>
                  </a:lnTo>
                  <a:lnTo>
                    <a:pt x="77088" y="331985"/>
                  </a:lnTo>
                  <a:lnTo>
                    <a:pt x="116897" y="313989"/>
                  </a:lnTo>
                  <a:lnTo>
                    <a:pt x="167147" y="270025"/>
                  </a:lnTo>
                  <a:lnTo>
                    <a:pt x="210945" y="224847"/>
                  </a:lnTo>
                  <a:lnTo>
                    <a:pt x="231394" y="203207"/>
                  </a:lnTo>
                  <a:lnTo>
                    <a:pt x="216152" y="217985"/>
                  </a:lnTo>
                  <a:lnTo>
                    <a:pt x="176799" y="253896"/>
                  </a:lnTo>
                  <a:lnTo>
                    <a:pt x="132613" y="293451"/>
                  </a:lnTo>
                  <a:lnTo>
                    <a:pt x="102870" y="319158"/>
                  </a:lnTo>
                  <a:lnTo>
                    <a:pt x="94118" y="324671"/>
                  </a:lnTo>
                  <a:lnTo>
                    <a:pt x="95631" y="319920"/>
                  </a:lnTo>
                  <a:lnTo>
                    <a:pt x="100762" y="311550"/>
                  </a:lnTo>
                  <a:lnTo>
                    <a:pt x="102870" y="306204"/>
                  </a:lnTo>
                  <a:lnTo>
                    <a:pt x="100711" y="304045"/>
                  </a:lnTo>
                  <a:lnTo>
                    <a:pt x="90043" y="306204"/>
                  </a:lnTo>
                </a:path>
              </a:pathLst>
            </a:custGeom>
            <a:ln w="12192">
              <a:solidFill>
                <a:srgbClr val="2E528F"/>
              </a:solidFill>
            </a:ln>
          </p:spPr>
          <p:txBody>
            <a:bodyPr wrap="square" lIns="0" tIns="0" rIns="0" bIns="0" rtlCol="0"/>
            <a:lstStyle/>
            <a:p>
              <a:pPr defTabSz="685800"/>
              <a:endParaRPr sz="1350" kern="0">
                <a:solidFill>
                  <a:sysClr val="windowText" lastClr="000000"/>
                </a:solidFill>
              </a:endParaRPr>
            </a:p>
          </p:txBody>
        </p:sp>
      </p:grpSp>
      <p:graphicFrame>
        <p:nvGraphicFramePr>
          <p:cNvPr id="7" name="object 7"/>
          <p:cNvGraphicFramePr>
            <a:graphicFrameLocks noGrp="1"/>
          </p:cNvGraphicFramePr>
          <p:nvPr/>
        </p:nvGraphicFramePr>
        <p:xfrm>
          <a:off x="2151317" y="3055049"/>
          <a:ext cx="4486276" cy="3028379"/>
        </p:xfrm>
        <a:graphic>
          <a:graphicData uri="http://schemas.openxmlformats.org/drawingml/2006/table">
            <a:tbl>
              <a:tblPr firstRow="1" bandRow="1">
                <a:tableStyleId>{2D5ABB26-0587-4C30-8999-92F81FD0307C}</a:tableStyleId>
              </a:tblPr>
              <a:tblGrid>
                <a:gridCol w="1169670">
                  <a:extLst>
                    <a:ext uri="{9D8B030D-6E8A-4147-A177-3AD203B41FA5}">
                      <a16:colId xmlns:a16="http://schemas.microsoft.com/office/drawing/2014/main" val="20000"/>
                    </a:ext>
                  </a:extLst>
                </a:gridCol>
                <a:gridCol w="1123950">
                  <a:extLst>
                    <a:ext uri="{9D8B030D-6E8A-4147-A177-3AD203B41FA5}">
                      <a16:colId xmlns:a16="http://schemas.microsoft.com/office/drawing/2014/main" val="20001"/>
                    </a:ext>
                  </a:extLst>
                </a:gridCol>
                <a:gridCol w="1122998">
                  <a:extLst>
                    <a:ext uri="{9D8B030D-6E8A-4147-A177-3AD203B41FA5}">
                      <a16:colId xmlns:a16="http://schemas.microsoft.com/office/drawing/2014/main" val="20002"/>
                    </a:ext>
                  </a:extLst>
                </a:gridCol>
                <a:gridCol w="1069658">
                  <a:extLst>
                    <a:ext uri="{9D8B030D-6E8A-4147-A177-3AD203B41FA5}">
                      <a16:colId xmlns:a16="http://schemas.microsoft.com/office/drawing/2014/main" val="20003"/>
                    </a:ext>
                  </a:extLst>
                </a:gridCol>
              </a:tblGrid>
              <a:tr h="440531">
                <a:tc>
                  <a:txBody>
                    <a:bodyPr/>
                    <a:lstStyle/>
                    <a:p>
                      <a:pPr marR="108585" algn="r">
                        <a:lnSpc>
                          <a:spcPts val="3795"/>
                        </a:lnSpc>
                      </a:pPr>
                      <a:r>
                        <a:rPr sz="3000" b="1" spc="-20" dirty="0">
                          <a:latin typeface="Calibri"/>
                          <a:cs typeface="Calibri"/>
                        </a:rPr>
                        <a:t>0001</a:t>
                      </a:r>
                      <a:endParaRPr sz="3000">
                        <a:latin typeface="Calibri"/>
                        <a:cs typeface="Calibri"/>
                      </a:endParaRPr>
                    </a:p>
                  </a:txBody>
                  <a:tcPr marL="0" marR="0" marT="0" marB="0"/>
                </a:tc>
                <a:tc>
                  <a:txBody>
                    <a:bodyPr/>
                    <a:lstStyle/>
                    <a:p>
                      <a:pPr marR="120650" algn="r">
                        <a:lnSpc>
                          <a:spcPts val="3795"/>
                        </a:lnSpc>
                      </a:pPr>
                      <a:r>
                        <a:rPr sz="3000" b="1" spc="-20" dirty="0">
                          <a:latin typeface="Calibri"/>
                          <a:cs typeface="Calibri"/>
                        </a:rPr>
                        <a:t>1000</a:t>
                      </a:r>
                      <a:endParaRPr sz="3000">
                        <a:latin typeface="Calibri"/>
                        <a:cs typeface="Calibri"/>
                      </a:endParaRPr>
                    </a:p>
                  </a:txBody>
                  <a:tcPr marL="0" marR="0" marT="0" marB="0"/>
                </a:tc>
                <a:tc>
                  <a:txBody>
                    <a:bodyPr/>
                    <a:lstStyle/>
                    <a:p>
                      <a:pPr marL="328295">
                        <a:lnSpc>
                          <a:spcPts val="3795"/>
                        </a:lnSpc>
                      </a:pPr>
                      <a:r>
                        <a:rPr sz="3000" b="1" spc="-20" dirty="0">
                          <a:latin typeface="Calibri"/>
                          <a:cs typeface="Calibri"/>
                        </a:rPr>
                        <a:t>1001</a:t>
                      </a:r>
                      <a:endParaRPr sz="3000">
                        <a:latin typeface="Calibri"/>
                        <a:cs typeface="Calibri"/>
                      </a:endParaRPr>
                    </a:p>
                  </a:txBody>
                  <a:tcPr marL="0" marR="0" marT="0" marB="0"/>
                </a:tc>
                <a:tc>
                  <a:txBody>
                    <a:bodyPr/>
                    <a:lstStyle/>
                    <a:p>
                      <a:pPr marR="70485" algn="r">
                        <a:lnSpc>
                          <a:spcPts val="3795"/>
                        </a:lnSpc>
                      </a:pPr>
                      <a:r>
                        <a:rPr sz="3000" b="1" spc="-20" dirty="0">
                          <a:latin typeface="Calibri"/>
                          <a:cs typeface="Calibri"/>
                        </a:rPr>
                        <a:t>0111</a:t>
                      </a:r>
                      <a:endParaRPr sz="3000">
                        <a:latin typeface="Calibri"/>
                        <a:cs typeface="Calibri"/>
                      </a:endParaRPr>
                    </a:p>
                  </a:txBody>
                  <a:tcPr marL="0" marR="0" marT="0" marB="0"/>
                </a:tc>
                <a:extLst>
                  <a:ext uri="{0D108BD9-81ED-4DB2-BD59-A6C34878D82A}">
                    <a16:rowId xmlns:a16="http://schemas.microsoft.com/office/drawing/2014/main" val="10000"/>
                  </a:ext>
                </a:extLst>
              </a:tr>
              <a:tr h="463391">
                <a:tc>
                  <a:txBody>
                    <a:bodyPr/>
                    <a:lstStyle/>
                    <a:p>
                      <a:pPr marL="31750">
                        <a:lnSpc>
                          <a:spcPts val="4430"/>
                        </a:lnSpc>
                      </a:pPr>
                      <a:r>
                        <a:rPr sz="3000" b="1" dirty="0">
                          <a:latin typeface="Calibri"/>
                          <a:cs typeface="Calibri"/>
                        </a:rPr>
                        <a:t>+</a:t>
                      </a:r>
                      <a:r>
                        <a:rPr sz="3000" b="1" spc="-5" dirty="0">
                          <a:latin typeface="Calibri"/>
                          <a:cs typeface="Calibri"/>
                        </a:rPr>
                        <a:t> </a:t>
                      </a:r>
                      <a:r>
                        <a:rPr sz="3000" b="1" spc="-20" dirty="0">
                          <a:latin typeface="Calibri"/>
                          <a:cs typeface="Calibri"/>
                        </a:rPr>
                        <a:t>0010</a:t>
                      </a:r>
                      <a:endParaRPr sz="3000">
                        <a:latin typeface="Calibri"/>
                        <a:cs typeface="Calibri"/>
                      </a:endParaRPr>
                    </a:p>
                  </a:txBody>
                  <a:tcPr marL="0" marR="0" marT="0" marB="0"/>
                </a:tc>
                <a:tc>
                  <a:txBody>
                    <a:bodyPr/>
                    <a:lstStyle/>
                    <a:p>
                      <a:pPr marR="134620" algn="r">
                        <a:lnSpc>
                          <a:spcPts val="4430"/>
                        </a:lnSpc>
                      </a:pPr>
                      <a:r>
                        <a:rPr sz="3000" b="1" spc="-20" dirty="0">
                          <a:latin typeface="Calibri"/>
                          <a:cs typeface="Calibri"/>
                        </a:rPr>
                        <a:t>1001</a:t>
                      </a:r>
                      <a:endParaRPr sz="3000">
                        <a:latin typeface="Calibri"/>
                        <a:cs typeface="Calibri"/>
                      </a:endParaRPr>
                    </a:p>
                  </a:txBody>
                  <a:tcPr marL="0" marR="0" marT="0" marB="0"/>
                </a:tc>
                <a:tc>
                  <a:txBody>
                    <a:bodyPr/>
                    <a:lstStyle/>
                    <a:p>
                      <a:pPr marL="313055">
                        <a:lnSpc>
                          <a:spcPts val="4430"/>
                        </a:lnSpc>
                      </a:pPr>
                      <a:r>
                        <a:rPr sz="3000" b="1" u="sng" spc="-20" dirty="0">
                          <a:uFill>
                            <a:solidFill>
                              <a:srgbClr val="000000"/>
                            </a:solidFill>
                          </a:uFill>
                          <a:latin typeface="Calibri"/>
                          <a:cs typeface="Calibri"/>
                        </a:rPr>
                        <a:t>0000</a:t>
                      </a:r>
                      <a:endParaRPr sz="3000">
                        <a:latin typeface="Calibri"/>
                        <a:cs typeface="Calibri"/>
                      </a:endParaRPr>
                    </a:p>
                  </a:txBody>
                  <a:tcPr marL="0" marR="0" marT="0" marB="0"/>
                </a:tc>
                <a:tc>
                  <a:txBody>
                    <a:bodyPr/>
                    <a:lstStyle/>
                    <a:p>
                      <a:pPr marR="86360" algn="r">
                        <a:lnSpc>
                          <a:spcPts val="4430"/>
                        </a:lnSpc>
                      </a:pPr>
                      <a:r>
                        <a:rPr sz="3000" b="1" u="sng" spc="-20" dirty="0">
                          <a:uFill>
                            <a:solidFill>
                              <a:srgbClr val="000000"/>
                            </a:solidFill>
                          </a:uFill>
                          <a:latin typeface="Calibri"/>
                          <a:cs typeface="Calibri"/>
                        </a:rPr>
                        <a:t>0101</a:t>
                      </a:r>
                      <a:endParaRPr sz="3000">
                        <a:latin typeface="Calibri"/>
                        <a:cs typeface="Calibri"/>
                      </a:endParaRPr>
                    </a:p>
                  </a:txBody>
                  <a:tcPr marL="0" marR="0" marT="0" marB="0"/>
                </a:tc>
                <a:extLst>
                  <a:ext uri="{0D108BD9-81ED-4DB2-BD59-A6C34878D82A}">
                    <a16:rowId xmlns:a16="http://schemas.microsoft.com/office/drawing/2014/main" val="10001"/>
                  </a:ext>
                </a:extLst>
              </a:tr>
              <a:tr h="441484">
                <a:tc>
                  <a:txBody>
                    <a:bodyPr/>
                    <a:lstStyle/>
                    <a:p>
                      <a:pPr marR="122555" algn="r">
                        <a:lnSpc>
                          <a:spcPts val="4035"/>
                        </a:lnSpc>
                      </a:pPr>
                      <a:r>
                        <a:rPr sz="3000" spc="-20" dirty="0">
                          <a:latin typeface="Calibri"/>
                          <a:cs typeface="Calibri"/>
                        </a:rPr>
                        <a:t>0100</a:t>
                      </a:r>
                      <a:endParaRPr sz="3000">
                        <a:latin typeface="Calibri"/>
                        <a:cs typeface="Calibri"/>
                      </a:endParaRPr>
                    </a:p>
                  </a:txBody>
                  <a:tcPr marL="0" marR="0" marT="0" marB="0"/>
                </a:tc>
                <a:tc>
                  <a:txBody>
                    <a:bodyPr/>
                    <a:lstStyle/>
                    <a:p>
                      <a:pPr marL="167640">
                        <a:lnSpc>
                          <a:spcPts val="4035"/>
                        </a:lnSpc>
                      </a:pPr>
                      <a:r>
                        <a:rPr sz="1800" baseline="62500" dirty="0">
                          <a:latin typeface="Calibri"/>
                          <a:cs typeface="Calibri"/>
                        </a:rPr>
                        <a:t>1</a:t>
                      </a:r>
                      <a:r>
                        <a:rPr sz="1800" spc="112" baseline="62500" dirty="0">
                          <a:latin typeface="Calibri"/>
                          <a:cs typeface="Calibri"/>
                        </a:rPr>
                        <a:t> </a:t>
                      </a:r>
                      <a:r>
                        <a:rPr sz="3000" spc="-20" dirty="0">
                          <a:latin typeface="Calibri"/>
                          <a:cs typeface="Calibri"/>
                        </a:rPr>
                        <a:t>0010</a:t>
                      </a:r>
                      <a:endParaRPr sz="3000">
                        <a:latin typeface="Calibri"/>
                        <a:cs typeface="Calibri"/>
                      </a:endParaRPr>
                    </a:p>
                  </a:txBody>
                  <a:tcPr marL="0" marR="0" marT="0" marB="0"/>
                </a:tc>
                <a:tc>
                  <a:txBody>
                    <a:bodyPr/>
                    <a:lstStyle/>
                    <a:p>
                      <a:pPr marL="314325">
                        <a:lnSpc>
                          <a:spcPts val="4035"/>
                        </a:lnSpc>
                      </a:pPr>
                      <a:r>
                        <a:rPr sz="3000" spc="-20" dirty="0">
                          <a:latin typeface="Calibri"/>
                          <a:cs typeface="Calibri"/>
                        </a:rPr>
                        <a:t>1010</a:t>
                      </a:r>
                      <a:endParaRPr sz="3000">
                        <a:latin typeface="Calibri"/>
                        <a:cs typeface="Calibri"/>
                      </a:endParaRPr>
                    </a:p>
                  </a:txBody>
                  <a:tcPr marL="0" marR="0" marT="0" marB="0"/>
                </a:tc>
                <a:tc>
                  <a:txBody>
                    <a:bodyPr/>
                    <a:lstStyle/>
                    <a:p>
                      <a:pPr marR="85725" algn="r">
                        <a:lnSpc>
                          <a:spcPts val="4035"/>
                        </a:lnSpc>
                      </a:pPr>
                      <a:r>
                        <a:rPr sz="3000" spc="-20" dirty="0">
                          <a:latin typeface="Calibri"/>
                          <a:cs typeface="Calibri"/>
                        </a:rPr>
                        <a:t>1100</a:t>
                      </a:r>
                      <a:endParaRPr sz="3000">
                        <a:latin typeface="Calibri"/>
                        <a:cs typeface="Calibri"/>
                      </a:endParaRPr>
                    </a:p>
                  </a:txBody>
                  <a:tcPr marL="0" marR="0" marT="0" marB="0"/>
                </a:tc>
                <a:extLst>
                  <a:ext uri="{0D108BD9-81ED-4DB2-BD59-A6C34878D82A}">
                    <a16:rowId xmlns:a16="http://schemas.microsoft.com/office/drawing/2014/main" val="10002"/>
                  </a:ext>
                </a:extLst>
              </a:tr>
              <a:tr h="463391">
                <a:tc>
                  <a:txBody>
                    <a:bodyPr/>
                    <a:lstStyle/>
                    <a:p>
                      <a:pPr>
                        <a:lnSpc>
                          <a:spcPct val="100000"/>
                        </a:lnSpc>
                      </a:pPr>
                      <a:endParaRPr sz="2900">
                        <a:latin typeface="Times New Roman"/>
                        <a:cs typeface="Times New Roman"/>
                      </a:endParaRPr>
                    </a:p>
                  </a:txBody>
                  <a:tcPr marL="0" marR="0" marT="0" marB="0"/>
                </a:tc>
                <a:tc>
                  <a:txBody>
                    <a:bodyPr/>
                    <a:lstStyle/>
                    <a:p>
                      <a:pPr marL="67945">
                        <a:lnSpc>
                          <a:spcPts val="4200"/>
                        </a:lnSpc>
                      </a:pPr>
                      <a:r>
                        <a:rPr sz="3000" spc="-10" dirty="0">
                          <a:latin typeface="Calibri"/>
                          <a:cs typeface="Calibri"/>
                        </a:rPr>
                        <a:t>+0110</a:t>
                      </a:r>
                      <a:endParaRPr sz="3000">
                        <a:latin typeface="Calibri"/>
                        <a:cs typeface="Calibri"/>
                      </a:endParaRPr>
                    </a:p>
                  </a:txBody>
                  <a:tcPr marL="0" marR="0" marT="0" marB="0"/>
                </a:tc>
                <a:tc>
                  <a:txBody>
                    <a:bodyPr/>
                    <a:lstStyle/>
                    <a:p>
                      <a:pPr marL="80645">
                        <a:lnSpc>
                          <a:spcPts val="4200"/>
                        </a:lnSpc>
                      </a:pPr>
                      <a:r>
                        <a:rPr sz="3000" spc="-10" dirty="0">
                          <a:latin typeface="Calibri"/>
                          <a:cs typeface="Calibri"/>
                        </a:rPr>
                        <a:t>+0110</a:t>
                      </a:r>
                      <a:endParaRPr sz="3000">
                        <a:latin typeface="Calibri"/>
                        <a:cs typeface="Calibri"/>
                      </a:endParaRPr>
                    </a:p>
                  </a:txBody>
                  <a:tcPr marL="0" marR="0" marT="0" marB="0"/>
                </a:tc>
                <a:tc>
                  <a:txBody>
                    <a:bodyPr/>
                    <a:lstStyle/>
                    <a:p>
                      <a:pPr marR="44450" algn="r">
                        <a:lnSpc>
                          <a:spcPts val="4200"/>
                        </a:lnSpc>
                      </a:pPr>
                      <a:r>
                        <a:rPr sz="3000" spc="-10" dirty="0">
                          <a:latin typeface="Calibri"/>
                          <a:cs typeface="Calibri"/>
                        </a:rPr>
                        <a:t>+0110</a:t>
                      </a:r>
                      <a:endParaRPr sz="3000">
                        <a:latin typeface="Calibri"/>
                        <a:cs typeface="Calibri"/>
                      </a:endParaRPr>
                    </a:p>
                  </a:txBody>
                  <a:tcPr marL="0" marR="0" marT="0" marB="0"/>
                </a:tc>
                <a:extLst>
                  <a:ext uri="{0D108BD9-81ED-4DB2-BD59-A6C34878D82A}">
                    <a16:rowId xmlns:a16="http://schemas.microsoft.com/office/drawing/2014/main" val="10003"/>
                  </a:ext>
                </a:extLst>
              </a:tr>
              <a:tr h="630079">
                <a:tc>
                  <a:txBody>
                    <a:bodyPr/>
                    <a:lstStyle/>
                    <a:p>
                      <a:pPr marR="60325" algn="r">
                        <a:lnSpc>
                          <a:spcPct val="100000"/>
                        </a:lnSpc>
                        <a:spcBef>
                          <a:spcPts val="1570"/>
                        </a:spcBef>
                      </a:pPr>
                      <a:r>
                        <a:rPr sz="3000" dirty="0">
                          <a:latin typeface="Calibri"/>
                          <a:cs typeface="Calibri"/>
                        </a:rPr>
                        <a:t>=</a:t>
                      </a:r>
                      <a:r>
                        <a:rPr sz="3000" spc="-5" dirty="0">
                          <a:latin typeface="Calibri"/>
                          <a:cs typeface="Calibri"/>
                        </a:rPr>
                        <a:t> </a:t>
                      </a:r>
                      <a:r>
                        <a:rPr sz="3000" spc="-20" dirty="0">
                          <a:latin typeface="Calibri"/>
                          <a:cs typeface="Calibri"/>
                        </a:rPr>
                        <a:t>0100</a:t>
                      </a:r>
                      <a:endParaRPr sz="3000">
                        <a:latin typeface="Calibri"/>
                        <a:cs typeface="Calibri"/>
                      </a:endParaRPr>
                    </a:p>
                  </a:txBody>
                  <a:tcPr marL="0" marR="0" marT="149543" marB="0"/>
                </a:tc>
                <a:tc>
                  <a:txBody>
                    <a:bodyPr/>
                    <a:lstStyle/>
                    <a:p>
                      <a:pPr marR="73025" algn="r">
                        <a:lnSpc>
                          <a:spcPct val="100000"/>
                        </a:lnSpc>
                        <a:spcBef>
                          <a:spcPts val="1614"/>
                        </a:spcBef>
                      </a:pPr>
                      <a:r>
                        <a:rPr sz="3000" spc="-20" dirty="0">
                          <a:latin typeface="Calibri"/>
                          <a:cs typeface="Calibri"/>
                        </a:rPr>
                        <a:t>1000</a:t>
                      </a:r>
                      <a:endParaRPr sz="3000">
                        <a:latin typeface="Calibri"/>
                        <a:cs typeface="Calibri"/>
                      </a:endParaRPr>
                    </a:p>
                  </a:txBody>
                  <a:tcPr marL="0" marR="0" marT="153828" marB="0"/>
                </a:tc>
                <a:tc>
                  <a:txBody>
                    <a:bodyPr/>
                    <a:lstStyle/>
                    <a:p>
                      <a:pPr marL="375920">
                        <a:lnSpc>
                          <a:spcPct val="100000"/>
                        </a:lnSpc>
                        <a:spcBef>
                          <a:spcPts val="1570"/>
                        </a:spcBef>
                      </a:pPr>
                      <a:r>
                        <a:rPr sz="3000" spc="-20" dirty="0">
                          <a:latin typeface="Calibri"/>
                          <a:cs typeface="Calibri"/>
                        </a:rPr>
                        <a:t>0000</a:t>
                      </a:r>
                      <a:endParaRPr sz="3000">
                        <a:latin typeface="Calibri"/>
                        <a:cs typeface="Calibri"/>
                      </a:endParaRPr>
                    </a:p>
                  </a:txBody>
                  <a:tcPr marL="0" marR="0" marT="149543" marB="0"/>
                </a:tc>
                <a:tc>
                  <a:txBody>
                    <a:bodyPr/>
                    <a:lstStyle/>
                    <a:p>
                      <a:pPr marR="24130" algn="r">
                        <a:lnSpc>
                          <a:spcPct val="100000"/>
                        </a:lnSpc>
                        <a:spcBef>
                          <a:spcPts val="1614"/>
                        </a:spcBef>
                      </a:pPr>
                      <a:r>
                        <a:rPr sz="3000" spc="-20" dirty="0">
                          <a:latin typeface="Calibri"/>
                          <a:cs typeface="Calibri"/>
                        </a:rPr>
                        <a:t>0010</a:t>
                      </a:r>
                      <a:endParaRPr sz="3000">
                        <a:latin typeface="Calibri"/>
                        <a:cs typeface="Calibri"/>
                      </a:endParaRPr>
                    </a:p>
                  </a:txBody>
                  <a:tcPr marL="0" marR="0" marT="153828" marB="0"/>
                </a:tc>
                <a:extLst>
                  <a:ext uri="{0D108BD9-81ED-4DB2-BD59-A6C34878D82A}">
                    <a16:rowId xmlns:a16="http://schemas.microsoft.com/office/drawing/2014/main" val="10004"/>
                  </a:ext>
                </a:extLst>
              </a:tr>
            </a:tbl>
          </a:graphicData>
        </a:graphic>
      </p:graphicFrame>
      <p:sp>
        <p:nvSpPr>
          <p:cNvPr id="8" name="object 8"/>
          <p:cNvSpPr/>
          <p:nvPr/>
        </p:nvSpPr>
        <p:spPr>
          <a:xfrm>
            <a:off x="2352866" y="4869752"/>
            <a:ext cx="739616" cy="0"/>
          </a:xfrm>
          <a:custGeom>
            <a:avLst/>
            <a:gdLst/>
            <a:ahLst/>
            <a:cxnLst/>
            <a:rect l="l" t="t" r="r" b="b"/>
            <a:pathLst>
              <a:path w="986154">
                <a:moveTo>
                  <a:pt x="0" y="0"/>
                </a:moveTo>
                <a:lnTo>
                  <a:pt x="986028" y="0"/>
                </a:lnTo>
              </a:path>
            </a:pathLst>
          </a:custGeom>
          <a:ln w="38100">
            <a:solidFill>
              <a:srgbClr val="000000"/>
            </a:solidFill>
          </a:ln>
        </p:spPr>
        <p:txBody>
          <a:bodyPr wrap="square" lIns="0" tIns="0" rIns="0" bIns="0" rtlCol="0"/>
          <a:lstStyle/>
          <a:p>
            <a:pPr defTabSz="685800"/>
            <a:endParaRPr sz="1350" kern="0">
              <a:solidFill>
                <a:sysClr val="windowText" lastClr="000000"/>
              </a:solidFill>
            </a:endParaRPr>
          </a:p>
        </p:txBody>
      </p:sp>
      <p:sp>
        <p:nvSpPr>
          <p:cNvPr id="9" name="object 9"/>
          <p:cNvSpPr/>
          <p:nvPr/>
        </p:nvSpPr>
        <p:spPr>
          <a:xfrm>
            <a:off x="3513011" y="4865179"/>
            <a:ext cx="738664" cy="0"/>
          </a:xfrm>
          <a:custGeom>
            <a:avLst/>
            <a:gdLst/>
            <a:ahLst/>
            <a:cxnLst/>
            <a:rect l="l" t="t" r="r" b="b"/>
            <a:pathLst>
              <a:path w="984885">
                <a:moveTo>
                  <a:pt x="0" y="0"/>
                </a:moveTo>
                <a:lnTo>
                  <a:pt x="984503" y="0"/>
                </a:lnTo>
              </a:path>
            </a:pathLst>
          </a:custGeom>
          <a:ln w="38100">
            <a:solidFill>
              <a:srgbClr val="000000"/>
            </a:solidFill>
          </a:ln>
        </p:spPr>
        <p:txBody>
          <a:bodyPr wrap="square" lIns="0" tIns="0" rIns="0" bIns="0" rtlCol="0"/>
          <a:lstStyle/>
          <a:p>
            <a:pPr defTabSz="685800"/>
            <a:endParaRPr sz="1350" kern="0">
              <a:solidFill>
                <a:sysClr val="windowText" lastClr="000000"/>
              </a:solidFill>
            </a:endParaRPr>
          </a:p>
        </p:txBody>
      </p:sp>
      <p:sp>
        <p:nvSpPr>
          <p:cNvPr id="10" name="object 10"/>
          <p:cNvSpPr/>
          <p:nvPr/>
        </p:nvSpPr>
        <p:spPr>
          <a:xfrm>
            <a:off x="4649153" y="4869752"/>
            <a:ext cx="739616" cy="0"/>
          </a:xfrm>
          <a:custGeom>
            <a:avLst/>
            <a:gdLst/>
            <a:ahLst/>
            <a:cxnLst/>
            <a:rect l="l" t="t" r="r" b="b"/>
            <a:pathLst>
              <a:path w="986154">
                <a:moveTo>
                  <a:pt x="0" y="0"/>
                </a:moveTo>
                <a:lnTo>
                  <a:pt x="986027" y="0"/>
                </a:lnTo>
              </a:path>
            </a:pathLst>
          </a:custGeom>
          <a:ln w="38100">
            <a:solidFill>
              <a:srgbClr val="000000"/>
            </a:solidFill>
          </a:ln>
        </p:spPr>
        <p:txBody>
          <a:bodyPr wrap="square" lIns="0" tIns="0" rIns="0" bIns="0" rtlCol="0"/>
          <a:lstStyle/>
          <a:p>
            <a:pPr defTabSz="685800"/>
            <a:endParaRPr sz="1350" kern="0">
              <a:solidFill>
                <a:sysClr val="windowText" lastClr="000000"/>
              </a:solidFill>
            </a:endParaRPr>
          </a:p>
        </p:txBody>
      </p:sp>
      <p:sp>
        <p:nvSpPr>
          <p:cNvPr id="11" name="object 11"/>
          <p:cNvSpPr/>
          <p:nvPr/>
        </p:nvSpPr>
        <p:spPr>
          <a:xfrm>
            <a:off x="5787580" y="4865179"/>
            <a:ext cx="739616" cy="0"/>
          </a:xfrm>
          <a:custGeom>
            <a:avLst/>
            <a:gdLst/>
            <a:ahLst/>
            <a:cxnLst/>
            <a:rect l="l" t="t" r="r" b="b"/>
            <a:pathLst>
              <a:path w="986154">
                <a:moveTo>
                  <a:pt x="0" y="0"/>
                </a:moveTo>
                <a:lnTo>
                  <a:pt x="986027" y="0"/>
                </a:lnTo>
              </a:path>
            </a:pathLst>
          </a:custGeom>
          <a:ln w="38100">
            <a:solidFill>
              <a:srgbClr val="000000"/>
            </a:solidFill>
          </a:ln>
        </p:spPr>
        <p:txBody>
          <a:bodyPr wrap="square" lIns="0" tIns="0" rIns="0" bIns="0" rtlCol="0"/>
          <a:lstStyle/>
          <a:p>
            <a:pPr defTabSz="685800"/>
            <a:endParaRPr sz="1350" kern="0">
              <a:solidFill>
                <a:sysClr val="windowText" lastClr="000000"/>
              </a:solidFill>
            </a:endParaRPr>
          </a:p>
        </p:txBody>
      </p:sp>
      <p:pic>
        <p:nvPicPr>
          <p:cNvPr id="12" name="object 12"/>
          <p:cNvPicPr/>
          <p:nvPr/>
        </p:nvPicPr>
        <p:blipFill>
          <a:blip r:embed="rId2" cstate="print"/>
          <a:stretch>
            <a:fillRect/>
          </a:stretch>
        </p:blipFill>
        <p:spPr>
          <a:xfrm>
            <a:off x="5256657" y="2786634"/>
            <a:ext cx="270891" cy="324611"/>
          </a:xfrm>
          <a:prstGeom prst="rect">
            <a:avLst/>
          </a:prstGeom>
        </p:spPr>
      </p:pic>
      <p:pic>
        <p:nvPicPr>
          <p:cNvPr id="13" name="object 13"/>
          <p:cNvPicPr/>
          <p:nvPr/>
        </p:nvPicPr>
        <p:blipFill>
          <a:blip r:embed="rId2" cstate="print"/>
          <a:stretch>
            <a:fillRect/>
          </a:stretch>
        </p:blipFill>
        <p:spPr>
          <a:xfrm>
            <a:off x="4104514" y="2793492"/>
            <a:ext cx="269747" cy="324611"/>
          </a:xfrm>
          <a:prstGeom prst="rect">
            <a:avLst/>
          </a:prstGeom>
        </p:spPr>
      </p:pic>
      <p:pic>
        <p:nvPicPr>
          <p:cNvPr id="14" name="object 14"/>
          <p:cNvPicPr/>
          <p:nvPr/>
        </p:nvPicPr>
        <p:blipFill>
          <a:blip r:embed="rId2" cstate="print"/>
          <a:stretch>
            <a:fillRect/>
          </a:stretch>
        </p:blipFill>
        <p:spPr>
          <a:xfrm>
            <a:off x="2999233" y="2793492"/>
            <a:ext cx="269747" cy="324611"/>
          </a:xfrm>
          <a:prstGeom prst="rect">
            <a:avLst/>
          </a:prstGeom>
        </p:spPr>
      </p:pic>
      <p:sp>
        <p:nvSpPr>
          <p:cNvPr id="15" name="object 15"/>
          <p:cNvSpPr txBox="1"/>
          <p:nvPr/>
        </p:nvSpPr>
        <p:spPr>
          <a:xfrm>
            <a:off x="7612952" y="5706161"/>
            <a:ext cx="470059" cy="117020"/>
          </a:xfrm>
          <a:prstGeom prst="rect">
            <a:avLst/>
          </a:prstGeom>
        </p:spPr>
        <p:txBody>
          <a:bodyPr vert="horz" wrap="square" lIns="0" tIns="0" rIns="0" bIns="0" rtlCol="0">
            <a:spAutoFit/>
          </a:bodyPr>
          <a:lstStyle/>
          <a:p>
            <a:pPr marL="9525" defTabSz="685800">
              <a:lnSpc>
                <a:spcPts val="930"/>
              </a:lnSpc>
            </a:pPr>
            <a:r>
              <a:rPr sz="900" kern="0" dirty="0">
                <a:solidFill>
                  <a:srgbClr val="888888"/>
                </a:solidFill>
                <a:latin typeface="Calibri"/>
                <a:cs typeface="Calibri"/>
              </a:rPr>
              <a:t>Chapter</a:t>
            </a:r>
            <a:r>
              <a:rPr sz="900" kern="0" spc="-49" dirty="0">
                <a:solidFill>
                  <a:srgbClr val="888888"/>
                </a:solidFill>
                <a:latin typeface="Calibri"/>
                <a:cs typeface="Calibri"/>
              </a:rPr>
              <a:t> </a:t>
            </a:r>
            <a:r>
              <a:rPr sz="900" kern="0" spc="-38" dirty="0">
                <a:solidFill>
                  <a:srgbClr val="888888"/>
                </a:solidFill>
                <a:latin typeface="Calibri"/>
                <a:cs typeface="Calibri"/>
              </a:rPr>
              <a:t>1</a:t>
            </a:r>
            <a:endParaRPr sz="900" kern="0">
              <a:solidFill>
                <a:sysClr val="windowText" lastClr="000000"/>
              </a:solidFill>
              <a:latin typeface="Calibri"/>
              <a:cs typeface="Calibri"/>
            </a:endParaRPr>
          </a:p>
        </p:txBody>
      </p:sp>
      <p:sp>
        <p:nvSpPr>
          <p:cNvPr id="16" name="object 16"/>
          <p:cNvSpPr txBox="1"/>
          <p:nvPr/>
        </p:nvSpPr>
        <p:spPr>
          <a:xfrm>
            <a:off x="8378951" y="5706161"/>
            <a:ext cx="77153" cy="117020"/>
          </a:xfrm>
          <a:prstGeom prst="rect">
            <a:avLst/>
          </a:prstGeom>
        </p:spPr>
        <p:txBody>
          <a:bodyPr vert="horz" wrap="square" lIns="0" tIns="0" rIns="0" bIns="0" rtlCol="0">
            <a:spAutoFit/>
          </a:bodyPr>
          <a:lstStyle/>
          <a:p>
            <a:pPr marL="9525" defTabSz="685800">
              <a:lnSpc>
                <a:spcPts val="930"/>
              </a:lnSpc>
            </a:pPr>
            <a:r>
              <a:rPr sz="900" kern="0" spc="-38" dirty="0">
                <a:solidFill>
                  <a:srgbClr val="888888"/>
                </a:solidFill>
                <a:latin typeface="Calibri"/>
                <a:cs typeface="Calibri"/>
              </a:rPr>
              <a:t>8</a:t>
            </a:r>
            <a:endParaRPr sz="900" kern="0">
              <a:solidFill>
                <a:sysClr val="windowText" lastClr="000000"/>
              </a:solidFill>
              <a:latin typeface="Calibri"/>
              <a:cs typeface="Calibri"/>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normAutofit fontScale="90000"/>
          </a:bodyPr>
          <a:lstStyle/>
          <a:p>
            <a:pPr eaLnBrk="1" hangingPunct="1"/>
            <a:r>
              <a:rPr lang="en-GB" sz="3800" dirty="0" err="1">
                <a:latin typeface="Arial" pitchFamily="34" charset="0"/>
                <a:cs typeface="Arial" pitchFamily="34" charset="0"/>
              </a:rPr>
              <a:t>Gray</a:t>
            </a:r>
            <a:r>
              <a:rPr lang="en-GB" sz="3800" dirty="0">
                <a:latin typeface="Arial" pitchFamily="34" charset="0"/>
                <a:cs typeface="Arial" pitchFamily="34" charset="0"/>
              </a:rPr>
              <a:t> Code (RBC) </a:t>
            </a:r>
            <a:r>
              <a:rPr lang="en-GB" sz="3800">
                <a:latin typeface="Arial" pitchFamily="34" charset="0"/>
                <a:cs typeface="Arial" pitchFamily="34" charset="0"/>
              </a:rPr>
              <a:t>Reflected Binary Code)</a:t>
            </a:r>
            <a:endParaRPr lang="en-GB" sz="3800" dirty="0">
              <a:latin typeface="Arial" pitchFamily="34" charset="0"/>
              <a:cs typeface="Arial" pitchFamily="34" charset="0"/>
            </a:endParaRPr>
          </a:p>
        </p:txBody>
      </p:sp>
      <p:sp>
        <p:nvSpPr>
          <p:cNvPr id="52227" name="Rectangle 3"/>
          <p:cNvSpPr>
            <a:spLocks noGrp="1" noChangeArrowheads="1"/>
          </p:cNvSpPr>
          <p:nvPr>
            <p:ph idx="1"/>
          </p:nvPr>
        </p:nvSpPr>
        <p:spPr/>
        <p:txBody>
          <a:bodyPr/>
          <a:lstStyle/>
          <a:p>
            <a:pPr eaLnBrk="1" hangingPunct="1"/>
            <a:r>
              <a:rPr lang="en-GB"/>
              <a:t>Binary Code more than 1 bit change</a:t>
            </a:r>
          </a:p>
          <a:p>
            <a:pPr eaLnBrk="1" hangingPunct="1"/>
            <a:r>
              <a:rPr lang="en-GB"/>
              <a:t>Electromechanical applications of digital systems restrict bit change to 1</a:t>
            </a:r>
          </a:p>
          <a:p>
            <a:pPr lvl="1" eaLnBrk="1" hangingPunct="1">
              <a:buClr>
                <a:schemeClr val="tx1"/>
              </a:buClr>
            </a:pPr>
            <a:r>
              <a:rPr lang="en-GB" sz="3200">
                <a:latin typeface="Arial" pitchFamily="34" charset="0"/>
              </a:rPr>
              <a:t>Shaft encoders</a:t>
            </a:r>
          </a:p>
          <a:p>
            <a:pPr lvl="1" eaLnBrk="1" hangingPunct="1">
              <a:buClr>
                <a:schemeClr val="tx1"/>
              </a:buClr>
            </a:pPr>
            <a:r>
              <a:rPr lang="en-GB" sz="3200">
                <a:latin typeface="Arial" pitchFamily="34" charset="0"/>
              </a:rPr>
              <a:t>Braking Systems</a:t>
            </a:r>
          </a:p>
          <a:p>
            <a:pPr eaLnBrk="1" hangingPunct="1"/>
            <a:r>
              <a:rPr lang="en-GB"/>
              <a:t>Un-Weighted Code </a:t>
            </a:r>
          </a:p>
        </p:txBody>
      </p:sp>
    </p:spTree>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pPr eaLnBrk="1" hangingPunct="1"/>
            <a:r>
              <a:rPr lang="en-GB" sz="3800">
                <a:latin typeface="Arial" pitchFamily="34" charset="0"/>
                <a:cs typeface="Arial" pitchFamily="34" charset="0"/>
              </a:rPr>
              <a:t>Gray Code</a:t>
            </a:r>
          </a:p>
        </p:txBody>
      </p:sp>
      <p:graphicFrame>
        <p:nvGraphicFramePr>
          <p:cNvPr id="232664" name="Group 216"/>
          <p:cNvGraphicFramePr>
            <a:graphicFrameLocks noGrp="1"/>
          </p:cNvGraphicFramePr>
          <p:nvPr>
            <p:ph type="tbl" idx="1"/>
          </p:nvPr>
        </p:nvGraphicFramePr>
        <p:xfrm>
          <a:off x="457200" y="1600200"/>
          <a:ext cx="8229600" cy="5212080"/>
        </p:xfrm>
        <a:graphic>
          <a:graphicData uri="http://schemas.openxmlformats.org/drawingml/2006/table">
            <a:tbl>
              <a:tblPr/>
              <a:tblGrid>
                <a:gridCol w="2614613">
                  <a:extLst>
                    <a:ext uri="{9D8B030D-6E8A-4147-A177-3AD203B41FA5}">
                      <a16:colId xmlns:a16="http://schemas.microsoft.com/office/drawing/2014/main" val="20000"/>
                    </a:ext>
                  </a:extLst>
                </a:gridCol>
                <a:gridCol w="2808287">
                  <a:extLst>
                    <a:ext uri="{9D8B030D-6E8A-4147-A177-3AD203B41FA5}">
                      <a16:colId xmlns:a16="http://schemas.microsoft.com/office/drawing/2014/main" val="20001"/>
                    </a:ext>
                  </a:extLst>
                </a:gridCol>
                <a:gridCol w="2806700">
                  <a:extLst>
                    <a:ext uri="{9D8B030D-6E8A-4147-A177-3AD203B41FA5}">
                      <a16:colId xmlns:a16="http://schemas.microsoft.com/office/drawing/2014/main" val="20002"/>
                    </a:ext>
                  </a:extLst>
                </a:gridCol>
              </a:tblGrid>
              <a:tr h="41116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Decimal </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Gray</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Binary</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275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0000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0000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116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0001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0001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275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2</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0011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0010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1116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3</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0010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0011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1275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4</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0110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0100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1116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5</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0111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0101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1275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6</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0101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0110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11163">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7</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0100</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GB" sz="3200" b="0" i="0" u="none" strike="noStrike" cap="none" normalizeH="0" baseline="0">
                          <a:ln>
                            <a:noFill/>
                          </a:ln>
                          <a:solidFill>
                            <a:schemeClr val="tx1"/>
                          </a:solidFill>
                          <a:effectLst/>
                          <a:latin typeface="Arial" pitchFamily="34" charset="0"/>
                          <a:cs typeface="Times New Roman" pitchFamily="18" charset="0"/>
                        </a:rPr>
                        <a:t>0111</a:t>
                      </a:r>
                      <a:endParaRPr kumimoji="0" lang="en-GB" sz="3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Tree>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p:txBody>
          <a:bodyPr/>
          <a:lstStyle/>
          <a:p>
            <a:pPr eaLnBrk="1" hangingPunct="1"/>
            <a:r>
              <a:rPr lang="en-GB" sz="3800">
                <a:latin typeface="Arial" pitchFamily="34" charset="0"/>
                <a:cs typeface="Arial" pitchFamily="34" charset="0"/>
              </a:rPr>
              <a:t>Gray Code Application</a:t>
            </a:r>
          </a:p>
        </p:txBody>
      </p:sp>
      <p:graphicFrame>
        <p:nvGraphicFramePr>
          <p:cNvPr id="1026" name="Object 4"/>
          <p:cNvGraphicFramePr>
            <a:graphicFrameLocks noGrp="1" noChangeAspect="1"/>
          </p:cNvGraphicFramePr>
          <p:nvPr>
            <p:ph idx="1"/>
          </p:nvPr>
        </p:nvGraphicFramePr>
        <p:xfrm>
          <a:off x="381000" y="1844675"/>
          <a:ext cx="8305800" cy="4237038"/>
        </p:xfrm>
        <a:graphic>
          <a:graphicData uri="http://schemas.openxmlformats.org/presentationml/2006/ole">
            <mc:AlternateContent xmlns:mc="http://schemas.openxmlformats.org/markup-compatibility/2006">
              <mc:Choice xmlns:v="urn:schemas-microsoft-com:vml" Requires="v">
                <p:oleObj name="Visio" r:id="rId3" imgW="5376062" imgH="2741676" progId="Visio.Drawing.6">
                  <p:embed/>
                </p:oleObj>
              </mc:Choice>
              <mc:Fallback>
                <p:oleObj name="Visio" r:id="rId3" imgW="5376062" imgH="2741676" progId="Visio.Drawing.6">
                  <p:embed/>
                  <p:pic>
                    <p:nvPicPr>
                      <p:cNvPr id="1026"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1844675"/>
                        <a:ext cx="8305800" cy="423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pic>
                </p:oleObj>
              </mc:Fallback>
            </mc:AlternateContent>
          </a:graphicData>
        </a:graphic>
      </p:graphicFrame>
    </p:spTree>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2900" y="825747"/>
            <a:ext cx="6172200" cy="1332214"/>
          </a:xfrm>
          <a:prstGeom prst="rect">
            <a:avLst/>
          </a:prstGeom>
        </p:spPr>
        <p:txBody>
          <a:bodyPr vert="horz" wrap="square" lIns="0" tIns="404930" rIns="0" bIns="0" rtlCol="0" anchor="ctr">
            <a:spAutoFit/>
          </a:bodyPr>
          <a:lstStyle/>
          <a:p>
            <a:pPr marL="92869">
              <a:spcBef>
                <a:spcPts val="71"/>
              </a:spcBef>
            </a:pPr>
            <a:r>
              <a:rPr sz="3000" spc="-19" dirty="0"/>
              <a:t>DECIMAL</a:t>
            </a:r>
            <a:r>
              <a:rPr sz="3000" spc="-127" dirty="0"/>
              <a:t> </a:t>
            </a:r>
            <a:r>
              <a:rPr sz="3000" spc="-23" dirty="0"/>
              <a:t>CODES</a:t>
            </a:r>
            <a:r>
              <a:rPr sz="3000" spc="-139" dirty="0"/>
              <a:t> </a:t>
            </a:r>
            <a:r>
              <a:rPr sz="3000" dirty="0"/>
              <a:t>-</a:t>
            </a:r>
            <a:r>
              <a:rPr sz="3000" spc="-98" dirty="0"/>
              <a:t> </a:t>
            </a:r>
            <a:r>
              <a:rPr sz="3000" spc="-8" dirty="0"/>
              <a:t>Binary</a:t>
            </a:r>
            <a:r>
              <a:rPr sz="3000" spc="-135" dirty="0"/>
              <a:t> </a:t>
            </a:r>
            <a:r>
              <a:rPr sz="3000" spc="-8" dirty="0"/>
              <a:t>Codes</a:t>
            </a:r>
            <a:r>
              <a:rPr sz="3000" spc="-124" dirty="0"/>
              <a:t> </a:t>
            </a:r>
            <a:r>
              <a:rPr sz="3000" spc="-8" dirty="0"/>
              <a:t>for</a:t>
            </a:r>
            <a:r>
              <a:rPr sz="3000" spc="-124" dirty="0"/>
              <a:t> </a:t>
            </a:r>
            <a:r>
              <a:rPr sz="3000" spc="-23" dirty="0"/>
              <a:t>Decimal</a:t>
            </a:r>
            <a:r>
              <a:rPr sz="3000" spc="-127" dirty="0"/>
              <a:t> </a:t>
            </a:r>
            <a:r>
              <a:rPr sz="3000" spc="-8" dirty="0"/>
              <a:t>Digits</a:t>
            </a:r>
            <a:endParaRPr sz="3000"/>
          </a:p>
        </p:txBody>
      </p:sp>
      <p:graphicFrame>
        <p:nvGraphicFramePr>
          <p:cNvPr id="3" name="object 3"/>
          <p:cNvGraphicFramePr>
            <a:graphicFrameLocks noGrp="1"/>
          </p:cNvGraphicFramePr>
          <p:nvPr/>
        </p:nvGraphicFramePr>
        <p:xfrm>
          <a:off x="2500646" y="2704766"/>
          <a:ext cx="3052287" cy="2946464"/>
        </p:xfrm>
        <a:graphic>
          <a:graphicData uri="http://schemas.openxmlformats.org/drawingml/2006/table">
            <a:tbl>
              <a:tblPr firstRow="1" bandRow="1">
                <a:tableStyleId>{2D5ABB26-0587-4C30-8999-92F81FD0307C}</a:tableStyleId>
              </a:tblPr>
              <a:tblGrid>
                <a:gridCol w="983456">
                  <a:extLst>
                    <a:ext uri="{9D8B030D-6E8A-4147-A177-3AD203B41FA5}">
                      <a16:colId xmlns:a16="http://schemas.microsoft.com/office/drawing/2014/main" val="20000"/>
                    </a:ext>
                  </a:extLst>
                </a:gridCol>
                <a:gridCol w="982028">
                  <a:extLst>
                    <a:ext uri="{9D8B030D-6E8A-4147-A177-3AD203B41FA5}">
                      <a16:colId xmlns:a16="http://schemas.microsoft.com/office/drawing/2014/main" val="20001"/>
                    </a:ext>
                  </a:extLst>
                </a:gridCol>
                <a:gridCol w="1086803">
                  <a:extLst>
                    <a:ext uri="{9D8B030D-6E8A-4147-A177-3AD203B41FA5}">
                      <a16:colId xmlns:a16="http://schemas.microsoft.com/office/drawing/2014/main" val="20002"/>
                    </a:ext>
                  </a:extLst>
                </a:gridCol>
              </a:tblGrid>
              <a:tr h="317659">
                <a:tc>
                  <a:txBody>
                    <a:bodyPr/>
                    <a:lstStyle/>
                    <a:p>
                      <a:pPr marR="65405" algn="ctr">
                        <a:lnSpc>
                          <a:spcPct val="100000"/>
                        </a:lnSpc>
                        <a:spcBef>
                          <a:spcPts val="65"/>
                        </a:spcBef>
                      </a:pPr>
                      <a:r>
                        <a:rPr sz="1800" b="1" spc="-10" dirty="0">
                          <a:latin typeface="Calibri"/>
                          <a:cs typeface="Calibri"/>
                        </a:rPr>
                        <a:t>Decimal</a:t>
                      </a:r>
                      <a:endParaRPr sz="1800">
                        <a:latin typeface="Calibri"/>
                        <a:cs typeface="Calibri"/>
                      </a:endParaRPr>
                    </a:p>
                  </a:txBody>
                  <a:tcPr marL="0" marR="0" marT="6191" marB="0">
                    <a:lnL w="28575">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tcPr>
                </a:tc>
                <a:tc>
                  <a:txBody>
                    <a:bodyPr/>
                    <a:lstStyle/>
                    <a:p>
                      <a:pPr marL="125730" algn="ctr">
                        <a:lnSpc>
                          <a:spcPct val="100000"/>
                        </a:lnSpc>
                        <a:spcBef>
                          <a:spcPts val="65"/>
                        </a:spcBef>
                      </a:pPr>
                      <a:r>
                        <a:rPr sz="1800" b="1" spc="-10" dirty="0">
                          <a:latin typeface="Calibri"/>
                          <a:cs typeface="Calibri"/>
                        </a:rPr>
                        <a:t>8,4,2,1</a:t>
                      </a:r>
                      <a:endParaRPr sz="1800">
                        <a:latin typeface="Calibri"/>
                        <a:cs typeface="Calibri"/>
                      </a:endParaRPr>
                    </a:p>
                  </a:txBody>
                  <a:tcPr marL="0" marR="0" marT="6191" marB="0">
                    <a:lnL w="12700">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tcPr>
                </a:tc>
                <a:tc>
                  <a:txBody>
                    <a:bodyPr/>
                    <a:lstStyle/>
                    <a:p>
                      <a:pPr marL="118745" algn="ctr">
                        <a:lnSpc>
                          <a:spcPct val="100000"/>
                        </a:lnSpc>
                        <a:spcBef>
                          <a:spcPts val="65"/>
                        </a:spcBef>
                      </a:pPr>
                      <a:r>
                        <a:rPr sz="1800" b="1" spc="-10" dirty="0">
                          <a:latin typeface="Calibri"/>
                          <a:cs typeface="Calibri"/>
                        </a:rPr>
                        <a:t>Excess3</a:t>
                      </a:r>
                      <a:endParaRPr sz="1800">
                        <a:latin typeface="Calibri"/>
                        <a:cs typeface="Calibri"/>
                      </a:endParaRPr>
                    </a:p>
                  </a:txBody>
                  <a:tcPr marL="0" marR="0" marT="6191" marB="0">
                    <a:lnL w="12700">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269081">
                <a:tc>
                  <a:txBody>
                    <a:bodyPr/>
                    <a:lstStyle/>
                    <a:p>
                      <a:pPr marR="25400" algn="ctr">
                        <a:lnSpc>
                          <a:spcPct val="100000"/>
                        </a:lnSpc>
                        <a:spcBef>
                          <a:spcPts val="190"/>
                        </a:spcBef>
                      </a:pPr>
                      <a:r>
                        <a:rPr sz="1500" b="1" spc="-50" dirty="0">
                          <a:latin typeface="Calibri"/>
                          <a:cs typeface="Calibri"/>
                        </a:rPr>
                        <a:t>0</a:t>
                      </a:r>
                      <a:endParaRPr sz="1500">
                        <a:latin typeface="Calibri"/>
                        <a:cs typeface="Calibri"/>
                      </a:endParaRPr>
                    </a:p>
                  </a:txBody>
                  <a:tcPr marL="0" marR="0" marT="18098"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16839" algn="ctr">
                        <a:lnSpc>
                          <a:spcPct val="100000"/>
                        </a:lnSpc>
                        <a:spcBef>
                          <a:spcPts val="190"/>
                        </a:spcBef>
                      </a:pPr>
                      <a:r>
                        <a:rPr sz="1500" b="1" spc="-20" dirty="0">
                          <a:latin typeface="Calibri"/>
                          <a:cs typeface="Calibri"/>
                        </a:rPr>
                        <a:t>0000</a:t>
                      </a:r>
                      <a:endParaRPr sz="1500">
                        <a:latin typeface="Calibri"/>
                        <a:cs typeface="Calibri"/>
                      </a:endParaRPr>
                    </a:p>
                  </a:txBody>
                  <a:tcPr marL="0" marR="0" marT="18098"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75260" algn="ctr">
                        <a:lnSpc>
                          <a:spcPct val="100000"/>
                        </a:lnSpc>
                        <a:spcBef>
                          <a:spcPts val="190"/>
                        </a:spcBef>
                      </a:pPr>
                      <a:r>
                        <a:rPr sz="1500" b="1" spc="-20" dirty="0">
                          <a:latin typeface="Calibri"/>
                          <a:cs typeface="Calibri"/>
                        </a:rPr>
                        <a:t>0011</a:t>
                      </a:r>
                      <a:endParaRPr sz="1500">
                        <a:latin typeface="Calibri"/>
                        <a:cs typeface="Calibri"/>
                      </a:endParaRPr>
                    </a:p>
                  </a:txBody>
                  <a:tcPr marL="0" marR="0" marT="18098"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217646">
                <a:tc>
                  <a:txBody>
                    <a:bodyPr/>
                    <a:lstStyle/>
                    <a:p>
                      <a:pPr marR="25400" algn="ctr">
                        <a:lnSpc>
                          <a:spcPts val="2120"/>
                        </a:lnSpc>
                      </a:pPr>
                      <a:r>
                        <a:rPr sz="1500" b="1" spc="-50" dirty="0">
                          <a:latin typeface="Calibri"/>
                          <a:cs typeface="Calibri"/>
                        </a:rPr>
                        <a:t>1</a:t>
                      </a:r>
                      <a:endParaRPr sz="1500">
                        <a:latin typeface="Calibri"/>
                        <a:cs typeface="Calibri"/>
                      </a:endParaRPr>
                    </a:p>
                  </a:txBody>
                  <a:tcPr marL="0" marR="0" marT="0" marB="0">
                    <a:lnL w="28575">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a:txBody>
                    <a:bodyPr/>
                    <a:lstStyle/>
                    <a:p>
                      <a:pPr marL="116205" algn="ctr">
                        <a:lnSpc>
                          <a:spcPts val="2120"/>
                        </a:lnSpc>
                      </a:pPr>
                      <a:r>
                        <a:rPr sz="1500" b="1" spc="-20" dirty="0">
                          <a:latin typeface="Calibri"/>
                          <a:cs typeface="Calibri"/>
                        </a:rPr>
                        <a:t>0001</a:t>
                      </a:r>
                      <a:endParaRPr sz="15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75260" algn="ctr">
                        <a:lnSpc>
                          <a:spcPts val="2120"/>
                        </a:lnSpc>
                      </a:pPr>
                      <a:r>
                        <a:rPr sz="1500" b="1" spc="-20" dirty="0">
                          <a:latin typeface="Calibri"/>
                          <a:cs typeface="Calibri"/>
                        </a:rPr>
                        <a:t>0100</a:t>
                      </a:r>
                      <a:endParaRPr sz="15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205740">
                <a:tc>
                  <a:txBody>
                    <a:bodyPr/>
                    <a:lstStyle/>
                    <a:p>
                      <a:pPr marR="25400" algn="ctr">
                        <a:lnSpc>
                          <a:spcPts val="2065"/>
                        </a:lnSpc>
                      </a:pPr>
                      <a:r>
                        <a:rPr sz="1500" b="1" spc="-50" dirty="0">
                          <a:latin typeface="Calibri"/>
                          <a:cs typeface="Calibri"/>
                        </a:rPr>
                        <a:t>2</a:t>
                      </a:r>
                      <a:endParaRPr sz="1500">
                        <a:latin typeface="Calibri"/>
                        <a:cs typeface="Calibri"/>
                      </a:endParaRPr>
                    </a:p>
                  </a:txBody>
                  <a:tcPr marL="0" marR="0" marT="0" marB="0">
                    <a:lnL w="28575">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tcPr>
                </a:tc>
                <a:tc>
                  <a:txBody>
                    <a:bodyPr/>
                    <a:lstStyle/>
                    <a:p>
                      <a:pPr marL="116205" algn="ctr">
                        <a:lnSpc>
                          <a:spcPts val="2065"/>
                        </a:lnSpc>
                      </a:pPr>
                      <a:r>
                        <a:rPr sz="1500" b="1" spc="-20" dirty="0">
                          <a:latin typeface="Calibri"/>
                          <a:cs typeface="Calibri"/>
                        </a:rPr>
                        <a:t>0010</a:t>
                      </a:r>
                      <a:endParaRPr sz="15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75260" algn="ctr">
                        <a:lnSpc>
                          <a:spcPts val="2065"/>
                        </a:lnSpc>
                      </a:pPr>
                      <a:r>
                        <a:rPr sz="1500" b="1" spc="-20" dirty="0">
                          <a:latin typeface="Calibri"/>
                          <a:cs typeface="Calibri"/>
                        </a:rPr>
                        <a:t>0101</a:t>
                      </a:r>
                      <a:endParaRPr sz="15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243840">
                <a:tc>
                  <a:txBody>
                    <a:bodyPr/>
                    <a:lstStyle/>
                    <a:p>
                      <a:pPr marR="25400" algn="ctr">
                        <a:lnSpc>
                          <a:spcPts val="2370"/>
                        </a:lnSpc>
                      </a:pPr>
                      <a:r>
                        <a:rPr sz="1500" b="1" spc="-50" dirty="0">
                          <a:latin typeface="Calibri"/>
                          <a:cs typeface="Calibri"/>
                        </a:rPr>
                        <a:t>3</a:t>
                      </a:r>
                      <a:endParaRPr sz="1500">
                        <a:latin typeface="Calibri"/>
                        <a:cs typeface="Calibri"/>
                      </a:endParaRPr>
                    </a:p>
                  </a:txBody>
                  <a:tcPr marL="0" marR="0" marT="0"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16205" algn="ctr">
                        <a:lnSpc>
                          <a:spcPts val="2370"/>
                        </a:lnSpc>
                      </a:pPr>
                      <a:r>
                        <a:rPr sz="1500" b="1" spc="-20" dirty="0">
                          <a:latin typeface="Calibri"/>
                          <a:cs typeface="Calibri"/>
                        </a:rPr>
                        <a:t>0011</a:t>
                      </a:r>
                      <a:endParaRPr sz="15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75260" algn="ctr">
                        <a:lnSpc>
                          <a:spcPts val="2370"/>
                        </a:lnSpc>
                      </a:pPr>
                      <a:r>
                        <a:rPr sz="1500" b="1" spc="-20" dirty="0">
                          <a:latin typeface="Calibri"/>
                          <a:cs typeface="Calibri"/>
                        </a:rPr>
                        <a:t>0110</a:t>
                      </a:r>
                      <a:endParaRPr sz="15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227171">
                <a:tc>
                  <a:txBody>
                    <a:bodyPr/>
                    <a:lstStyle/>
                    <a:p>
                      <a:pPr marR="25400" algn="ctr">
                        <a:lnSpc>
                          <a:spcPts val="2160"/>
                        </a:lnSpc>
                      </a:pPr>
                      <a:r>
                        <a:rPr sz="1500" b="1" spc="-50" dirty="0">
                          <a:latin typeface="Calibri"/>
                          <a:cs typeface="Calibri"/>
                        </a:rPr>
                        <a:t>4</a:t>
                      </a:r>
                      <a:endParaRPr sz="1500">
                        <a:latin typeface="Calibri"/>
                        <a:cs typeface="Calibri"/>
                      </a:endParaRPr>
                    </a:p>
                  </a:txBody>
                  <a:tcPr marL="0" marR="0" marT="0"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16205" algn="ctr">
                        <a:lnSpc>
                          <a:spcPts val="2160"/>
                        </a:lnSpc>
                      </a:pPr>
                      <a:r>
                        <a:rPr sz="1500" b="1" spc="-20" dirty="0">
                          <a:latin typeface="Calibri"/>
                          <a:cs typeface="Calibri"/>
                        </a:rPr>
                        <a:t>0100</a:t>
                      </a:r>
                      <a:endParaRPr sz="15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75260" algn="ctr">
                        <a:lnSpc>
                          <a:spcPts val="2160"/>
                        </a:lnSpc>
                      </a:pPr>
                      <a:r>
                        <a:rPr sz="1500" b="1" spc="-20" dirty="0">
                          <a:latin typeface="Calibri"/>
                          <a:cs typeface="Calibri"/>
                        </a:rPr>
                        <a:t>0111</a:t>
                      </a:r>
                      <a:endParaRPr sz="15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5"/>
                  </a:ext>
                </a:extLst>
              </a:tr>
              <a:tr h="214313">
                <a:tc>
                  <a:txBody>
                    <a:bodyPr/>
                    <a:lstStyle/>
                    <a:p>
                      <a:pPr marR="25400" algn="ctr">
                        <a:lnSpc>
                          <a:spcPts val="2120"/>
                        </a:lnSpc>
                      </a:pPr>
                      <a:r>
                        <a:rPr sz="1500" b="1" spc="-50" dirty="0">
                          <a:latin typeface="Calibri"/>
                          <a:cs typeface="Calibri"/>
                        </a:rPr>
                        <a:t>5</a:t>
                      </a:r>
                      <a:endParaRPr sz="1500">
                        <a:latin typeface="Calibri"/>
                        <a:cs typeface="Calibri"/>
                      </a:endParaRPr>
                    </a:p>
                  </a:txBody>
                  <a:tcPr marL="0" marR="0" marT="0"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16839" algn="ctr">
                        <a:lnSpc>
                          <a:spcPts val="2120"/>
                        </a:lnSpc>
                      </a:pPr>
                      <a:r>
                        <a:rPr sz="1500" b="1" spc="-20" dirty="0">
                          <a:latin typeface="Calibri"/>
                          <a:cs typeface="Calibri"/>
                        </a:rPr>
                        <a:t>0101</a:t>
                      </a:r>
                      <a:endParaRPr sz="15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75260" algn="ctr">
                        <a:lnSpc>
                          <a:spcPts val="2120"/>
                        </a:lnSpc>
                      </a:pPr>
                      <a:r>
                        <a:rPr sz="1500" b="1" spc="-20" dirty="0">
                          <a:latin typeface="Calibri"/>
                          <a:cs typeface="Calibri"/>
                        </a:rPr>
                        <a:t>1000</a:t>
                      </a:r>
                      <a:endParaRPr sz="15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6"/>
                  </a:ext>
                </a:extLst>
              </a:tr>
              <a:tr h="216694">
                <a:tc>
                  <a:txBody>
                    <a:bodyPr/>
                    <a:lstStyle/>
                    <a:p>
                      <a:pPr marR="25400" algn="ctr">
                        <a:lnSpc>
                          <a:spcPts val="2175"/>
                        </a:lnSpc>
                      </a:pPr>
                      <a:r>
                        <a:rPr sz="1500" b="1" spc="-50" dirty="0">
                          <a:latin typeface="Calibri"/>
                          <a:cs typeface="Calibri"/>
                        </a:rPr>
                        <a:t>6</a:t>
                      </a:r>
                      <a:endParaRPr sz="1500">
                        <a:latin typeface="Calibri"/>
                        <a:cs typeface="Calibri"/>
                      </a:endParaRPr>
                    </a:p>
                  </a:txBody>
                  <a:tcPr marL="0" marR="0" marT="0"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16205" algn="ctr">
                        <a:lnSpc>
                          <a:spcPts val="2175"/>
                        </a:lnSpc>
                      </a:pPr>
                      <a:r>
                        <a:rPr sz="1500" b="1" spc="-20" dirty="0">
                          <a:latin typeface="Calibri"/>
                          <a:cs typeface="Calibri"/>
                        </a:rPr>
                        <a:t>0110</a:t>
                      </a:r>
                      <a:endParaRPr sz="15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75260" algn="ctr">
                        <a:lnSpc>
                          <a:spcPts val="2175"/>
                        </a:lnSpc>
                      </a:pPr>
                      <a:r>
                        <a:rPr sz="1500" b="1" spc="-20" dirty="0">
                          <a:latin typeface="Calibri"/>
                          <a:cs typeface="Calibri"/>
                        </a:rPr>
                        <a:t>1001</a:t>
                      </a:r>
                      <a:endParaRPr sz="15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7"/>
                  </a:ext>
                </a:extLst>
              </a:tr>
              <a:tr h="216694">
                <a:tc>
                  <a:txBody>
                    <a:bodyPr/>
                    <a:lstStyle/>
                    <a:p>
                      <a:pPr marR="25400" algn="ctr">
                        <a:lnSpc>
                          <a:spcPts val="2175"/>
                        </a:lnSpc>
                      </a:pPr>
                      <a:r>
                        <a:rPr sz="1500" b="1" spc="-50" dirty="0">
                          <a:latin typeface="Calibri"/>
                          <a:cs typeface="Calibri"/>
                        </a:rPr>
                        <a:t>7</a:t>
                      </a:r>
                      <a:endParaRPr sz="1500">
                        <a:latin typeface="Calibri"/>
                        <a:cs typeface="Calibri"/>
                      </a:endParaRPr>
                    </a:p>
                  </a:txBody>
                  <a:tcPr marL="0" marR="0" marT="0"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16205" algn="ctr">
                        <a:lnSpc>
                          <a:spcPts val="2175"/>
                        </a:lnSpc>
                      </a:pPr>
                      <a:r>
                        <a:rPr sz="1500" b="1" spc="-20" dirty="0">
                          <a:latin typeface="Calibri"/>
                          <a:cs typeface="Calibri"/>
                        </a:rPr>
                        <a:t>0111</a:t>
                      </a:r>
                      <a:endParaRPr sz="15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75260" algn="ctr">
                        <a:lnSpc>
                          <a:spcPts val="2175"/>
                        </a:lnSpc>
                      </a:pPr>
                      <a:r>
                        <a:rPr sz="1500" b="1" spc="-20" dirty="0">
                          <a:latin typeface="Calibri"/>
                          <a:cs typeface="Calibri"/>
                        </a:rPr>
                        <a:t>1010</a:t>
                      </a:r>
                      <a:endParaRPr sz="15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8"/>
                  </a:ext>
                </a:extLst>
              </a:tr>
              <a:tr h="243840">
                <a:tc>
                  <a:txBody>
                    <a:bodyPr/>
                    <a:lstStyle/>
                    <a:p>
                      <a:pPr marR="25400" algn="ctr">
                        <a:lnSpc>
                          <a:spcPts val="2385"/>
                        </a:lnSpc>
                      </a:pPr>
                      <a:r>
                        <a:rPr sz="1500" b="1" spc="-50" dirty="0">
                          <a:latin typeface="Calibri"/>
                          <a:cs typeface="Calibri"/>
                        </a:rPr>
                        <a:t>8</a:t>
                      </a:r>
                      <a:endParaRPr sz="1500">
                        <a:latin typeface="Calibri"/>
                        <a:cs typeface="Calibri"/>
                      </a:endParaRPr>
                    </a:p>
                  </a:txBody>
                  <a:tcPr marL="0" marR="0" marT="0"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16205" algn="ctr">
                        <a:lnSpc>
                          <a:spcPts val="2385"/>
                        </a:lnSpc>
                      </a:pPr>
                      <a:r>
                        <a:rPr sz="1500" b="1" spc="-20" dirty="0">
                          <a:latin typeface="Calibri"/>
                          <a:cs typeface="Calibri"/>
                        </a:rPr>
                        <a:t>1000</a:t>
                      </a:r>
                      <a:endParaRPr sz="15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75260" algn="ctr">
                        <a:lnSpc>
                          <a:spcPts val="2385"/>
                        </a:lnSpc>
                      </a:pPr>
                      <a:r>
                        <a:rPr sz="1500" b="1" spc="-20" dirty="0">
                          <a:latin typeface="Calibri"/>
                          <a:cs typeface="Calibri"/>
                        </a:rPr>
                        <a:t>1011</a:t>
                      </a:r>
                      <a:endParaRPr sz="15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tcPr>
                </a:tc>
                <a:extLst>
                  <a:ext uri="{0D108BD9-81ED-4DB2-BD59-A6C34878D82A}">
                    <a16:rowId xmlns:a16="http://schemas.microsoft.com/office/drawing/2014/main" val="10009"/>
                  </a:ext>
                </a:extLst>
              </a:tr>
              <a:tr h="271463">
                <a:tc>
                  <a:txBody>
                    <a:bodyPr/>
                    <a:lstStyle/>
                    <a:p>
                      <a:pPr marR="25400" algn="ctr">
                        <a:lnSpc>
                          <a:spcPts val="2175"/>
                        </a:lnSpc>
                      </a:pPr>
                      <a:r>
                        <a:rPr sz="1500" b="1" spc="-50" dirty="0">
                          <a:latin typeface="Calibri"/>
                          <a:cs typeface="Calibri"/>
                        </a:rPr>
                        <a:t>9</a:t>
                      </a:r>
                      <a:endParaRPr sz="1500">
                        <a:latin typeface="Calibri"/>
                        <a:cs typeface="Calibri"/>
                      </a:endParaRPr>
                    </a:p>
                  </a:txBody>
                  <a:tcPr marL="0" marR="0" marT="0" marB="0">
                    <a:lnL w="28575">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a:txBody>
                    <a:bodyPr/>
                    <a:lstStyle/>
                    <a:p>
                      <a:pPr marL="116205" algn="ctr">
                        <a:lnSpc>
                          <a:spcPts val="2175"/>
                        </a:lnSpc>
                      </a:pPr>
                      <a:r>
                        <a:rPr sz="1500" b="1" spc="-20" dirty="0">
                          <a:latin typeface="Calibri"/>
                          <a:cs typeface="Calibri"/>
                        </a:rPr>
                        <a:t>1001</a:t>
                      </a:r>
                      <a:endParaRPr sz="15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a:txBody>
                    <a:bodyPr/>
                    <a:lstStyle/>
                    <a:p>
                      <a:pPr marL="172720" algn="ctr">
                        <a:lnSpc>
                          <a:spcPts val="2175"/>
                        </a:lnSpc>
                      </a:pPr>
                      <a:r>
                        <a:rPr sz="1500" b="1" spc="-20" dirty="0">
                          <a:latin typeface="Calibri"/>
                          <a:cs typeface="Calibri"/>
                        </a:rPr>
                        <a:t>1100</a:t>
                      </a:r>
                      <a:endParaRPr sz="1500">
                        <a:latin typeface="Calibri"/>
                        <a:cs typeface="Calibri"/>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28575">
                      <a:solidFill>
                        <a:srgbClr val="000000"/>
                      </a:solidFill>
                      <a:prstDash val="solid"/>
                    </a:lnB>
                  </a:tcPr>
                </a:tc>
                <a:extLst>
                  <a:ext uri="{0D108BD9-81ED-4DB2-BD59-A6C34878D82A}">
                    <a16:rowId xmlns:a16="http://schemas.microsoft.com/office/drawing/2014/main" val="10010"/>
                  </a:ext>
                </a:extLst>
              </a:tr>
            </a:tbl>
          </a:graphicData>
        </a:graphic>
      </p:graphicFrame>
      <p:sp>
        <p:nvSpPr>
          <p:cNvPr id="4" name="object 4"/>
          <p:cNvSpPr/>
          <p:nvPr/>
        </p:nvSpPr>
        <p:spPr>
          <a:xfrm>
            <a:off x="6529959" y="4391406"/>
            <a:ext cx="13811" cy="7144"/>
          </a:xfrm>
          <a:custGeom>
            <a:avLst/>
            <a:gdLst/>
            <a:ahLst/>
            <a:cxnLst/>
            <a:rect l="l" t="t" r="r" b="b"/>
            <a:pathLst>
              <a:path w="18415" h="9525">
                <a:moveTo>
                  <a:pt x="18288" y="0"/>
                </a:moveTo>
                <a:lnTo>
                  <a:pt x="0" y="0"/>
                </a:lnTo>
                <a:lnTo>
                  <a:pt x="0" y="9144"/>
                </a:lnTo>
                <a:lnTo>
                  <a:pt x="18288" y="9144"/>
                </a:lnTo>
                <a:lnTo>
                  <a:pt x="18288" y="0"/>
                </a:lnTo>
                <a:close/>
              </a:path>
            </a:pathLst>
          </a:custGeom>
          <a:solidFill>
            <a:srgbClr val="000000"/>
          </a:solidFill>
        </p:spPr>
        <p:txBody>
          <a:bodyPr wrap="square" lIns="0" tIns="0" rIns="0" bIns="0" rtlCol="0"/>
          <a:lstStyle/>
          <a:p>
            <a:endParaRPr sz="1350"/>
          </a:p>
        </p:txBody>
      </p:sp>
      <p:sp>
        <p:nvSpPr>
          <p:cNvPr id="5" name="object 5"/>
          <p:cNvSpPr/>
          <p:nvPr/>
        </p:nvSpPr>
        <p:spPr>
          <a:xfrm>
            <a:off x="7463789" y="4391406"/>
            <a:ext cx="15240" cy="7144"/>
          </a:xfrm>
          <a:custGeom>
            <a:avLst/>
            <a:gdLst/>
            <a:ahLst/>
            <a:cxnLst/>
            <a:rect l="l" t="t" r="r" b="b"/>
            <a:pathLst>
              <a:path w="20320" h="9525">
                <a:moveTo>
                  <a:pt x="19811" y="0"/>
                </a:moveTo>
                <a:lnTo>
                  <a:pt x="0" y="0"/>
                </a:lnTo>
                <a:lnTo>
                  <a:pt x="0" y="9144"/>
                </a:lnTo>
                <a:lnTo>
                  <a:pt x="19811" y="9144"/>
                </a:lnTo>
                <a:lnTo>
                  <a:pt x="19811" y="0"/>
                </a:lnTo>
                <a:close/>
              </a:path>
            </a:pathLst>
          </a:custGeom>
          <a:solidFill>
            <a:srgbClr val="000000"/>
          </a:solidFill>
        </p:spPr>
        <p:txBody>
          <a:bodyPr wrap="square" lIns="0" tIns="0" rIns="0" bIns="0" rtlCol="0"/>
          <a:lstStyle/>
          <a:p>
            <a:endParaRPr sz="1350"/>
          </a:p>
        </p:txBody>
      </p:sp>
      <p:sp>
        <p:nvSpPr>
          <p:cNvPr id="6" name="object 6"/>
          <p:cNvSpPr/>
          <p:nvPr/>
        </p:nvSpPr>
        <p:spPr>
          <a:xfrm>
            <a:off x="6529959" y="3047238"/>
            <a:ext cx="13811" cy="7144"/>
          </a:xfrm>
          <a:custGeom>
            <a:avLst/>
            <a:gdLst/>
            <a:ahLst/>
            <a:cxnLst/>
            <a:rect l="l" t="t" r="r" b="b"/>
            <a:pathLst>
              <a:path w="18415" h="9525">
                <a:moveTo>
                  <a:pt x="18288" y="0"/>
                </a:moveTo>
                <a:lnTo>
                  <a:pt x="0" y="0"/>
                </a:lnTo>
                <a:lnTo>
                  <a:pt x="0" y="9144"/>
                </a:lnTo>
                <a:lnTo>
                  <a:pt x="18288" y="9144"/>
                </a:lnTo>
                <a:lnTo>
                  <a:pt x="18288" y="0"/>
                </a:lnTo>
                <a:close/>
              </a:path>
            </a:pathLst>
          </a:custGeom>
          <a:solidFill>
            <a:srgbClr val="000000"/>
          </a:solidFill>
        </p:spPr>
        <p:txBody>
          <a:bodyPr wrap="square" lIns="0" tIns="0" rIns="0" bIns="0" rtlCol="0"/>
          <a:lstStyle/>
          <a:p>
            <a:endParaRPr sz="1350"/>
          </a:p>
        </p:txBody>
      </p:sp>
      <p:sp>
        <p:nvSpPr>
          <p:cNvPr id="7" name="object 7"/>
          <p:cNvSpPr/>
          <p:nvPr/>
        </p:nvSpPr>
        <p:spPr>
          <a:xfrm>
            <a:off x="7463789" y="3047238"/>
            <a:ext cx="15240" cy="7144"/>
          </a:xfrm>
          <a:custGeom>
            <a:avLst/>
            <a:gdLst/>
            <a:ahLst/>
            <a:cxnLst/>
            <a:rect l="l" t="t" r="r" b="b"/>
            <a:pathLst>
              <a:path w="20320" h="9525">
                <a:moveTo>
                  <a:pt x="19811" y="0"/>
                </a:moveTo>
                <a:lnTo>
                  <a:pt x="0" y="0"/>
                </a:lnTo>
                <a:lnTo>
                  <a:pt x="0" y="9144"/>
                </a:lnTo>
                <a:lnTo>
                  <a:pt x="19811" y="9144"/>
                </a:lnTo>
                <a:lnTo>
                  <a:pt x="19811" y="0"/>
                </a:lnTo>
                <a:close/>
              </a:path>
            </a:pathLst>
          </a:custGeom>
          <a:solidFill>
            <a:srgbClr val="000000"/>
          </a:solidFill>
        </p:spPr>
        <p:txBody>
          <a:bodyPr wrap="square" lIns="0" tIns="0" rIns="0" bIns="0" rtlCol="0"/>
          <a:lstStyle/>
          <a:p>
            <a:endParaRPr sz="1350"/>
          </a:p>
        </p:txBody>
      </p:sp>
      <p:sp>
        <p:nvSpPr>
          <p:cNvPr id="8" name="object 8"/>
          <p:cNvSpPr txBox="1"/>
          <p:nvPr/>
        </p:nvSpPr>
        <p:spPr>
          <a:xfrm>
            <a:off x="795375" y="2096547"/>
            <a:ext cx="6559868" cy="563616"/>
          </a:xfrm>
          <a:prstGeom prst="rect">
            <a:avLst/>
          </a:prstGeom>
        </p:spPr>
        <p:txBody>
          <a:bodyPr vert="horz" wrap="square" lIns="0" tIns="9525" rIns="0" bIns="0" rtlCol="0">
            <a:spAutoFit/>
          </a:bodyPr>
          <a:lstStyle/>
          <a:p>
            <a:pPr marL="9525" marR="3810">
              <a:spcBef>
                <a:spcPts val="75"/>
              </a:spcBef>
            </a:pPr>
            <a:r>
              <a:rPr dirty="0">
                <a:latin typeface="Calibri"/>
                <a:cs typeface="Calibri"/>
              </a:rPr>
              <a:t>There</a:t>
            </a:r>
            <a:r>
              <a:rPr spc="-34" dirty="0">
                <a:latin typeface="Calibri"/>
                <a:cs typeface="Calibri"/>
              </a:rPr>
              <a:t> </a:t>
            </a:r>
            <a:r>
              <a:rPr dirty="0">
                <a:latin typeface="Calibri"/>
                <a:cs typeface="Calibri"/>
              </a:rPr>
              <a:t>are</a:t>
            </a:r>
            <a:r>
              <a:rPr spc="-41" dirty="0">
                <a:latin typeface="Calibri"/>
                <a:cs typeface="Calibri"/>
              </a:rPr>
              <a:t> </a:t>
            </a:r>
            <a:r>
              <a:rPr dirty="0">
                <a:latin typeface="Calibri"/>
                <a:cs typeface="Calibri"/>
              </a:rPr>
              <a:t>over</a:t>
            </a:r>
            <a:r>
              <a:rPr spc="-38" dirty="0">
                <a:latin typeface="Calibri"/>
                <a:cs typeface="Calibri"/>
              </a:rPr>
              <a:t> </a:t>
            </a:r>
            <a:r>
              <a:rPr dirty="0">
                <a:latin typeface="Calibri"/>
                <a:cs typeface="Calibri"/>
              </a:rPr>
              <a:t>8,000</a:t>
            </a:r>
            <a:r>
              <a:rPr spc="-45" dirty="0">
                <a:latin typeface="Calibri"/>
                <a:cs typeface="Calibri"/>
              </a:rPr>
              <a:t> </a:t>
            </a:r>
            <a:r>
              <a:rPr dirty="0">
                <a:latin typeface="Calibri"/>
                <a:cs typeface="Calibri"/>
              </a:rPr>
              <a:t>ways</a:t>
            </a:r>
            <a:r>
              <a:rPr spc="-45" dirty="0">
                <a:latin typeface="Calibri"/>
                <a:cs typeface="Calibri"/>
              </a:rPr>
              <a:t> </a:t>
            </a:r>
            <a:r>
              <a:rPr dirty="0">
                <a:latin typeface="Calibri"/>
                <a:cs typeface="Calibri"/>
              </a:rPr>
              <a:t>that</a:t>
            </a:r>
            <a:r>
              <a:rPr spc="-49" dirty="0">
                <a:latin typeface="Calibri"/>
                <a:cs typeface="Calibri"/>
              </a:rPr>
              <a:t> </a:t>
            </a:r>
            <a:r>
              <a:rPr dirty="0">
                <a:latin typeface="Calibri"/>
                <a:cs typeface="Calibri"/>
              </a:rPr>
              <a:t>you</a:t>
            </a:r>
            <a:r>
              <a:rPr spc="-60" dirty="0">
                <a:latin typeface="Calibri"/>
                <a:cs typeface="Calibri"/>
              </a:rPr>
              <a:t> </a:t>
            </a:r>
            <a:r>
              <a:rPr dirty="0">
                <a:latin typeface="Calibri"/>
                <a:cs typeface="Calibri"/>
              </a:rPr>
              <a:t>can</a:t>
            </a:r>
            <a:r>
              <a:rPr spc="-41" dirty="0">
                <a:latin typeface="Calibri"/>
                <a:cs typeface="Calibri"/>
              </a:rPr>
              <a:t> </a:t>
            </a:r>
            <a:r>
              <a:rPr dirty="0">
                <a:latin typeface="Calibri"/>
                <a:cs typeface="Calibri"/>
              </a:rPr>
              <a:t>write</a:t>
            </a:r>
            <a:r>
              <a:rPr spc="-49" dirty="0">
                <a:latin typeface="Calibri"/>
                <a:cs typeface="Calibri"/>
              </a:rPr>
              <a:t> </a:t>
            </a:r>
            <a:r>
              <a:rPr dirty="0">
                <a:latin typeface="Calibri"/>
                <a:cs typeface="Calibri"/>
              </a:rPr>
              <a:t>10</a:t>
            </a:r>
            <a:r>
              <a:rPr spc="-45" dirty="0">
                <a:latin typeface="Calibri"/>
                <a:cs typeface="Calibri"/>
              </a:rPr>
              <a:t> </a:t>
            </a:r>
            <a:r>
              <a:rPr dirty="0">
                <a:latin typeface="Calibri"/>
                <a:cs typeface="Calibri"/>
              </a:rPr>
              <a:t>elements</a:t>
            </a:r>
            <a:r>
              <a:rPr spc="-53" dirty="0">
                <a:latin typeface="Calibri"/>
                <a:cs typeface="Calibri"/>
              </a:rPr>
              <a:t> </a:t>
            </a:r>
            <a:r>
              <a:rPr dirty="0">
                <a:latin typeface="Calibri"/>
                <a:cs typeface="Calibri"/>
              </a:rPr>
              <a:t>using</a:t>
            </a:r>
            <a:r>
              <a:rPr spc="-49" dirty="0">
                <a:latin typeface="Calibri"/>
                <a:cs typeface="Calibri"/>
              </a:rPr>
              <a:t> </a:t>
            </a:r>
            <a:r>
              <a:rPr spc="-8" dirty="0">
                <a:latin typeface="Calibri"/>
                <a:cs typeface="Calibri"/>
              </a:rPr>
              <a:t>binary </a:t>
            </a:r>
            <a:r>
              <a:rPr dirty="0">
                <a:latin typeface="Calibri"/>
                <a:cs typeface="Calibri"/>
              </a:rPr>
              <a:t>numbers</a:t>
            </a:r>
            <a:r>
              <a:rPr spc="-45" dirty="0">
                <a:latin typeface="Calibri"/>
                <a:cs typeface="Calibri"/>
              </a:rPr>
              <a:t> </a:t>
            </a:r>
            <a:r>
              <a:rPr dirty="0">
                <a:latin typeface="Calibri"/>
                <a:cs typeface="Calibri"/>
              </a:rPr>
              <a:t>of</a:t>
            </a:r>
            <a:r>
              <a:rPr spc="-38" dirty="0">
                <a:latin typeface="Calibri"/>
                <a:cs typeface="Calibri"/>
              </a:rPr>
              <a:t> </a:t>
            </a:r>
            <a:r>
              <a:rPr dirty="0">
                <a:latin typeface="Calibri"/>
                <a:cs typeface="Calibri"/>
              </a:rPr>
              <a:t>4</a:t>
            </a:r>
            <a:r>
              <a:rPr spc="-30" dirty="0">
                <a:latin typeface="Calibri"/>
                <a:cs typeface="Calibri"/>
              </a:rPr>
              <a:t> </a:t>
            </a:r>
            <a:r>
              <a:rPr dirty="0">
                <a:latin typeface="Calibri"/>
                <a:cs typeface="Calibri"/>
              </a:rPr>
              <a:t>bits.</a:t>
            </a:r>
            <a:r>
              <a:rPr spc="-53" dirty="0">
                <a:latin typeface="Calibri"/>
                <a:cs typeface="Calibri"/>
              </a:rPr>
              <a:t> </a:t>
            </a:r>
            <a:r>
              <a:rPr dirty="0">
                <a:latin typeface="Calibri"/>
                <a:cs typeface="Calibri"/>
              </a:rPr>
              <a:t>Some</a:t>
            </a:r>
            <a:r>
              <a:rPr spc="-38" dirty="0">
                <a:latin typeface="Calibri"/>
                <a:cs typeface="Calibri"/>
              </a:rPr>
              <a:t> </a:t>
            </a:r>
            <a:r>
              <a:rPr dirty="0">
                <a:latin typeface="Calibri"/>
                <a:cs typeface="Calibri"/>
              </a:rPr>
              <a:t>of</a:t>
            </a:r>
            <a:r>
              <a:rPr spc="-34" dirty="0">
                <a:latin typeface="Calibri"/>
                <a:cs typeface="Calibri"/>
              </a:rPr>
              <a:t> </a:t>
            </a:r>
            <a:r>
              <a:rPr dirty="0">
                <a:latin typeface="Calibri"/>
                <a:cs typeface="Calibri"/>
              </a:rPr>
              <a:t>the</a:t>
            </a:r>
            <a:r>
              <a:rPr spc="-38" dirty="0">
                <a:latin typeface="Calibri"/>
                <a:cs typeface="Calibri"/>
              </a:rPr>
              <a:t> </a:t>
            </a:r>
            <a:r>
              <a:rPr dirty="0">
                <a:latin typeface="Calibri"/>
                <a:cs typeface="Calibri"/>
              </a:rPr>
              <a:t>common</a:t>
            </a:r>
            <a:r>
              <a:rPr spc="-49" dirty="0">
                <a:latin typeface="Calibri"/>
                <a:cs typeface="Calibri"/>
              </a:rPr>
              <a:t> </a:t>
            </a:r>
            <a:r>
              <a:rPr dirty="0">
                <a:latin typeface="Calibri"/>
                <a:cs typeface="Calibri"/>
              </a:rPr>
              <a:t>codes</a:t>
            </a:r>
            <a:r>
              <a:rPr spc="-34" dirty="0">
                <a:latin typeface="Calibri"/>
                <a:cs typeface="Calibri"/>
              </a:rPr>
              <a:t> </a:t>
            </a:r>
            <a:r>
              <a:rPr dirty="0">
                <a:latin typeface="Calibri"/>
                <a:cs typeface="Calibri"/>
              </a:rPr>
              <a:t>are</a:t>
            </a:r>
            <a:r>
              <a:rPr spc="-30" dirty="0">
                <a:latin typeface="Calibri"/>
                <a:cs typeface="Calibri"/>
              </a:rPr>
              <a:t> </a:t>
            </a:r>
            <a:r>
              <a:rPr dirty="0">
                <a:latin typeface="Calibri"/>
                <a:cs typeface="Calibri"/>
              </a:rPr>
              <a:t>given</a:t>
            </a:r>
            <a:r>
              <a:rPr spc="-38" dirty="0">
                <a:latin typeface="Calibri"/>
                <a:cs typeface="Calibri"/>
              </a:rPr>
              <a:t> </a:t>
            </a:r>
            <a:r>
              <a:rPr dirty="0">
                <a:latin typeface="Calibri"/>
                <a:cs typeface="Calibri"/>
              </a:rPr>
              <a:t>in</a:t>
            </a:r>
            <a:r>
              <a:rPr spc="-34" dirty="0">
                <a:latin typeface="Calibri"/>
                <a:cs typeface="Calibri"/>
              </a:rPr>
              <a:t> </a:t>
            </a:r>
            <a:r>
              <a:rPr spc="-8" dirty="0">
                <a:latin typeface="Calibri"/>
                <a:cs typeface="Calibri"/>
              </a:rPr>
              <a:t>table.</a:t>
            </a:r>
            <a:endParaRPr>
              <a:latin typeface="Calibri"/>
              <a:cs typeface="Calibri"/>
            </a:endParaRPr>
          </a:p>
        </p:txBody>
      </p:sp>
      <p:sp>
        <p:nvSpPr>
          <p:cNvPr id="9" name="object 9"/>
          <p:cNvSpPr txBox="1"/>
          <p:nvPr/>
        </p:nvSpPr>
        <p:spPr>
          <a:xfrm>
            <a:off x="7612952" y="5706161"/>
            <a:ext cx="470059" cy="117020"/>
          </a:xfrm>
          <a:prstGeom prst="rect">
            <a:avLst/>
          </a:prstGeom>
        </p:spPr>
        <p:txBody>
          <a:bodyPr vert="horz" wrap="square" lIns="0" tIns="0" rIns="0" bIns="0" rtlCol="0">
            <a:spAutoFit/>
          </a:bodyPr>
          <a:lstStyle/>
          <a:p>
            <a:pPr marL="9525">
              <a:lnSpc>
                <a:spcPts val="930"/>
              </a:lnSpc>
            </a:pPr>
            <a:r>
              <a:rPr sz="900" dirty="0">
                <a:solidFill>
                  <a:srgbClr val="888888"/>
                </a:solidFill>
                <a:latin typeface="Calibri"/>
                <a:cs typeface="Calibri"/>
              </a:rPr>
              <a:t>Chapter</a:t>
            </a:r>
            <a:r>
              <a:rPr sz="900" spc="-49" dirty="0">
                <a:solidFill>
                  <a:srgbClr val="888888"/>
                </a:solidFill>
                <a:latin typeface="Calibri"/>
                <a:cs typeface="Calibri"/>
              </a:rPr>
              <a:t> </a:t>
            </a:r>
            <a:r>
              <a:rPr sz="900" spc="-38" dirty="0">
                <a:solidFill>
                  <a:srgbClr val="888888"/>
                </a:solidFill>
                <a:latin typeface="Calibri"/>
                <a:cs typeface="Calibri"/>
              </a:rPr>
              <a:t>1</a:t>
            </a:r>
            <a:endParaRPr sz="900">
              <a:latin typeface="Calibri"/>
              <a:cs typeface="Calibri"/>
            </a:endParaRPr>
          </a:p>
        </p:txBody>
      </p:sp>
      <p:sp>
        <p:nvSpPr>
          <p:cNvPr id="10" name="object 10"/>
          <p:cNvSpPr txBox="1">
            <a:spLocks noGrp="1"/>
          </p:cNvSpPr>
          <p:nvPr>
            <p:ph type="sldNum" sz="quarter" idx="7"/>
          </p:nvPr>
        </p:nvSpPr>
        <p:spPr>
          <a:xfrm>
            <a:off x="11068557" y="6448280"/>
            <a:ext cx="244475" cy="194733"/>
          </a:xfrm>
          <a:prstGeom prst="rect">
            <a:avLst/>
          </a:prstGeom>
        </p:spPr>
        <p:txBody>
          <a:bodyPr vert="horz" wrap="square" lIns="0" tIns="0" rIns="0" bIns="0" rtlCol="0">
            <a:spAutoFit/>
          </a:bodyPr>
          <a:lstStyle>
            <a:defPPr>
              <a:defRPr kern="0"/>
            </a:defPPr>
            <a:lvl1pPr>
              <a:defRPr sz="1200" b="0" i="1" u="sng">
                <a:solidFill>
                  <a:srgbClr val="888888"/>
                </a:solidFill>
                <a:latin typeface="Times New Roman"/>
                <a:cs typeface="Times New Roman"/>
              </a:defRPr>
            </a:lvl1pPr>
          </a:lstStyle>
          <a:p>
            <a:pPr marL="115570">
              <a:lnSpc>
                <a:spcPts val="1240"/>
              </a:lnSpc>
            </a:pPr>
            <a:fld id="{81D60167-4931-47E6-BA6A-407CBD079E47}" type="slidenum">
              <a:rPr lang="en-PK" i="0" u="none" spc="-50" smtClean="0">
                <a:latin typeface="Calibri"/>
                <a:cs typeface="Calibri"/>
              </a:rPr>
              <a:pPr marL="115570">
                <a:lnSpc>
                  <a:spcPts val="1240"/>
                </a:lnSpc>
              </a:pPr>
              <a:t>91</a:t>
            </a:fld>
            <a:endParaRPr spc="-38" dirty="0">
              <a:latin typeface="Calibri"/>
              <a:cs typeface="Calibri"/>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pPr eaLnBrk="1" hangingPunct="1"/>
            <a:r>
              <a:rPr lang="en-GB"/>
              <a:t>Alphanumeric Code</a:t>
            </a:r>
          </a:p>
        </p:txBody>
      </p:sp>
      <p:sp>
        <p:nvSpPr>
          <p:cNvPr id="54275" name="Rectangle 3"/>
          <p:cNvSpPr>
            <a:spLocks noGrp="1" noChangeArrowheads="1"/>
          </p:cNvSpPr>
          <p:nvPr>
            <p:ph idx="1"/>
          </p:nvPr>
        </p:nvSpPr>
        <p:spPr/>
        <p:txBody>
          <a:bodyPr/>
          <a:lstStyle/>
          <a:p>
            <a:pPr eaLnBrk="1" hangingPunct="1">
              <a:lnSpc>
                <a:spcPct val="90000"/>
              </a:lnSpc>
            </a:pPr>
            <a:r>
              <a:rPr lang="en-GB" sz="2800"/>
              <a:t>Numbers, Characters, Symbols</a:t>
            </a:r>
          </a:p>
          <a:p>
            <a:pPr eaLnBrk="1" hangingPunct="1">
              <a:lnSpc>
                <a:spcPct val="90000"/>
              </a:lnSpc>
            </a:pPr>
            <a:r>
              <a:rPr lang="en-GB" sz="2800"/>
              <a:t>ASCII 7-bit Code</a:t>
            </a:r>
          </a:p>
          <a:p>
            <a:pPr eaLnBrk="1" hangingPunct="1">
              <a:lnSpc>
                <a:spcPct val="90000"/>
              </a:lnSpc>
            </a:pPr>
            <a:r>
              <a:rPr lang="en-GB" sz="2800"/>
              <a:t>American Standard Code for Information Interchange</a:t>
            </a:r>
          </a:p>
          <a:p>
            <a:pPr eaLnBrk="1" hangingPunct="1">
              <a:lnSpc>
                <a:spcPct val="90000"/>
              </a:lnSpc>
            </a:pPr>
            <a:r>
              <a:rPr lang="en-GB" sz="2800"/>
              <a:t>10 Numbers (0-9)</a:t>
            </a:r>
          </a:p>
          <a:p>
            <a:pPr eaLnBrk="1" hangingPunct="1">
              <a:lnSpc>
                <a:spcPct val="90000"/>
              </a:lnSpc>
            </a:pPr>
            <a:r>
              <a:rPr lang="en-GB" sz="2800"/>
              <a:t>26 Lower Case Characters (a-z)</a:t>
            </a:r>
          </a:p>
          <a:p>
            <a:pPr eaLnBrk="1" hangingPunct="1">
              <a:lnSpc>
                <a:spcPct val="90000"/>
              </a:lnSpc>
            </a:pPr>
            <a:r>
              <a:rPr lang="en-GB" sz="2800"/>
              <a:t>26 Upper Case Characters (A-Z)</a:t>
            </a:r>
          </a:p>
          <a:p>
            <a:pPr eaLnBrk="1" hangingPunct="1">
              <a:lnSpc>
                <a:spcPct val="90000"/>
              </a:lnSpc>
            </a:pPr>
            <a:r>
              <a:rPr lang="en-GB" sz="2800"/>
              <a:t>Punctuation and Symbols</a:t>
            </a:r>
          </a:p>
          <a:p>
            <a:pPr eaLnBrk="1" hangingPunct="1">
              <a:lnSpc>
                <a:spcPct val="90000"/>
              </a:lnSpc>
            </a:pPr>
            <a:r>
              <a:rPr lang="en-GB" sz="2800"/>
              <a:t>32 Control Characters</a:t>
            </a:r>
          </a:p>
        </p:txBody>
      </p:sp>
    </p:spTree>
  </p:cSld>
  <p:clrMapOvr>
    <a:masterClrMapping/>
  </p:clrMapOvr>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pPr eaLnBrk="1" hangingPunct="1"/>
            <a:r>
              <a:rPr lang="en-GB"/>
              <a:t>ASCII Code</a:t>
            </a:r>
          </a:p>
        </p:txBody>
      </p:sp>
      <p:sp>
        <p:nvSpPr>
          <p:cNvPr id="55299" name="Rectangle 3"/>
          <p:cNvSpPr>
            <a:spLocks noGrp="1" noChangeArrowheads="1"/>
          </p:cNvSpPr>
          <p:nvPr>
            <p:ph idx="1"/>
          </p:nvPr>
        </p:nvSpPr>
        <p:spPr/>
        <p:txBody>
          <a:bodyPr/>
          <a:lstStyle/>
          <a:p>
            <a:pPr eaLnBrk="1" hangingPunct="1">
              <a:lnSpc>
                <a:spcPct val="90000"/>
              </a:lnSpc>
            </a:pPr>
            <a:r>
              <a:rPr lang="en-GB"/>
              <a:t>Numbers 0 to 9 	</a:t>
            </a:r>
          </a:p>
          <a:p>
            <a:pPr eaLnBrk="1" hangingPunct="1">
              <a:lnSpc>
                <a:spcPct val="90000"/>
              </a:lnSpc>
            </a:pPr>
            <a:r>
              <a:rPr lang="en-GB"/>
              <a:t>ASCII  0110000 (30h) to 0111001 (39h)</a:t>
            </a:r>
          </a:p>
          <a:p>
            <a:pPr eaLnBrk="1" hangingPunct="1">
              <a:lnSpc>
                <a:spcPct val="90000"/>
              </a:lnSpc>
            </a:pPr>
            <a:r>
              <a:rPr lang="en-GB"/>
              <a:t>Alphabets a to z</a:t>
            </a:r>
          </a:p>
          <a:p>
            <a:pPr eaLnBrk="1" hangingPunct="1">
              <a:lnSpc>
                <a:spcPct val="90000"/>
              </a:lnSpc>
            </a:pPr>
            <a:r>
              <a:rPr lang="en-GB"/>
              <a:t>ASCII 1100001 (61h) to 1111010 (7Ah)</a:t>
            </a:r>
          </a:p>
          <a:p>
            <a:pPr eaLnBrk="1" hangingPunct="1">
              <a:lnSpc>
                <a:spcPct val="90000"/>
              </a:lnSpc>
            </a:pPr>
            <a:r>
              <a:rPr lang="en-GB"/>
              <a:t>Alphabets A to Z</a:t>
            </a:r>
          </a:p>
          <a:p>
            <a:pPr eaLnBrk="1" hangingPunct="1">
              <a:lnSpc>
                <a:spcPct val="90000"/>
              </a:lnSpc>
            </a:pPr>
            <a:r>
              <a:rPr lang="en-GB"/>
              <a:t>ASCII 1000001 (41h) to 1011010 (5Ah)</a:t>
            </a:r>
          </a:p>
          <a:p>
            <a:pPr eaLnBrk="1" hangingPunct="1">
              <a:lnSpc>
                <a:spcPct val="90000"/>
              </a:lnSpc>
            </a:pPr>
            <a:r>
              <a:rPr lang="en-GB"/>
              <a:t>Control Characters</a:t>
            </a:r>
          </a:p>
          <a:p>
            <a:pPr eaLnBrk="1" hangingPunct="1">
              <a:lnSpc>
                <a:spcPct val="90000"/>
              </a:lnSpc>
            </a:pPr>
            <a:r>
              <a:rPr lang="en-GB"/>
              <a:t>ASCII 0000000 (0h) to 0011111 (1Fh)  </a:t>
            </a:r>
          </a:p>
        </p:txBody>
      </p:sp>
    </p:spTree>
  </p:cSld>
  <p:clrMapOvr>
    <a:masterClrMapping/>
  </p:clrMapOvr>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pPr eaLnBrk="1" hangingPunct="1"/>
            <a:r>
              <a:rPr lang="en-GB"/>
              <a:t>Alphanumeric Code</a:t>
            </a:r>
          </a:p>
        </p:txBody>
      </p:sp>
      <p:sp>
        <p:nvSpPr>
          <p:cNvPr id="56323" name="Rectangle 3"/>
          <p:cNvSpPr>
            <a:spLocks noGrp="1" noChangeArrowheads="1"/>
          </p:cNvSpPr>
          <p:nvPr>
            <p:ph idx="1"/>
          </p:nvPr>
        </p:nvSpPr>
        <p:spPr/>
        <p:txBody>
          <a:bodyPr/>
          <a:lstStyle/>
          <a:p>
            <a:pPr eaLnBrk="1" hangingPunct="1"/>
            <a:r>
              <a:rPr lang="en-GB"/>
              <a:t>Extended ASCII 8-bit Code</a:t>
            </a:r>
          </a:p>
          <a:p>
            <a:pPr eaLnBrk="1" hangingPunct="1"/>
            <a:r>
              <a:rPr lang="en-GB"/>
              <a:t>Additional 128 Graphic characters</a:t>
            </a:r>
          </a:p>
          <a:p>
            <a:pPr eaLnBrk="1" hangingPunct="1"/>
            <a:r>
              <a:rPr lang="en-GB"/>
              <a:t>Unicode 16-bit Code</a:t>
            </a:r>
          </a:p>
          <a:p>
            <a:pPr eaLnBrk="1" hangingPunct="1"/>
            <a:endParaRPr lang="en-GB"/>
          </a:p>
        </p:txBody>
      </p:sp>
    </p:spTree>
  </p:cSld>
  <p:clrMapOvr>
    <a:masterClrMapping/>
  </p:clrMapOvr>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pPr eaLnBrk="1" hangingPunct="1"/>
            <a:r>
              <a:rPr lang="en-GB"/>
              <a:t>Error Detection</a:t>
            </a:r>
          </a:p>
        </p:txBody>
      </p:sp>
      <p:sp>
        <p:nvSpPr>
          <p:cNvPr id="57347" name="Rectangle 3"/>
          <p:cNvSpPr>
            <a:spLocks noGrp="1" noChangeArrowheads="1"/>
          </p:cNvSpPr>
          <p:nvPr>
            <p:ph idx="1"/>
          </p:nvPr>
        </p:nvSpPr>
        <p:spPr/>
        <p:txBody>
          <a:bodyPr/>
          <a:lstStyle/>
          <a:p>
            <a:pPr eaLnBrk="1" hangingPunct="1"/>
            <a:r>
              <a:rPr lang="en-GB"/>
              <a:t>Digital Systems are very Reliable</a:t>
            </a:r>
          </a:p>
          <a:p>
            <a:pPr eaLnBrk="1" hangingPunct="1"/>
            <a:r>
              <a:rPr lang="en-GB"/>
              <a:t>Errors during storage or transmission</a:t>
            </a:r>
          </a:p>
          <a:p>
            <a:pPr eaLnBrk="1" hangingPunct="1"/>
            <a:r>
              <a:rPr lang="en-GB"/>
              <a:t>Parity Bit </a:t>
            </a:r>
          </a:p>
          <a:p>
            <a:pPr lvl="1" eaLnBrk="1" hangingPunct="1">
              <a:buClr>
                <a:schemeClr val="tx1"/>
              </a:buClr>
            </a:pPr>
            <a:r>
              <a:rPr lang="en-GB" sz="3200">
                <a:latin typeface="Arial" pitchFamily="34" charset="0"/>
              </a:rPr>
              <a:t>Even Parity</a:t>
            </a:r>
          </a:p>
          <a:p>
            <a:pPr lvl="1" eaLnBrk="1" hangingPunct="1">
              <a:buClr>
                <a:schemeClr val="tx1"/>
              </a:buClr>
            </a:pPr>
            <a:r>
              <a:rPr lang="en-GB" sz="3200">
                <a:latin typeface="Arial" pitchFamily="34" charset="0"/>
              </a:rPr>
              <a:t>Odd Parity</a:t>
            </a:r>
          </a:p>
        </p:txBody>
      </p:sp>
    </p:spTree>
  </p:cSld>
  <p:clrMapOvr>
    <a:masterClrMapping/>
  </p:clrMapOvr>
  <p:transition/>
</p:sld>
</file>

<file path=ppt/slides/slide9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p:nvPr/>
        </p:nvSpPr>
        <p:spPr>
          <a:xfrm>
            <a:off x="7554659" y="5706161"/>
            <a:ext cx="470059" cy="117020"/>
          </a:xfrm>
          <a:prstGeom prst="rect">
            <a:avLst/>
          </a:prstGeom>
        </p:spPr>
        <p:txBody>
          <a:bodyPr vert="horz" wrap="square" lIns="0" tIns="0" rIns="0" bIns="0" rtlCol="0">
            <a:spAutoFit/>
          </a:bodyPr>
          <a:lstStyle/>
          <a:p>
            <a:pPr marL="9525" defTabSz="685800">
              <a:lnSpc>
                <a:spcPts val="930"/>
              </a:lnSpc>
            </a:pPr>
            <a:r>
              <a:rPr sz="900" kern="0" dirty="0">
                <a:solidFill>
                  <a:srgbClr val="888888"/>
                </a:solidFill>
                <a:latin typeface="Calibri"/>
                <a:cs typeface="Calibri"/>
              </a:rPr>
              <a:t>Chapter</a:t>
            </a:r>
            <a:r>
              <a:rPr sz="900" kern="0" spc="-49" dirty="0">
                <a:solidFill>
                  <a:srgbClr val="888888"/>
                </a:solidFill>
                <a:latin typeface="Calibri"/>
                <a:cs typeface="Calibri"/>
              </a:rPr>
              <a:t> </a:t>
            </a:r>
            <a:r>
              <a:rPr sz="900" kern="0" spc="-38" dirty="0">
                <a:solidFill>
                  <a:srgbClr val="888888"/>
                </a:solidFill>
                <a:latin typeface="Calibri"/>
                <a:cs typeface="Calibri"/>
              </a:rPr>
              <a:t>1</a:t>
            </a:r>
            <a:endParaRPr sz="900" kern="0">
              <a:solidFill>
                <a:sysClr val="windowText" lastClr="000000"/>
              </a:solidFill>
              <a:latin typeface="Calibri"/>
              <a:cs typeface="Calibri"/>
            </a:endParaRPr>
          </a:p>
        </p:txBody>
      </p:sp>
      <p:sp>
        <p:nvSpPr>
          <p:cNvPr id="5" name="object 5"/>
          <p:cNvSpPr txBox="1">
            <a:spLocks noGrp="1"/>
          </p:cNvSpPr>
          <p:nvPr>
            <p:ph type="sldNum" sz="quarter" idx="7"/>
          </p:nvPr>
        </p:nvSpPr>
        <p:spPr>
          <a:xfrm>
            <a:off x="6226064" y="5693460"/>
            <a:ext cx="137517" cy="232436"/>
          </a:xfrm>
          <a:prstGeom prst="rect">
            <a:avLst/>
          </a:prstGeom>
        </p:spPr>
        <p:txBody>
          <a:bodyPr vert="horz" wrap="square" lIns="0" tIns="0" rIns="0" bIns="0" rtlCol="0">
            <a:spAutoFit/>
          </a:bodyPr>
          <a:lstStyle/>
          <a:p>
            <a:pPr marL="28575" defTabSz="685800">
              <a:lnSpc>
                <a:spcPts val="930"/>
              </a:lnSpc>
            </a:pPr>
            <a:r>
              <a:rPr i="0" u="none" kern="0" spc="-19" dirty="0">
                <a:latin typeface="Calibri"/>
                <a:cs typeface="Calibri"/>
              </a:rPr>
              <a:t>11</a:t>
            </a:r>
          </a:p>
        </p:txBody>
      </p:sp>
      <p:sp>
        <p:nvSpPr>
          <p:cNvPr id="2" name="object 2"/>
          <p:cNvSpPr txBox="1">
            <a:spLocks noGrp="1"/>
          </p:cNvSpPr>
          <p:nvPr>
            <p:ph type="title"/>
          </p:nvPr>
        </p:nvSpPr>
        <p:spPr>
          <a:xfrm>
            <a:off x="515778" y="1022867"/>
            <a:ext cx="5659708" cy="778755"/>
          </a:xfrm>
          <a:prstGeom prst="rect">
            <a:avLst/>
          </a:prstGeom>
        </p:spPr>
        <p:txBody>
          <a:bodyPr vert="horz" wrap="square" lIns="0" tIns="268304" rIns="0" bIns="0" rtlCol="0">
            <a:spAutoFit/>
          </a:bodyPr>
          <a:lstStyle/>
          <a:p>
            <a:pPr marL="167640">
              <a:spcBef>
                <a:spcPts val="79"/>
              </a:spcBef>
            </a:pPr>
            <a:r>
              <a:rPr spc="-60" dirty="0"/>
              <a:t>PARITY</a:t>
            </a:r>
            <a:r>
              <a:rPr spc="-113" dirty="0"/>
              <a:t> </a:t>
            </a:r>
            <a:r>
              <a:rPr dirty="0"/>
              <a:t>BIT</a:t>
            </a:r>
            <a:r>
              <a:rPr spc="-120" dirty="0"/>
              <a:t> </a:t>
            </a:r>
            <a:r>
              <a:rPr spc="-41" dirty="0"/>
              <a:t>Error-</a:t>
            </a:r>
            <a:r>
              <a:rPr spc="-34" dirty="0"/>
              <a:t>Detection</a:t>
            </a:r>
            <a:r>
              <a:rPr spc="-109" dirty="0"/>
              <a:t> </a:t>
            </a:r>
            <a:r>
              <a:rPr spc="-8" dirty="0"/>
              <a:t>Codes</a:t>
            </a:r>
          </a:p>
        </p:txBody>
      </p:sp>
      <p:sp>
        <p:nvSpPr>
          <p:cNvPr id="3" name="object 3"/>
          <p:cNvSpPr txBox="1"/>
          <p:nvPr/>
        </p:nvSpPr>
        <p:spPr>
          <a:xfrm>
            <a:off x="687704" y="2202370"/>
            <a:ext cx="7685723" cy="3099888"/>
          </a:xfrm>
          <a:prstGeom prst="rect">
            <a:avLst/>
          </a:prstGeom>
        </p:spPr>
        <p:txBody>
          <a:bodyPr vert="horz" wrap="square" lIns="0" tIns="44768" rIns="0" bIns="0" rtlCol="0">
            <a:spAutoFit/>
          </a:bodyPr>
          <a:lstStyle/>
          <a:p>
            <a:pPr marL="180022" marR="3810" indent="-170497" defTabSz="685800">
              <a:lnSpc>
                <a:spcPts val="2273"/>
              </a:lnSpc>
              <a:spcBef>
                <a:spcPts val="353"/>
              </a:spcBef>
              <a:buFont typeface="Arial MT"/>
              <a:buChar char="•"/>
              <a:tabLst>
                <a:tab pos="180975" algn="l"/>
              </a:tabLst>
            </a:pPr>
            <a:r>
              <a:rPr sz="2100" kern="0" spc="-75" dirty="0">
                <a:solidFill>
                  <a:sysClr val="windowText" lastClr="000000"/>
                </a:solidFill>
                <a:latin typeface="Calibri"/>
                <a:cs typeface="Calibri"/>
              </a:rPr>
              <a:t>To</a:t>
            </a:r>
            <a:r>
              <a:rPr sz="2100" kern="0" spc="-45" dirty="0">
                <a:solidFill>
                  <a:sysClr val="windowText" lastClr="000000"/>
                </a:solidFill>
                <a:latin typeface="Calibri"/>
                <a:cs typeface="Calibri"/>
              </a:rPr>
              <a:t> </a:t>
            </a:r>
            <a:r>
              <a:rPr sz="2100" kern="0" dirty="0">
                <a:solidFill>
                  <a:sysClr val="windowText" lastClr="000000"/>
                </a:solidFill>
                <a:latin typeface="Calibri"/>
                <a:cs typeface="Calibri"/>
              </a:rPr>
              <a:t>detect</a:t>
            </a:r>
            <a:r>
              <a:rPr sz="2100" kern="0" spc="-79" dirty="0">
                <a:solidFill>
                  <a:sysClr val="windowText" lastClr="000000"/>
                </a:solidFill>
                <a:latin typeface="Calibri"/>
                <a:cs typeface="Calibri"/>
              </a:rPr>
              <a:t> </a:t>
            </a:r>
            <a:r>
              <a:rPr sz="2100" kern="0" dirty="0">
                <a:solidFill>
                  <a:sysClr val="windowText" lastClr="000000"/>
                </a:solidFill>
                <a:latin typeface="Calibri"/>
                <a:cs typeface="Calibri"/>
              </a:rPr>
              <a:t>errors</a:t>
            </a:r>
            <a:r>
              <a:rPr sz="2100" kern="0" spc="-53" dirty="0">
                <a:solidFill>
                  <a:sysClr val="windowText" lastClr="000000"/>
                </a:solidFill>
                <a:latin typeface="Calibri"/>
                <a:cs typeface="Calibri"/>
              </a:rPr>
              <a:t> </a:t>
            </a:r>
            <a:r>
              <a:rPr sz="2100" kern="0" dirty="0">
                <a:solidFill>
                  <a:sysClr val="windowText" lastClr="000000"/>
                </a:solidFill>
                <a:latin typeface="Calibri"/>
                <a:cs typeface="Calibri"/>
              </a:rPr>
              <a:t>in</a:t>
            </a:r>
            <a:r>
              <a:rPr sz="2100" kern="0" spc="-60" dirty="0">
                <a:solidFill>
                  <a:sysClr val="windowText" lastClr="000000"/>
                </a:solidFill>
                <a:latin typeface="Calibri"/>
                <a:cs typeface="Calibri"/>
              </a:rPr>
              <a:t> </a:t>
            </a:r>
            <a:r>
              <a:rPr sz="2100" kern="0" dirty="0">
                <a:solidFill>
                  <a:sysClr val="windowText" lastClr="000000"/>
                </a:solidFill>
                <a:latin typeface="Calibri"/>
                <a:cs typeface="Calibri"/>
              </a:rPr>
              <a:t>data</a:t>
            </a:r>
            <a:r>
              <a:rPr sz="2100" kern="0" spc="-53" dirty="0">
                <a:solidFill>
                  <a:sysClr val="windowText" lastClr="000000"/>
                </a:solidFill>
                <a:latin typeface="Calibri"/>
                <a:cs typeface="Calibri"/>
              </a:rPr>
              <a:t> </a:t>
            </a:r>
            <a:r>
              <a:rPr sz="2100" kern="0" spc="-8" dirty="0">
                <a:solidFill>
                  <a:sysClr val="windowText" lastClr="000000"/>
                </a:solidFill>
                <a:latin typeface="Calibri"/>
                <a:cs typeface="Calibri"/>
              </a:rPr>
              <a:t>communication</a:t>
            </a:r>
            <a:r>
              <a:rPr sz="2100" kern="0" spc="-30" dirty="0">
                <a:solidFill>
                  <a:sysClr val="windowText" lastClr="000000"/>
                </a:solidFill>
                <a:latin typeface="Calibri"/>
                <a:cs typeface="Calibri"/>
              </a:rPr>
              <a:t> </a:t>
            </a:r>
            <a:r>
              <a:rPr sz="2100" kern="0" dirty="0">
                <a:solidFill>
                  <a:sysClr val="windowText" lastClr="000000"/>
                </a:solidFill>
                <a:latin typeface="Calibri"/>
                <a:cs typeface="Calibri"/>
              </a:rPr>
              <a:t>and</a:t>
            </a:r>
            <a:r>
              <a:rPr sz="2100" kern="0" spc="-53" dirty="0">
                <a:solidFill>
                  <a:sysClr val="windowText" lastClr="000000"/>
                </a:solidFill>
                <a:latin typeface="Calibri"/>
                <a:cs typeface="Calibri"/>
              </a:rPr>
              <a:t> </a:t>
            </a:r>
            <a:r>
              <a:rPr sz="2100" kern="0" dirty="0">
                <a:solidFill>
                  <a:sysClr val="windowText" lastClr="000000"/>
                </a:solidFill>
                <a:latin typeface="Calibri"/>
                <a:cs typeface="Calibri"/>
              </a:rPr>
              <a:t>processing,</a:t>
            </a:r>
            <a:r>
              <a:rPr sz="2100" kern="0" spc="-38" dirty="0">
                <a:solidFill>
                  <a:sysClr val="windowText" lastClr="000000"/>
                </a:solidFill>
                <a:latin typeface="Calibri"/>
                <a:cs typeface="Calibri"/>
              </a:rPr>
              <a:t> </a:t>
            </a:r>
            <a:r>
              <a:rPr sz="2100" kern="0" dirty="0">
                <a:solidFill>
                  <a:sysClr val="windowText" lastClr="000000"/>
                </a:solidFill>
                <a:latin typeface="Calibri"/>
                <a:cs typeface="Calibri"/>
              </a:rPr>
              <a:t>an</a:t>
            </a:r>
            <a:r>
              <a:rPr sz="2100" kern="0" spc="-60" dirty="0">
                <a:solidFill>
                  <a:sysClr val="windowText" lastClr="000000"/>
                </a:solidFill>
                <a:latin typeface="Calibri"/>
                <a:cs typeface="Calibri"/>
              </a:rPr>
              <a:t> </a:t>
            </a:r>
            <a:r>
              <a:rPr sz="2100" kern="0" spc="-8" dirty="0">
                <a:solidFill>
                  <a:sysClr val="windowText" lastClr="000000"/>
                </a:solidFill>
                <a:latin typeface="Calibri"/>
                <a:cs typeface="Calibri"/>
              </a:rPr>
              <a:t>additional 	</a:t>
            </a:r>
            <a:r>
              <a:rPr sz="2100" kern="0" dirty="0">
                <a:solidFill>
                  <a:sysClr val="windowText" lastClr="000000"/>
                </a:solidFill>
                <a:latin typeface="Calibri"/>
                <a:cs typeface="Calibri"/>
              </a:rPr>
              <a:t>bit</a:t>
            </a:r>
            <a:r>
              <a:rPr sz="2100" kern="0" spc="-41" dirty="0">
                <a:solidFill>
                  <a:sysClr val="windowText" lastClr="000000"/>
                </a:solidFill>
                <a:latin typeface="Calibri"/>
                <a:cs typeface="Calibri"/>
              </a:rPr>
              <a:t> </a:t>
            </a:r>
            <a:r>
              <a:rPr sz="2100" kern="0" dirty="0">
                <a:solidFill>
                  <a:sysClr val="windowText" lastClr="000000"/>
                </a:solidFill>
                <a:latin typeface="Calibri"/>
                <a:cs typeface="Calibri"/>
              </a:rPr>
              <a:t>is</a:t>
            </a:r>
            <a:r>
              <a:rPr sz="2100" kern="0" spc="-41" dirty="0">
                <a:solidFill>
                  <a:sysClr val="windowText" lastClr="000000"/>
                </a:solidFill>
                <a:latin typeface="Calibri"/>
                <a:cs typeface="Calibri"/>
              </a:rPr>
              <a:t> </a:t>
            </a:r>
            <a:r>
              <a:rPr sz="2100" kern="0" dirty="0">
                <a:solidFill>
                  <a:sysClr val="windowText" lastClr="000000"/>
                </a:solidFill>
                <a:latin typeface="Calibri"/>
                <a:cs typeface="Calibri"/>
              </a:rPr>
              <a:t>sometimes</a:t>
            </a:r>
            <a:r>
              <a:rPr sz="2100" kern="0" spc="-30" dirty="0">
                <a:solidFill>
                  <a:sysClr val="windowText" lastClr="000000"/>
                </a:solidFill>
                <a:latin typeface="Calibri"/>
                <a:cs typeface="Calibri"/>
              </a:rPr>
              <a:t> </a:t>
            </a:r>
            <a:r>
              <a:rPr sz="2100" kern="0" dirty="0">
                <a:solidFill>
                  <a:sysClr val="windowText" lastClr="000000"/>
                </a:solidFill>
                <a:latin typeface="Calibri"/>
                <a:cs typeface="Calibri"/>
              </a:rPr>
              <a:t>added</a:t>
            </a:r>
            <a:r>
              <a:rPr sz="2100" kern="0" spc="-26" dirty="0">
                <a:solidFill>
                  <a:sysClr val="windowText" lastClr="000000"/>
                </a:solidFill>
                <a:latin typeface="Calibri"/>
                <a:cs typeface="Calibri"/>
              </a:rPr>
              <a:t> </a:t>
            </a:r>
            <a:r>
              <a:rPr sz="2100" kern="0" dirty="0">
                <a:solidFill>
                  <a:sysClr val="windowText" lastClr="000000"/>
                </a:solidFill>
                <a:latin typeface="Calibri"/>
                <a:cs typeface="Calibri"/>
              </a:rPr>
              <a:t>to</a:t>
            </a:r>
            <a:r>
              <a:rPr sz="2100" kern="0" spc="-41" dirty="0">
                <a:solidFill>
                  <a:sysClr val="windowText" lastClr="000000"/>
                </a:solidFill>
                <a:latin typeface="Calibri"/>
                <a:cs typeface="Calibri"/>
              </a:rPr>
              <a:t> </a:t>
            </a:r>
            <a:r>
              <a:rPr sz="2100" kern="0" dirty="0">
                <a:solidFill>
                  <a:sysClr val="windowText" lastClr="000000"/>
                </a:solidFill>
                <a:latin typeface="Calibri"/>
                <a:cs typeface="Calibri"/>
              </a:rPr>
              <a:t>a</a:t>
            </a:r>
            <a:r>
              <a:rPr sz="2100" kern="0" spc="-49" dirty="0">
                <a:solidFill>
                  <a:sysClr val="windowText" lastClr="000000"/>
                </a:solidFill>
                <a:latin typeface="Calibri"/>
                <a:cs typeface="Calibri"/>
              </a:rPr>
              <a:t> </a:t>
            </a:r>
            <a:r>
              <a:rPr sz="2100" kern="0" dirty="0">
                <a:solidFill>
                  <a:sysClr val="windowText" lastClr="000000"/>
                </a:solidFill>
                <a:latin typeface="Calibri"/>
                <a:cs typeface="Calibri"/>
              </a:rPr>
              <a:t>binary</a:t>
            </a:r>
            <a:r>
              <a:rPr sz="2100" kern="0" spc="-34" dirty="0">
                <a:solidFill>
                  <a:sysClr val="windowText" lastClr="000000"/>
                </a:solidFill>
                <a:latin typeface="Calibri"/>
                <a:cs typeface="Calibri"/>
              </a:rPr>
              <a:t> </a:t>
            </a:r>
            <a:r>
              <a:rPr sz="2100" kern="0" dirty="0">
                <a:solidFill>
                  <a:sysClr val="windowText" lastClr="000000"/>
                </a:solidFill>
                <a:latin typeface="Calibri"/>
                <a:cs typeface="Calibri"/>
              </a:rPr>
              <a:t>code</a:t>
            </a:r>
            <a:r>
              <a:rPr sz="2100" kern="0" spc="-30" dirty="0">
                <a:solidFill>
                  <a:sysClr val="windowText" lastClr="000000"/>
                </a:solidFill>
                <a:latin typeface="Calibri"/>
                <a:cs typeface="Calibri"/>
              </a:rPr>
              <a:t> </a:t>
            </a:r>
            <a:r>
              <a:rPr sz="2100" kern="0" dirty="0">
                <a:solidFill>
                  <a:sysClr val="windowText" lastClr="000000"/>
                </a:solidFill>
                <a:latin typeface="Calibri"/>
                <a:cs typeface="Calibri"/>
              </a:rPr>
              <a:t>word</a:t>
            </a:r>
            <a:r>
              <a:rPr sz="2100" kern="0" spc="-49" dirty="0">
                <a:solidFill>
                  <a:sysClr val="windowText" lastClr="000000"/>
                </a:solidFill>
                <a:latin typeface="Calibri"/>
                <a:cs typeface="Calibri"/>
              </a:rPr>
              <a:t> </a:t>
            </a:r>
            <a:r>
              <a:rPr sz="2100" kern="0" dirty="0">
                <a:solidFill>
                  <a:sysClr val="windowText" lastClr="000000"/>
                </a:solidFill>
                <a:latin typeface="Calibri"/>
                <a:cs typeface="Calibri"/>
              </a:rPr>
              <a:t>to</a:t>
            </a:r>
            <a:r>
              <a:rPr sz="2100" kern="0" spc="-41" dirty="0">
                <a:solidFill>
                  <a:sysClr val="windowText" lastClr="000000"/>
                </a:solidFill>
                <a:latin typeface="Calibri"/>
                <a:cs typeface="Calibri"/>
              </a:rPr>
              <a:t> </a:t>
            </a:r>
            <a:r>
              <a:rPr sz="2100" kern="0" dirty="0">
                <a:solidFill>
                  <a:sysClr val="windowText" lastClr="000000"/>
                </a:solidFill>
                <a:latin typeface="Calibri"/>
                <a:cs typeface="Calibri"/>
              </a:rPr>
              <a:t>define</a:t>
            </a:r>
            <a:r>
              <a:rPr sz="2100" kern="0" spc="-41" dirty="0">
                <a:solidFill>
                  <a:sysClr val="windowText" lastClr="000000"/>
                </a:solidFill>
                <a:latin typeface="Calibri"/>
                <a:cs typeface="Calibri"/>
              </a:rPr>
              <a:t> </a:t>
            </a:r>
            <a:r>
              <a:rPr sz="2100" kern="0" dirty="0">
                <a:solidFill>
                  <a:sysClr val="windowText" lastClr="000000"/>
                </a:solidFill>
                <a:latin typeface="Calibri"/>
                <a:cs typeface="Calibri"/>
              </a:rPr>
              <a:t>its</a:t>
            </a:r>
            <a:r>
              <a:rPr sz="2100" kern="0" spc="-38" dirty="0">
                <a:solidFill>
                  <a:sysClr val="windowText" lastClr="000000"/>
                </a:solidFill>
                <a:latin typeface="Calibri"/>
                <a:cs typeface="Calibri"/>
              </a:rPr>
              <a:t> </a:t>
            </a:r>
            <a:r>
              <a:rPr sz="2100" kern="0" spc="-8" dirty="0">
                <a:solidFill>
                  <a:sysClr val="windowText" lastClr="000000"/>
                </a:solidFill>
                <a:latin typeface="Calibri"/>
                <a:cs typeface="Calibri"/>
              </a:rPr>
              <a:t>parity.</a:t>
            </a:r>
            <a:endParaRPr sz="2100" kern="0" dirty="0">
              <a:solidFill>
                <a:sysClr val="windowText" lastClr="000000"/>
              </a:solidFill>
              <a:latin typeface="Calibri"/>
              <a:cs typeface="Calibri"/>
            </a:endParaRPr>
          </a:p>
          <a:p>
            <a:pPr marL="180022" marR="4286" indent="-170497" defTabSz="685800">
              <a:lnSpc>
                <a:spcPts val="2265"/>
              </a:lnSpc>
              <a:spcBef>
                <a:spcPts val="754"/>
              </a:spcBef>
              <a:buFont typeface="Arial MT"/>
              <a:buChar char="•"/>
              <a:tabLst>
                <a:tab pos="180975" algn="l"/>
              </a:tabLst>
            </a:pPr>
            <a:r>
              <a:rPr sz="2100" kern="0" dirty="0">
                <a:solidFill>
                  <a:sysClr val="windowText" lastClr="000000"/>
                </a:solidFill>
                <a:latin typeface="Calibri"/>
                <a:cs typeface="Calibri"/>
              </a:rPr>
              <a:t>A</a:t>
            </a:r>
            <a:r>
              <a:rPr sz="2100" kern="0" spc="-30" dirty="0">
                <a:solidFill>
                  <a:sysClr val="windowText" lastClr="000000"/>
                </a:solidFill>
                <a:latin typeface="Calibri"/>
                <a:cs typeface="Calibri"/>
              </a:rPr>
              <a:t> </a:t>
            </a:r>
            <a:r>
              <a:rPr sz="2100" kern="0" dirty="0">
                <a:solidFill>
                  <a:sysClr val="windowText" lastClr="000000"/>
                </a:solidFill>
                <a:latin typeface="Calibri"/>
                <a:cs typeface="Calibri"/>
              </a:rPr>
              <a:t>parity</a:t>
            </a:r>
            <a:r>
              <a:rPr sz="2100" kern="0" spc="-34" dirty="0">
                <a:solidFill>
                  <a:sysClr val="windowText" lastClr="000000"/>
                </a:solidFill>
                <a:latin typeface="Calibri"/>
                <a:cs typeface="Calibri"/>
              </a:rPr>
              <a:t> </a:t>
            </a:r>
            <a:r>
              <a:rPr sz="2100" kern="0" dirty="0">
                <a:solidFill>
                  <a:sysClr val="windowText" lastClr="000000"/>
                </a:solidFill>
                <a:latin typeface="Calibri"/>
                <a:cs typeface="Calibri"/>
              </a:rPr>
              <a:t>bit</a:t>
            </a:r>
            <a:r>
              <a:rPr sz="2100" kern="0" spc="-34" dirty="0">
                <a:solidFill>
                  <a:sysClr val="windowText" lastClr="000000"/>
                </a:solidFill>
                <a:latin typeface="Calibri"/>
                <a:cs typeface="Calibri"/>
              </a:rPr>
              <a:t> </a:t>
            </a:r>
            <a:r>
              <a:rPr sz="2100" kern="0" dirty="0">
                <a:solidFill>
                  <a:sysClr val="windowText" lastClr="000000"/>
                </a:solidFill>
                <a:latin typeface="Calibri"/>
                <a:cs typeface="Calibri"/>
              </a:rPr>
              <a:t>is</a:t>
            </a:r>
            <a:r>
              <a:rPr sz="2100" kern="0" spc="-38" dirty="0">
                <a:solidFill>
                  <a:sysClr val="windowText" lastClr="000000"/>
                </a:solidFill>
                <a:latin typeface="Calibri"/>
                <a:cs typeface="Calibri"/>
              </a:rPr>
              <a:t> </a:t>
            </a:r>
            <a:r>
              <a:rPr sz="2100" kern="0" dirty="0">
                <a:solidFill>
                  <a:sysClr val="windowText" lastClr="000000"/>
                </a:solidFill>
                <a:latin typeface="Calibri"/>
                <a:cs typeface="Calibri"/>
              </a:rPr>
              <a:t>the</a:t>
            </a:r>
            <a:r>
              <a:rPr sz="2100" kern="0" spc="-30" dirty="0">
                <a:solidFill>
                  <a:sysClr val="windowText" lastClr="000000"/>
                </a:solidFill>
                <a:latin typeface="Calibri"/>
                <a:cs typeface="Calibri"/>
              </a:rPr>
              <a:t> </a:t>
            </a:r>
            <a:r>
              <a:rPr sz="2100" kern="0" dirty="0">
                <a:solidFill>
                  <a:sysClr val="windowText" lastClr="000000"/>
                </a:solidFill>
                <a:latin typeface="Calibri"/>
                <a:cs typeface="Calibri"/>
              </a:rPr>
              <a:t>extra</a:t>
            </a:r>
            <a:r>
              <a:rPr sz="2100" kern="0" spc="-34" dirty="0">
                <a:solidFill>
                  <a:sysClr val="windowText" lastClr="000000"/>
                </a:solidFill>
                <a:latin typeface="Calibri"/>
                <a:cs typeface="Calibri"/>
              </a:rPr>
              <a:t> </a:t>
            </a:r>
            <a:r>
              <a:rPr sz="2100" kern="0" dirty="0">
                <a:solidFill>
                  <a:sysClr val="windowText" lastClr="000000"/>
                </a:solidFill>
                <a:latin typeface="Calibri"/>
                <a:cs typeface="Calibri"/>
              </a:rPr>
              <a:t>bit</a:t>
            </a:r>
            <a:r>
              <a:rPr sz="2100" kern="0" spc="-34" dirty="0">
                <a:solidFill>
                  <a:sysClr val="windowText" lastClr="000000"/>
                </a:solidFill>
                <a:latin typeface="Calibri"/>
                <a:cs typeface="Calibri"/>
              </a:rPr>
              <a:t> </a:t>
            </a:r>
            <a:r>
              <a:rPr sz="2100" kern="0" dirty="0">
                <a:solidFill>
                  <a:sysClr val="windowText" lastClr="000000"/>
                </a:solidFill>
                <a:latin typeface="Calibri"/>
                <a:cs typeface="Calibri"/>
              </a:rPr>
              <a:t>included</a:t>
            </a:r>
            <a:r>
              <a:rPr sz="2100" kern="0" spc="-11" dirty="0">
                <a:solidFill>
                  <a:sysClr val="windowText" lastClr="000000"/>
                </a:solidFill>
                <a:latin typeface="Calibri"/>
                <a:cs typeface="Calibri"/>
              </a:rPr>
              <a:t> </a:t>
            </a:r>
            <a:r>
              <a:rPr sz="2100" kern="0" dirty="0">
                <a:solidFill>
                  <a:sysClr val="windowText" lastClr="000000"/>
                </a:solidFill>
                <a:latin typeface="Calibri"/>
                <a:cs typeface="Calibri"/>
              </a:rPr>
              <a:t>to</a:t>
            </a:r>
            <a:r>
              <a:rPr sz="2100" kern="0" spc="-38" dirty="0">
                <a:solidFill>
                  <a:sysClr val="windowText" lastClr="000000"/>
                </a:solidFill>
                <a:latin typeface="Calibri"/>
                <a:cs typeface="Calibri"/>
              </a:rPr>
              <a:t> </a:t>
            </a:r>
            <a:r>
              <a:rPr sz="2100" kern="0" dirty="0">
                <a:solidFill>
                  <a:sysClr val="windowText" lastClr="000000"/>
                </a:solidFill>
                <a:latin typeface="Calibri"/>
                <a:cs typeface="Calibri"/>
              </a:rPr>
              <a:t>make</a:t>
            </a:r>
            <a:r>
              <a:rPr sz="2100" kern="0" spc="-41" dirty="0">
                <a:solidFill>
                  <a:sysClr val="windowText" lastClr="000000"/>
                </a:solidFill>
                <a:latin typeface="Calibri"/>
                <a:cs typeface="Calibri"/>
              </a:rPr>
              <a:t> </a:t>
            </a:r>
            <a:r>
              <a:rPr sz="2100" kern="0" dirty="0">
                <a:solidFill>
                  <a:sysClr val="windowText" lastClr="000000"/>
                </a:solidFill>
                <a:latin typeface="Calibri"/>
                <a:cs typeface="Calibri"/>
              </a:rPr>
              <a:t>the</a:t>
            </a:r>
            <a:r>
              <a:rPr sz="2100" kern="0" spc="-34" dirty="0">
                <a:solidFill>
                  <a:sysClr val="windowText" lastClr="000000"/>
                </a:solidFill>
                <a:latin typeface="Calibri"/>
                <a:cs typeface="Calibri"/>
              </a:rPr>
              <a:t> </a:t>
            </a:r>
            <a:r>
              <a:rPr sz="2100" kern="0" dirty="0">
                <a:solidFill>
                  <a:sysClr val="windowText" lastClr="000000"/>
                </a:solidFill>
                <a:latin typeface="Calibri"/>
                <a:cs typeface="Calibri"/>
              </a:rPr>
              <a:t>total</a:t>
            </a:r>
            <a:r>
              <a:rPr sz="2100" kern="0" spc="-38" dirty="0">
                <a:solidFill>
                  <a:sysClr val="windowText" lastClr="000000"/>
                </a:solidFill>
                <a:latin typeface="Calibri"/>
                <a:cs typeface="Calibri"/>
              </a:rPr>
              <a:t> </a:t>
            </a:r>
            <a:r>
              <a:rPr sz="2100" kern="0" dirty="0">
                <a:solidFill>
                  <a:sysClr val="windowText" lastClr="000000"/>
                </a:solidFill>
                <a:latin typeface="Calibri"/>
                <a:cs typeface="Calibri"/>
              </a:rPr>
              <a:t>number</a:t>
            </a:r>
            <a:r>
              <a:rPr sz="2100" kern="0" spc="-15" dirty="0">
                <a:solidFill>
                  <a:sysClr val="windowText" lastClr="000000"/>
                </a:solidFill>
                <a:latin typeface="Calibri"/>
                <a:cs typeface="Calibri"/>
              </a:rPr>
              <a:t> </a:t>
            </a:r>
            <a:r>
              <a:rPr sz="2100" kern="0" dirty="0">
                <a:solidFill>
                  <a:sysClr val="windowText" lastClr="000000"/>
                </a:solidFill>
                <a:latin typeface="Calibri"/>
                <a:cs typeface="Calibri"/>
              </a:rPr>
              <a:t>of</a:t>
            </a:r>
            <a:r>
              <a:rPr sz="2100" kern="0" spc="-38" dirty="0">
                <a:solidFill>
                  <a:sysClr val="windowText" lastClr="000000"/>
                </a:solidFill>
                <a:latin typeface="Calibri"/>
                <a:cs typeface="Calibri"/>
              </a:rPr>
              <a:t> </a:t>
            </a:r>
            <a:r>
              <a:rPr sz="2100" kern="0" dirty="0">
                <a:solidFill>
                  <a:sysClr val="windowText" lastClr="000000"/>
                </a:solidFill>
                <a:latin typeface="Calibri"/>
                <a:cs typeface="Calibri"/>
              </a:rPr>
              <a:t>1s</a:t>
            </a:r>
            <a:r>
              <a:rPr sz="2100" kern="0" spc="-30" dirty="0">
                <a:solidFill>
                  <a:sysClr val="windowText" lastClr="000000"/>
                </a:solidFill>
                <a:latin typeface="Calibri"/>
                <a:cs typeface="Calibri"/>
              </a:rPr>
              <a:t> </a:t>
            </a:r>
            <a:r>
              <a:rPr sz="2100" kern="0" spc="-19" dirty="0">
                <a:solidFill>
                  <a:sysClr val="windowText" lastClr="000000"/>
                </a:solidFill>
                <a:latin typeface="Calibri"/>
                <a:cs typeface="Calibri"/>
              </a:rPr>
              <a:t>in 	</a:t>
            </a:r>
            <a:r>
              <a:rPr sz="2100" kern="0" dirty="0">
                <a:solidFill>
                  <a:sysClr val="windowText" lastClr="000000"/>
                </a:solidFill>
                <a:latin typeface="Calibri"/>
                <a:cs typeface="Calibri"/>
              </a:rPr>
              <a:t>the</a:t>
            </a:r>
            <a:r>
              <a:rPr sz="2100" kern="0" spc="-49" dirty="0">
                <a:solidFill>
                  <a:sysClr val="windowText" lastClr="000000"/>
                </a:solidFill>
                <a:latin typeface="Calibri"/>
                <a:cs typeface="Calibri"/>
              </a:rPr>
              <a:t> </a:t>
            </a:r>
            <a:r>
              <a:rPr sz="2100" kern="0" dirty="0">
                <a:solidFill>
                  <a:sysClr val="windowText" lastClr="000000"/>
                </a:solidFill>
                <a:latin typeface="Calibri"/>
                <a:cs typeface="Calibri"/>
              </a:rPr>
              <a:t>resulting</a:t>
            </a:r>
            <a:r>
              <a:rPr sz="2100" kern="0" spc="-34" dirty="0">
                <a:solidFill>
                  <a:sysClr val="windowText" lastClr="000000"/>
                </a:solidFill>
                <a:latin typeface="Calibri"/>
                <a:cs typeface="Calibri"/>
              </a:rPr>
              <a:t> </a:t>
            </a:r>
            <a:r>
              <a:rPr sz="2100" kern="0" dirty="0">
                <a:solidFill>
                  <a:sysClr val="windowText" lastClr="000000"/>
                </a:solidFill>
                <a:latin typeface="Calibri"/>
                <a:cs typeface="Calibri"/>
              </a:rPr>
              <a:t>code</a:t>
            </a:r>
            <a:r>
              <a:rPr sz="2100" kern="0" spc="-34" dirty="0">
                <a:solidFill>
                  <a:sysClr val="windowText" lastClr="000000"/>
                </a:solidFill>
                <a:latin typeface="Calibri"/>
                <a:cs typeface="Calibri"/>
              </a:rPr>
              <a:t> </a:t>
            </a:r>
            <a:r>
              <a:rPr sz="2100" kern="0" dirty="0">
                <a:solidFill>
                  <a:sysClr val="windowText" lastClr="000000"/>
                </a:solidFill>
                <a:latin typeface="Calibri"/>
                <a:cs typeface="Calibri"/>
              </a:rPr>
              <a:t>word</a:t>
            </a:r>
            <a:r>
              <a:rPr sz="2100" kern="0" spc="-53" dirty="0">
                <a:solidFill>
                  <a:sysClr val="windowText" lastClr="000000"/>
                </a:solidFill>
                <a:latin typeface="Calibri"/>
                <a:cs typeface="Calibri"/>
              </a:rPr>
              <a:t> </a:t>
            </a:r>
            <a:r>
              <a:rPr sz="2100" kern="0" dirty="0">
                <a:solidFill>
                  <a:sysClr val="windowText" lastClr="000000"/>
                </a:solidFill>
                <a:latin typeface="Calibri"/>
                <a:cs typeface="Calibri"/>
              </a:rPr>
              <a:t>either</a:t>
            </a:r>
            <a:r>
              <a:rPr sz="2100" kern="0" spc="-38" dirty="0">
                <a:solidFill>
                  <a:sysClr val="windowText" lastClr="000000"/>
                </a:solidFill>
                <a:latin typeface="Calibri"/>
                <a:cs typeface="Calibri"/>
              </a:rPr>
              <a:t> </a:t>
            </a:r>
            <a:r>
              <a:rPr sz="2100" kern="0" dirty="0">
                <a:solidFill>
                  <a:sysClr val="windowText" lastClr="000000"/>
                </a:solidFill>
                <a:latin typeface="Calibri"/>
                <a:cs typeface="Calibri"/>
              </a:rPr>
              <a:t>even</a:t>
            </a:r>
            <a:r>
              <a:rPr sz="2100" kern="0" spc="-53" dirty="0">
                <a:solidFill>
                  <a:sysClr val="windowText" lastClr="000000"/>
                </a:solidFill>
                <a:latin typeface="Calibri"/>
                <a:cs typeface="Calibri"/>
              </a:rPr>
              <a:t> </a:t>
            </a:r>
            <a:r>
              <a:rPr sz="2100" kern="0" dirty="0">
                <a:solidFill>
                  <a:sysClr val="windowText" lastClr="000000"/>
                </a:solidFill>
                <a:latin typeface="Calibri"/>
                <a:cs typeface="Calibri"/>
              </a:rPr>
              <a:t>or</a:t>
            </a:r>
            <a:r>
              <a:rPr sz="2100" kern="0" spc="-49" dirty="0">
                <a:solidFill>
                  <a:sysClr val="windowText" lastClr="000000"/>
                </a:solidFill>
                <a:latin typeface="Calibri"/>
                <a:cs typeface="Calibri"/>
              </a:rPr>
              <a:t> </a:t>
            </a:r>
            <a:r>
              <a:rPr sz="2100" kern="0" spc="-15" dirty="0">
                <a:solidFill>
                  <a:sysClr val="windowText" lastClr="000000"/>
                </a:solidFill>
                <a:latin typeface="Calibri"/>
                <a:cs typeface="Calibri"/>
              </a:rPr>
              <a:t>odd.</a:t>
            </a:r>
            <a:endParaRPr sz="2100" kern="0" dirty="0">
              <a:solidFill>
                <a:sysClr val="windowText" lastClr="000000"/>
              </a:solidFill>
              <a:latin typeface="Calibri"/>
              <a:cs typeface="Calibri"/>
            </a:endParaRPr>
          </a:p>
          <a:p>
            <a:pPr marL="180022" indent="-170497" defTabSz="685800">
              <a:spcBef>
                <a:spcPts val="469"/>
              </a:spcBef>
              <a:buFont typeface="Arial MT"/>
              <a:buChar char="•"/>
              <a:tabLst>
                <a:tab pos="180022" algn="l"/>
              </a:tabLst>
            </a:pPr>
            <a:r>
              <a:rPr sz="2100" kern="0" dirty="0">
                <a:solidFill>
                  <a:sysClr val="windowText" lastClr="000000"/>
                </a:solidFill>
                <a:latin typeface="Calibri"/>
                <a:cs typeface="Calibri"/>
              </a:rPr>
              <a:t>Parity</a:t>
            </a:r>
            <a:r>
              <a:rPr sz="2100" kern="0" spc="-34" dirty="0">
                <a:solidFill>
                  <a:sysClr val="windowText" lastClr="000000"/>
                </a:solidFill>
                <a:latin typeface="Calibri"/>
                <a:cs typeface="Calibri"/>
              </a:rPr>
              <a:t> </a:t>
            </a:r>
            <a:r>
              <a:rPr sz="2100" kern="0" dirty="0">
                <a:solidFill>
                  <a:sysClr val="windowText" lastClr="000000"/>
                </a:solidFill>
                <a:latin typeface="Calibri"/>
                <a:cs typeface="Calibri"/>
              </a:rPr>
              <a:t>can</a:t>
            </a:r>
            <a:r>
              <a:rPr sz="2100" kern="0" spc="-23" dirty="0">
                <a:solidFill>
                  <a:sysClr val="windowText" lastClr="000000"/>
                </a:solidFill>
                <a:latin typeface="Calibri"/>
                <a:cs typeface="Calibri"/>
              </a:rPr>
              <a:t> </a:t>
            </a:r>
            <a:r>
              <a:rPr sz="2100" kern="0" dirty="0">
                <a:solidFill>
                  <a:sysClr val="windowText" lastClr="000000"/>
                </a:solidFill>
                <a:latin typeface="Calibri"/>
                <a:cs typeface="Calibri"/>
              </a:rPr>
              <a:t>detect</a:t>
            </a:r>
            <a:r>
              <a:rPr sz="2100" kern="0" spc="-41" dirty="0">
                <a:solidFill>
                  <a:sysClr val="windowText" lastClr="000000"/>
                </a:solidFill>
                <a:latin typeface="Calibri"/>
                <a:cs typeface="Calibri"/>
              </a:rPr>
              <a:t> </a:t>
            </a:r>
            <a:r>
              <a:rPr sz="2100" kern="0" dirty="0">
                <a:solidFill>
                  <a:sysClr val="windowText" lastClr="000000"/>
                </a:solidFill>
                <a:latin typeface="Calibri"/>
                <a:cs typeface="Calibri"/>
              </a:rPr>
              <a:t>all</a:t>
            </a:r>
            <a:r>
              <a:rPr sz="2100" kern="0" spc="-38" dirty="0">
                <a:solidFill>
                  <a:sysClr val="windowText" lastClr="000000"/>
                </a:solidFill>
                <a:latin typeface="Calibri"/>
                <a:cs typeface="Calibri"/>
              </a:rPr>
              <a:t> </a:t>
            </a:r>
            <a:r>
              <a:rPr sz="2100" kern="0" spc="-15" dirty="0">
                <a:solidFill>
                  <a:sysClr val="windowText" lastClr="000000"/>
                </a:solidFill>
                <a:latin typeface="Calibri"/>
                <a:cs typeface="Calibri"/>
              </a:rPr>
              <a:t>single-</a:t>
            </a:r>
            <a:r>
              <a:rPr sz="2100" kern="0" dirty="0">
                <a:solidFill>
                  <a:sysClr val="windowText" lastClr="000000"/>
                </a:solidFill>
                <a:latin typeface="Calibri"/>
                <a:cs typeface="Calibri"/>
              </a:rPr>
              <a:t>bit</a:t>
            </a:r>
            <a:r>
              <a:rPr sz="2100" kern="0" spc="-15" dirty="0">
                <a:solidFill>
                  <a:sysClr val="windowText" lastClr="000000"/>
                </a:solidFill>
                <a:latin typeface="Calibri"/>
                <a:cs typeface="Calibri"/>
              </a:rPr>
              <a:t> </a:t>
            </a:r>
            <a:r>
              <a:rPr sz="2100" kern="0" dirty="0">
                <a:solidFill>
                  <a:sysClr val="windowText" lastClr="000000"/>
                </a:solidFill>
                <a:latin typeface="Calibri"/>
                <a:cs typeface="Calibri"/>
              </a:rPr>
              <a:t>errors</a:t>
            </a:r>
            <a:r>
              <a:rPr sz="2100" kern="0" spc="-23" dirty="0">
                <a:solidFill>
                  <a:sysClr val="windowText" lastClr="000000"/>
                </a:solidFill>
                <a:latin typeface="Calibri"/>
                <a:cs typeface="Calibri"/>
              </a:rPr>
              <a:t> </a:t>
            </a:r>
            <a:r>
              <a:rPr sz="2100" kern="0" dirty="0">
                <a:solidFill>
                  <a:sysClr val="windowText" lastClr="000000"/>
                </a:solidFill>
                <a:latin typeface="Calibri"/>
                <a:cs typeface="Calibri"/>
              </a:rPr>
              <a:t>and</a:t>
            </a:r>
            <a:r>
              <a:rPr sz="2100" kern="0" spc="-34" dirty="0">
                <a:solidFill>
                  <a:sysClr val="windowText" lastClr="000000"/>
                </a:solidFill>
                <a:latin typeface="Calibri"/>
                <a:cs typeface="Calibri"/>
              </a:rPr>
              <a:t> </a:t>
            </a:r>
            <a:r>
              <a:rPr sz="2100" kern="0" dirty="0">
                <a:solidFill>
                  <a:sysClr val="windowText" lastClr="000000"/>
                </a:solidFill>
                <a:latin typeface="Calibri"/>
                <a:cs typeface="Calibri"/>
              </a:rPr>
              <a:t>some</a:t>
            </a:r>
            <a:r>
              <a:rPr sz="2100" kern="0" spc="-34" dirty="0">
                <a:solidFill>
                  <a:sysClr val="windowText" lastClr="000000"/>
                </a:solidFill>
                <a:latin typeface="Calibri"/>
                <a:cs typeface="Calibri"/>
              </a:rPr>
              <a:t> </a:t>
            </a:r>
            <a:r>
              <a:rPr sz="2100" kern="0" spc="-15" dirty="0">
                <a:solidFill>
                  <a:sysClr val="windowText" lastClr="000000"/>
                </a:solidFill>
                <a:latin typeface="Calibri"/>
                <a:cs typeface="Calibri"/>
              </a:rPr>
              <a:t>multiple-</a:t>
            </a:r>
            <a:r>
              <a:rPr sz="2100" kern="0" dirty="0">
                <a:solidFill>
                  <a:sysClr val="windowText" lastClr="000000"/>
                </a:solidFill>
                <a:latin typeface="Calibri"/>
                <a:cs typeface="Calibri"/>
              </a:rPr>
              <a:t>bit</a:t>
            </a:r>
            <a:r>
              <a:rPr sz="2100" kern="0" spc="-8" dirty="0">
                <a:solidFill>
                  <a:sysClr val="windowText" lastClr="000000"/>
                </a:solidFill>
                <a:latin typeface="Calibri"/>
                <a:cs typeface="Calibri"/>
              </a:rPr>
              <a:t> errors.</a:t>
            </a:r>
            <a:endParaRPr sz="2100" kern="0" dirty="0">
              <a:solidFill>
                <a:sysClr val="windowText" lastClr="000000"/>
              </a:solidFill>
              <a:latin typeface="Calibri"/>
              <a:cs typeface="Calibri"/>
            </a:endParaRPr>
          </a:p>
          <a:p>
            <a:pPr marL="180022" marR="139065" indent="-170497" defTabSz="685800">
              <a:lnSpc>
                <a:spcPts val="2265"/>
              </a:lnSpc>
              <a:spcBef>
                <a:spcPts val="784"/>
              </a:spcBef>
              <a:buFont typeface="Arial MT"/>
              <a:buChar char="•"/>
              <a:tabLst>
                <a:tab pos="180975" algn="l"/>
              </a:tabLst>
            </a:pPr>
            <a:r>
              <a:rPr sz="2100" kern="0" dirty="0">
                <a:solidFill>
                  <a:sysClr val="windowText" lastClr="000000"/>
                </a:solidFill>
                <a:latin typeface="Calibri"/>
                <a:cs typeface="Calibri"/>
              </a:rPr>
              <a:t>A</a:t>
            </a:r>
            <a:r>
              <a:rPr sz="2100" kern="0" spc="-38" dirty="0">
                <a:solidFill>
                  <a:sysClr val="windowText" lastClr="000000"/>
                </a:solidFill>
                <a:latin typeface="Calibri"/>
                <a:cs typeface="Calibri"/>
              </a:rPr>
              <a:t> </a:t>
            </a:r>
            <a:r>
              <a:rPr sz="2100" kern="0" dirty="0">
                <a:solidFill>
                  <a:sysClr val="windowText" lastClr="000000"/>
                </a:solidFill>
                <a:latin typeface="Calibri"/>
                <a:cs typeface="Calibri"/>
              </a:rPr>
              <a:t>code</a:t>
            </a:r>
            <a:r>
              <a:rPr sz="2100" kern="0" spc="-41" dirty="0">
                <a:solidFill>
                  <a:sysClr val="windowText" lastClr="000000"/>
                </a:solidFill>
                <a:latin typeface="Calibri"/>
                <a:cs typeface="Calibri"/>
              </a:rPr>
              <a:t> </a:t>
            </a:r>
            <a:r>
              <a:rPr sz="2100" kern="0" dirty="0">
                <a:solidFill>
                  <a:sysClr val="windowText" lastClr="000000"/>
                </a:solidFill>
                <a:latin typeface="Calibri"/>
                <a:cs typeface="Calibri"/>
              </a:rPr>
              <a:t>word</a:t>
            </a:r>
            <a:r>
              <a:rPr sz="2100" kern="0" spc="-38" dirty="0">
                <a:solidFill>
                  <a:sysClr val="windowText" lastClr="000000"/>
                </a:solidFill>
                <a:latin typeface="Calibri"/>
                <a:cs typeface="Calibri"/>
              </a:rPr>
              <a:t> </a:t>
            </a:r>
            <a:r>
              <a:rPr sz="2100" kern="0" dirty="0">
                <a:solidFill>
                  <a:sysClr val="windowText" lastClr="000000"/>
                </a:solidFill>
                <a:latin typeface="Calibri"/>
                <a:cs typeface="Calibri"/>
              </a:rPr>
              <a:t>has</a:t>
            </a:r>
            <a:r>
              <a:rPr sz="2100" kern="0" spc="-49" dirty="0">
                <a:solidFill>
                  <a:sysClr val="windowText" lastClr="000000"/>
                </a:solidFill>
                <a:latin typeface="Calibri"/>
                <a:cs typeface="Calibri"/>
              </a:rPr>
              <a:t> </a:t>
            </a:r>
            <a:r>
              <a:rPr sz="2100" kern="0" dirty="0">
                <a:solidFill>
                  <a:srgbClr val="00AF50"/>
                </a:solidFill>
                <a:latin typeface="Calibri"/>
                <a:cs typeface="Calibri"/>
              </a:rPr>
              <a:t>even</a:t>
            </a:r>
            <a:r>
              <a:rPr sz="2100" kern="0" spc="-49" dirty="0">
                <a:solidFill>
                  <a:srgbClr val="00AF50"/>
                </a:solidFill>
                <a:latin typeface="Calibri"/>
                <a:cs typeface="Calibri"/>
              </a:rPr>
              <a:t> </a:t>
            </a:r>
            <a:r>
              <a:rPr sz="2100" kern="0" dirty="0">
                <a:solidFill>
                  <a:srgbClr val="00AF50"/>
                </a:solidFill>
                <a:latin typeface="Calibri"/>
                <a:cs typeface="Calibri"/>
              </a:rPr>
              <a:t>parity</a:t>
            </a:r>
            <a:r>
              <a:rPr sz="2100" kern="0" spc="-56" dirty="0">
                <a:solidFill>
                  <a:srgbClr val="00AF50"/>
                </a:solidFill>
                <a:latin typeface="Calibri"/>
                <a:cs typeface="Calibri"/>
              </a:rPr>
              <a:t> </a:t>
            </a:r>
            <a:r>
              <a:rPr sz="2100" kern="0" dirty="0">
                <a:solidFill>
                  <a:sysClr val="windowText" lastClr="000000"/>
                </a:solidFill>
                <a:latin typeface="Calibri"/>
                <a:cs typeface="Calibri"/>
              </a:rPr>
              <a:t>if</a:t>
            </a:r>
            <a:r>
              <a:rPr sz="2100" kern="0" spc="-49" dirty="0">
                <a:solidFill>
                  <a:sysClr val="windowText" lastClr="000000"/>
                </a:solidFill>
                <a:latin typeface="Calibri"/>
                <a:cs typeface="Calibri"/>
              </a:rPr>
              <a:t> </a:t>
            </a:r>
            <a:r>
              <a:rPr sz="2100" kern="0" dirty="0">
                <a:solidFill>
                  <a:sysClr val="windowText" lastClr="000000"/>
                </a:solidFill>
                <a:latin typeface="Calibri"/>
                <a:cs typeface="Calibri"/>
              </a:rPr>
              <a:t>the</a:t>
            </a:r>
            <a:r>
              <a:rPr sz="2100" kern="0" spc="-41" dirty="0">
                <a:solidFill>
                  <a:sysClr val="windowText" lastClr="000000"/>
                </a:solidFill>
                <a:latin typeface="Calibri"/>
                <a:cs typeface="Calibri"/>
              </a:rPr>
              <a:t> </a:t>
            </a:r>
            <a:r>
              <a:rPr sz="2100" kern="0" dirty="0">
                <a:solidFill>
                  <a:sysClr val="windowText" lastClr="000000"/>
                </a:solidFill>
                <a:latin typeface="Calibri"/>
                <a:cs typeface="Calibri"/>
              </a:rPr>
              <a:t>number</a:t>
            </a:r>
            <a:r>
              <a:rPr sz="2100" kern="0" spc="-26" dirty="0">
                <a:solidFill>
                  <a:sysClr val="windowText" lastClr="000000"/>
                </a:solidFill>
                <a:latin typeface="Calibri"/>
                <a:cs typeface="Calibri"/>
              </a:rPr>
              <a:t> </a:t>
            </a:r>
            <a:r>
              <a:rPr sz="2100" kern="0" dirty="0">
                <a:solidFill>
                  <a:sysClr val="windowText" lastClr="000000"/>
                </a:solidFill>
                <a:latin typeface="Calibri"/>
                <a:cs typeface="Calibri"/>
              </a:rPr>
              <a:t>of</a:t>
            </a:r>
            <a:r>
              <a:rPr sz="2100" kern="0" spc="-49" dirty="0">
                <a:solidFill>
                  <a:sysClr val="windowText" lastClr="000000"/>
                </a:solidFill>
                <a:latin typeface="Calibri"/>
                <a:cs typeface="Calibri"/>
              </a:rPr>
              <a:t> </a:t>
            </a:r>
            <a:r>
              <a:rPr sz="2100" kern="0" spc="-15" dirty="0">
                <a:solidFill>
                  <a:sysClr val="windowText" lastClr="000000"/>
                </a:solidFill>
                <a:latin typeface="Calibri"/>
                <a:cs typeface="Calibri"/>
              </a:rPr>
              <a:t>1’s</a:t>
            </a:r>
            <a:r>
              <a:rPr sz="2100" kern="0" spc="-30" dirty="0">
                <a:solidFill>
                  <a:sysClr val="windowText" lastClr="000000"/>
                </a:solidFill>
                <a:latin typeface="Calibri"/>
                <a:cs typeface="Calibri"/>
              </a:rPr>
              <a:t> </a:t>
            </a:r>
            <a:r>
              <a:rPr sz="2100" kern="0" dirty="0">
                <a:solidFill>
                  <a:sysClr val="windowText" lastClr="000000"/>
                </a:solidFill>
                <a:latin typeface="Calibri"/>
                <a:cs typeface="Calibri"/>
              </a:rPr>
              <a:t>in</a:t>
            </a:r>
            <a:r>
              <a:rPr sz="2100" kern="0" spc="-45" dirty="0">
                <a:solidFill>
                  <a:sysClr val="windowText" lastClr="000000"/>
                </a:solidFill>
                <a:latin typeface="Calibri"/>
                <a:cs typeface="Calibri"/>
              </a:rPr>
              <a:t> </a:t>
            </a:r>
            <a:r>
              <a:rPr sz="2100" kern="0" dirty="0">
                <a:solidFill>
                  <a:sysClr val="windowText" lastClr="000000"/>
                </a:solidFill>
                <a:latin typeface="Calibri"/>
                <a:cs typeface="Calibri"/>
              </a:rPr>
              <a:t>the</a:t>
            </a:r>
            <a:r>
              <a:rPr sz="2100" kern="0" spc="-41" dirty="0">
                <a:solidFill>
                  <a:sysClr val="windowText" lastClr="000000"/>
                </a:solidFill>
                <a:latin typeface="Calibri"/>
                <a:cs typeface="Calibri"/>
              </a:rPr>
              <a:t> </a:t>
            </a:r>
            <a:r>
              <a:rPr sz="2100" kern="0" dirty="0">
                <a:solidFill>
                  <a:sysClr val="windowText" lastClr="000000"/>
                </a:solidFill>
                <a:latin typeface="Calibri"/>
                <a:cs typeface="Calibri"/>
              </a:rPr>
              <a:t>code</a:t>
            </a:r>
            <a:r>
              <a:rPr sz="2100" kern="0" spc="-45" dirty="0">
                <a:solidFill>
                  <a:sysClr val="windowText" lastClr="000000"/>
                </a:solidFill>
                <a:latin typeface="Calibri"/>
                <a:cs typeface="Calibri"/>
              </a:rPr>
              <a:t> </a:t>
            </a:r>
            <a:r>
              <a:rPr sz="2100" kern="0" dirty="0">
                <a:solidFill>
                  <a:sysClr val="windowText" lastClr="000000"/>
                </a:solidFill>
                <a:latin typeface="Calibri"/>
                <a:cs typeface="Calibri"/>
              </a:rPr>
              <a:t>word</a:t>
            </a:r>
            <a:r>
              <a:rPr sz="2100" kern="0" spc="-41" dirty="0">
                <a:solidFill>
                  <a:sysClr val="windowText" lastClr="000000"/>
                </a:solidFill>
                <a:latin typeface="Calibri"/>
                <a:cs typeface="Calibri"/>
              </a:rPr>
              <a:t> </a:t>
            </a:r>
            <a:r>
              <a:rPr sz="2100" kern="0" spc="-19" dirty="0">
                <a:solidFill>
                  <a:sysClr val="windowText" lastClr="000000"/>
                </a:solidFill>
                <a:latin typeface="Calibri"/>
                <a:cs typeface="Calibri"/>
              </a:rPr>
              <a:t>is 	</a:t>
            </a:r>
            <a:r>
              <a:rPr sz="2100" kern="0" spc="-8" dirty="0">
                <a:solidFill>
                  <a:sysClr val="windowText" lastClr="000000"/>
                </a:solidFill>
                <a:latin typeface="Calibri"/>
                <a:cs typeface="Calibri"/>
              </a:rPr>
              <a:t>even.</a:t>
            </a:r>
            <a:endParaRPr sz="2100" kern="0" dirty="0">
              <a:solidFill>
                <a:sysClr val="windowText" lastClr="000000"/>
              </a:solidFill>
              <a:latin typeface="Calibri"/>
              <a:cs typeface="Calibri"/>
            </a:endParaRPr>
          </a:p>
          <a:p>
            <a:pPr marL="180022" marR="238601" indent="-170497" defTabSz="685800">
              <a:lnSpc>
                <a:spcPts val="2265"/>
              </a:lnSpc>
              <a:spcBef>
                <a:spcPts val="765"/>
              </a:spcBef>
              <a:buFont typeface="Arial MT"/>
              <a:buChar char="•"/>
              <a:tabLst>
                <a:tab pos="180975" algn="l"/>
              </a:tabLst>
            </a:pPr>
            <a:r>
              <a:rPr sz="2100" kern="0" dirty="0">
                <a:solidFill>
                  <a:sysClr val="windowText" lastClr="000000"/>
                </a:solidFill>
                <a:latin typeface="Calibri"/>
                <a:cs typeface="Calibri"/>
              </a:rPr>
              <a:t>A</a:t>
            </a:r>
            <a:r>
              <a:rPr sz="2100" kern="0" spc="-34" dirty="0">
                <a:solidFill>
                  <a:sysClr val="windowText" lastClr="000000"/>
                </a:solidFill>
                <a:latin typeface="Calibri"/>
                <a:cs typeface="Calibri"/>
              </a:rPr>
              <a:t> </a:t>
            </a:r>
            <a:r>
              <a:rPr sz="2100" kern="0" dirty="0">
                <a:solidFill>
                  <a:sysClr val="windowText" lastClr="000000"/>
                </a:solidFill>
                <a:latin typeface="Calibri"/>
                <a:cs typeface="Calibri"/>
              </a:rPr>
              <a:t>code</a:t>
            </a:r>
            <a:r>
              <a:rPr sz="2100" kern="0" spc="-41" dirty="0">
                <a:solidFill>
                  <a:sysClr val="windowText" lastClr="000000"/>
                </a:solidFill>
                <a:latin typeface="Calibri"/>
                <a:cs typeface="Calibri"/>
              </a:rPr>
              <a:t> </a:t>
            </a:r>
            <a:r>
              <a:rPr sz="2100" kern="0" dirty="0">
                <a:solidFill>
                  <a:sysClr val="windowText" lastClr="000000"/>
                </a:solidFill>
                <a:latin typeface="Calibri"/>
                <a:cs typeface="Calibri"/>
              </a:rPr>
              <a:t>word</a:t>
            </a:r>
            <a:r>
              <a:rPr sz="2100" kern="0" spc="-34" dirty="0">
                <a:solidFill>
                  <a:sysClr val="windowText" lastClr="000000"/>
                </a:solidFill>
                <a:latin typeface="Calibri"/>
                <a:cs typeface="Calibri"/>
              </a:rPr>
              <a:t> </a:t>
            </a:r>
            <a:r>
              <a:rPr sz="2100" kern="0" dirty="0">
                <a:solidFill>
                  <a:sysClr val="windowText" lastClr="000000"/>
                </a:solidFill>
                <a:latin typeface="Calibri"/>
                <a:cs typeface="Calibri"/>
              </a:rPr>
              <a:t>has</a:t>
            </a:r>
            <a:r>
              <a:rPr sz="2100" kern="0" spc="-49" dirty="0">
                <a:solidFill>
                  <a:sysClr val="windowText" lastClr="000000"/>
                </a:solidFill>
                <a:latin typeface="Calibri"/>
                <a:cs typeface="Calibri"/>
              </a:rPr>
              <a:t> </a:t>
            </a:r>
            <a:r>
              <a:rPr sz="2100" kern="0" dirty="0">
                <a:solidFill>
                  <a:srgbClr val="00AF50"/>
                </a:solidFill>
                <a:latin typeface="Calibri"/>
                <a:cs typeface="Calibri"/>
              </a:rPr>
              <a:t>odd</a:t>
            </a:r>
            <a:r>
              <a:rPr sz="2100" kern="0" spc="-26" dirty="0">
                <a:solidFill>
                  <a:srgbClr val="00AF50"/>
                </a:solidFill>
                <a:latin typeface="Calibri"/>
                <a:cs typeface="Calibri"/>
              </a:rPr>
              <a:t> </a:t>
            </a:r>
            <a:r>
              <a:rPr sz="2100" kern="0" dirty="0">
                <a:solidFill>
                  <a:srgbClr val="00AF50"/>
                </a:solidFill>
                <a:latin typeface="Calibri"/>
                <a:cs typeface="Calibri"/>
              </a:rPr>
              <a:t>parity</a:t>
            </a:r>
            <a:r>
              <a:rPr sz="2100" kern="0" spc="-53" dirty="0">
                <a:solidFill>
                  <a:srgbClr val="00AF50"/>
                </a:solidFill>
                <a:latin typeface="Calibri"/>
                <a:cs typeface="Calibri"/>
              </a:rPr>
              <a:t> </a:t>
            </a:r>
            <a:r>
              <a:rPr sz="2100" kern="0" dirty="0">
                <a:solidFill>
                  <a:sysClr val="windowText" lastClr="000000"/>
                </a:solidFill>
                <a:latin typeface="Calibri"/>
                <a:cs typeface="Calibri"/>
              </a:rPr>
              <a:t>if</a:t>
            </a:r>
            <a:r>
              <a:rPr sz="2100" kern="0" spc="-45" dirty="0">
                <a:solidFill>
                  <a:sysClr val="windowText" lastClr="000000"/>
                </a:solidFill>
                <a:latin typeface="Calibri"/>
                <a:cs typeface="Calibri"/>
              </a:rPr>
              <a:t> </a:t>
            </a:r>
            <a:r>
              <a:rPr sz="2100" kern="0" dirty="0">
                <a:solidFill>
                  <a:sysClr val="windowText" lastClr="000000"/>
                </a:solidFill>
                <a:latin typeface="Calibri"/>
                <a:cs typeface="Calibri"/>
              </a:rPr>
              <a:t>the</a:t>
            </a:r>
            <a:r>
              <a:rPr sz="2100" kern="0" spc="-38" dirty="0">
                <a:solidFill>
                  <a:sysClr val="windowText" lastClr="000000"/>
                </a:solidFill>
                <a:latin typeface="Calibri"/>
                <a:cs typeface="Calibri"/>
              </a:rPr>
              <a:t> </a:t>
            </a:r>
            <a:r>
              <a:rPr sz="2100" kern="0" dirty="0">
                <a:solidFill>
                  <a:sysClr val="windowText" lastClr="000000"/>
                </a:solidFill>
                <a:latin typeface="Calibri"/>
                <a:cs typeface="Calibri"/>
              </a:rPr>
              <a:t>number</a:t>
            </a:r>
            <a:r>
              <a:rPr sz="2100" kern="0" spc="-26" dirty="0">
                <a:solidFill>
                  <a:sysClr val="windowText" lastClr="000000"/>
                </a:solidFill>
                <a:latin typeface="Calibri"/>
                <a:cs typeface="Calibri"/>
              </a:rPr>
              <a:t> </a:t>
            </a:r>
            <a:r>
              <a:rPr sz="2100" kern="0" dirty="0">
                <a:solidFill>
                  <a:sysClr val="windowText" lastClr="000000"/>
                </a:solidFill>
                <a:latin typeface="Calibri"/>
                <a:cs typeface="Calibri"/>
              </a:rPr>
              <a:t>of</a:t>
            </a:r>
            <a:r>
              <a:rPr sz="2100" kern="0" spc="-49" dirty="0">
                <a:solidFill>
                  <a:sysClr val="windowText" lastClr="000000"/>
                </a:solidFill>
                <a:latin typeface="Calibri"/>
                <a:cs typeface="Calibri"/>
              </a:rPr>
              <a:t> </a:t>
            </a:r>
            <a:r>
              <a:rPr sz="2100" kern="0" spc="-15" dirty="0">
                <a:solidFill>
                  <a:sysClr val="windowText" lastClr="000000"/>
                </a:solidFill>
                <a:latin typeface="Calibri"/>
                <a:cs typeface="Calibri"/>
              </a:rPr>
              <a:t>1’s</a:t>
            </a:r>
            <a:r>
              <a:rPr sz="2100" kern="0" spc="-26" dirty="0">
                <a:solidFill>
                  <a:sysClr val="windowText" lastClr="000000"/>
                </a:solidFill>
                <a:latin typeface="Calibri"/>
                <a:cs typeface="Calibri"/>
              </a:rPr>
              <a:t> </a:t>
            </a:r>
            <a:r>
              <a:rPr sz="2100" kern="0" dirty="0">
                <a:solidFill>
                  <a:sysClr val="windowText" lastClr="000000"/>
                </a:solidFill>
                <a:latin typeface="Calibri"/>
                <a:cs typeface="Calibri"/>
              </a:rPr>
              <a:t>in</a:t>
            </a:r>
            <a:r>
              <a:rPr sz="2100" kern="0" spc="-45" dirty="0">
                <a:solidFill>
                  <a:sysClr val="windowText" lastClr="000000"/>
                </a:solidFill>
                <a:latin typeface="Calibri"/>
                <a:cs typeface="Calibri"/>
              </a:rPr>
              <a:t> </a:t>
            </a:r>
            <a:r>
              <a:rPr sz="2100" kern="0" dirty="0">
                <a:solidFill>
                  <a:sysClr val="windowText" lastClr="000000"/>
                </a:solidFill>
                <a:latin typeface="Calibri"/>
                <a:cs typeface="Calibri"/>
              </a:rPr>
              <a:t>the</a:t>
            </a:r>
            <a:r>
              <a:rPr sz="2100" kern="0" spc="-41" dirty="0">
                <a:solidFill>
                  <a:sysClr val="windowText" lastClr="000000"/>
                </a:solidFill>
                <a:latin typeface="Calibri"/>
                <a:cs typeface="Calibri"/>
              </a:rPr>
              <a:t> </a:t>
            </a:r>
            <a:r>
              <a:rPr sz="2100" kern="0" dirty="0">
                <a:solidFill>
                  <a:sysClr val="windowText" lastClr="000000"/>
                </a:solidFill>
                <a:latin typeface="Calibri"/>
                <a:cs typeface="Calibri"/>
              </a:rPr>
              <a:t>code</a:t>
            </a:r>
            <a:r>
              <a:rPr sz="2100" kern="0" spc="-38" dirty="0">
                <a:solidFill>
                  <a:sysClr val="windowText" lastClr="000000"/>
                </a:solidFill>
                <a:latin typeface="Calibri"/>
                <a:cs typeface="Calibri"/>
              </a:rPr>
              <a:t> </a:t>
            </a:r>
            <a:r>
              <a:rPr sz="2100" kern="0" dirty="0">
                <a:solidFill>
                  <a:sysClr val="windowText" lastClr="000000"/>
                </a:solidFill>
                <a:latin typeface="Calibri"/>
                <a:cs typeface="Calibri"/>
              </a:rPr>
              <a:t>word</a:t>
            </a:r>
            <a:r>
              <a:rPr sz="2100" kern="0" spc="-38" dirty="0">
                <a:solidFill>
                  <a:sysClr val="windowText" lastClr="000000"/>
                </a:solidFill>
                <a:latin typeface="Calibri"/>
                <a:cs typeface="Calibri"/>
              </a:rPr>
              <a:t> </a:t>
            </a:r>
            <a:r>
              <a:rPr sz="2100" kern="0" spc="-19" dirty="0">
                <a:solidFill>
                  <a:sysClr val="windowText" lastClr="000000"/>
                </a:solidFill>
                <a:latin typeface="Calibri"/>
                <a:cs typeface="Calibri"/>
              </a:rPr>
              <a:t>is 	</a:t>
            </a:r>
            <a:r>
              <a:rPr sz="2100" kern="0" spc="-15" dirty="0">
                <a:solidFill>
                  <a:sysClr val="windowText" lastClr="000000"/>
                </a:solidFill>
                <a:latin typeface="Calibri"/>
                <a:cs typeface="Calibri"/>
              </a:rPr>
              <a:t>odd.</a:t>
            </a:r>
            <a:endParaRPr sz="2100" kern="0" dirty="0">
              <a:solidFill>
                <a:sysClr val="windowText" lastClr="000000"/>
              </a:solidFill>
              <a:latin typeface="Calibri"/>
              <a:cs typeface="Calibri"/>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7554659" y="5706161"/>
            <a:ext cx="470059" cy="117020"/>
          </a:xfrm>
          <a:prstGeom prst="rect">
            <a:avLst/>
          </a:prstGeom>
        </p:spPr>
        <p:txBody>
          <a:bodyPr vert="horz" wrap="square" lIns="0" tIns="0" rIns="0" bIns="0" rtlCol="0">
            <a:spAutoFit/>
          </a:bodyPr>
          <a:lstStyle/>
          <a:p>
            <a:pPr marL="9525" defTabSz="685800">
              <a:lnSpc>
                <a:spcPts val="930"/>
              </a:lnSpc>
            </a:pPr>
            <a:r>
              <a:rPr sz="900" kern="0" dirty="0">
                <a:solidFill>
                  <a:srgbClr val="888888"/>
                </a:solidFill>
                <a:latin typeface="Calibri"/>
                <a:cs typeface="Calibri"/>
              </a:rPr>
              <a:t>Chapter</a:t>
            </a:r>
            <a:r>
              <a:rPr sz="900" kern="0" spc="-49" dirty="0">
                <a:solidFill>
                  <a:srgbClr val="888888"/>
                </a:solidFill>
                <a:latin typeface="Calibri"/>
                <a:cs typeface="Calibri"/>
              </a:rPr>
              <a:t> </a:t>
            </a:r>
            <a:r>
              <a:rPr sz="900" kern="0" spc="-38" dirty="0">
                <a:solidFill>
                  <a:srgbClr val="888888"/>
                </a:solidFill>
                <a:latin typeface="Calibri"/>
                <a:cs typeface="Calibri"/>
              </a:rPr>
              <a:t>1</a:t>
            </a:r>
            <a:endParaRPr sz="900" kern="0">
              <a:solidFill>
                <a:sysClr val="windowText" lastClr="000000"/>
              </a:solidFill>
              <a:latin typeface="Calibri"/>
              <a:cs typeface="Calibri"/>
            </a:endParaRPr>
          </a:p>
        </p:txBody>
      </p:sp>
      <p:sp>
        <p:nvSpPr>
          <p:cNvPr id="7" name="object 7"/>
          <p:cNvSpPr txBox="1">
            <a:spLocks noGrp="1"/>
          </p:cNvSpPr>
          <p:nvPr>
            <p:ph type="sldNum" sz="quarter" idx="7"/>
          </p:nvPr>
        </p:nvSpPr>
        <p:spPr>
          <a:xfrm>
            <a:off x="6226064" y="5693460"/>
            <a:ext cx="137517" cy="232436"/>
          </a:xfrm>
          <a:prstGeom prst="rect">
            <a:avLst/>
          </a:prstGeom>
        </p:spPr>
        <p:txBody>
          <a:bodyPr vert="horz" wrap="square" lIns="0" tIns="0" rIns="0" bIns="0" rtlCol="0">
            <a:spAutoFit/>
          </a:bodyPr>
          <a:lstStyle/>
          <a:p>
            <a:pPr marL="28575" defTabSz="685800">
              <a:lnSpc>
                <a:spcPts val="930"/>
              </a:lnSpc>
            </a:pPr>
            <a:r>
              <a:rPr i="0" u="none" kern="0" spc="-19" dirty="0">
                <a:latin typeface="Calibri"/>
                <a:cs typeface="Calibri"/>
              </a:rPr>
              <a:t>12</a:t>
            </a:r>
          </a:p>
        </p:txBody>
      </p:sp>
      <p:sp>
        <p:nvSpPr>
          <p:cNvPr id="2" name="object 2"/>
          <p:cNvSpPr txBox="1">
            <a:spLocks noGrp="1"/>
          </p:cNvSpPr>
          <p:nvPr>
            <p:ph type="title"/>
          </p:nvPr>
        </p:nvSpPr>
        <p:spPr>
          <a:xfrm>
            <a:off x="687705" y="1314507"/>
            <a:ext cx="4270534" cy="517930"/>
          </a:xfrm>
          <a:prstGeom prst="rect">
            <a:avLst/>
          </a:prstGeom>
        </p:spPr>
        <p:txBody>
          <a:bodyPr vert="horz" wrap="square" lIns="0" tIns="10001" rIns="0" bIns="0" rtlCol="0">
            <a:spAutoFit/>
          </a:bodyPr>
          <a:lstStyle/>
          <a:p>
            <a:pPr marL="9525">
              <a:spcBef>
                <a:spcPts val="79"/>
              </a:spcBef>
            </a:pPr>
            <a:r>
              <a:rPr spc="-30" dirty="0"/>
              <a:t>4-</a:t>
            </a:r>
            <a:r>
              <a:rPr dirty="0"/>
              <a:t>Bit</a:t>
            </a:r>
            <a:r>
              <a:rPr spc="-139" dirty="0"/>
              <a:t> </a:t>
            </a:r>
            <a:r>
              <a:rPr spc="-26" dirty="0"/>
              <a:t>Parity</a:t>
            </a:r>
            <a:r>
              <a:rPr spc="-146" dirty="0"/>
              <a:t> </a:t>
            </a:r>
            <a:r>
              <a:rPr dirty="0"/>
              <a:t>Code</a:t>
            </a:r>
            <a:r>
              <a:rPr spc="-153" dirty="0"/>
              <a:t> </a:t>
            </a:r>
            <a:r>
              <a:rPr spc="-8" dirty="0"/>
              <a:t>Example</a:t>
            </a:r>
          </a:p>
        </p:txBody>
      </p:sp>
      <p:sp>
        <p:nvSpPr>
          <p:cNvPr id="3" name="object 3"/>
          <p:cNvSpPr txBox="1"/>
          <p:nvPr/>
        </p:nvSpPr>
        <p:spPr>
          <a:xfrm>
            <a:off x="1680971" y="1702213"/>
            <a:ext cx="3819525" cy="332303"/>
          </a:xfrm>
          <a:prstGeom prst="rect">
            <a:avLst/>
          </a:prstGeom>
        </p:spPr>
        <p:txBody>
          <a:bodyPr vert="horz" wrap="square" lIns="0" tIns="9049" rIns="0" bIns="0" rtlCol="0">
            <a:spAutoFit/>
          </a:bodyPr>
          <a:lstStyle/>
          <a:p>
            <a:pPr marL="180022" indent="-170497" defTabSz="685800">
              <a:spcBef>
                <a:spcPts val="71"/>
              </a:spcBef>
              <a:buFont typeface="Arial MT"/>
              <a:buChar char="•"/>
              <a:tabLst>
                <a:tab pos="180022" algn="l"/>
              </a:tabLst>
            </a:pPr>
            <a:r>
              <a:rPr sz="2100" kern="0" dirty="0">
                <a:solidFill>
                  <a:sysClr val="windowText" lastClr="000000"/>
                </a:solidFill>
                <a:latin typeface="Calibri Light"/>
                <a:cs typeface="Calibri Light"/>
              </a:rPr>
              <a:t>Fill</a:t>
            </a:r>
            <a:r>
              <a:rPr sz="2100" kern="0" spc="-75" dirty="0">
                <a:solidFill>
                  <a:sysClr val="windowText" lastClr="000000"/>
                </a:solidFill>
                <a:latin typeface="Calibri Light"/>
                <a:cs typeface="Calibri Light"/>
              </a:rPr>
              <a:t> </a:t>
            </a:r>
            <a:r>
              <a:rPr sz="2100" kern="0" dirty="0">
                <a:solidFill>
                  <a:sysClr val="windowText" lastClr="000000"/>
                </a:solidFill>
                <a:latin typeface="Calibri Light"/>
                <a:cs typeface="Calibri Light"/>
              </a:rPr>
              <a:t>in</a:t>
            </a:r>
            <a:r>
              <a:rPr sz="2100" kern="0" spc="-60" dirty="0">
                <a:solidFill>
                  <a:sysClr val="windowText" lastClr="000000"/>
                </a:solidFill>
                <a:latin typeface="Calibri Light"/>
                <a:cs typeface="Calibri Light"/>
              </a:rPr>
              <a:t> </a:t>
            </a:r>
            <a:r>
              <a:rPr sz="2100" kern="0" dirty="0">
                <a:solidFill>
                  <a:sysClr val="windowText" lastClr="000000"/>
                </a:solidFill>
                <a:latin typeface="Calibri Light"/>
                <a:cs typeface="Calibri Light"/>
              </a:rPr>
              <a:t>the</a:t>
            </a:r>
            <a:r>
              <a:rPr sz="2100" kern="0" spc="-68" dirty="0">
                <a:solidFill>
                  <a:sysClr val="windowText" lastClr="000000"/>
                </a:solidFill>
                <a:latin typeface="Calibri Light"/>
                <a:cs typeface="Calibri Light"/>
              </a:rPr>
              <a:t> </a:t>
            </a:r>
            <a:r>
              <a:rPr sz="2100" kern="0" spc="-15" dirty="0">
                <a:solidFill>
                  <a:sysClr val="windowText" lastClr="000000"/>
                </a:solidFill>
                <a:latin typeface="Calibri Light"/>
                <a:cs typeface="Calibri Light"/>
              </a:rPr>
              <a:t>even</a:t>
            </a:r>
            <a:r>
              <a:rPr sz="2100" kern="0" spc="-83" dirty="0">
                <a:solidFill>
                  <a:sysClr val="windowText" lastClr="000000"/>
                </a:solidFill>
                <a:latin typeface="Calibri Light"/>
                <a:cs typeface="Calibri Light"/>
              </a:rPr>
              <a:t> </a:t>
            </a:r>
            <a:r>
              <a:rPr sz="2100" kern="0" dirty="0">
                <a:solidFill>
                  <a:sysClr val="windowText" lastClr="000000"/>
                </a:solidFill>
                <a:latin typeface="Calibri Light"/>
                <a:cs typeface="Calibri Light"/>
              </a:rPr>
              <a:t>and</a:t>
            </a:r>
            <a:r>
              <a:rPr sz="2100" kern="0" spc="-83" dirty="0">
                <a:solidFill>
                  <a:sysClr val="windowText" lastClr="000000"/>
                </a:solidFill>
                <a:latin typeface="Calibri Light"/>
                <a:cs typeface="Calibri Light"/>
              </a:rPr>
              <a:t> </a:t>
            </a:r>
            <a:r>
              <a:rPr sz="2100" kern="0" dirty="0">
                <a:solidFill>
                  <a:sysClr val="windowText" lastClr="000000"/>
                </a:solidFill>
                <a:latin typeface="Calibri Light"/>
                <a:cs typeface="Calibri Light"/>
              </a:rPr>
              <a:t>odd</a:t>
            </a:r>
            <a:r>
              <a:rPr sz="2100" kern="0" spc="-75" dirty="0">
                <a:solidFill>
                  <a:sysClr val="windowText" lastClr="000000"/>
                </a:solidFill>
                <a:latin typeface="Calibri Light"/>
                <a:cs typeface="Calibri Light"/>
              </a:rPr>
              <a:t> </a:t>
            </a:r>
            <a:r>
              <a:rPr sz="2100" kern="0" dirty="0">
                <a:solidFill>
                  <a:sysClr val="windowText" lastClr="000000"/>
                </a:solidFill>
                <a:latin typeface="Calibri Light"/>
                <a:cs typeface="Calibri Light"/>
              </a:rPr>
              <a:t>parity</a:t>
            </a:r>
            <a:r>
              <a:rPr sz="2100" kern="0" spc="-83" dirty="0">
                <a:solidFill>
                  <a:sysClr val="windowText" lastClr="000000"/>
                </a:solidFill>
                <a:latin typeface="Calibri Light"/>
                <a:cs typeface="Calibri Light"/>
              </a:rPr>
              <a:t> </a:t>
            </a:r>
            <a:r>
              <a:rPr sz="2100" kern="0" spc="-8" dirty="0">
                <a:solidFill>
                  <a:sysClr val="windowText" lastClr="000000"/>
                </a:solidFill>
                <a:latin typeface="Calibri Light"/>
                <a:cs typeface="Calibri Light"/>
              </a:rPr>
              <a:t>bits:</a:t>
            </a:r>
            <a:endParaRPr sz="2100" kern="0">
              <a:solidFill>
                <a:sysClr val="windowText" lastClr="000000"/>
              </a:solidFill>
              <a:latin typeface="Calibri Light"/>
              <a:cs typeface="Calibri Light"/>
            </a:endParaRPr>
          </a:p>
        </p:txBody>
      </p:sp>
      <p:sp>
        <p:nvSpPr>
          <p:cNvPr id="4" name="object 4"/>
          <p:cNvSpPr txBox="1"/>
          <p:nvPr/>
        </p:nvSpPr>
        <p:spPr>
          <a:xfrm>
            <a:off x="1306509" y="5836274"/>
            <a:ext cx="5652611" cy="803361"/>
          </a:xfrm>
          <a:prstGeom prst="rect">
            <a:avLst/>
          </a:prstGeom>
        </p:spPr>
        <p:txBody>
          <a:bodyPr vert="horz" wrap="square" lIns="0" tIns="66675" rIns="0" bIns="0" rtlCol="0">
            <a:spAutoFit/>
          </a:bodyPr>
          <a:lstStyle/>
          <a:p>
            <a:pPr marL="180975" marR="3810" indent="-171450" defTabSz="685800">
              <a:lnSpc>
                <a:spcPts val="1875"/>
              </a:lnSpc>
              <a:spcBef>
                <a:spcPts val="525"/>
              </a:spcBef>
              <a:buFont typeface="Arial MT"/>
              <a:buChar char="•"/>
              <a:tabLst>
                <a:tab pos="180975" algn="l"/>
                <a:tab pos="3645694" algn="l"/>
              </a:tabLst>
            </a:pPr>
            <a:r>
              <a:rPr sz="1950" kern="0" dirty="0">
                <a:solidFill>
                  <a:sysClr val="windowText" lastClr="000000"/>
                </a:solidFill>
                <a:latin typeface="Calibri"/>
                <a:cs typeface="Calibri"/>
              </a:rPr>
              <a:t>The</a:t>
            </a:r>
            <a:r>
              <a:rPr sz="1950" kern="0" spc="-41" dirty="0">
                <a:solidFill>
                  <a:sysClr val="windowText" lastClr="000000"/>
                </a:solidFill>
                <a:latin typeface="Calibri"/>
                <a:cs typeface="Calibri"/>
              </a:rPr>
              <a:t> </a:t>
            </a:r>
            <a:r>
              <a:rPr sz="1950" kern="0" spc="-8" dirty="0">
                <a:solidFill>
                  <a:sysClr val="windowText" lastClr="000000"/>
                </a:solidFill>
                <a:latin typeface="Calibri"/>
                <a:cs typeface="Calibri"/>
              </a:rPr>
              <a:t>codeword</a:t>
            </a:r>
            <a:r>
              <a:rPr sz="1950" kern="0" spc="-26" dirty="0">
                <a:solidFill>
                  <a:sysClr val="windowText" lastClr="000000"/>
                </a:solidFill>
                <a:latin typeface="Calibri"/>
                <a:cs typeface="Calibri"/>
              </a:rPr>
              <a:t> </a:t>
            </a:r>
            <a:r>
              <a:rPr sz="1950" kern="0" dirty="0">
                <a:solidFill>
                  <a:sysClr val="windowText" lastClr="000000"/>
                </a:solidFill>
                <a:latin typeface="Calibri"/>
                <a:cs typeface="Calibri"/>
              </a:rPr>
              <a:t>"1111"</a:t>
            </a:r>
            <a:r>
              <a:rPr sz="1950" kern="0" spc="-56" dirty="0">
                <a:solidFill>
                  <a:sysClr val="windowText" lastClr="000000"/>
                </a:solidFill>
                <a:latin typeface="Calibri"/>
                <a:cs typeface="Calibri"/>
              </a:rPr>
              <a:t> </a:t>
            </a:r>
            <a:r>
              <a:rPr sz="1950" kern="0" dirty="0">
                <a:solidFill>
                  <a:sysClr val="windowText" lastClr="000000"/>
                </a:solidFill>
                <a:latin typeface="Calibri"/>
                <a:cs typeface="Calibri"/>
              </a:rPr>
              <a:t>has</a:t>
            </a:r>
            <a:r>
              <a:rPr sz="1950" kern="0" spc="-30" dirty="0">
                <a:solidFill>
                  <a:sysClr val="windowText" lastClr="000000"/>
                </a:solidFill>
                <a:latin typeface="Calibri"/>
                <a:cs typeface="Calibri"/>
              </a:rPr>
              <a:t> </a:t>
            </a:r>
            <a:r>
              <a:rPr sz="1950" u="sng" kern="0" dirty="0">
                <a:solidFill>
                  <a:sysClr val="windowText" lastClr="000000"/>
                </a:solidFill>
                <a:uFill>
                  <a:solidFill>
                    <a:srgbClr val="000000"/>
                  </a:solidFill>
                </a:uFill>
                <a:latin typeface="Calibri"/>
                <a:cs typeface="Calibri"/>
              </a:rPr>
              <a:t>even</a:t>
            </a:r>
            <a:r>
              <a:rPr sz="1950" u="sng" kern="0" spc="-38" dirty="0">
                <a:solidFill>
                  <a:sysClr val="windowText" lastClr="000000"/>
                </a:solidFill>
                <a:uFill>
                  <a:solidFill>
                    <a:srgbClr val="000000"/>
                  </a:solidFill>
                </a:uFill>
                <a:latin typeface="Calibri"/>
                <a:cs typeface="Calibri"/>
              </a:rPr>
              <a:t> </a:t>
            </a:r>
            <a:r>
              <a:rPr sz="1950" u="sng" kern="0" dirty="0">
                <a:solidFill>
                  <a:sysClr val="windowText" lastClr="000000"/>
                </a:solidFill>
                <a:uFill>
                  <a:solidFill>
                    <a:srgbClr val="000000"/>
                  </a:solidFill>
                </a:uFill>
                <a:latin typeface="Calibri"/>
                <a:cs typeface="Calibri"/>
              </a:rPr>
              <a:t>parity</a:t>
            </a:r>
            <a:r>
              <a:rPr sz="1950" kern="0" spc="-26" dirty="0">
                <a:solidFill>
                  <a:sysClr val="windowText" lastClr="000000"/>
                </a:solidFill>
                <a:latin typeface="Calibri"/>
                <a:cs typeface="Calibri"/>
              </a:rPr>
              <a:t> </a:t>
            </a:r>
            <a:r>
              <a:rPr sz="1950" kern="0" dirty="0">
                <a:solidFill>
                  <a:sysClr val="windowText" lastClr="000000"/>
                </a:solidFill>
                <a:latin typeface="Calibri"/>
                <a:cs typeface="Calibri"/>
              </a:rPr>
              <a:t>and</a:t>
            </a:r>
            <a:r>
              <a:rPr sz="1950" kern="0" spc="-26" dirty="0">
                <a:solidFill>
                  <a:sysClr val="windowText" lastClr="000000"/>
                </a:solidFill>
                <a:latin typeface="Calibri"/>
                <a:cs typeface="Calibri"/>
              </a:rPr>
              <a:t> </a:t>
            </a:r>
            <a:r>
              <a:rPr sz="1950" kern="0" spc="-19" dirty="0">
                <a:solidFill>
                  <a:sysClr val="windowText" lastClr="000000"/>
                </a:solidFill>
                <a:latin typeface="Calibri"/>
                <a:cs typeface="Calibri"/>
              </a:rPr>
              <a:t>the </a:t>
            </a:r>
            <a:r>
              <a:rPr sz="1950" kern="0" spc="-8" dirty="0">
                <a:solidFill>
                  <a:sysClr val="windowText" lastClr="000000"/>
                </a:solidFill>
                <a:latin typeface="Calibri"/>
                <a:cs typeface="Calibri"/>
              </a:rPr>
              <a:t>codeword</a:t>
            </a:r>
            <a:r>
              <a:rPr sz="1950" kern="0" spc="-26" dirty="0">
                <a:solidFill>
                  <a:sysClr val="windowText" lastClr="000000"/>
                </a:solidFill>
                <a:latin typeface="Calibri"/>
                <a:cs typeface="Calibri"/>
              </a:rPr>
              <a:t> </a:t>
            </a:r>
            <a:r>
              <a:rPr sz="1950" kern="0" dirty="0">
                <a:solidFill>
                  <a:sysClr val="windowText" lastClr="000000"/>
                </a:solidFill>
                <a:latin typeface="Calibri"/>
                <a:cs typeface="Calibri"/>
              </a:rPr>
              <a:t>"1110"</a:t>
            </a:r>
            <a:r>
              <a:rPr sz="1950" kern="0" spc="-53" dirty="0">
                <a:solidFill>
                  <a:sysClr val="windowText" lastClr="000000"/>
                </a:solidFill>
                <a:latin typeface="Calibri"/>
                <a:cs typeface="Calibri"/>
              </a:rPr>
              <a:t> </a:t>
            </a:r>
            <a:r>
              <a:rPr sz="1950" kern="0" dirty="0">
                <a:solidFill>
                  <a:sysClr val="windowText" lastClr="000000"/>
                </a:solidFill>
                <a:latin typeface="Calibri"/>
                <a:cs typeface="Calibri"/>
              </a:rPr>
              <a:t>has</a:t>
            </a:r>
            <a:r>
              <a:rPr sz="1950" kern="0" spc="-26" dirty="0">
                <a:solidFill>
                  <a:sysClr val="windowText" lastClr="000000"/>
                </a:solidFill>
                <a:latin typeface="Calibri"/>
                <a:cs typeface="Calibri"/>
              </a:rPr>
              <a:t> </a:t>
            </a:r>
            <a:r>
              <a:rPr sz="1950" u="sng" kern="0" dirty="0">
                <a:solidFill>
                  <a:sysClr val="windowText" lastClr="000000"/>
                </a:solidFill>
                <a:uFill>
                  <a:solidFill>
                    <a:srgbClr val="000000"/>
                  </a:solidFill>
                </a:uFill>
                <a:latin typeface="Calibri"/>
                <a:cs typeface="Calibri"/>
              </a:rPr>
              <a:t>odd</a:t>
            </a:r>
            <a:r>
              <a:rPr sz="1950" u="sng" kern="0" spc="-23" dirty="0">
                <a:solidFill>
                  <a:sysClr val="windowText" lastClr="000000"/>
                </a:solidFill>
                <a:uFill>
                  <a:solidFill>
                    <a:srgbClr val="000000"/>
                  </a:solidFill>
                </a:uFill>
                <a:latin typeface="Calibri"/>
                <a:cs typeface="Calibri"/>
              </a:rPr>
              <a:t> </a:t>
            </a:r>
            <a:r>
              <a:rPr sz="1950" u="sng" kern="0" spc="-8" dirty="0">
                <a:solidFill>
                  <a:sysClr val="windowText" lastClr="000000"/>
                </a:solidFill>
                <a:uFill>
                  <a:solidFill>
                    <a:srgbClr val="000000"/>
                  </a:solidFill>
                </a:uFill>
                <a:latin typeface="Calibri"/>
                <a:cs typeface="Calibri"/>
              </a:rPr>
              <a:t>parity</a:t>
            </a:r>
            <a:r>
              <a:rPr sz="1950" kern="0" spc="-8" dirty="0">
                <a:solidFill>
                  <a:sysClr val="windowText" lastClr="000000"/>
                </a:solidFill>
                <a:latin typeface="Calibri"/>
                <a:cs typeface="Calibri"/>
              </a:rPr>
              <a:t>.</a:t>
            </a:r>
            <a:r>
              <a:rPr sz="1950" kern="0" dirty="0">
                <a:solidFill>
                  <a:sysClr val="windowText" lastClr="000000"/>
                </a:solidFill>
                <a:latin typeface="Calibri"/>
                <a:cs typeface="Calibri"/>
              </a:rPr>
              <a:t>	Both</a:t>
            </a:r>
            <a:r>
              <a:rPr sz="1950" kern="0" spc="-19" dirty="0">
                <a:solidFill>
                  <a:sysClr val="windowText" lastClr="000000"/>
                </a:solidFill>
                <a:latin typeface="Calibri"/>
                <a:cs typeface="Calibri"/>
              </a:rPr>
              <a:t> </a:t>
            </a:r>
            <a:r>
              <a:rPr sz="1950" kern="0" dirty="0">
                <a:solidFill>
                  <a:sysClr val="windowText" lastClr="000000"/>
                </a:solidFill>
                <a:latin typeface="Calibri"/>
                <a:cs typeface="Calibri"/>
              </a:rPr>
              <a:t>can</a:t>
            </a:r>
            <a:r>
              <a:rPr sz="1950" kern="0" spc="-23" dirty="0">
                <a:solidFill>
                  <a:sysClr val="windowText" lastClr="000000"/>
                </a:solidFill>
                <a:latin typeface="Calibri"/>
                <a:cs typeface="Calibri"/>
              </a:rPr>
              <a:t> </a:t>
            </a:r>
            <a:r>
              <a:rPr sz="1950" kern="0" dirty="0">
                <a:solidFill>
                  <a:sysClr val="windowText" lastClr="000000"/>
                </a:solidFill>
                <a:latin typeface="Calibri"/>
                <a:cs typeface="Calibri"/>
              </a:rPr>
              <a:t>be</a:t>
            </a:r>
            <a:r>
              <a:rPr sz="1950" kern="0" spc="-23" dirty="0">
                <a:solidFill>
                  <a:sysClr val="windowText" lastClr="000000"/>
                </a:solidFill>
                <a:latin typeface="Calibri"/>
                <a:cs typeface="Calibri"/>
              </a:rPr>
              <a:t> </a:t>
            </a:r>
            <a:r>
              <a:rPr sz="1950" kern="0" dirty="0">
                <a:solidFill>
                  <a:sysClr val="windowText" lastClr="000000"/>
                </a:solidFill>
                <a:latin typeface="Calibri"/>
                <a:cs typeface="Calibri"/>
              </a:rPr>
              <a:t>used</a:t>
            </a:r>
            <a:r>
              <a:rPr sz="1950" kern="0" spc="-26" dirty="0">
                <a:solidFill>
                  <a:sysClr val="windowText" lastClr="000000"/>
                </a:solidFill>
                <a:latin typeface="Calibri"/>
                <a:cs typeface="Calibri"/>
              </a:rPr>
              <a:t> </a:t>
            </a:r>
            <a:r>
              <a:rPr sz="1950" kern="0" spc="-19" dirty="0">
                <a:solidFill>
                  <a:sysClr val="windowText" lastClr="000000"/>
                </a:solidFill>
                <a:latin typeface="Calibri"/>
                <a:cs typeface="Calibri"/>
              </a:rPr>
              <a:t>to </a:t>
            </a:r>
            <a:r>
              <a:rPr sz="1950" kern="0" spc="-8" dirty="0">
                <a:solidFill>
                  <a:sysClr val="windowText" lastClr="000000"/>
                </a:solidFill>
                <a:latin typeface="Calibri"/>
                <a:cs typeface="Calibri"/>
              </a:rPr>
              <a:t>represent</a:t>
            </a:r>
            <a:r>
              <a:rPr sz="1950" kern="0" spc="-38" dirty="0">
                <a:solidFill>
                  <a:sysClr val="windowText" lastClr="000000"/>
                </a:solidFill>
                <a:latin typeface="Calibri"/>
                <a:cs typeface="Calibri"/>
              </a:rPr>
              <a:t> </a:t>
            </a:r>
            <a:r>
              <a:rPr sz="1950" kern="0" spc="-8" dirty="0">
                <a:solidFill>
                  <a:sysClr val="windowText" lastClr="000000"/>
                </a:solidFill>
                <a:latin typeface="Calibri"/>
                <a:cs typeface="Calibri"/>
              </a:rPr>
              <a:t>3-</a:t>
            </a:r>
            <a:r>
              <a:rPr sz="1950" kern="0" dirty="0">
                <a:solidFill>
                  <a:sysClr val="windowText" lastClr="000000"/>
                </a:solidFill>
                <a:latin typeface="Calibri"/>
                <a:cs typeface="Calibri"/>
              </a:rPr>
              <a:t>bit</a:t>
            </a:r>
            <a:r>
              <a:rPr sz="1950" kern="0" spc="-15" dirty="0">
                <a:solidFill>
                  <a:sysClr val="windowText" lastClr="000000"/>
                </a:solidFill>
                <a:latin typeface="Calibri"/>
                <a:cs typeface="Calibri"/>
              </a:rPr>
              <a:t> data.</a:t>
            </a:r>
            <a:endParaRPr sz="1950" kern="0" dirty="0">
              <a:solidFill>
                <a:sysClr val="windowText" lastClr="000000"/>
              </a:solidFill>
              <a:latin typeface="Calibri"/>
              <a:cs typeface="Calibri"/>
            </a:endParaRPr>
          </a:p>
        </p:txBody>
      </p:sp>
      <p:graphicFrame>
        <p:nvGraphicFramePr>
          <p:cNvPr id="5" name="object 5"/>
          <p:cNvGraphicFramePr>
            <a:graphicFrameLocks noGrp="1"/>
          </p:cNvGraphicFramePr>
          <p:nvPr/>
        </p:nvGraphicFramePr>
        <p:xfrm>
          <a:off x="2275284" y="2059257"/>
          <a:ext cx="4319588" cy="3590736"/>
        </p:xfrm>
        <a:graphic>
          <a:graphicData uri="http://schemas.openxmlformats.org/drawingml/2006/table">
            <a:tbl>
              <a:tblPr firstRow="1" bandRow="1">
                <a:tableStyleId>{2D5ABB26-0587-4C30-8999-92F81FD0307C}</a:tableStyleId>
              </a:tblPr>
              <a:tblGrid>
                <a:gridCol w="1121569">
                  <a:extLst>
                    <a:ext uri="{9D8B030D-6E8A-4147-A177-3AD203B41FA5}">
                      <a16:colId xmlns:a16="http://schemas.microsoft.com/office/drawing/2014/main" val="20000"/>
                    </a:ext>
                  </a:extLst>
                </a:gridCol>
                <a:gridCol w="1046798">
                  <a:extLst>
                    <a:ext uri="{9D8B030D-6E8A-4147-A177-3AD203B41FA5}">
                      <a16:colId xmlns:a16="http://schemas.microsoft.com/office/drawing/2014/main" val="20001"/>
                    </a:ext>
                  </a:extLst>
                </a:gridCol>
                <a:gridCol w="1009174">
                  <a:extLst>
                    <a:ext uri="{9D8B030D-6E8A-4147-A177-3AD203B41FA5}">
                      <a16:colId xmlns:a16="http://schemas.microsoft.com/office/drawing/2014/main" val="20002"/>
                    </a:ext>
                  </a:extLst>
                </a:gridCol>
                <a:gridCol w="1142047">
                  <a:extLst>
                    <a:ext uri="{9D8B030D-6E8A-4147-A177-3AD203B41FA5}">
                      <a16:colId xmlns:a16="http://schemas.microsoft.com/office/drawing/2014/main" val="20003"/>
                    </a:ext>
                  </a:extLst>
                </a:gridCol>
              </a:tblGrid>
              <a:tr h="578644">
                <a:tc gridSpan="2">
                  <a:txBody>
                    <a:bodyPr/>
                    <a:lstStyle/>
                    <a:p>
                      <a:pPr marL="571500">
                        <a:lnSpc>
                          <a:spcPct val="100000"/>
                        </a:lnSpc>
                        <a:spcBef>
                          <a:spcPts val="135"/>
                        </a:spcBef>
                      </a:pPr>
                      <a:r>
                        <a:rPr sz="1400" b="1" dirty="0">
                          <a:latin typeface="Calibri"/>
                          <a:cs typeface="Calibri"/>
                        </a:rPr>
                        <a:t>Even</a:t>
                      </a:r>
                      <a:r>
                        <a:rPr sz="1400" b="1" spc="-75" dirty="0">
                          <a:latin typeface="Calibri"/>
                          <a:cs typeface="Calibri"/>
                        </a:rPr>
                        <a:t> </a:t>
                      </a:r>
                      <a:r>
                        <a:rPr sz="1400" b="1" spc="-10" dirty="0">
                          <a:latin typeface="Calibri"/>
                          <a:cs typeface="Calibri"/>
                        </a:rPr>
                        <a:t>Parity</a:t>
                      </a:r>
                      <a:endParaRPr sz="1400">
                        <a:latin typeface="Calibri"/>
                        <a:cs typeface="Calibri"/>
                      </a:endParaRPr>
                    </a:p>
                    <a:p>
                      <a:pPr marL="290195">
                        <a:lnSpc>
                          <a:spcPct val="100000"/>
                        </a:lnSpc>
                        <a:spcBef>
                          <a:spcPts val="780"/>
                        </a:spcBef>
                        <a:tabLst>
                          <a:tab pos="1611630" algn="l"/>
                        </a:tabLst>
                      </a:pPr>
                      <a:r>
                        <a:rPr sz="1400" b="1" spc="-10" dirty="0">
                          <a:latin typeface="Calibri"/>
                          <a:cs typeface="Calibri"/>
                        </a:rPr>
                        <a:t>Message</a:t>
                      </a:r>
                      <a:r>
                        <a:rPr sz="1400" b="1" dirty="0">
                          <a:latin typeface="Calibri"/>
                          <a:cs typeface="Calibri"/>
                        </a:rPr>
                        <a:t>	</a:t>
                      </a:r>
                      <a:r>
                        <a:rPr sz="2000" b="1" baseline="-7716" dirty="0">
                          <a:latin typeface="Calibri"/>
                          <a:cs typeface="Calibri"/>
                        </a:rPr>
                        <a:t>-</a:t>
                      </a:r>
                      <a:r>
                        <a:rPr sz="2000" b="1" spc="735" baseline="-7716" dirty="0">
                          <a:latin typeface="Calibri"/>
                          <a:cs typeface="Calibri"/>
                        </a:rPr>
                        <a:t> </a:t>
                      </a:r>
                      <a:r>
                        <a:rPr sz="2000" b="1" spc="-15" baseline="3086" dirty="0">
                          <a:latin typeface="Calibri"/>
                          <a:cs typeface="Calibri"/>
                        </a:rPr>
                        <a:t>Parity</a:t>
                      </a:r>
                      <a:endParaRPr sz="2000" baseline="3086">
                        <a:latin typeface="Calibri"/>
                        <a:cs typeface="Calibri"/>
                      </a:endParaRPr>
                    </a:p>
                  </a:txBody>
                  <a:tcPr marL="0" marR="0" marT="12859" marB="0">
                    <a:lnL w="28575">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tcPr>
                </a:tc>
                <a:tc hMerge="1">
                  <a:txBody>
                    <a:bodyPr/>
                    <a:lstStyle/>
                    <a:p>
                      <a:endParaRPr/>
                    </a:p>
                  </a:txBody>
                  <a:tcPr marL="0" marR="0" marT="0" marB="0"/>
                </a:tc>
                <a:tc gridSpan="2">
                  <a:txBody>
                    <a:bodyPr/>
                    <a:lstStyle/>
                    <a:p>
                      <a:pPr marL="130810" marR="641350" indent="389890">
                        <a:lnSpc>
                          <a:spcPct val="103499"/>
                        </a:lnSpc>
                        <a:spcBef>
                          <a:spcPts val="414"/>
                        </a:spcBef>
                        <a:tabLst>
                          <a:tab pos="1465580" algn="l"/>
                          <a:tab pos="1663700" algn="l"/>
                        </a:tabLst>
                      </a:pPr>
                      <a:r>
                        <a:rPr sz="1400" b="1" dirty="0">
                          <a:latin typeface="Calibri"/>
                          <a:cs typeface="Calibri"/>
                        </a:rPr>
                        <a:t>Odd</a:t>
                      </a:r>
                      <a:r>
                        <a:rPr sz="1400" b="1" spc="-10" dirty="0">
                          <a:latin typeface="Calibri"/>
                          <a:cs typeface="Calibri"/>
                        </a:rPr>
                        <a:t> Parity Message</a:t>
                      </a:r>
                      <a:r>
                        <a:rPr sz="1400" b="1" dirty="0">
                          <a:latin typeface="Calibri"/>
                          <a:cs typeface="Calibri"/>
                        </a:rPr>
                        <a:t>	</a:t>
                      </a:r>
                      <a:r>
                        <a:rPr sz="2000" b="1" spc="-75" baseline="-18518" dirty="0">
                          <a:latin typeface="Calibri"/>
                          <a:cs typeface="Calibri"/>
                        </a:rPr>
                        <a:t>-</a:t>
                      </a:r>
                      <a:r>
                        <a:rPr sz="2000" b="1" baseline="-18518" dirty="0">
                          <a:latin typeface="Calibri"/>
                          <a:cs typeface="Calibri"/>
                        </a:rPr>
                        <a:t>	</a:t>
                      </a:r>
                      <a:r>
                        <a:rPr sz="1400" b="1" spc="-20" dirty="0">
                          <a:latin typeface="Calibri"/>
                          <a:cs typeface="Calibri"/>
                        </a:rPr>
                        <a:t>Parity</a:t>
                      </a:r>
                      <a:endParaRPr sz="1400">
                        <a:latin typeface="Calibri"/>
                        <a:cs typeface="Calibri"/>
                      </a:endParaRPr>
                    </a:p>
                  </a:txBody>
                  <a:tcPr marL="0" marR="0" marT="39528" marB="0">
                    <a:lnL w="12700">
                      <a:solidFill>
                        <a:srgbClr val="000000"/>
                      </a:solidFill>
                      <a:prstDash val="solid"/>
                    </a:lnL>
                    <a:lnR w="28575">
                      <a:solidFill>
                        <a:srgbClr val="000000"/>
                      </a:solidFill>
                      <a:prstDash val="solid"/>
                    </a:lnR>
                    <a:lnT w="28575">
                      <a:solidFill>
                        <a:srgbClr val="000000"/>
                      </a:solidFill>
                      <a:prstDash val="solid"/>
                    </a:lnT>
                    <a:lnB w="12700">
                      <a:solidFill>
                        <a:srgbClr val="000000"/>
                      </a:solidFill>
                      <a:prstDash val="solid"/>
                    </a:lnB>
                  </a:tcPr>
                </a:tc>
                <a:tc hMerge="1">
                  <a:txBody>
                    <a:bodyPr/>
                    <a:lstStyle/>
                    <a:p>
                      <a:endParaRPr/>
                    </a:p>
                  </a:txBody>
                  <a:tcPr marL="0" marR="0" marT="0" marB="0"/>
                </a:tc>
                <a:extLst>
                  <a:ext uri="{0D108BD9-81ED-4DB2-BD59-A6C34878D82A}">
                    <a16:rowId xmlns:a16="http://schemas.microsoft.com/office/drawing/2014/main" val="10000"/>
                  </a:ext>
                </a:extLst>
              </a:tr>
              <a:tr h="267653">
                <a:tc>
                  <a:txBody>
                    <a:bodyPr/>
                    <a:lstStyle/>
                    <a:p>
                      <a:pPr marR="118745" algn="r">
                        <a:lnSpc>
                          <a:spcPct val="100000"/>
                        </a:lnSpc>
                        <a:spcBef>
                          <a:spcPts val="215"/>
                        </a:spcBef>
                      </a:pPr>
                      <a:r>
                        <a:rPr sz="1400" b="1" spc="-25" dirty="0">
                          <a:latin typeface="Calibri"/>
                          <a:cs typeface="Calibri"/>
                        </a:rPr>
                        <a:t>000</a:t>
                      </a:r>
                      <a:endParaRPr sz="1400">
                        <a:latin typeface="Calibri"/>
                        <a:cs typeface="Calibri"/>
                      </a:endParaRPr>
                    </a:p>
                  </a:txBody>
                  <a:tcPr marL="0" marR="0" marT="20479" marB="0">
                    <a:lnL w="28575">
                      <a:solidFill>
                        <a:srgbClr val="000000"/>
                      </a:solidFill>
                      <a:prstDash val="solid"/>
                    </a:lnL>
                    <a:lnT w="12700">
                      <a:solidFill>
                        <a:srgbClr val="000000"/>
                      </a:solidFill>
                      <a:prstDash val="solid"/>
                    </a:lnT>
                    <a:lnB w="12700">
                      <a:solidFill>
                        <a:srgbClr val="000000"/>
                      </a:solidFill>
                      <a:prstDash val="solid"/>
                    </a:lnB>
                  </a:tcPr>
                </a:tc>
                <a:tc>
                  <a:txBody>
                    <a:bodyPr/>
                    <a:lstStyle/>
                    <a:p>
                      <a:pPr marL="125730">
                        <a:lnSpc>
                          <a:spcPts val="2010"/>
                        </a:lnSpc>
                        <a:spcBef>
                          <a:spcPts val="700"/>
                        </a:spcBef>
                      </a:pPr>
                      <a:r>
                        <a:rPr sz="1400" b="1" spc="-50" dirty="0">
                          <a:latin typeface="Calibri"/>
                          <a:cs typeface="Calibri"/>
                        </a:rPr>
                        <a:t>-</a:t>
                      </a:r>
                      <a:endParaRPr sz="1400">
                        <a:latin typeface="Calibri"/>
                        <a:cs typeface="Calibri"/>
                      </a:endParaRPr>
                    </a:p>
                  </a:txBody>
                  <a:tcPr marL="0" marR="0" marT="66675"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125095" algn="r">
                        <a:lnSpc>
                          <a:spcPts val="2014"/>
                        </a:lnSpc>
                      </a:pPr>
                      <a:r>
                        <a:rPr sz="1400" b="1" spc="-25" dirty="0">
                          <a:latin typeface="Calibri"/>
                          <a:cs typeface="Calibri"/>
                        </a:rPr>
                        <a:t>000</a:t>
                      </a:r>
                      <a:endParaRPr sz="1400">
                        <a:latin typeface="Calibri"/>
                        <a:cs typeface="Calibri"/>
                      </a:endParaRPr>
                    </a:p>
                  </a:txBody>
                  <a:tcPr marL="0" marR="0" marT="0" marB="0">
                    <a:lnL w="12700">
                      <a:solidFill>
                        <a:srgbClr val="000000"/>
                      </a:solidFill>
                      <a:prstDash val="solid"/>
                    </a:lnL>
                    <a:lnT w="12700">
                      <a:solidFill>
                        <a:srgbClr val="000000"/>
                      </a:solidFill>
                      <a:prstDash val="solid"/>
                    </a:lnT>
                    <a:lnB w="12700">
                      <a:solidFill>
                        <a:srgbClr val="000000"/>
                      </a:solidFill>
                      <a:prstDash val="solid"/>
                    </a:lnB>
                  </a:tcPr>
                </a:tc>
                <a:tc>
                  <a:txBody>
                    <a:bodyPr/>
                    <a:lstStyle/>
                    <a:p>
                      <a:pPr marL="132715">
                        <a:lnSpc>
                          <a:spcPts val="2010"/>
                        </a:lnSpc>
                        <a:spcBef>
                          <a:spcPts val="700"/>
                        </a:spcBef>
                      </a:pPr>
                      <a:r>
                        <a:rPr sz="1400" b="1" spc="-50" dirty="0">
                          <a:latin typeface="Calibri"/>
                          <a:cs typeface="Calibri"/>
                        </a:rPr>
                        <a:t>-</a:t>
                      </a:r>
                      <a:endParaRPr sz="1400">
                        <a:latin typeface="Calibri"/>
                        <a:cs typeface="Calibri"/>
                      </a:endParaRPr>
                    </a:p>
                  </a:txBody>
                  <a:tcPr marL="0" marR="0" marT="66675" marB="0">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269081">
                <a:tc>
                  <a:txBody>
                    <a:bodyPr/>
                    <a:lstStyle/>
                    <a:p>
                      <a:pPr marR="118745" algn="r">
                        <a:lnSpc>
                          <a:spcPct val="100000"/>
                        </a:lnSpc>
                        <a:spcBef>
                          <a:spcPts val="155"/>
                        </a:spcBef>
                      </a:pPr>
                      <a:r>
                        <a:rPr sz="1400" b="1" spc="-25" dirty="0">
                          <a:latin typeface="Calibri"/>
                          <a:cs typeface="Calibri"/>
                        </a:rPr>
                        <a:t>001</a:t>
                      </a:r>
                      <a:endParaRPr sz="1400">
                        <a:latin typeface="Calibri"/>
                        <a:cs typeface="Calibri"/>
                      </a:endParaRPr>
                    </a:p>
                  </a:txBody>
                  <a:tcPr marL="0" marR="0" marT="14764" marB="0">
                    <a:lnL w="28575">
                      <a:solidFill>
                        <a:srgbClr val="000000"/>
                      </a:solidFill>
                      <a:prstDash val="solid"/>
                    </a:lnL>
                    <a:lnT w="12700">
                      <a:solidFill>
                        <a:srgbClr val="000000"/>
                      </a:solidFill>
                      <a:prstDash val="solid"/>
                    </a:lnT>
                    <a:lnB w="12700">
                      <a:solidFill>
                        <a:srgbClr val="000000"/>
                      </a:solidFill>
                      <a:prstDash val="solid"/>
                    </a:lnB>
                  </a:tcPr>
                </a:tc>
                <a:tc>
                  <a:txBody>
                    <a:bodyPr/>
                    <a:lstStyle/>
                    <a:p>
                      <a:pPr marL="125730">
                        <a:lnSpc>
                          <a:spcPts val="2085"/>
                        </a:lnSpc>
                        <a:spcBef>
                          <a:spcPts val="640"/>
                        </a:spcBef>
                      </a:pPr>
                      <a:r>
                        <a:rPr sz="1400" b="1" spc="-50" dirty="0">
                          <a:latin typeface="Calibri"/>
                          <a:cs typeface="Calibri"/>
                        </a:rPr>
                        <a:t>-</a:t>
                      </a:r>
                      <a:endParaRPr sz="1400">
                        <a:latin typeface="Calibri"/>
                        <a:cs typeface="Calibri"/>
                      </a:endParaRPr>
                    </a:p>
                  </a:txBody>
                  <a:tcPr marL="0" marR="0" marT="60960"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125095" algn="r">
                        <a:lnSpc>
                          <a:spcPts val="1950"/>
                        </a:lnSpc>
                      </a:pPr>
                      <a:r>
                        <a:rPr sz="1400" b="1" spc="-25" dirty="0">
                          <a:latin typeface="Calibri"/>
                          <a:cs typeface="Calibri"/>
                        </a:rPr>
                        <a:t>001</a:t>
                      </a:r>
                      <a:endParaRPr sz="1400">
                        <a:latin typeface="Calibri"/>
                        <a:cs typeface="Calibri"/>
                      </a:endParaRPr>
                    </a:p>
                  </a:txBody>
                  <a:tcPr marL="0" marR="0" marT="0" marB="0">
                    <a:lnL w="12700">
                      <a:solidFill>
                        <a:srgbClr val="000000"/>
                      </a:solidFill>
                      <a:prstDash val="solid"/>
                    </a:lnL>
                    <a:lnT w="12700">
                      <a:solidFill>
                        <a:srgbClr val="000000"/>
                      </a:solidFill>
                      <a:prstDash val="solid"/>
                    </a:lnT>
                    <a:lnB w="12700">
                      <a:solidFill>
                        <a:srgbClr val="000000"/>
                      </a:solidFill>
                      <a:prstDash val="solid"/>
                    </a:lnB>
                  </a:tcPr>
                </a:tc>
                <a:tc>
                  <a:txBody>
                    <a:bodyPr/>
                    <a:lstStyle/>
                    <a:p>
                      <a:pPr marL="132715">
                        <a:lnSpc>
                          <a:spcPts val="2085"/>
                        </a:lnSpc>
                        <a:spcBef>
                          <a:spcPts val="640"/>
                        </a:spcBef>
                      </a:pPr>
                      <a:r>
                        <a:rPr sz="1400" b="1" spc="-50" dirty="0">
                          <a:latin typeface="Calibri"/>
                          <a:cs typeface="Calibri"/>
                        </a:rPr>
                        <a:t>-</a:t>
                      </a:r>
                      <a:endParaRPr sz="1400">
                        <a:latin typeface="Calibri"/>
                        <a:cs typeface="Calibri"/>
                      </a:endParaRPr>
                    </a:p>
                  </a:txBody>
                  <a:tcPr marL="0" marR="0" marT="60960" marB="0">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267653">
                <a:tc>
                  <a:txBody>
                    <a:bodyPr/>
                    <a:lstStyle/>
                    <a:p>
                      <a:pPr marR="118745" algn="r">
                        <a:lnSpc>
                          <a:spcPct val="100000"/>
                        </a:lnSpc>
                        <a:spcBef>
                          <a:spcPts val="65"/>
                        </a:spcBef>
                      </a:pPr>
                      <a:r>
                        <a:rPr sz="1400" b="1" spc="-25" dirty="0">
                          <a:latin typeface="Calibri"/>
                          <a:cs typeface="Calibri"/>
                        </a:rPr>
                        <a:t>010</a:t>
                      </a:r>
                      <a:endParaRPr sz="1400">
                        <a:latin typeface="Calibri"/>
                        <a:cs typeface="Calibri"/>
                      </a:endParaRPr>
                    </a:p>
                  </a:txBody>
                  <a:tcPr marL="0" marR="0" marT="6191" marB="0">
                    <a:lnL w="28575">
                      <a:solidFill>
                        <a:srgbClr val="000000"/>
                      </a:solidFill>
                      <a:prstDash val="solid"/>
                    </a:lnL>
                    <a:lnT w="12700">
                      <a:solidFill>
                        <a:srgbClr val="000000"/>
                      </a:solidFill>
                      <a:prstDash val="solid"/>
                    </a:lnT>
                    <a:lnB w="12700">
                      <a:solidFill>
                        <a:srgbClr val="000000"/>
                      </a:solidFill>
                      <a:prstDash val="solid"/>
                    </a:lnB>
                  </a:tcPr>
                </a:tc>
                <a:tc>
                  <a:txBody>
                    <a:bodyPr/>
                    <a:lstStyle/>
                    <a:p>
                      <a:pPr marL="125730">
                        <a:lnSpc>
                          <a:spcPts val="2160"/>
                        </a:lnSpc>
                        <a:spcBef>
                          <a:spcPts val="555"/>
                        </a:spcBef>
                      </a:pPr>
                      <a:r>
                        <a:rPr sz="1400" b="1" spc="-50" dirty="0">
                          <a:latin typeface="Calibri"/>
                          <a:cs typeface="Calibri"/>
                        </a:rPr>
                        <a:t>-</a:t>
                      </a:r>
                      <a:endParaRPr sz="1400">
                        <a:latin typeface="Calibri"/>
                        <a:cs typeface="Calibri"/>
                      </a:endParaRPr>
                    </a:p>
                  </a:txBody>
                  <a:tcPr marL="0" marR="0" marT="52864"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125095" algn="r">
                        <a:lnSpc>
                          <a:spcPts val="1864"/>
                        </a:lnSpc>
                      </a:pPr>
                      <a:r>
                        <a:rPr sz="1400" b="1" spc="-25" dirty="0">
                          <a:latin typeface="Calibri"/>
                          <a:cs typeface="Calibri"/>
                        </a:rPr>
                        <a:t>010</a:t>
                      </a:r>
                      <a:endParaRPr sz="1400">
                        <a:latin typeface="Calibri"/>
                        <a:cs typeface="Calibri"/>
                      </a:endParaRPr>
                    </a:p>
                  </a:txBody>
                  <a:tcPr marL="0" marR="0" marT="0" marB="0">
                    <a:lnL w="12700">
                      <a:solidFill>
                        <a:srgbClr val="000000"/>
                      </a:solidFill>
                      <a:prstDash val="solid"/>
                    </a:lnL>
                    <a:lnT w="12700">
                      <a:solidFill>
                        <a:srgbClr val="000000"/>
                      </a:solidFill>
                      <a:prstDash val="solid"/>
                    </a:lnT>
                    <a:lnB w="12700">
                      <a:solidFill>
                        <a:srgbClr val="000000"/>
                      </a:solidFill>
                      <a:prstDash val="solid"/>
                    </a:lnB>
                  </a:tcPr>
                </a:tc>
                <a:tc>
                  <a:txBody>
                    <a:bodyPr/>
                    <a:lstStyle/>
                    <a:p>
                      <a:pPr marL="132715">
                        <a:lnSpc>
                          <a:spcPts val="2160"/>
                        </a:lnSpc>
                        <a:spcBef>
                          <a:spcPts val="555"/>
                        </a:spcBef>
                      </a:pPr>
                      <a:r>
                        <a:rPr sz="1400" b="1" spc="-50" dirty="0">
                          <a:latin typeface="Calibri"/>
                          <a:cs typeface="Calibri"/>
                        </a:rPr>
                        <a:t>-</a:t>
                      </a:r>
                      <a:endParaRPr sz="1400">
                        <a:latin typeface="Calibri"/>
                        <a:cs typeface="Calibri"/>
                      </a:endParaRPr>
                    </a:p>
                  </a:txBody>
                  <a:tcPr marL="0" marR="0" marT="52864" marB="0">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267653">
                <a:tc>
                  <a:txBody>
                    <a:bodyPr/>
                    <a:lstStyle/>
                    <a:p>
                      <a:pPr marR="118745" algn="r">
                        <a:lnSpc>
                          <a:spcPct val="100000"/>
                        </a:lnSpc>
                        <a:spcBef>
                          <a:spcPts val="5"/>
                        </a:spcBef>
                      </a:pPr>
                      <a:r>
                        <a:rPr sz="1400" b="1" spc="-25" dirty="0">
                          <a:latin typeface="Calibri"/>
                          <a:cs typeface="Calibri"/>
                        </a:rPr>
                        <a:t>011</a:t>
                      </a:r>
                      <a:endParaRPr sz="1400">
                        <a:latin typeface="Calibri"/>
                        <a:cs typeface="Calibri"/>
                      </a:endParaRPr>
                    </a:p>
                  </a:txBody>
                  <a:tcPr marL="0" marR="0" marT="476" marB="0">
                    <a:lnL w="28575">
                      <a:solidFill>
                        <a:srgbClr val="000000"/>
                      </a:solidFill>
                      <a:prstDash val="solid"/>
                    </a:lnL>
                    <a:lnT w="12700">
                      <a:solidFill>
                        <a:srgbClr val="000000"/>
                      </a:solidFill>
                      <a:prstDash val="solid"/>
                    </a:lnT>
                    <a:lnB w="12700">
                      <a:solidFill>
                        <a:srgbClr val="000000"/>
                      </a:solidFill>
                      <a:prstDash val="solid"/>
                    </a:lnB>
                  </a:tcPr>
                </a:tc>
                <a:tc>
                  <a:txBody>
                    <a:bodyPr/>
                    <a:lstStyle/>
                    <a:p>
                      <a:pPr marL="125730">
                        <a:lnSpc>
                          <a:spcPct val="100000"/>
                        </a:lnSpc>
                        <a:spcBef>
                          <a:spcPts val="490"/>
                        </a:spcBef>
                      </a:pPr>
                      <a:r>
                        <a:rPr sz="1400" b="1" spc="-50" dirty="0">
                          <a:latin typeface="Calibri"/>
                          <a:cs typeface="Calibri"/>
                        </a:rPr>
                        <a:t>-</a:t>
                      </a:r>
                      <a:endParaRPr sz="1400">
                        <a:latin typeface="Calibri"/>
                        <a:cs typeface="Calibri"/>
                      </a:endParaRPr>
                    </a:p>
                  </a:txBody>
                  <a:tcPr marL="0" marR="0" marT="46673"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125095" algn="r">
                        <a:lnSpc>
                          <a:spcPts val="1800"/>
                        </a:lnSpc>
                      </a:pPr>
                      <a:r>
                        <a:rPr sz="1400" b="1" spc="-25" dirty="0">
                          <a:latin typeface="Calibri"/>
                          <a:cs typeface="Calibri"/>
                        </a:rPr>
                        <a:t>011</a:t>
                      </a:r>
                      <a:endParaRPr sz="1400">
                        <a:latin typeface="Calibri"/>
                        <a:cs typeface="Calibri"/>
                      </a:endParaRPr>
                    </a:p>
                  </a:txBody>
                  <a:tcPr marL="0" marR="0" marT="0" marB="0">
                    <a:lnL w="12700">
                      <a:solidFill>
                        <a:srgbClr val="000000"/>
                      </a:solidFill>
                      <a:prstDash val="solid"/>
                    </a:lnL>
                    <a:lnT w="12700">
                      <a:solidFill>
                        <a:srgbClr val="000000"/>
                      </a:solidFill>
                      <a:prstDash val="solid"/>
                    </a:lnT>
                    <a:lnB w="12700">
                      <a:solidFill>
                        <a:srgbClr val="000000"/>
                      </a:solidFill>
                      <a:prstDash val="solid"/>
                    </a:lnB>
                  </a:tcPr>
                </a:tc>
                <a:tc>
                  <a:txBody>
                    <a:bodyPr/>
                    <a:lstStyle/>
                    <a:p>
                      <a:pPr marL="132715">
                        <a:lnSpc>
                          <a:spcPct val="100000"/>
                        </a:lnSpc>
                        <a:spcBef>
                          <a:spcPts val="490"/>
                        </a:spcBef>
                      </a:pPr>
                      <a:r>
                        <a:rPr sz="1400" b="1" spc="-50" dirty="0">
                          <a:latin typeface="Calibri"/>
                          <a:cs typeface="Calibri"/>
                        </a:rPr>
                        <a:t>-</a:t>
                      </a:r>
                      <a:endParaRPr sz="1400">
                        <a:latin typeface="Calibri"/>
                        <a:cs typeface="Calibri"/>
                      </a:endParaRPr>
                    </a:p>
                  </a:txBody>
                  <a:tcPr marL="0" marR="0" marT="46673" marB="0">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267653">
                <a:tc>
                  <a:txBody>
                    <a:bodyPr/>
                    <a:lstStyle/>
                    <a:p>
                      <a:pPr marR="118745" algn="r">
                        <a:lnSpc>
                          <a:spcPts val="2105"/>
                        </a:lnSpc>
                      </a:pPr>
                      <a:r>
                        <a:rPr sz="1400" b="1" spc="-25" dirty="0">
                          <a:latin typeface="Calibri"/>
                          <a:cs typeface="Calibri"/>
                        </a:rPr>
                        <a:t>100</a:t>
                      </a:r>
                      <a:endParaRPr sz="1400">
                        <a:latin typeface="Calibri"/>
                        <a:cs typeface="Calibri"/>
                      </a:endParaRPr>
                    </a:p>
                  </a:txBody>
                  <a:tcPr marL="0" marR="0" marT="0" marB="0">
                    <a:lnL w="28575">
                      <a:solidFill>
                        <a:srgbClr val="000000"/>
                      </a:solidFill>
                      <a:prstDash val="solid"/>
                    </a:lnL>
                    <a:lnT w="12700">
                      <a:solidFill>
                        <a:srgbClr val="000000"/>
                      </a:solidFill>
                      <a:prstDash val="solid"/>
                    </a:lnT>
                    <a:lnB w="12700">
                      <a:solidFill>
                        <a:srgbClr val="000000"/>
                      </a:solidFill>
                      <a:prstDash val="solid"/>
                    </a:lnB>
                  </a:tcPr>
                </a:tc>
                <a:tc>
                  <a:txBody>
                    <a:bodyPr/>
                    <a:lstStyle/>
                    <a:p>
                      <a:pPr marL="125730">
                        <a:lnSpc>
                          <a:spcPct val="100000"/>
                        </a:lnSpc>
                        <a:spcBef>
                          <a:spcPts val="430"/>
                        </a:spcBef>
                      </a:pPr>
                      <a:r>
                        <a:rPr sz="1400" b="1" spc="-50" dirty="0">
                          <a:latin typeface="Calibri"/>
                          <a:cs typeface="Calibri"/>
                        </a:rPr>
                        <a:t>-</a:t>
                      </a:r>
                      <a:endParaRPr sz="1400">
                        <a:latin typeface="Calibri"/>
                        <a:cs typeface="Calibri"/>
                      </a:endParaRPr>
                    </a:p>
                  </a:txBody>
                  <a:tcPr marL="0" marR="0" marT="40958"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125095" algn="r">
                        <a:lnSpc>
                          <a:spcPts val="1739"/>
                        </a:lnSpc>
                      </a:pPr>
                      <a:r>
                        <a:rPr sz="1400" b="1" spc="-25" dirty="0">
                          <a:latin typeface="Calibri"/>
                          <a:cs typeface="Calibri"/>
                        </a:rPr>
                        <a:t>100</a:t>
                      </a:r>
                      <a:endParaRPr sz="1400">
                        <a:latin typeface="Calibri"/>
                        <a:cs typeface="Calibri"/>
                      </a:endParaRPr>
                    </a:p>
                  </a:txBody>
                  <a:tcPr marL="0" marR="0" marT="0" marB="0">
                    <a:lnL w="12700">
                      <a:solidFill>
                        <a:srgbClr val="000000"/>
                      </a:solidFill>
                      <a:prstDash val="solid"/>
                    </a:lnL>
                    <a:lnT w="12700">
                      <a:solidFill>
                        <a:srgbClr val="000000"/>
                      </a:solidFill>
                      <a:prstDash val="solid"/>
                    </a:lnT>
                    <a:lnB w="12700">
                      <a:solidFill>
                        <a:srgbClr val="000000"/>
                      </a:solidFill>
                      <a:prstDash val="solid"/>
                    </a:lnB>
                  </a:tcPr>
                </a:tc>
                <a:tc>
                  <a:txBody>
                    <a:bodyPr/>
                    <a:lstStyle/>
                    <a:p>
                      <a:pPr marL="132715">
                        <a:lnSpc>
                          <a:spcPct val="100000"/>
                        </a:lnSpc>
                        <a:spcBef>
                          <a:spcPts val="430"/>
                        </a:spcBef>
                      </a:pPr>
                      <a:r>
                        <a:rPr sz="1400" b="1" spc="-50" dirty="0">
                          <a:latin typeface="Calibri"/>
                          <a:cs typeface="Calibri"/>
                        </a:rPr>
                        <a:t>-</a:t>
                      </a:r>
                      <a:endParaRPr sz="1400">
                        <a:latin typeface="Calibri"/>
                        <a:cs typeface="Calibri"/>
                      </a:endParaRPr>
                    </a:p>
                  </a:txBody>
                  <a:tcPr marL="0" marR="0" marT="40958" marB="0">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5"/>
                  </a:ext>
                </a:extLst>
              </a:tr>
              <a:tr h="269081">
                <a:tc>
                  <a:txBody>
                    <a:bodyPr/>
                    <a:lstStyle/>
                    <a:p>
                      <a:pPr marR="118745" algn="r">
                        <a:lnSpc>
                          <a:spcPts val="2039"/>
                        </a:lnSpc>
                      </a:pPr>
                      <a:r>
                        <a:rPr sz="1400" b="1" spc="-25" dirty="0">
                          <a:latin typeface="Calibri"/>
                          <a:cs typeface="Calibri"/>
                        </a:rPr>
                        <a:t>101</a:t>
                      </a:r>
                      <a:endParaRPr sz="1400">
                        <a:latin typeface="Calibri"/>
                        <a:cs typeface="Calibri"/>
                      </a:endParaRPr>
                    </a:p>
                  </a:txBody>
                  <a:tcPr marL="0" marR="0" marT="0" marB="0">
                    <a:lnL w="28575">
                      <a:solidFill>
                        <a:srgbClr val="000000"/>
                      </a:solidFill>
                      <a:prstDash val="solid"/>
                    </a:lnL>
                    <a:lnT w="12700">
                      <a:solidFill>
                        <a:srgbClr val="000000"/>
                      </a:solidFill>
                      <a:prstDash val="solid"/>
                    </a:lnT>
                    <a:lnB w="12700">
                      <a:solidFill>
                        <a:srgbClr val="000000"/>
                      </a:solidFill>
                      <a:prstDash val="solid"/>
                    </a:lnB>
                  </a:tcPr>
                </a:tc>
                <a:tc>
                  <a:txBody>
                    <a:bodyPr/>
                    <a:lstStyle/>
                    <a:p>
                      <a:pPr marL="125730">
                        <a:lnSpc>
                          <a:spcPct val="100000"/>
                        </a:lnSpc>
                        <a:spcBef>
                          <a:spcPts val="365"/>
                        </a:spcBef>
                      </a:pPr>
                      <a:r>
                        <a:rPr sz="1400" b="1" spc="-50" dirty="0">
                          <a:latin typeface="Calibri"/>
                          <a:cs typeface="Calibri"/>
                        </a:rPr>
                        <a:t>-</a:t>
                      </a:r>
                      <a:endParaRPr sz="1400">
                        <a:latin typeface="Calibri"/>
                        <a:cs typeface="Calibri"/>
                      </a:endParaRPr>
                    </a:p>
                  </a:txBody>
                  <a:tcPr marL="0" marR="0" marT="34766"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125095" algn="r">
                        <a:lnSpc>
                          <a:spcPts val="1680"/>
                        </a:lnSpc>
                      </a:pPr>
                      <a:r>
                        <a:rPr sz="1400" b="1" spc="-25" dirty="0">
                          <a:latin typeface="Calibri"/>
                          <a:cs typeface="Calibri"/>
                        </a:rPr>
                        <a:t>101</a:t>
                      </a:r>
                      <a:endParaRPr sz="1400">
                        <a:latin typeface="Calibri"/>
                        <a:cs typeface="Calibri"/>
                      </a:endParaRPr>
                    </a:p>
                  </a:txBody>
                  <a:tcPr marL="0" marR="0" marT="0" marB="0">
                    <a:lnL w="12700">
                      <a:solidFill>
                        <a:srgbClr val="000000"/>
                      </a:solidFill>
                      <a:prstDash val="solid"/>
                    </a:lnL>
                    <a:lnT w="12700">
                      <a:solidFill>
                        <a:srgbClr val="000000"/>
                      </a:solidFill>
                      <a:prstDash val="solid"/>
                    </a:lnT>
                    <a:lnB w="12700">
                      <a:solidFill>
                        <a:srgbClr val="000000"/>
                      </a:solidFill>
                      <a:prstDash val="solid"/>
                    </a:lnB>
                  </a:tcPr>
                </a:tc>
                <a:tc>
                  <a:txBody>
                    <a:bodyPr/>
                    <a:lstStyle/>
                    <a:p>
                      <a:pPr marL="132715">
                        <a:lnSpc>
                          <a:spcPct val="100000"/>
                        </a:lnSpc>
                        <a:spcBef>
                          <a:spcPts val="365"/>
                        </a:spcBef>
                      </a:pPr>
                      <a:r>
                        <a:rPr sz="1400" b="1" spc="-50" dirty="0">
                          <a:latin typeface="Calibri"/>
                          <a:cs typeface="Calibri"/>
                        </a:rPr>
                        <a:t>-</a:t>
                      </a:r>
                      <a:endParaRPr sz="1400">
                        <a:latin typeface="Calibri"/>
                        <a:cs typeface="Calibri"/>
                      </a:endParaRPr>
                    </a:p>
                  </a:txBody>
                  <a:tcPr marL="0" marR="0" marT="34766" marB="0">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6"/>
                  </a:ext>
                </a:extLst>
              </a:tr>
              <a:tr h="266700">
                <a:tc>
                  <a:txBody>
                    <a:bodyPr/>
                    <a:lstStyle/>
                    <a:p>
                      <a:pPr marR="118745" algn="r">
                        <a:lnSpc>
                          <a:spcPts val="1964"/>
                        </a:lnSpc>
                      </a:pPr>
                      <a:r>
                        <a:rPr sz="1400" b="1" spc="-25" dirty="0">
                          <a:latin typeface="Calibri"/>
                          <a:cs typeface="Calibri"/>
                        </a:rPr>
                        <a:t>110</a:t>
                      </a:r>
                      <a:endParaRPr sz="1400" dirty="0">
                        <a:latin typeface="Calibri"/>
                        <a:cs typeface="Calibri"/>
                      </a:endParaRPr>
                    </a:p>
                  </a:txBody>
                  <a:tcPr marL="0" marR="0" marT="0" marB="0">
                    <a:lnL w="28575">
                      <a:solidFill>
                        <a:srgbClr val="000000"/>
                      </a:solidFill>
                      <a:prstDash val="solid"/>
                    </a:lnL>
                    <a:lnT w="12700">
                      <a:solidFill>
                        <a:srgbClr val="000000"/>
                      </a:solidFill>
                      <a:prstDash val="solid"/>
                    </a:lnT>
                    <a:lnB w="12700">
                      <a:solidFill>
                        <a:srgbClr val="000000"/>
                      </a:solidFill>
                      <a:prstDash val="solid"/>
                    </a:lnB>
                  </a:tcPr>
                </a:tc>
                <a:tc>
                  <a:txBody>
                    <a:bodyPr/>
                    <a:lstStyle/>
                    <a:p>
                      <a:pPr marL="125730">
                        <a:lnSpc>
                          <a:spcPct val="100000"/>
                        </a:lnSpc>
                        <a:spcBef>
                          <a:spcPts val="290"/>
                        </a:spcBef>
                      </a:pPr>
                      <a:r>
                        <a:rPr sz="1400" b="1" spc="-50" dirty="0">
                          <a:latin typeface="Calibri"/>
                          <a:cs typeface="Calibri"/>
                        </a:rPr>
                        <a:t>-</a:t>
                      </a:r>
                      <a:endParaRPr sz="1400">
                        <a:latin typeface="Calibri"/>
                        <a:cs typeface="Calibri"/>
                      </a:endParaRPr>
                    </a:p>
                  </a:txBody>
                  <a:tcPr marL="0" marR="0" marT="27623"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125095" algn="r">
                        <a:lnSpc>
                          <a:spcPts val="1605"/>
                        </a:lnSpc>
                      </a:pPr>
                      <a:r>
                        <a:rPr sz="1400" b="1" spc="-25" dirty="0">
                          <a:latin typeface="Calibri"/>
                          <a:cs typeface="Calibri"/>
                        </a:rPr>
                        <a:t>110</a:t>
                      </a:r>
                      <a:endParaRPr sz="1400">
                        <a:latin typeface="Calibri"/>
                        <a:cs typeface="Calibri"/>
                      </a:endParaRPr>
                    </a:p>
                  </a:txBody>
                  <a:tcPr marL="0" marR="0" marT="0" marB="0">
                    <a:lnL w="12700">
                      <a:solidFill>
                        <a:srgbClr val="000000"/>
                      </a:solidFill>
                      <a:prstDash val="solid"/>
                    </a:lnL>
                    <a:lnT w="12700">
                      <a:solidFill>
                        <a:srgbClr val="000000"/>
                      </a:solidFill>
                      <a:prstDash val="solid"/>
                    </a:lnT>
                    <a:lnB w="12700">
                      <a:solidFill>
                        <a:srgbClr val="000000"/>
                      </a:solidFill>
                      <a:prstDash val="solid"/>
                    </a:lnB>
                  </a:tcPr>
                </a:tc>
                <a:tc>
                  <a:txBody>
                    <a:bodyPr/>
                    <a:lstStyle/>
                    <a:p>
                      <a:pPr marL="132715">
                        <a:lnSpc>
                          <a:spcPct val="100000"/>
                        </a:lnSpc>
                        <a:spcBef>
                          <a:spcPts val="290"/>
                        </a:spcBef>
                      </a:pPr>
                      <a:r>
                        <a:rPr sz="1400" b="1" spc="-50" dirty="0">
                          <a:latin typeface="Calibri"/>
                          <a:cs typeface="Calibri"/>
                        </a:rPr>
                        <a:t>-</a:t>
                      </a:r>
                      <a:endParaRPr sz="1400">
                        <a:latin typeface="Calibri"/>
                        <a:cs typeface="Calibri"/>
                      </a:endParaRPr>
                    </a:p>
                  </a:txBody>
                  <a:tcPr marL="0" marR="0" marT="27623" marB="0">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7"/>
                  </a:ext>
                </a:extLst>
              </a:tr>
              <a:tr h="269081">
                <a:tc>
                  <a:txBody>
                    <a:bodyPr/>
                    <a:lstStyle/>
                    <a:p>
                      <a:pPr marR="118745" algn="r">
                        <a:lnSpc>
                          <a:spcPts val="1914"/>
                        </a:lnSpc>
                      </a:pPr>
                      <a:r>
                        <a:rPr sz="1400" b="1" spc="-25" dirty="0">
                          <a:latin typeface="Calibri"/>
                          <a:cs typeface="Calibri"/>
                        </a:rPr>
                        <a:t>111</a:t>
                      </a:r>
                      <a:endParaRPr sz="1400">
                        <a:latin typeface="Calibri"/>
                        <a:cs typeface="Calibri"/>
                      </a:endParaRPr>
                    </a:p>
                  </a:txBody>
                  <a:tcPr marL="0" marR="0" marT="0" marB="0">
                    <a:lnL w="28575">
                      <a:solidFill>
                        <a:srgbClr val="000000"/>
                      </a:solidFill>
                      <a:prstDash val="solid"/>
                    </a:lnL>
                    <a:lnT w="12700">
                      <a:solidFill>
                        <a:srgbClr val="000000"/>
                      </a:solidFill>
                      <a:prstDash val="solid"/>
                    </a:lnT>
                    <a:lnB w="28575">
                      <a:solidFill>
                        <a:srgbClr val="000000"/>
                      </a:solidFill>
                      <a:prstDash val="solid"/>
                    </a:lnB>
                  </a:tcPr>
                </a:tc>
                <a:tc>
                  <a:txBody>
                    <a:bodyPr/>
                    <a:lstStyle/>
                    <a:p>
                      <a:pPr marL="125730">
                        <a:lnSpc>
                          <a:spcPct val="100000"/>
                        </a:lnSpc>
                        <a:spcBef>
                          <a:spcPts val="245"/>
                        </a:spcBef>
                      </a:pPr>
                      <a:r>
                        <a:rPr sz="1400" b="1" spc="-50" dirty="0">
                          <a:latin typeface="Calibri"/>
                          <a:cs typeface="Calibri"/>
                        </a:rPr>
                        <a:t>-</a:t>
                      </a:r>
                      <a:endParaRPr sz="1400">
                        <a:latin typeface="Calibri"/>
                        <a:cs typeface="Calibri"/>
                      </a:endParaRPr>
                    </a:p>
                  </a:txBody>
                  <a:tcPr marL="0" marR="0" marT="23336" marB="0">
                    <a:lnR w="12700">
                      <a:solidFill>
                        <a:srgbClr val="000000"/>
                      </a:solidFill>
                      <a:prstDash val="solid"/>
                    </a:lnR>
                    <a:lnT w="12700">
                      <a:solidFill>
                        <a:srgbClr val="000000"/>
                      </a:solidFill>
                      <a:prstDash val="solid"/>
                    </a:lnT>
                    <a:lnB w="28575">
                      <a:solidFill>
                        <a:srgbClr val="000000"/>
                      </a:solidFill>
                      <a:prstDash val="solid"/>
                    </a:lnB>
                  </a:tcPr>
                </a:tc>
                <a:tc>
                  <a:txBody>
                    <a:bodyPr/>
                    <a:lstStyle/>
                    <a:p>
                      <a:pPr marR="125095" algn="r">
                        <a:lnSpc>
                          <a:spcPts val="1555"/>
                        </a:lnSpc>
                      </a:pPr>
                      <a:r>
                        <a:rPr sz="1400" b="1" spc="-25" dirty="0">
                          <a:latin typeface="Calibri"/>
                          <a:cs typeface="Calibri"/>
                        </a:rPr>
                        <a:t>111</a:t>
                      </a:r>
                      <a:endParaRPr sz="1400">
                        <a:latin typeface="Calibri"/>
                        <a:cs typeface="Calibri"/>
                      </a:endParaRPr>
                    </a:p>
                  </a:txBody>
                  <a:tcPr marL="0" marR="0" marT="0" marB="0">
                    <a:lnL w="12700">
                      <a:solidFill>
                        <a:srgbClr val="000000"/>
                      </a:solidFill>
                      <a:prstDash val="solid"/>
                    </a:lnL>
                    <a:lnT w="12700">
                      <a:solidFill>
                        <a:srgbClr val="000000"/>
                      </a:solidFill>
                      <a:prstDash val="solid"/>
                    </a:lnT>
                    <a:lnB w="28575">
                      <a:solidFill>
                        <a:srgbClr val="000000"/>
                      </a:solidFill>
                      <a:prstDash val="solid"/>
                    </a:lnB>
                  </a:tcPr>
                </a:tc>
                <a:tc>
                  <a:txBody>
                    <a:bodyPr/>
                    <a:lstStyle/>
                    <a:p>
                      <a:pPr marL="132715">
                        <a:lnSpc>
                          <a:spcPct val="100000"/>
                        </a:lnSpc>
                        <a:spcBef>
                          <a:spcPts val="245"/>
                        </a:spcBef>
                      </a:pPr>
                      <a:r>
                        <a:rPr sz="1400" b="1" spc="-50" dirty="0">
                          <a:latin typeface="Calibri"/>
                          <a:cs typeface="Calibri"/>
                        </a:rPr>
                        <a:t>-</a:t>
                      </a:r>
                      <a:endParaRPr sz="1400" dirty="0">
                        <a:latin typeface="Calibri"/>
                        <a:cs typeface="Calibri"/>
                      </a:endParaRPr>
                    </a:p>
                  </a:txBody>
                  <a:tcPr marL="0" marR="0" marT="23336" marB="0">
                    <a:lnR w="28575">
                      <a:solidFill>
                        <a:srgbClr val="000000"/>
                      </a:solidFill>
                      <a:prstDash val="solid"/>
                    </a:lnR>
                    <a:lnT w="12700">
                      <a:solidFill>
                        <a:srgbClr val="000000"/>
                      </a:solidFill>
                      <a:prstDash val="solid"/>
                    </a:lnT>
                    <a:lnB w="28575">
                      <a:solidFill>
                        <a:srgbClr val="000000"/>
                      </a:solidFill>
                      <a:prstDash val="solid"/>
                    </a:lnB>
                  </a:tcPr>
                </a:tc>
                <a:extLst>
                  <a:ext uri="{0D108BD9-81ED-4DB2-BD59-A6C34878D82A}">
                    <a16:rowId xmlns:a16="http://schemas.microsoft.com/office/drawing/2014/main" val="10008"/>
                  </a:ext>
                </a:extLst>
              </a:tr>
            </a:tbl>
          </a:graphicData>
        </a:graphic>
      </p:graphicFrame>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pPr eaLnBrk="1" hangingPunct="1"/>
            <a:r>
              <a:rPr lang="en-GB"/>
              <a:t>Odd Parity Error Detection</a:t>
            </a:r>
          </a:p>
        </p:txBody>
      </p:sp>
      <p:sp>
        <p:nvSpPr>
          <p:cNvPr id="58371" name="Rectangle 3"/>
          <p:cNvSpPr>
            <a:spLocks noGrp="1" noChangeArrowheads="1"/>
          </p:cNvSpPr>
          <p:nvPr>
            <p:ph idx="1"/>
          </p:nvPr>
        </p:nvSpPr>
        <p:spPr/>
        <p:txBody>
          <a:bodyPr/>
          <a:lstStyle/>
          <a:p>
            <a:pPr eaLnBrk="1" hangingPunct="1">
              <a:lnSpc>
                <a:spcPct val="90000"/>
              </a:lnSpc>
            </a:pPr>
            <a:r>
              <a:rPr lang="en-GB"/>
              <a:t>Original data		10011010</a:t>
            </a:r>
          </a:p>
          <a:p>
            <a:pPr eaLnBrk="1" hangingPunct="1">
              <a:lnSpc>
                <a:spcPct val="90000"/>
              </a:lnSpc>
            </a:pPr>
            <a:r>
              <a:rPr lang="en-GB"/>
              <a:t>With Odd Parity	</a:t>
            </a:r>
            <a:r>
              <a:rPr lang="en-GB" u="sng"/>
              <a:t>1</a:t>
            </a:r>
            <a:r>
              <a:rPr lang="en-GB"/>
              <a:t>10011010</a:t>
            </a:r>
          </a:p>
          <a:p>
            <a:pPr eaLnBrk="1" hangingPunct="1">
              <a:lnSpc>
                <a:spcPct val="90000"/>
              </a:lnSpc>
            </a:pPr>
            <a:r>
              <a:rPr lang="en-GB"/>
              <a:t>1-bit error		110</a:t>
            </a:r>
            <a:r>
              <a:rPr lang="en-GB" u="sng"/>
              <a:t>1</a:t>
            </a:r>
            <a:r>
              <a:rPr lang="en-GB"/>
              <a:t>11010</a:t>
            </a:r>
          </a:p>
          <a:p>
            <a:pPr eaLnBrk="1" hangingPunct="1">
              <a:lnSpc>
                <a:spcPct val="90000"/>
              </a:lnSpc>
            </a:pPr>
            <a:r>
              <a:rPr lang="en-GB"/>
              <a:t>Number of 1s even indicates 1-bit error</a:t>
            </a:r>
          </a:p>
          <a:p>
            <a:pPr eaLnBrk="1" hangingPunct="1">
              <a:lnSpc>
                <a:spcPct val="90000"/>
              </a:lnSpc>
            </a:pPr>
            <a:r>
              <a:rPr lang="en-GB"/>
              <a:t>2-bit error		110</a:t>
            </a:r>
            <a:r>
              <a:rPr lang="en-GB" u="sng"/>
              <a:t>1</a:t>
            </a:r>
            <a:r>
              <a:rPr lang="en-GB"/>
              <a:t>1</a:t>
            </a:r>
            <a:r>
              <a:rPr lang="en-GB" u="sng"/>
              <a:t>0</a:t>
            </a:r>
            <a:r>
              <a:rPr lang="en-GB"/>
              <a:t>010</a:t>
            </a:r>
          </a:p>
          <a:p>
            <a:pPr eaLnBrk="1" hangingPunct="1">
              <a:lnSpc>
                <a:spcPct val="90000"/>
              </a:lnSpc>
            </a:pPr>
            <a:r>
              <a:rPr lang="en-GB"/>
              <a:t>Number of 1s odd no error indicated</a:t>
            </a:r>
          </a:p>
          <a:p>
            <a:pPr eaLnBrk="1" hangingPunct="1">
              <a:lnSpc>
                <a:spcPct val="90000"/>
              </a:lnSpc>
            </a:pPr>
            <a:r>
              <a:rPr lang="en-GB"/>
              <a:t>3-bit error		1</a:t>
            </a:r>
            <a:r>
              <a:rPr lang="en-GB" u="sng"/>
              <a:t>0</a:t>
            </a:r>
            <a:r>
              <a:rPr lang="en-GB"/>
              <a:t>0</a:t>
            </a:r>
            <a:r>
              <a:rPr lang="en-GB" u="sng"/>
              <a:t>1</a:t>
            </a:r>
            <a:r>
              <a:rPr lang="en-GB"/>
              <a:t>1</a:t>
            </a:r>
            <a:r>
              <a:rPr lang="en-GB" u="sng"/>
              <a:t>0</a:t>
            </a:r>
            <a:r>
              <a:rPr lang="en-GB"/>
              <a:t>010</a:t>
            </a:r>
          </a:p>
          <a:p>
            <a:pPr eaLnBrk="1" hangingPunct="1">
              <a:lnSpc>
                <a:spcPct val="90000"/>
              </a:lnSpc>
            </a:pPr>
            <a:r>
              <a:rPr lang="en-GB"/>
              <a:t>Number of 1s even indicates error</a:t>
            </a:r>
          </a:p>
        </p:txBody>
      </p:sp>
    </p:spTree>
  </p:cSld>
  <p:clrMapOvr>
    <a:masterClrMapping/>
  </p:clrMapOv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14068</TotalTime>
  <Words>7643</Words>
  <Application>Microsoft Office PowerPoint</Application>
  <PresentationFormat>On-screen Show (4:3)</PresentationFormat>
  <Paragraphs>1336</Paragraphs>
  <Slides>98</Slides>
  <Notes>18</Notes>
  <HiddenSlides>0</HiddenSlides>
  <MMClips>0</MMClips>
  <ScaleCrop>false</ScaleCrop>
  <HeadingPairs>
    <vt:vector size="8" baseType="variant">
      <vt:variant>
        <vt:lpstr>Fonts Used</vt:lpstr>
      </vt:variant>
      <vt:variant>
        <vt:i4>8</vt:i4>
      </vt:variant>
      <vt:variant>
        <vt:lpstr>Theme</vt:lpstr>
      </vt:variant>
      <vt:variant>
        <vt:i4>3</vt:i4>
      </vt:variant>
      <vt:variant>
        <vt:lpstr>Embedded OLE Servers</vt:lpstr>
      </vt:variant>
      <vt:variant>
        <vt:i4>1</vt:i4>
      </vt:variant>
      <vt:variant>
        <vt:lpstr>Slide Titles</vt:lpstr>
      </vt:variant>
      <vt:variant>
        <vt:i4>98</vt:i4>
      </vt:variant>
    </vt:vector>
  </HeadingPairs>
  <TitlesOfParts>
    <vt:vector size="110" baseType="lpstr">
      <vt:lpstr>Arial</vt:lpstr>
      <vt:lpstr>Arial MT</vt:lpstr>
      <vt:lpstr>Calibri</vt:lpstr>
      <vt:lpstr>Calibri Light</vt:lpstr>
      <vt:lpstr>Cambria Math</vt:lpstr>
      <vt:lpstr>Symbol</vt:lpstr>
      <vt:lpstr>Times New Roman</vt:lpstr>
      <vt:lpstr>Wingdings</vt:lpstr>
      <vt:lpstr>Office Theme</vt:lpstr>
      <vt:lpstr>1_Office Theme</vt:lpstr>
      <vt:lpstr>2_Office Theme</vt:lpstr>
      <vt:lpstr>Visio</vt:lpstr>
      <vt:lpstr>EE227 – Digital Logic Design</vt:lpstr>
      <vt:lpstr>Outline</vt:lpstr>
      <vt:lpstr>Contact Details</vt:lpstr>
      <vt:lpstr>Books</vt:lpstr>
      <vt:lpstr>Course Outline</vt:lpstr>
      <vt:lpstr>Marks Distribution</vt:lpstr>
      <vt:lpstr>Attendance Policy</vt:lpstr>
      <vt:lpstr>General Guidelines</vt:lpstr>
      <vt:lpstr>Now Lets Start the Course</vt:lpstr>
      <vt:lpstr>PowerPoint Presentation</vt:lpstr>
      <vt:lpstr>Information Processing</vt:lpstr>
      <vt:lpstr>Information Representation (Cont.)</vt:lpstr>
      <vt:lpstr>Analog Quantities</vt:lpstr>
      <vt:lpstr>Digital Quantities</vt:lpstr>
      <vt:lpstr>What is a digital system?</vt:lpstr>
      <vt:lpstr>What is A/D conversion?</vt:lpstr>
      <vt:lpstr>What is A/D conversion? (Cont.)</vt:lpstr>
      <vt:lpstr>What is A/D conversion? (Cont.)</vt:lpstr>
      <vt:lpstr>What is A/D conversion? (Cont.)</vt:lpstr>
      <vt:lpstr>The Digital Computer</vt:lpstr>
      <vt:lpstr>The Digital Computer</vt:lpstr>
      <vt:lpstr>Digital logic (Cont.)</vt:lpstr>
      <vt:lpstr>Why Digital Logic Design is Important?</vt:lpstr>
      <vt:lpstr>Data Representation</vt:lpstr>
      <vt:lpstr>Binary Number System (1/2)</vt:lpstr>
      <vt:lpstr>Binary Number System (2/2)</vt:lpstr>
      <vt:lpstr>Signed and Unsigned Binary Numbers</vt:lpstr>
      <vt:lpstr>Hexadecimal Number System</vt:lpstr>
      <vt:lpstr>Decimal and Octal Number System</vt:lpstr>
      <vt:lpstr>Base Conversions</vt:lpstr>
      <vt:lpstr>Unsigned Binary Integers to Decimal</vt:lpstr>
      <vt:lpstr>Decimal to Unsigned Binary Conversion</vt:lpstr>
      <vt:lpstr>Hexadecimal to Binary</vt:lpstr>
      <vt:lpstr>Binary to Hexadecimal</vt:lpstr>
      <vt:lpstr>Octal to Binary</vt:lpstr>
      <vt:lpstr>Binary to Octal</vt:lpstr>
      <vt:lpstr>Hexadecimal to Decimal</vt:lpstr>
      <vt:lpstr>Decimal to Hexadecimal</vt:lpstr>
      <vt:lpstr>Practice Problem 1</vt:lpstr>
      <vt:lpstr>Converting Fractions to Decimal</vt:lpstr>
      <vt:lpstr>Converting Fractions from Decimal to Other Bases</vt:lpstr>
      <vt:lpstr>Practice Problem 2</vt:lpstr>
      <vt:lpstr>Binary Arithmetic</vt:lpstr>
      <vt:lpstr>Binary Addition</vt:lpstr>
      <vt:lpstr>Binary Addition</vt:lpstr>
      <vt:lpstr>Binary Subtraction</vt:lpstr>
      <vt:lpstr>Binary Subtraction</vt:lpstr>
      <vt:lpstr>Binary Multiplication</vt:lpstr>
      <vt:lpstr>Binary Multiplication</vt:lpstr>
      <vt:lpstr>Multiplication by shifting left</vt:lpstr>
      <vt:lpstr>Binary Division</vt:lpstr>
      <vt:lpstr>Division by shifting right</vt:lpstr>
      <vt:lpstr>Binary Addition, Subtraction and Multiplication</vt:lpstr>
      <vt:lpstr>Signed Integers</vt:lpstr>
      <vt:lpstr>Complements of Numbers</vt:lpstr>
      <vt:lpstr>Diminished Radix Complement</vt:lpstr>
      <vt:lpstr>Radix Complement</vt:lpstr>
      <vt:lpstr>Complements of Fractions</vt:lpstr>
      <vt:lpstr>Practice Problem 3</vt:lpstr>
      <vt:lpstr>2’s Complement form</vt:lpstr>
      <vt:lpstr>Range of Numbers</vt:lpstr>
      <vt:lpstr>Range &amp; Overflow</vt:lpstr>
      <vt:lpstr>Range and Overflow</vt:lpstr>
      <vt:lpstr>Addition and Subtraction with 2’s Complement</vt:lpstr>
      <vt:lpstr>Addition and Subtraction 2’s complement  vs. Signed</vt:lpstr>
      <vt:lpstr>Addition and Subtraction 2’complement vs. Signed </vt:lpstr>
      <vt:lpstr>Signed Binary Numbers</vt:lpstr>
      <vt:lpstr>Range and Overflow</vt:lpstr>
      <vt:lpstr>Range of Signed Numbers</vt:lpstr>
      <vt:lpstr>Range of Unsigned Numbers</vt:lpstr>
      <vt:lpstr>Ranges of Numbers</vt:lpstr>
      <vt:lpstr>Practice Problem 3</vt:lpstr>
      <vt:lpstr>Counting in Hexadecimal</vt:lpstr>
      <vt:lpstr>Counting in Hexadecimal</vt:lpstr>
      <vt:lpstr>Counting in Octal</vt:lpstr>
      <vt:lpstr>Octal Addition</vt:lpstr>
      <vt:lpstr>Octal Subtraction</vt:lpstr>
      <vt:lpstr>Hexadecimal Addition</vt:lpstr>
      <vt:lpstr>Hexadecimal Subtraction</vt:lpstr>
      <vt:lpstr>Integer Storage System (1/2)</vt:lpstr>
      <vt:lpstr>Integer Storage System (2/2)</vt:lpstr>
      <vt:lpstr>Alternate Representations</vt:lpstr>
      <vt:lpstr>Binary Coded Decimal (BCD)</vt:lpstr>
      <vt:lpstr>Alternate Representations</vt:lpstr>
      <vt:lpstr>Warning: Conversion or Coding?</vt:lpstr>
      <vt:lpstr>BCD Arithmetic Given a BCD code, we use binary arithmetic to add the digits:</vt:lpstr>
      <vt:lpstr>PowerPoint Presentation</vt:lpstr>
      <vt:lpstr>Gray Code (RBC) Reflected Binary Code)</vt:lpstr>
      <vt:lpstr>Gray Code</vt:lpstr>
      <vt:lpstr>Gray Code Application</vt:lpstr>
      <vt:lpstr>DECIMAL CODES - Binary Codes for Decimal Digits</vt:lpstr>
      <vt:lpstr>Alphanumeric Code</vt:lpstr>
      <vt:lpstr>ASCII Code</vt:lpstr>
      <vt:lpstr>Alphanumeric Code</vt:lpstr>
      <vt:lpstr>Error Detection</vt:lpstr>
      <vt:lpstr>PARITY BIT Error-Detection Codes</vt:lpstr>
      <vt:lpstr>4-Bit Parity Code Example</vt:lpstr>
      <vt:lpstr>Odd Parity Error Detection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EE227 – Digital Logic Design</dc:title>
  <dc:creator>sAjid</dc:creator>
  <cp:lastModifiedBy>Mirza Waqar Baig</cp:lastModifiedBy>
  <cp:revision>56</cp:revision>
  <dcterms:created xsi:type="dcterms:W3CDTF">2018-01-21T13:37:44Z</dcterms:created>
  <dcterms:modified xsi:type="dcterms:W3CDTF">2025-01-30T10:22:25Z</dcterms:modified>
</cp:coreProperties>
</file>