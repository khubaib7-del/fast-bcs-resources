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EE227 –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26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Ripple Counters</a:t>
            </a:r>
          </a:p>
          <a:p>
            <a:pPr lvl="1"/>
            <a:r>
              <a:rPr lang="en-US" dirty="0" smtClean="0"/>
              <a:t>Binary Ripple Counter</a:t>
            </a:r>
          </a:p>
          <a:p>
            <a:pPr lvl="1"/>
            <a:r>
              <a:rPr lang="en-US" dirty="0" smtClean="0"/>
              <a:t>BCD Ripple Counter</a:t>
            </a:r>
          </a:p>
          <a:p>
            <a:r>
              <a:rPr lang="en-US" dirty="0" smtClean="0"/>
              <a:t>Synchronous Counter</a:t>
            </a:r>
          </a:p>
          <a:p>
            <a:pPr lvl="1"/>
            <a:r>
              <a:rPr lang="en-US" dirty="0" smtClean="0"/>
              <a:t>Binary Counter</a:t>
            </a:r>
          </a:p>
          <a:p>
            <a:pPr lvl="1"/>
            <a:r>
              <a:rPr lang="en-US" dirty="0" smtClean="0"/>
              <a:t>Binary Up/Down Counter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register that goes through a prescribed sequence of states upon the application of </a:t>
            </a:r>
            <a:r>
              <a:rPr lang="en-US" dirty="0" smtClean="0"/>
              <a:t>input pulses </a:t>
            </a:r>
            <a:r>
              <a:rPr lang="en-US" dirty="0"/>
              <a:t>is called a </a:t>
            </a:r>
            <a:r>
              <a:rPr lang="en-US" dirty="0" smtClean="0"/>
              <a:t>counter</a:t>
            </a:r>
          </a:p>
          <a:p>
            <a:r>
              <a:rPr lang="en-US" dirty="0"/>
              <a:t>Counters are available in two </a:t>
            </a:r>
            <a:r>
              <a:rPr lang="en-US" dirty="0" smtClean="0"/>
              <a:t>categories</a:t>
            </a:r>
          </a:p>
          <a:p>
            <a:r>
              <a:rPr lang="en-US" dirty="0"/>
              <a:t>R</a:t>
            </a:r>
            <a:r>
              <a:rPr lang="en-US" dirty="0" smtClean="0"/>
              <a:t>ipple counters</a:t>
            </a:r>
          </a:p>
          <a:p>
            <a:pPr lvl="1"/>
            <a:r>
              <a:rPr lang="en-US" dirty="0"/>
              <a:t>In a ripple counter, a flip‐flop output transition serves as a source for triggering </a:t>
            </a:r>
            <a:r>
              <a:rPr lang="en-US" dirty="0" smtClean="0"/>
              <a:t>other flip‐flops</a:t>
            </a:r>
          </a:p>
          <a:p>
            <a:pPr lvl="1"/>
            <a:r>
              <a:rPr lang="en-US" dirty="0" smtClean="0"/>
              <a:t>Clock is not common</a:t>
            </a:r>
            <a:endParaRPr lang="en-US" dirty="0"/>
          </a:p>
          <a:p>
            <a:r>
              <a:rPr lang="en-US" dirty="0" smtClean="0"/>
              <a:t>Synchronous counters</a:t>
            </a:r>
          </a:p>
          <a:p>
            <a:pPr lvl="1"/>
            <a:r>
              <a:rPr lang="en-US" dirty="0"/>
              <a:t>In a synchronous counter, the C inputs of all flip‐flops receive the common clock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1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Ripple Counters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 ripple counter, a flip‐flop output transition serves as a source for triggering other flip‐flops</a:t>
            </a:r>
          </a:p>
          <a:p>
            <a:r>
              <a:rPr lang="en-US" dirty="0"/>
              <a:t>Clock is not </a:t>
            </a:r>
            <a:r>
              <a:rPr lang="en-US" dirty="0" smtClean="0"/>
              <a:t>common</a:t>
            </a:r>
          </a:p>
          <a:p>
            <a:r>
              <a:rPr lang="en-US" dirty="0" smtClean="0"/>
              <a:t>We will discuss two types of ripple counters</a:t>
            </a:r>
            <a:endParaRPr lang="en-US" dirty="0"/>
          </a:p>
          <a:p>
            <a:r>
              <a:rPr lang="en-US" dirty="0" smtClean="0"/>
              <a:t>Binary Ripple Counter</a:t>
            </a:r>
          </a:p>
          <a:p>
            <a:pPr lvl="1"/>
            <a:r>
              <a:rPr lang="en-US" dirty="0"/>
              <a:t>A counter that follows the binary number </a:t>
            </a:r>
            <a:r>
              <a:rPr lang="en-US" dirty="0" smtClean="0"/>
              <a:t>sequence (0, 1, 2, 3, …)</a:t>
            </a:r>
          </a:p>
          <a:p>
            <a:r>
              <a:rPr lang="en-US" dirty="0" smtClean="0"/>
              <a:t>BCD Ripple Counter</a:t>
            </a:r>
          </a:p>
          <a:p>
            <a:pPr lvl="1"/>
            <a:r>
              <a:rPr lang="en-US" dirty="0"/>
              <a:t>A </a:t>
            </a:r>
            <a:r>
              <a:rPr lang="en-US" dirty="0" smtClean="0"/>
              <a:t>BCD counter </a:t>
            </a:r>
            <a:r>
              <a:rPr lang="en-US" dirty="0"/>
              <a:t>follows a sequence of 10 states and returns to 0 after the count of 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4 – Bit Binary Ripple Counter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5753100" cy="4953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4 bits </a:t>
            </a:r>
            <a:r>
              <a:rPr lang="en-US" dirty="0" smtClean="0">
                <a:sym typeface="Wingdings" pitchFamily="2" charset="2"/>
              </a:rPr>
              <a:t> 4 flip flops are required</a:t>
            </a:r>
          </a:p>
          <a:p>
            <a:r>
              <a:rPr lang="en-US" dirty="0" smtClean="0">
                <a:sym typeface="Wingdings" pitchFamily="2" charset="2"/>
              </a:rPr>
              <a:t>LSB (A</a:t>
            </a:r>
            <a:r>
              <a:rPr lang="en-US" baseline="-25000" dirty="0" smtClean="0">
                <a:sym typeface="Wingdings" pitchFamily="2" charset="2"/>
              </a:rPr>
              <a:t>0</a:t>
            </a:r>
            <a:r>
              <a:rPr lang="en-US" dirty="0" smtClean="0">
                <a:sym typeface="Wingdings" pitchFamily="2" charset="2"/>
              </a:rPr>
              <a:t>) is complementing every time</a:t>
            </a:r>
          </a:p>
          <a:p>
            <a:pPr lvl="1"/>
            <a:r>
              <a:rPr lang="en-US" dirty="0">
                <a:sym typeface="Wingdings" pitchFamily="2" charset="2"/>
              </a:rPr>
              <a:t>C</a:t>
            </a:r>
            <a:r>
              <a:rPr lang="en-US" dirty="0" smtClean="0">
                <a:sym typeface="Wingdings" pitchFamily="2" charset="2"/>
              </a:rPr>
              <a:t>onnect the flip flop producing A0 directly to a clock</a:t>
            </a:r>
          </a:p>
          <a:p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 is changing when A</a:t>
            </a:r>
            <a:r>
              <a:rPr lang="en-US" baseline="-25000" dirty="0" smtClean="0">
                <a:sym typeface="Wingdings" pitchFamily="2" charset="2"/>
              </a:rPr>
              <a:t>0</a:t>
            </a:r>
            <a:r>
              <a:rPr lang="en-US" dirty="0" smtClean="0">
                <a:sym typeface="Wingdings" pitchFamily="2" charset="2"/>
              </a:rPr>
              <a:t> changes from 1 to 0 (at negative edge)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0</a:t>
            </a:r>
            <a:r>
              <a:rPr lang="en-US" dirty="0" smtClean="0">
                <a:sym typeface="Wingdings" pitchFamily="2" charset="2"/>
              </a:rPr>
              <a:t> is connected to the clock of flip flop producing A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is changing when </a:t>
            </a:r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changes from 1 to 0 (at negative edge)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is connected to the clock of flip flop producing </a:t>
            </a:r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2</a:t>
            </a:r>
            <a:endParaRPr lang="en-US" baseline="-25000" dirty="0"/>
          </a:p>
          <a:p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3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is changing when </a:t>
            </a:r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changes from 1 to 0 (at negative edge)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is connected to the clock of flip flop producing </a:t>
            </a:r>
            <a:r>
              <a:rPr lang="en-US" dirty="0" smtClean="0">
                <a:sym typeface="Wingdings" pitchFamily="2" charset="2"/>
              </a:rPr>
              <a:t>A</a:t>
            </a:r>
            <a:r>
              <a:rPr lang="en-US" baseline="-25000" dirty="0" smtClean="0">
                <a:sym typeface="Wingdings" pitchFamily="2" charset="2"/>
              </a:rPr>
              <a:t>3</a:t>
            </a:r>
            <a:endParaRPr lang="en-US" baseline="-25000" dirty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828800"/>
            <a:ext cx="2705100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12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9787"/>
          </a:xfrm>
        </p:spPr>
        <p:txBody>
          <a:bodyPr/>
          <a:lstStyle/>
          <a:p>
            <a:r>
              <a:rPr lang="en-US" dirty="0" smtClean="0"/>
              <a:t>4 – Bit Binary Ripple Counter (2/2)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14425"/>
            <a:ext cx="4876800" cy="528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60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BCD Ripple Counter 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/>
              <a:t>A BCD counter follows a sequence of 10 states and returns to 0 after the count of 9</a:t>
            </a:r>
          </a:p>
          <a:p>
            <a:r>
              <a:rPr lang="en-US" dirty="0" smtClean="0"/>
              <a:t>10 states </a:t>
            </a:r>
            <a:r>
              <a:rPr lang="en-US" dirty="0" smtClean="0">
                <a:sym typeface="Wingdings" pitchFamily="2" charset="2"/>
              </a:rPr>
              <a:t> at least 4 flip </a:t>
            </a:r>
            <a:r>
              <a:rPr lang="en-US" dirty="0" smtClean="0">
                <a:sym typeface="Wingdings" pitchFamily="2" charset="2"/>
              </a:rPr>
              <a:t>flops are required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State diagram is shown below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3886200"/>
            <a:ext cx="425767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951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BCD Ripple Counter </a:t>
            </a:r>
            <a:r>
              <a:rPr lang="en-US" dirty="0" smtClean="0"/>
              <a:t>(2/3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64008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r>
              <a:rPr lang="en-US" dirty="0" smtClean="0"/>
              <a:t> is complemented on every clock pulse</a:t>
            </a:r>
          </a:p>
          <a:p>
            <a:endParaRPr lang="en-US" dirty="0" smtClean="0"/>
          </a:p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r>
              <a:rPr lang="en-US" dirty="0" smtClean="0"/>
              <a:t> is complemented if Q</a:t>
            </a:r>
            <a:r>
              <a:rPr lang="en-US" baseline="-25000" dirty="0" smtClean="0"/>
              <a:t>8</a:t>
            </a:r>
            <a:r>
              <a:rPr lang="en-US" dirty="0" smtClean="0"/>
              <a:t> = 0 and Q</a:t>
            </a:r>
            <a:r>
              <a:rPr lang="en-US" baseline="-25000" dirty="0" smtClean="0"/>
              <a:t>1</a:t>
            </a:r>
            <a:r>
              <a:rPr lang="en-US" dirty="0" smtClean="0"/>
              <a:t> goes from 1 to 0</a:t>
            </a:r>
          </a:p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r>
              <a:rPr lang="en-US" dirty="0" smtClean="0"/>
              <a:t> is clear if Q</a:t>
            </a:r>
            <a:r>
              <a:rPr lang="en-US" baseline="-25000" dirty="0" smtClean="0"/>
              <a:t>8</a:t>
            </a:r>
            <a:r>
              <a:rPr lang="en-US" dirty="0" smtClean="0"/>
              <a:t> = 1 and Q</a:t>
            </a:r>
            <a:r>
              <a:rPr lang="en-US" baseline="-25000" dirty="0" smtClean="0"/>
              <a:t>1</a:t>
            </a:r>
            <a:r>
              <a:rPr lang="en-US" dirty="0" smtClean="0"/>
              <a:t> goes from 1 to 0</a:t>
            </a:r>
          </a:p>
          <a:p>
            <a:endParaRPr lang="en-US" dirty="0" smtClean="0"/>
          </a:p>
          <a:p>
            <a:r>
              <a:rPr lang="en-US" dirty="0" smtClean="0"/>
              <a:t>Q</a:t>
            </a:r>
            <a:r>
              <a:rPr lang="en-US" baseline="-25000" dirty="0" smtClean="0"/>
              <a:t>4</a:t>
            </a:r>
            <a:r>
              <a:rPr lang="en-US" dirty="0" smtClean="0"/>
              <a:t> is complemented if Q</a:t>
            </a:r>
            <a:r>
              <a:rPr lang="en-US" baseline="-25000" dirty="0" smtClean="0"/>
              <a:t>2</a:t>
            </a:r>
            <a:r>
              <a:rPr lang="en-US" dirty="0" smtClean="0"/>
              <a:t> goes from 1 to 0</a:t>
            </a:r>
          </a:p>
          <a:p>
            <a:endParaRPr lang="en-US" dirty="0" smtClean="0"/>
          </a:p>
          <a:p>
            <a:r>
              <a:rPr lang="en-US" dirty="0" smtClean="0"/>
              <a:t>Q</a:t>
            </a:r>
            <a:r>
              <a:rPr lang="en-US" baseline="-25000" dirty="0" smtClean="0"/>
              <a:t>8</a:t>
            </a:r>
            <a:r>
              <a:rPr lang="en-US" dirty="0" smtClean="0"/>
              <a:t> is complemented </a:t>
            </a:r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smtClean="0"/>
              <a:t>goes from 1 to 0</a:t>
            </a:r>
          </a:p>
          <a:p>
            <a:r>
              <a:rPr lang="en-US" dirty="0" smtClean="0"/>
              <a:t>Q</a:t>
            </a:r>
            <a:r>
              <a:rPr lang="en-US" baseline="-25000" dirty="0" smtClean="0"/>
              <a:t>8</a:t>
            </a:r>
            <a:r>
              <a:rPr lang="en-US" dirty="0" smtClean="0"/>
              <a:t> is cleared if either Q</a:t>
            </a:r>
            <a:r>
              <a:rPr lang="en-US" baseline="-25000" dirty="0" smtClean="0"/>
              <a:t>4</a:t>
            </a:r>
            <a:r>
              <a:rPr lang="en-US" dirty="0" smtClean="0"/>
              <a:t> or Q</a:t>
            </a:r>
            <a:r>
              <a:rPr lang="en-US" baseline="-25000" dirty="0" smtClean="0"/>
              <a:t>2</a:t>
            </a:r>
            <a:r>
              <a:rPr lang="en-US" dirty="0" smtClean="0"/>
              <a:t> is 0 and Q</a:t>
            </a:r>
            <a:r>
              <a:rPr lang="en-US" baseline="-25000" dirty="0" smtClean="0"/>
              <a:t>1</a:t>
            </a:r>
            <a:r>
              <a:rPr lang="en-US" dirty="0" smtClean="0"/>
              <a:t> goes from 1 to 0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76400"/>
            <a:ext cx="216217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5" y="4495800"/>
            <a:ext cx="213360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722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/>
          <a:lstStyle/>
          <a:p>
            <a:r>
              <a:rPr lang="en-US" dirty="0"/>
              <a:t>BCD Ripple Counter </a:t>
            </a:r>
            <a:r>
              <a:rPr lang="en-US" dirty="0" smtClean="0"/>
              <a:t>(3/3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913" y="1181100"/>
            <a:ext cx="2924175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36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BCD Decade Counter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95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BCD counter discussed previously is a decade counter as it counts from 0 to 9</a:t>
            </a:r>
          </a:p>
          <a:p>
            <a:r>
              <a:rPr lang="en-US" dirty="0" smtClean="0"/>
              <a:t>To count </a:t>
            </a:r>
            <a:r>
              <a:rPr lang="en-US" dirty="0"/>
              <a:t>in decimal from 0 to 99, we need a two‐decade </a:t>
            </a:r>
            <a:r>
              <a:rPr lang="en-US" dirty="0" smtClean="0"/>
              <a:t>counter</a:t>
            </a:r>
          </a:p>
          <a:p>
            <a:r>
              <a:rPr lang="en-US" dirty="0" smtClean="0"/>
              <a:t>To </a:t>
            </a:r>
            <a:r>
              <a:rPr lang="en-US" dirty="0"/>
              <a:t>count from 0 to </a:t>
            </a:r>
            <a:r>
              <a:rPr lang="en-US" dirty="0" smtClean="0"/>
              <a:t>999, we </a:t>
            </a:r>
            <a:r>
              <a:rPr lang="en-US" dirty="0"/>
              <a:t>need a three‐decade </a:t>
            </a:r>
            <a:r>
              <a:rPr lang="en-US" dirty="0" smtClean="0"/>
              <a:t>counter</a:t>
            </a:r>
          </a:p>
          <a:p>
            <a:r>
              <a:rPr lang="en-US" dirty="0" smtClean="0"/>
              <a:t>Multiple </a:t>
            </a:r>
            <a:r>
              <a:rPr lang="en-US" dirty="0"/>
              <a:t>decade counters can be constructed by </a:t>
            </a:r>
            <a:r>
              <a:rPr lang="en-US" dirty="0" smtClean="0"/>
              <a:t>connecting BCD </a:t>
            </a:r>
            <a:r>
              <a:rPr lang="en-US" dirty="0"/>
              <a:t>counters in cascade, one for each decade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4114800"/>
            <a:ext cx="65151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24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Counters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Synchronous counters are different from ripple counters in that clock pulses are </a:t>
            </a:r>
            <a:r>
              <a:rPr lang="en-US" dirty="0" smtClean="0"/>
              <a:t>applied to </a:t>
            </a:r>
            <a:r>
              <a:rPr lang="en-US" dirty="0"/>
              <a:t>the inputs of all </a:t>
            </a:r>
            <a:r>
              <a:rPr lang="en-US" dirty="0" smtClean="0"/>
              <a:t>flip‐flops</a:t>
            </a:r>
          </a:p>
          <a:p>
            <a:r>
              <a:rPr lang="en-US" dirty="0" smtClean="0"/>
              <a:t>A </a:t>
            </a:r>
            <a:r>
              <a:rPr lang="en-US" dirty="0"/>
              <a:t>common clock triggers all flip‐flops </a:t>
            </a:r>
            <a:r>
              <a:rPr lang="en-US" dirty="0" smtClean="0"/>
              <a:t>simultaneously, rather </a:t>
            </a:r>
            <a:r>
              <a:rPr lang="en-US" dirty="0"/>
              <a:t>than one at a time in succession as in a ripple </a:t>
            </a:r>
            <a:r>
              <a:rPr lang="en-US" dirty="0" smtClean="0"/>
              <a:t>counter</a:t>
            </a:r>
          </a:p>
          <a:p>
            <a:r>
              <a:rPr lang="en-US" dirty="0"/>
              <a:t>The design procedure for synchronous counters was presented in </a:t>
            </a:r>
            <a:r>
              <a:rPr lang="en-US" dirty="0" smtClean="0"/>
              <a:t>chapter 5, </a:t>
            </a:r>
            <a:r>
              <a:rPr lang="en-US" dirty="0"/>
              <a:t>and </a:t>
            </a:r>
            <a:r>
              <a:rPr lang="en-US" dirty="0" smtClean="0"/>
              <a:t>the design </a:t>
            </a:r>
            <a:r>
              <a:rPr lang="en-US" dirty="0"/>
              <a:t>of a three‐bit binary counter was carried </a:t>
            </a:r>
            <a:r>
              <a:rPr lang="en-US" dirty="0" smtClean="0"/>
              <a:t>out</a:t>
            </a:r>
          </a:p>
          <a:p>
            <a:r>
              <a:rPr lang="en-US" dirty="0" smtClean="0"/>
              <a:t>Here we will enhance the design for 4 bit binary counter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0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 – Bit Synchronous Binary Up Counter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76400"/>
            <a:ext cx="3925765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52" y="1676400"/>
            <a:ext cx="4137848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779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 – Bit Synchronous Binary Up Counter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409825"/>
            <a:ext cx="872490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519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4 – Bit Synchronous Binary </a:t>
            </a:r>
            <a:r>
              <a:rPr lang="en-US" sz="3600" dirty="0" smtClean="0"/>
              <a:t>Down </a:t>
            </a:r>
            <a:r>
              <a:rPr lang="en-US" sz="3600" dirty="0"/>
              <a:t>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810000" cy="4297363"/>
          </a:xfrm>
        </p:spPr>
        <p:txBody>
          <a:bodyPr/>
          <a:lstStyle/>
          <a:p>
            <a:r>
              <a:rPr lang="en-US" dirty="0" smtClean="0"/>
              <a:t>From State Table, we get</a:t>
            </a:r>
          </a:p>
          <a:p>
            <a:endParaRPr lang="en-US" dirty="0"/>
          </a:p>
          <a:p>
            <a:pPr marL="400050" lvl="1" indent="0">
              <a:buNone/>
            </a:pPr>
            <a:r>
              <a:rPr lang="en-US" dirty="0" smtClean="0"/>
              <a:t>T</a:t>
            </a:r>
            <a:r>
              <a:rPr lang="en-US" baseline="-25000" dirty="0" smtClean="0"/>
              <a:t>D</a:t>
            </a:r>
            <a:r>
              <a:rPr lang="en-US" dirty="0" smtClean="0"/>
              <a:t> = A’B’C’</a:t>
            </a:r>
          </a:p>
          <a:p>
            <a:pPr marL="400050" lvl="1" indent="0">
              <a:buNone/>
            </a:pPr>
            <a:r>
              <a:rPr lang="en-US" dirty="0" smtClean="0"/>
              <a:t>T</a:t>
            </a:r>
            <a:r>
              <a:rPr lang="en-US" baseline="-25000" dirty="0" smtClean="0"/>
              <a:t>C</a:t>
            </a:r>
            <a:r>
              <a:rPr lang="en-US" dirty="0" smtClean="0"/>
              <a:t> = A’B’</a:t>
            </a:r>
          </a:p>
          <a:p>
            <a:pPr marL="400050" lvl="1" indent="0">
              <a:buNone/>
            </a:pPr>
            <a:r>
              <a:rPr lang="en-US" dirty="0" smtClean="0"/>
              <a:t>T</a:t>
            </a:r>
            <a:r>
              <a:rPr lang="en-US" baseline="-25000" dirty="0" smtClean="0"/>
              <a:t>B</a:t>
            </a:r>
            <a:r>
              <a:rPr lang="en-US" dirty="0" smtClean="0"/>
              <a:t> = A’</a:t>
            </a:r>
          </a:p>
          <a:p>
            <a:pPr marL="400050" lvl="1" indent="0">
              <a:buNone/>
            </a:pPr>
            <a:r>
              <a:rPr lang="en-US" dirty="0" smtClean="0"/>
              <a:t>T</a:t>
            </a:r>
            <a:r>
              <a:rPr lang="en-US" baseline="-25000" dirty="0" smtClean="0"/>
              <a:t>A</a:t>
            </a:r>
            <a:r>
              <a:rPr lang="en-US" dirty="0" smtClean="0"/>
              <a:t> =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676400"/>
            <a:ext cx="5020654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651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4 – Bit Synchronous Binary </a:t>
            </a:r>
            <a:r>
              <a:rPr lang="en-US" sz="3600" dirty="0" smtClean="0"/>
              <a:t>Down </a:t>
            </a:r>
            <a:r>
              <a:rPr lang="en-US" sz="3600" dirty="0"/>
              <a:t>Counter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433638"/>
            <a:ext cx="87249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456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 Bit Binary Up/Down Counter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57400"/>
            <a:ext cx="4029075" cy="40687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By using K – Map</a:t>
            </a:r>
          </a:p>
          <a:p>
            <a:pPr marL="0" indent="0">
              <a:buNone/>
            </a:pPr>
            <a:r>
              <a:rPr lang="en-US" dirty="0" smtClean="0"/>
              <a:t>We Get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T</a:t>
            </a:r>
            <a:r>
              <a:rPr lang="en-US" baseline="-25000" dirty="0" smtClean="0"/>
              <a:t>A</a:t>
            </a:r>
            <a:r>
              <a:rPr lang="en-US" dirty="0" smtClean="0"/>
              <a:t> = 1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en-US" baseline="-25000" dirty="0"/>
              <a:t>B</a:t>
            </a:r>
            <a:r>
              <a:rPr lang="en-US" dirty="0"/>
              <a:t> = M’Q</a:t>
            </a:r>
            <a:r>
              <a:rPr lang="en-US" baseline="-25000" dirty="0"/>
              <a:t>A</a:t>
            </a:r>
            <a:r>
              <a:rPr lang="en-US" dirty="0"/>
              <a:t> + MQ’</a:t>
            </a:r>
            <a:r>
              <a:rPr lang="en-US" baseline="-25000" dirty="0"/>
              <a:t>A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</a:t>
            </a:r>
            <a:r>
              <a:rPr lang="en-US" baseline="-25000" dirty="0" smtClean="0"/>
              <a:t>C</a:t>
            </a:r>
            <a:r>
              <a:rPr lang="en-US" dirty="0" smtClean="0"/>
              <a:t> = M’Q</a:t>
            </a:r>
            <a:r>
              <a:rPr lang="en-US" baseline="-25000" dirty="0" smtClean="0"/>
              <a:t>B</a:t>
            </a:r>
            <a:r>
              <a:rPr lang="en-US" dirty="0" smtClean="0"/>
              <a:t>Q</a:t>
            </a:r>
            <a:r>
              <a:rPr lang="en-US" baseline="-25000" dirty="0" smtClean="0"/>
              <a:t>A</a:t>
            </a:r>
            <a:r>
              <a:rPr lang="en-US" dirty="0" smtClean="0"/>
              <a:t> + MQ’</a:t>
            </a:r>
            <a:r>
              <a:rPr lang="en-US" baseline="-25000" dirty="0" smtClean="0"/>
              <a:t>B</a:t>
            </a:r>
            <a:r>
              <a:rPr lang="en-US" dirty="0" smtClean="0"/>
              <a:t>Q’</a:t>
            </a:r>
            <a:r>
              <a:rPr lang="en-US" baseline="-25000" dirty="0" smtClean="0"/>
              <a:t>A</a:t>
            </a:r>
          </a:p>
          <a:p>
            <a:endParaRPr lang="en-US" baseline="-25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16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752600"/>
            <a:ext cx="4505325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345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1447801" y="2822864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4 </a:t>
            </a:r>
            <a:r>
              <a:rPr lang="en-US" dirty="0"/>
              <a:t>Bit Binary Up/Down </a:t>
            </a:r>
            <a:r>
              <a:rPr lang="en-US" dirty="0" smtClean="0"/>
              <a:t>Counter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EE227 - DLD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Instructor : Muhammad Sajid Iqbal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17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226" y="381000"/>
            <a:ext cx="4929574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710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8962</TotalTime>
  <Words>787</Words>
  <Application>Microsoft Office PowerPoint</Application>
  <PresentationFormat>On-screen Show (4:3)</PresentationFormat>
  <Paragraphs>127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EE227 – Digital Logic Design</vt:lpstr>
      <vt:lpstr>Outline</vt:lpstr>
      <vt:lpstr>Counters</vt:lpstr>
      <vt:lpstr>Ripple Counters</vt:lpstr>
      <vt:lpstr>4 – Bit Binary Ripple Counter (1/2)</vt:lpstr>
      <vt:lpstr>4 – Bit Binary Ripple Counter (2/2)</vt:lpstr>
      <vt:lpstr>BCD Ripple Counter (1/3)</vt:lpstr>
      <vt:lpstr>BCD Ripple Counter (2/3)</vt:lpstr>
      <vt:lpstr>BCD Ripple Counter (3/3)</vt:lpstr>
      <vt:lpstr>BCD Decade Counter</vt:lpstr>
      <vt:lpstr>Synchronous Counters</vt:lpstr>
      <vt:lpstr>4 – Bit Synchronous Binary Up Counter</vt:lpstr>
      <vt:lpstr>4 – Bit Synchronous Binary Up Counter</vt:lpstr>
      <vt:lpstr>4 – Bit Synchronous Binary Down Counter</vt:lpstr>
      <vt:lpstr>4 – Bit Synchronous Binary Down Counter</vt:lpstr>
      <vt:lpstr>3 Bit Binary Up/Down Counter (1/2)</vt:lpstr>
      <vt:lpstr>4 Bit Binary Up/Down Counter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sAjid</cp:lastModifiedBy>
  <cp:revision>371</cp:revision>
  <dcterms:created xsi:type="dcterms:W3CDTF">2018-01-21T13:37:44Z</dcterms:created>
  <dcterms:modified xsi:type="dcterms:W3CDTF">2018-05-01T08:19:09Z</dcterms:modified>
</cp:coreProperties>
</file>