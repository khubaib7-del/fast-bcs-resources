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8" r:id="rId33"/>
    <p:sldId id="289" r:id="rId34"/>
    <p:sldId id="290" r:id="rId35"/>
    <p:sldId id="292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F9F6B-19F2-4FAC-8436-835A36B723E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C4BE1-D084-4D2B-8BB5-E99F53429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76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65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2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4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2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8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5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8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7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6402E-3189-41C4-BB36-EE6F934C6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0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EE227 – Digital Logic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28 </a:t>
            </a:r>
          </a:p>
        </p:txBody>
      </p:sp>
    </p:spTree>
    <p:extLst>
      <p:ext uri="{BB962C8B-B14F-4D97-AF65-F5344CB8AC3E}">
        <p14:creationId xmlns:p14="http://schemas.microsoft.com/office/powerpoint/2010/main" val="3048268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and Programmable Logic</a:t>
            </a:r>
          </a:p>
          <a:p>
            <a:r>
              <a:rPr lang="en-US" dirty="0"/>
              <a:t>Random Access Memory</a:t>
            </a:r>
          </a:p>
          <a:p>
            <a:pPr lvl="1"/>
            <a:r>
              <a:rPr lang="en-US" dirty="0"/>
              <a:t>Write and Read Operations</a:t>
            </a:r>
          </a:p>
          <a:p>
            <a:pPr lvl="1"/>
            <a:r>
              <a:rPr lang="en-US" dirty="0"/>
              <a:t>Timing Waveforms</a:t>
            </a:r>
          </a:p>
          <a:p>
            <a:pPr lvl="1"/>
            <a:r>
              <a:rPr lang="en-US" dirty="0"/>
              <a:t>Types of 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2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memory unit is a device to which binary information is transferred for storage and from which information is retrieved when needed for processing</a:t>
            </a:r>
          </a:p>
          <a:p>
            <a:r>
              <a:rPr lang="en-US" dirty="0"/>
              <a:t>When data processing takes place, information from memory is transferred to selected registers in the processing unit</a:t>
            </a:r>
          </a:p>
          <a:p>
            <a:r>
              <a:rPr lang="en-US" dirty="0"/>
              <a:t>Intermediate and final results obtained in the processing unit are transferred back to be stored in memory</a:t>
            </a:r>
          </a:p>
          <a:p>
            <a:r>
              <a:rPr lang="en-US" dirty="0"/>
              <a:t>Binary information received from an input device is stored in memory, and information transferred to an output device is taken from memory</a:t>
            </a:r>
          </a:p>
          <a:p>
            <a:r>
              <a:rPr lang="en-US" b="1" dirty="0"/>
              <a:t>A memory unit is a collection of cells capable of storing a large quantity of binary information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1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and Write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Operation</a:t>
            </a:r>
          </a:p>
          <a:p>
            <a:pPr lvl="1"/>
            <a:r>
              <a:rPr lang="en-US" dirty="0"/>
              <a:t>The process of storing new information into memory is referred to as a memory write operation</a:t>
            </a:r>
          </a:p>
          <a:p>
            <a:r>
              <a:rPr lang="en-US" dirty="0"/>
              <a:t>Read Operation</a:t>
            </a:r>
          </a:p>
          <a:p>
            <a:pPr lvl="1"/>
            <a:r>
              <a:rPr lang="en-US" dirty="0"/>
              <a:t>The process of transferring the stored information out of memory is referred to as a memory read operation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5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There are two types of memories that are used in digital systems</a:t>
            </a:r>
          </a:p>
          <a:p>
            <a:r>
              <a:rPr lang="en-US" dirty="0"/>
              <a:t>Random Access Memory (RAM)</a:t>
            </a:r>
          </a:p>
          <a:p>
            <a:pPr lvl="1"/>
            <a:r>
              <a:rPr lang="en-US" dirty="0"/>
              <a:t>RAM stores new information for later use</a:t>
            </a:r>
          </a:p>
          <a:p>
            <a:pPr lvl="1"/>
            <a:r>
              <a:rPr lang="en-US" dirty="0"/>
              <a:t>RAM can perform both write and read operations</a:t>
            </a:r>
          </a:p>
          <a:p>
            <a:r>
              <a:rPr lang="en-US" dirty="0"/>
              <a:t>Read Only Memory (ROM)</a:t>
            </a:r>
          </a:p>
          <a:p>
            <a:pPr lvl="1"/>
            <a:r>
              <a:rPr lang="en-US" dirty="0"/>
              <a:t>ROM is a programmable logic device (PLD)</a:t>
            </a:r>
          </a:p>
          <a:p>
            <a:pPr lvl="1"/>
            <a:r>
              <a:rPr lang="en-US" dirty="0"/>
              <a:t>ROM can perform only the read operation</a:t>
            </a:r>
          </a:p>
          <a:p>
            <a:pPr lvl="1"/>
            <a:r>
              <a:rPr lang="en-US" dirty="0"/>
              <a:t>This means that suitable binary information is already stored inside memory and can be retrieved or read at any time. However, that information cannot be altered by writing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7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Programmable Logic Device (PLD)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binary information that is stored within a PLD is specified in some fashion and then embedded within the hardware in a process is referred to as programming the device</a:t>
            </a:r>
          </a:p>
          <a:p>
            <a:r>
              <a:rPr lang="en-US" dirty="0"/>
              <a:t>The word “programming” here refers to a hardware procedure which specifies the bits that are inserted into the hardware configuration of the device</a:t>
            </a:r>
          </a:p>
          <a:p>
            <a:r>
              <a:rPr lang="en-US" dirty="0"/>
              <a:t>Some Programmable Devices are:</a:t>
            </a:r>
          </a:p>
          <a:p>
            <a:pPr lvl="1"/>
            <a:r>
              <a:rPr lang="en-US" dirty="0"/>
              <a:t>Read Only Memory (ROM)</a:t>
            </a:r>
          </a:p>
          <a:p>
            <a:pPr lvl="1"/>
            <a:r>
              <a:rPr lang="en-US" dirty="0"/>
              <a:t>Programmable Logic Array (PLA)</a:t>
            </a:r>
          </a:p>
          <a:p>
            <a:pPr lvl="2"/>
            <a:r>
              <a:rPr lang="en-US" dirty="0"/>
              <a:t>Only AND gate is programmable</a:t>
            </a:r>
          </a:p>
          <a:p>
            <a:pPr lvl="1"/>
            <a:r>
              <a:rPr lang="en-US" dirty="0"/>
              <a:t>Programmable Array Logic (PAL)</a:t>
            </a:r>
          </a:p>
          <a:p>
            <a:pPr lvl="2"/>
            <a:r>
              <a:rPr lang="en-US" dirty="0"/>
              <a:t>AND, OR both are programmable</a:t>
            </a:r>
          </a:p>
          <a:p>
            <a:pPr lvl="1"/>
            <a:r>
              <a:rPr lang="en-US" dirty="0"/>
              <a:t>Field Programmable Gate Array (FPGA)</a:t>
            </a:r>
          </a:p>
          <a:p>
            <a:pPr lvl="2"/>
            <a:r>
              <a:rPr lang="en-US" dirty="0"/>
              <a:t>Like a mini computer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Typical Working of a PLD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4195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PLD is an integrated circuit with internal logic gates connected through electronic paths that behave similarly to fuses</a:t>
            </a:r>
          </a:p>
          <a:p>
            <a:r>
              <a:rPr lang="en-US" dirty="0"/>
              <a:t>In the original state of the device, all the fuses are intact</a:t>
            </a:r>
          </a:p>
          <a:p>
            <a:r>
              <a:rPr lang="en-US" dirty="0"/>
              <a:t>Programming the device involves blowing those fuses along the paths that must be removed in order to obtain the particular configuration of the desired logic function</a:t>
            </a:r>
          </a:p>
          <a:p>
            <a:r>
              <a:rPr lang="en-US" dirty="0"/>
              <a:t>A typical PLD may have hundreds to millions of gates interconnected through hundreds to thousands of internal paths</a:t>
            </a:r>
          </a:p>
          <a:p>
            <a:r>
              <a:rPr lang="en-US" dirty="0"/>
              <a:t>In order to show the internal logic diagram of such a device in a concise form, it is necessary to employ a special gate </a:t>
            </a:r>
            <a:r>
              <a:rPr lang="en-US" dirty="0" err="1"/>
              <a:t>symbology</a:t>
            </a:r>
            <a:r>
              <a:rPr lang="en-US" dirty="0"/>
              <a:t> applicable to array logic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5457825"/>
            <a:ext cx="5381625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566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Memory (RAM)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memory unit is a collection of storage cells, together with associated circuits needed to transfer information into and out of a device</a:t>
            </a:r>
          </a:p>
          <a:p>
            <a:r>
              <a:rPr lang="en-US" dirty="0"/>
              <a:t>The architecture of memory is such that information can be selectively retrieved from any of its internal locations</a:t>
            </a:r>
          </a:p>
          <a:p>
            <a:r>
              <a:rPr lang="en-US" dirty="0"/>
              <a:t>The time it takes to transfer information to or from any desired random location is always the same—hence the name random‐access memory, abbreviated RAM</a:t>
            </a:r>
          </a:p>
          <a:p>
            <a:r>
              <a:rPr lang="en-US" dirty="0"/>
              <a:t>In contrast, the time required to retrieve information that is stored on magnetic tape depends on the location of the data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229600" cy="49831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memory unit stores binary information in groups of bits called words</a:t>
            </a:r>
          </a:p>
          <a:p>
            <a:r>
              <a:rPr lang="en-US" dirty="0"/>
              <a:t>A word in memory is an entity of bits that move in and out of storage as a unit</a:t>
            </a:r>
          </a:p>
          <a:p>
            <a:r>
              <a:rPr lang="en-US" dirty="0"/>
              <a:t>A memory word is a group of 1’s and 0’s and may represent a number, an instruction, one or more alphanumeric characters, or any other binary‐coded information</a:t>
            </a:r>
          </a:p>
          <a:p>
            <a:r>
              <a:rPr lang="en-US" dirty="0"/>
              <a:t>A group of 8 bits is called a byte</a:t>
            </a:r>
          </a:p>
          <a:p>
            <a:r>
              <a:rPr lang="en-US" dirty="0"/>
              <a:t>Most computer memories use words that are multiples of 8 bits in length</a:t>
            </a:r>
          </a:p>
          <a:p>
            <a:r>
              <a:rPr lang="en-US" dirty="0"/>
              <a:t>Thus, a 16‐bit word contains two bytes, and a 32‐bit word is made up of four bytes</a:t>
            </a:r>
          </a:p>
          <a:p>
            <a:r>
              <a:rPr lang="en-US" dirty="0"/>
              <a:t>The capacity of a memory unit is usually stated as the total number of bytes that the unit can store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7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Communication Between Memory and its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Communication between memory and its environment is achieved through:</a:t>
            </a:r>
          </a:p>
          <a:p>
            <a:pPr lvl="1"/>
            <a:r>
              <a:rPr lang="en-US" dirty="0"/>
              <a:t>Data input lines </a:t>
            </a:r>
          </a:p>
          <a:p>
            <a:pPr lvl="2"/>
            <a:r>
              <a:rPr lang="en-US" dirty="0"/>
              <a:t>The n data input lines provide the information to be stored in memory</a:t>
            </a:r>
          </a:p>
          <a:p>
            <a:pPr lvl="1"/>
            <a:r>
              <a:rPr lang="en-US" dirty="0"/>
              <a:t>Data output lines</a:t>
            </a:r>
          </a:p>
          <a:p>
            <a:pPr lvl="2"/>
            <a:r>
              <a:rPr lang="en-US" dirty="0"/>
              <a:t>The n data output lines supply the information coming out of memory</a:t>
            </a:r>
          </a:p>
          <a:p>
            <a:pPr lvl="1"/>
            <a:r>
              <a:rPr lang="en-US" dirty="0"/>
              <a:t>Address selection lines</a:t>
            </a:r>
          </a:p>
          <a:p>
            <a:pPr lvl="2"/>
            <a:r>
              <a:rPr lang="en-US" dirty="0"/>
              <a:t>The k address lines specify the particular word chosen among the many available</a:t>
            </a:r>
          </a:p>
          <a:p>
            <a:pPr lvl="1"/>
            <a:r>
              <a:rPr lang="en-US" dirty="0"/>
              <a:t>Control lines </a:t>
            </a:r>
          </a:p>
          <a:p>
            <a:pPr lvl="2"/>
            <a:r>
              <a:rPr lang="en-US" dirty="0"/>
              <a:t>Specify the direction of transfer</a:t>
            </a:r>
          </a:p>
          <a:p>
            <a:pPr lvl="2"/>
            <a:r>
              <a:rPr lang="en-US" dirty="0"/>
              <a:t>Read</a:t>
            </a:r>
          </a:p>
          <a:p>
            <a:pPr lvl="3"/>
            <a:r>
              <a:rPr lang="en-US" dirty="0"/>
              <a:t>Read input causes binary data to be transferred out of memory</a:t>
            </a:r>
          </a:p>
          <a:p>
            <a:pPr lvl="2"/>
            <a:r>
              <a:rPr lang="en-US" dirty="0"/>
              <a:t>Write</a:t>
            </a:r>
          </a:p>
          <a:p>
            <a:pPr lvl="3"/>
            <a:r>
              <a:rPr lang="en-US" dirty="0"/>
              <a:t>Write input causes binary data to be transferred into the memory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26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Communication Between Memory and its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11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2077316"/>
            <a:ext cx="4286250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3060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 of Memory and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memory unit is specified by the number of words it contains and the number of bits in each word</a:t>
            </a:r>
          </a:p>
          <a:p>
            <a:r>
              <a:rPr lang="en-US" dirty="0"/>
              <a:t>The address lines select one particular word</a:t>
            </a:r>
          </a:p>
          <a:p>
            <a:r>
              <a:rPr lang="en-US" dirty="0"/>
              <a:t>Each word in memory is assigned an identification number, called an address, starting from 0 up to 2</a:t>
            </a:r>
            <a:r>
              <a:rPr lang="en-US" baseline="30000" dirty="0"/>
              <a:t>k</a:t>
            </a:r>
            <a:r>
              <a:rPr lang="en-US" dirty="0"/>
              <a:t> - 1,</a:t>
            </a:r>
          </a:p>
          <a:p>
            <a:pPr marL="0" indent="0" algn="ctr">
              <a:buNone/>
            </a:pPr>
            <a:r>
              <a:rPr lang="en-US" dirty="0"/>
              <a:t>where k is the number of address lines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92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of a Particular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selection of a specific word inside memory is done by applying the k ‐bit address to the address lines</a:t>
            </a:r>
          </a:p>
          <a:p>
            <a:r>
              <a:rPr lang="en-US" dirty="0"/>
              <a:t>An internal decoder accepts this address and opens the paths needed to select the word specified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86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Relationship Between Words and Address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memory capable of storing 2</a:t>
            </a:r>
            <a:r>
              <a:rPr lang="en-US" baseline="30000" dirty="0"/>
              <a:t>K</a:t>
            </a:r>
            <a:r>
              <a:rPr lang="en-US" dirty="0"/>
              <a:t> words there must be a K bit address lines</a:t>
            </a:r>
          </a:p>
          <a:p>
            <a:r>
              <a:rPr lang="en-US" dirty="0"/>
              <a:t>For example</a:t>
            </a:r>
          </a:p>
          <a:p>
            <a:pPr lvl="1"/>
            <a:r>
              <a:rPr lang="en-US" dirty="0"/>
              <a:t>A memory can store 1024 words, how many bits are required in address line?</a:t>
            </a:r>
          </a:p>
          <a:p>
            <a:pPr lvl="2"/>
            <a:r>
              <a:rPr lang="en-US" dirty="0"/>
              <a:t>10 bits</a:t>
            </a:r>
          </a:p>
          <a:p>
            <a:pPr lvl="1"/>
            <a:r>
              <a:rPr lang="en-US" dirty="0"/>
              <a:t>A memory can store 2</a:t>
            </a:r>
            <a:r>
              <a:rPr lang="en-US" baseline="30000" dirty="0"/>
              <a:t>32</a:t>
            </a:r>
            <a:r>
              <a:rPr lang="en-US" dirty="0"/>
              <a:t> words, how many bits are required in address line?</a:t>
            </a:r>
          </a:p>
          <a:p>
            <a:pPr lvl="2"/>
            <a:r>
              <a:rPr lang="en-US" dirty="0"/>
              <a:t>32 bits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7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Standard Sizes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>
              <a:buFont typeface="Wingdings" pitchFamily="2" charset="2"/>
              <a:buChar char="§"/>
            </a:pPr>
            <a:r>
              <a:rPr lang="en-US" dirty="0"/>
              <a:t>K		Kilo		2</a:t>
            </a:r>
            <a:r>
              <a:rPr lang="en-US" baseline="30000" dirty="0"/>
              <a:t>10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M		Mega		2</a:t>
            </a:r>
            <a:r>
              <a:rPr lang="en-US" baseline="30000" dirty="0"/>
              <a:t>20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G		Giga		2</a:t>
            </a:r>
            <a:r>
              <a:rPr lang="en-US" baseline="30000" dirty="0"/>
              <a:t>30</a:t>
            </a:r>
          </a:p>
          <a:p>
            <a:endParaRPr lang="en-US" dirty="0"/>
          </a:p>
          <a:p>
            <a:r>
              <a:rPr lang="en-US" dirty="0"/>
              <a:t>Thus 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Font typeface="Wingdings" pitchFamily="2" charset="2"/>
              <a:buChar char="§"/>
            </a:pPr>
            <a:r>
              <a:rPr lang="en-US" dirty="0"/>
              <a:t>64K 	= 	2</a:t>
            </a:r>
            <a:r>
              <a:rPr lang="en-US" baseline="30000" dirty="0"/>
              <a:t>6</a:t>
            </a:r>
            <a:r>
              <a:rPr lang="en-US" dirty="0"/>
              <a:t> x 2</a:t>
            </a:r>
            <a:r>
              <a:rPr lang="en-US" baseline="30000" dirty="0"/>
              <a:t>10</a:t>
            </a:r>
            <a:r>
              <a:rPr lang="en-US" dirty="0"/>
              <a:t> = 2</a:t>
            </a:r>
            <a:r>
              <a:rPr lang="en-US" baseline="30000" dirty="0"/>
              <a:t>16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2M 	= 	2</a:t>
            </a:r>
            <a:r>
              <a:rPr lang="en-US" baseline="30000" dirty="0"/>
              <a:t>1</a:t>
            </a:r>
            <a:r>
              <a:rPr lang="en-US" dirty="0"/>
              <a:t> x 2</a:t>
            </a:r>
            <a:r>
              <a:rPr lang="en-US" baseline="30000" dirty="0"/>
              <a:t>20</a:t>
            </a:r>
            <a:r>
              <a:rPr lang="en-US" dirty="0"/>
              <a:t> = 2</a:t>
            </a:r>
            <a:r>
              <a:rPr lang="en-US" baseline="30000" dirty="0"/>
              <a:t>21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4G	 = 	2</a:t>
            </a:r>
            <a:r>
              <a:rPr lang="en-US" baseline="30000" dirty="0"/>
              <a:t>2</a:t>
            </a:r>
            <a:r>
              <a:rPr lang="en-US" dirty="0"/>
              <a:t> x 2</a:t>
            </a:r>
            <a:r>
              <a:rPr lang="en-US" baseline="30000" dirty="0"/>
              <a:t>30</a:t>
            </a:r>
            <a:r>
              <a:rPr lang="en-US" dirty="0"/>
              <a:t> = 2</a:t>
            </a:r>
            <a:r>
              <a:rPr lang="en-US" baseline="30000" dirty="0"/>
              <a:t>32</a:t>
            </a:r>
          </a:p>
          <a:p>
            <a:endParaRPr lang="en-US" baseline="30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1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00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Total 1024 words</a:t>
            </a:r>
          </a:p>
          <a:p>
            <a:r>
              <a:rPr lang="en-US" dirty="0"/>
              <a:t>16 bits in each word</a:t>
            </a:r>
          </a:p>
          <a:p>
            <a:pPr lvl="1"/>
            <a:r>
              <a:rPr lang="en-US" dirty="0"/>
              <a:t>10 address lines</a:t>
            </a:r>
          </a:p>
          <a:p>
            <a:pPr lvl="1"/>
            <a:r>
              <a:rPr lang="en-US" dirty="0"/>
              <a:t>1024 addresses</a:t>
            </a:r>
          </a:p>
          <a:p>
            <a:pPr lvl="1"/>
            <a:r>
              <a:rPr lang="en-US" dirty="0"/>
              <a:t>First address is 0000000000</a:t>
            </a:r>
          </a:p>
          <a:p>
            <a:pPr lvl="1"/>
            <a:r>
              <a:rPr lang="en-US" dirty="0"/>
              <a:t>Last address is 1111111111</a:t>
            </a:r>
          </a:p>
          <a:p>
            <a:r>
              <a:rPr lang="en-US" dirty="0"/>
              <a:t>Is called 1K x 16 memory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075" y="1676400"/>
            <a:ext cx="3667125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694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have a 64K x 10 RAM. Find:</a:t>
            </a:r>
          </a:p>
          <a:p>
            <a:pPr lvl="1"/>
            <a:r>
              <a:rPr lang="en-US" dirty="0"/>
              <a:t>Total number of addresses</a:t>
            </a:r>
          </a:p>
          <a:p>
            <a:pPr lvl="2"/>
            <a:r>
              <a:rPr lang="en-US" dirty="0"/>
              <a:t>2</a:t>
            </a:r>
            <a:r>
              <a:rPr lang="en-US" baseline="30000" dirty="0"/>
              <a:t>16</a:t>
            </a:r>
            <a:r>
              <a:rPr lang="en-US" dirty="0"/>
              <a:t> = 65536</a:t>
            </a:r>
          </a:p>
          <a:p>
            <a:pPr lvl="1"/>
            <a:r>
              <a:rPr lang="en-US" dirty="0"/>
              <a:t>Total bits in each address</a:t>
            </a:r>
          </a:p>
          <a:p>
            <a:pPr lvl="2"/>
            <a:r>
              <a:rPr lang="en-US" dirty="0"/>
              <a:t>16</a:t>
            </a:r>
          </a:p>
          <a:p>
            <a:pPr lvl="1"/>
            <a:r>
              <a:rPr lang="en-US" dirty="0"/>
              <a:t>First Address</a:t>
            </a:r>
          </a:p>
          <a:p>
            <a:pPr lvl="2"/>
            <a:r>
              <a:rPr lang="en-US" dirty="0"/>
              <a:t>00000000 00000000 = 0</a:t>
            </a:r>
          </a:p>
          <a:p>
            <a:pPr lvl="1"/>
            <a:r>
              <a:rPr lang="en-US" dirty="0"/>
              <a:t>Last Address</a:t>
            </a:r>
          </a:p>
          <a:p>
            <a:pPr lvl="2"/>
            <a:r>
              <a:rPr lang="en-US" dirty="0"/>
              <a:t>11111111 11111111 = 65535</a:t>
            </a:r>
          </a:p>
          <a:p>
            <a:pPr lvl="1"/>
            <a:r>
              <a:rPr lang="en-US" dirty="0"/>
              <a:t>Number of bits in each word</a:t>
            </a:r>
          </a:p>
          <a:p>
            <a:pPr lvl="2"/>
            <a:r>
              <a:rPr lang="en-US" dirty="0"/>
              <a:t>10 bits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7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a 4MB RAM. Each word contains 8 bytes.</a:t>
            </a:r>
          </a:p>
          <a:p>
            <a:pPr lvl="1"/>
            <a:r>
              <a:rPr lang="en-US" dirty="0"/>
              <a:t>How many words can such a RAM store?</a:t>
            </a:r>
          </a:p>
          <a:p>
            <a:pPr lvl="2"/>
            <a:r>
              <a:rPr lang="en-US" dirty="0"/>
              <a:t>Total words = (4 x 2</a:t>
            </a:r>
            <a:r>
              <a:rPr lang="en-US" baseline="30000" dirty="0"/>
              <a:t>20</a:t>
            </a:r>
            <a:r>
              <a:rPr lang="en-US" dirty="0"/>
              <a:t>)/8 = (2</a:t>
            </a:r>
            <a:r>
              <a:rPr lang="en-US" baseline="30000" dirty="0"/>
              <a:t>22</a:t>
            </a:r>
            <a:r>
              <a:rPr lang="en-US" dirty="0"/>
              <a:t>)/(2</a:t>
            </a:r>
            <a:r>
              <a:rPr lang="en-US" baseline="30000" dirty="0"/>
              <a:t>3</a:t>
            </a:r>
            <a:r>
              <a:rPr lang="en-US" dirty="0"/>
              <a:t>) = 2</a:t>
            </a:r>
            <a:r>
              <a:rPr lang="en-US" baseline="30000" dirty="0"/>
              <a:t>19</a:t>
            </a:r>
          </a:p>
          <a:p>
            <a:pPr lvl="1"/>
            <a:r>
              <a:rPr lang="en-US" dirty="0"/>
              <a:t>How many bits are required for addressing?</a:t>
            </a:r>
          </a:p>
          <a:p>
            <a:pPr lvl="2"/>
            <a:r>
              <a:rPr lang="en-US" dirty="0"/>
              <a:t>19 bits</a:t>
            </a:r>
          </a:p>
          <a:p>
            <a:pPr lvl="1"/>
            <a:r>
              <a:rPr lang="en-US" dirty="0"/>
              <a:t>How we can represent this RAM?</a:t>
            </a:r>
          </a:p>
          <a:p>
            <a:pPr lvl="2"/>
            <a:r>
              <a:rPr lang="en-US" dirty="0"/>
              <a:t>512K x 64 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0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of 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two operations that RAM can perform are:</a:t>
            </a:r>
          </a:p>
          <a:p>
            <a:pPr lvl="1"/>
            <a:r>
              <a:rPr lang="en-US" dirty="0"/>
              <a:t>Write Operation</a:t>
            </a:r>
          </a:p>
          <a:p>
            <a:pPr lvl="1"/>
            <a:r>
              <a:rPr lang="en-US" dirty="0"/>
              <a:t>Read Operation</a:t>
            </a:r>
          </a:p>
          <a:p>
            <a:r>
              <a:rPr lang="en-US" dirty="0"/>
              <a:t>The write signal specifies a transfer‐in operation and the read signal specifies a transfer‐out operation</a:t>
            </a:r>
          </a:p>
          <a:p>
            <a:r>
              <a:rPr lang="en-US" dirty="0"/>
              <a:t>On accepting one of these control signals, the internal circuits inside the memory provide the desired operation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5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steps that must be taken for the purpose of transferring a new word to be stored into memory are as follows:</a:t>
            </a:r>
          </a:p>
          <a:p>
            <a:pPr marL="914400" lvl="1" indent="-514350">
              <a:buFont typeface="+mj-lt"/>
              <a:buAutoNum type="arabicParenR"/>
            </a:pPr>
            <a:r>
              <a:rPr lang="en-US" dirty="0"/>
              <a:t>Apply the binary address of the desired word to the address lines</a:t>
            </a:r>
          </a:p>
          <a:p>
            <a:pPr marL="914400" lvl="1" indent="-514350">
              <a:buFont typeface="+mj-lt"/>
              <a:buAutoNum type="arabicParenR"/>
            </a:pPr>
            <a:r>
              <a:rPr lang="en-US" dirty="0"/>
              <a:t>Apply the data bits that must be stored in memory to the data input lines</a:t>
            </a:r>
          </a:p>
          <a:p>
            <a:pPr marL="914400" lvl="1" indent="-514350">
              <a:buFont typeface="+mj-lt"/>
              <a:buAutoNum type="arabicParenR"/>
            </a:pPr>
            <a:r>
              <a:rPr lang="en-US" dirty="0"/>
              <a:t>Activate the write input</a:t>
            </a:r>
          </a:p>
          <a:p>
            <a:r>
              <a:rPr lang="en-US" dirty="0"/>
              <a:t>The memory unit will then take the bits from the input data lines and store them in the word specified by the address lines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51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352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steps that must be taken for the purpose of transferring a stored word out of memory are as follows: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/>
              <a:t>Apply the binary address of the desired word to the address lines.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/>
              <a:t>Activate the read input</a:t>
            </a:r>
          </a:p>
          <a:p>
            <a:r>
              <a:rPr lang="en-US" dirty="0"/>
              <a:t>The memory unit will then take the bits from the word that has been selected by the address and apply them to the output data lines</a:t>
            </a:r>
          </a:p>
          <a:p>
            <a:r>
              <a:rPr lang="en-US" dirty="0"/>
              <a:t>The contents of the selected word do not change after the read operation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21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512" y="4953000"/>
            <a:ext cx="6276975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377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Waveforms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operation of the memory unit is controlled by an external device such as a central processing unit (CPU)</a:t>
            </a:r>
          </a:p>
          <a:p>
            <a:r>
              <a:rPr lang="en-US" dirty="0"/>
              <a:t>The CPU is usually synchronized by its own clock</a:t>
            </a:r>
          </a:p>
          <a:p>
            <a:r>
              <a:rPr lang="en-US" dirty="0"/>
              <a:t>The memory, however, does not employ an internal clock. Instead, its read and write operations are specified by control inputs</a:t>
            </a:r>
          </a:p>
          <a:p>
            <a:r>
              <a:rPr lang="en-US" dirty="0"/>
              <a:t>The </a:t>
            </a:r>
            <a:r>
              <a:rPr lang="en-US" b="1" dirty="0"/>
              <a:t>access time </a:t>
            </a:r>
            <a:r>
              <a:rPr lang="en-US" dirty="0"/>
              <a:t>of memory is the time required to select a word and read it</a:t>
            </a:r>
          </a:p>
          <a:p>
            <a:r>
              <a:rPr lang="en-US" dirty="0"/>
              <a:t>The </a:t>
            </a:r>
            <a:r>
              <a:rPr lang="en-US" b="1" dirty="0"/>
              <a:t>cycle time </a:t>
            </a:r>
            <a:r>
              <a:rPr lang="en-US" dirty="0"/>
              <a:t>of memory is the time required to complete a write operation</a:t>
            </a:r>
          </a:p>
          <a:p>
            <a:r>
              <a:rPr lang="en-US" dirty="0"/>
              <a:t>The CPU must provide the memory control signals in such a way as to synchronize its internal clocked operations with the read and write operations of memory</a:t>
            </a:r>
          </a:p>
          <a:p>
            <a:r>
              <a:rPr lang="en-US" dirty="0"/>
              <a:t>This means that the access time and cycle time of the memory must be within a time equal to a fixed number of CPU clock cycles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2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Waveforms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Suppose as an example that a CPU operates with a clock frequency of 50 MHz, giving a period of 20 ns for one clock cycle</a:t>
            </a:r>
          </a:p>
          <a:p>
            <a:r>
              <a:rPr lang="en-US" dirty="0"/>
              <a:t>Suppose also that the CPU communicates with a memory whose access time and cycle time do not exceed 50 ns</a:t>
            </a:r>
          </a:p>
          <a:p>
            <a:r>
              <a:rPr lang="en-US" dirty="0"/>
              <a:t>It mean that the write cycle terminates the storage of the selected word within a 50‐ns interval and that the read cycle provides the output data of the selected word within 50 ns or less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2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Waveforms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24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1609725"/>
            <a:ext cx="6715125" cy="380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57200" y="556260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Write Cycle</a:t>
            </a:r>
          </a:p>
        </p:txBody>
      </p:sp>
    </p:spTree>
    <p:extLst>
      <p:ext uri="{BB962C8B-B14F-4D97-AF65-F5344CB8AC3E}">
        <p14:creationId xmlns:p14="http://schemas.microsoft.com/office/powerpoint/2010/main" val="3570830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Waveforms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556260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Read Cycle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3" y="1704975"/>
            <a:ext cx="6734175" cy="370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7397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Integrated circuit RAM units are available in two operating modes </a:t>
            </a:r>
          </a:p>
          <a:p>
            <a:r>
              <a:rPr lang="en-US" dirty="0"/>
              <a:t>Static RAM</a:t>
            </a:r>
          </a:p>
          <a:p>
            <a:r>
              <a:rPr lang="en-US" dirty="0"/>
              <a:t>Dynamic 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26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Consists essentially of internal latches that store the binary information</a:t>
            </a:r>
          </a:p>
          <a:p>
            <a:r>
              <a:rPr lang="en-US" dirty="0"/>
              <a:t>The stored information remains valid as long as power is applied to the unit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93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Dynamic RAM (DRAM) stores the binary information in the form of electric charges on capacitors provided inside the chip by MOS transistors</a:t>
            </a:r>
          </a:p>
          <a:p>
            <a:r>
              <a:rPr lang="en-US" dirty="0"/>
              <a:t>The stored charge on the capacitors tends to discharge with time, and the capacitors must be periodically recharged by refreshing the dynamic memory</a:t>
            </a:r>
          </a:p>
          <a:p>
            <a:r>
              <a:rPr lang="en-US" dirty="0"/>
              <a:t>Refreshing is done by cycling through the words every few milliseconds to restore the decaying charge</a:t>
            </a:r>
          </a:p>
          <a:p>
            <a:r>
              <a:rPr lang="en-US" dirty="0"/>
              <a:t>DRAM offers reduced power consumption and larger storage capacity in a single memory chip</a:t>
            </a:r>
          </a:p>
          <a:p>
            <a:r>
              <a:rPr lang="en-US" dirty="0"/>
              <a:t>SRAM is easier to use and has shorter read and write cycles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Volatile and Non Volatile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Volatile</a:t>
            </a:r>
          </a:p>
          <a:p>
            <a:pPr lvl="1"/>
            <a:r>
              <a:rPr lang="en-US" dirty="0"/>
              <a:t>Memory units that lose stored information when power is turned off are said to be volatile</a:t>
            </a:r>
          </a:p>
          <a:p>
            <a:pPr lvl="1"/>
            <a:r>
              <a:rPr lang="en-US" dirty="0"/>
              <a:t>CMOS integrated circuit RAMs, both static and dynamic, are of this category, since the binary cells need external power to maintain the stored information</a:t>
            </a:r>
          </a:p>
          <a:p>
            <a:r>
              <a:rPr lang="en-US" dirty="0"/>
              <a:t>Non Volatile</a:t>
            </a:r>
          </a:p>
          <a:p>
            <a:pPr lvl="1"/>
            <a:r>
              <a:rPr lang="en-US" dirty="0"/>
              <a:t>Nonvolatile memory, such as magnetic disk, retains its stored information after the removal of power</a:t>
            </a:r>
          </a:p>
          <a:p>
            <a:pPr lvl="1"/>
            <a:r>
              <a:rPr lang="en-US" dirty="0"/>
              <a:t>ROM is another nonvolatile memory</a:t>
            </a:r>
          </a:p>
          <a:p>
            <a:pPr lvl="1"/>
            <a:r>
              <a:rPr lang="en-US" dirty="0"/>
              <a:t>A nonvolatile memory enables digital computers to store programs that will be needed again after the computer is turned 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45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2FF2-1F47-B59B-EDB9-8DB162273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848C6-7CDA-012F-45FF-F8AFEBF12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Determine the Q waveform relative to the clock if the signals shown in Figure are applied to the inputs of the J-K flip-flop. Assume that Q is initially LOW.</a:t>
            </a:r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73151-6C67-EAA0-599D-F78C410A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69860-5472-13CC-A1DC-A0F737DEF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B915D-D7F5-5B27-520C-AEFD52349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30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D414C0-EAC6-A26A-6354-38C4DF445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20" y="2704307"/>
            <a:ext cx="7906983" cy="353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902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cut out of a maze&#10;&#10;AI-generated content may be incorrect.">
            <a:extLst>
              <a:ext uri="{FF2B5EF4-FFF2-40B4-BE49-F238E27FC236}">
                <a16:creationId xmlns:a16="http://schemas.microsoft.com/office/drawing/2014/main" id="{DD8A2291-90F4-FCC9-DB84-2F0921576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935747"/>
            <a:ext cx="8178799" cy="498650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6263A-EC08-B489-DF3E-F716B580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EE227 - DLD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0A58F-05CF-ABE1-B51A-245FFCA9A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Course Instructor : Muhammad Sajid Iqbal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A18D5-C0C8-9902-77E3-254066D0B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BE6402E-3189-41C4-BB36-EE6F934C63A5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87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3F1EB-2026-7F9C-1EF3-CBE928CD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7DDE2-C780-302F-08F8-E18BE460C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shipping department of a softball factory, the balls roll down a conveyor and through a chute single file into boxes for shipment. Each ball passing through the chute activates a switch circuit that produces an electrical pulse. The capacity of each box is 32 balls. Design a logic circuit to indicate when a box is full so that an empty box can be moved into position.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12BE3-3FE5-80EF-0981-0D973FBB9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C16D6-148A-245A-41A5-784139B9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E4E01-DC9E-9F52-A2FE-5205E3B8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729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94CA-5893-2ACE-CD58-FEEE85FC5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1B640-516A-F53E-2381-1334D9E77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Design a binary counter with the sequence shown in the state diagram</a:t>
            </a:r>
          </a:p>
          <a:p>
            <a:endParaRPr lang="en-PK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A6534-5992-1030-5E35-849C3B4EB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E890C-20F7-EB23-B516-7B571DC0E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90040-E5AA-A765-1455-14EA293C8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33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61728A-2116-3446-F047-5EA85C22E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425" y="2311465"/>
            <a:ext cx="3962400" cy="42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866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D40F-9D1F-A652-F5AA-53242135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72939-A08D-EF76-189E-823DB99B8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shift register in Figure has SHIFT/LOAD and CLK inputs as shown. The serial data input (SER) is a 0. The parallel data inputs are D0 = 1, D1 = 0, D2 = 1, and D3 = 0 as shown. Develop the data-output waveform in relation to the inputs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31E32-CE2C-F0E8-7B23-25B1DD8C9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9FE26-00E0-12E5-04F5-782AF7DCF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3D085-D905-821B-A9BF-59A2540F9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34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D85DCE-3046-B80B-8B20-1BF6232DC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28" y="4175123"/>
            <a:ext cx="5332095" cy="20320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65EE4C-BD03-53E7-6B2A-F3DE40511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025" y="2895599"/>
            <a:ext cx="500132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15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B7D0-D19C-2666-A317-7F839B208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4EC42-4528-242D-38B9-10760C275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waveforms in Figure are applied to a 74HC165 shift register. The parallel inputs are all 0. Determine the Q7 waveform</a:t>
            </a:r>
          </a:p>
          <a:p>
            <a:r>
              <a:rPr lang="en-US" sz="2400" dirty="0"/>
              <a:t>.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57DC-FE4D-C4FE-FAE5-BE6329B5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EE227 - DLD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3CEC6-649B-634B-1661-5B9B15169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Instructor : Muhammad Sajid Iqbal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5DE93-9DC1-52F3-F633-31D2B383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6402E-3189-41C4-BB36-EE6F934C63A5}" type="slidenum">
              <a:rPr lang="en-US" smtClean="0"/>
              <a:t>35</a:t>
            </a:fld>
            <a:endParaRPr lang="en-US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DBE1067E-2C47-E353-0C44-BD6DFBBC0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743200"/>
            <a:ext cx="4477433" cy="16136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46A091-99FF-F69B-7034-801D6EF32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470" y="4517627"/>
            <a:ext cx="6268840" cy="206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060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9421</TotalTime>
  <Words>2377</Words>
  <Application>Microsoft Office PowerPoint</Application>
  <PresentationFormat>On-screen Show (4:3)</PresentationFormat>
  <Paragraphs>289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Wingdings</vt:lpstr>
      <vt:lpstr>Office Theme</vt:lpstr>
      <vt:lpstr>EE227 – Digital Logic Design</vt:lpstr>
      <vt:lpstr>Outline</vt:lpstr>
      <vt:lpstr>Memory Unit</vt:lpstr>
      <vt:lpstr>Read and Write Operations</vt:lpstr>
      <vt:lpstr>Types of Memory</vt:lpstr>
      <vt:lpstr>Programmable Logic Device (PLD)</vt:lpstr>
      <vt:lpstr>Typical Working of a PLD</vt:lpstr>
      <vt:lpstr>Random Access Memory (RAM)</vt:lpstr>
      <vt:lpstr>Word</vt:lpstr>
      <vt:lpstr>Communication Between Memory and its Environment</vt:lpstr>
      <vt:lpstr>Communication Between Memory and its Environment</vt:lpstr>
      <vt:lpstr>Size of Memory and Addresses</vt:lpstr>
      <vt:lpstr>Selection of a Particular Address</vt:lpstr>
      <vt:lpstr>Relationship Between Words and Address Lines</vt:lpstr>
      <vt:lpstr>Some Standard Sizes</vt:lpstr>
      <vt:lpstr>RAM Example</vt:lpstr>
      <vt:lpstr>Practice Problem 1</vt:lpstr>
      <vt:lpstr>Practice Problem 2</vt:lpstr>
      <vt:lpstr>Operations of RAM</vt:lpstr>
      <vt:lpstr>Write Operation</vt:lpstr>
      <vt:lpstr>Read Operation</vt:lpstr>
      <vt:lpstr>Timing Waveforms (1/4)</vt:lpstr>
      <vt:lpstr>Timing Waveforms (2/4)</vt:lpstr>
      <vt:lpstr>Timing Waveforms (3/4)</vt:lpstr>
      <vt:lpstr>Timing Waveforms (4/4)</vt:lpstr>
      <vt:lpstr>Types of RAM</vt:lpstr>
      <vt:lpstr>Static RAM</vt:lpstr>
      <vt:lpstr>Dynamic RAM</vt:lpstr>
      <vt:lpstr>Volatile and Non Volatile Memory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EE227 – Digital Logic Design</dc:title>
  <dc:creator>sAjid</dc:creator>
  <cp:lastModifiedBy>Waqar Baig</cp:lastModifiedBy>
  <cp:revision>394</cp:revision>
  <dcterms:created xsi:type="dcterms:W3CDTF">2018-01-21T13:37:44Z</dcterms:created>
  <dcterms:modified xsi:type="dcterms:W3CDTF">2025-05-12T08:49:18Z</dcterms:modified>
</cp:coreProperties>
</file>