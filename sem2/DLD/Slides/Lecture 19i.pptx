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18" r:id="rId4"/>
    <p:sldId id="323" r:id="rId5"/>
    <p:sldId id="328" r:id="rId6"/>
    <p:sldId id="329" r:id="rId7"/>
    <p:sldId id="330" r:id="rId8"/>
    <p:sldId id="331" r:id="rId9"/>
    <p:sldId id="332" r:id="rId10"/>
    <p:sldId id="333" r:id="rId11"/>
    <p:sldId id="335" r:id="rId12"/>
    <p:sldId id="334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8" r:id="rId24"/>
    <p:sldId id="353" r:id="rId25"/>
    <p:sldId id="354" r:id="rId26"/>
    <p:sldId id="355" r:id="rId27"/>
    <p:sldId id="34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EE227 –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19 – 20 </a:t>
            </a:r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Flip Flops</a:t>
            </a:r>
          </a:p>
          <a:p>
            <a:r>
              <a:rPr lang="en-US" dirty="0"/>
              <a:t>D – Flip Flop</a:t>
            </a:r>
          </a:p>
          <a:p>
            <a:r>
              <a:rPr lang="en-US" dirty="0"/>
              <a:t>JK Flip Flop</a:t>
            </a:r>
          </a:p>
          <a:p>
            <a:r>
              <a:rPr lang="en-US" dirty="0"/>
              <a:t>T – Flip Flop</a:t>
            </a:r>
          </a:p>
          <a:p>
            <a:r>
              <a:rPr lang="en-US" dirty="0"/>
              <a:t>Quiz 3 Solution</a:t>
            </a:r>
          </a:p>
          <a:p>
            <a:r>
              <a:rPr lang="en-US" dirty="0"/>
              <a:t>Code Conversion Combinational Circuit</a:t>
            </a:r>
          </a:p>
          <a:p>
            <a:r>
              <a:rPr lang="en-US" dirty="0"/>
              <a:t>Quiz 4</a:t>
            </a:r>
          </a:p>
          <a:p>
            <a:r>
              <a:rPr lang="en-US" dirty="0"/>
              <a:t>Quiz 4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and 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Latches</a:t>
            </a:r>
          </a:p>
          <a:p>
            <a:pPr lvl="1"/>
            <a:r>
              <a:rPr lang="en-US" dirty="0"/>
              <a:t>Storage elements that operate with signal levels are referred to as latches</a:t>
            </a:r>
          </a:p>
          <a:p>
            <a:r>
              <a:rPr lang="en-US" dirty="0"/>
              <a:t>Flip Flops</a:t>
            </a:r>
          </a:p>
          <a:p>
            <a:pPr lvl="1"/>
            <a:r>
              <a:rPr lang="en-US" dirty="0"/>
              <a:t>Storage elements that are controlled by a clock transition are flip-flops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0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SR Latch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79" y="2662670"/>
            <a:ext cx="421957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57932"/>
            <a:ext cx="32004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861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 Latch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669" y="1708606"/>
            <a:ext cx="6139756" cy="219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534" y="4267200"/>
            <a:ext cx="324802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091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of D Latch to 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state of a latch or flip-flop is switched by a change in the control input</a:t>
            </a:r>
          </a:p>
          <a:p>
            <a:r>
              <a:rPr lang="en-US" dirty="0"/>
              <a:t>This momentary change is called a trigger, and the transition it causes is said to trigger the flip-flop</a:t>
            </a:r>
          </a:p>
          <a:p>
            <a:r>
              <a:rPr lang="en-US" dirty="0"/>
              <a:t>The D latch with pulses in its control input is essentially a flip-flop that is triggered every time the pulse goes to the logic-1 level</a:t>
            </a:r>
          </a:p>
          <a:p>
            <a:r>
              <a:rPr lang="en-US" dirty="0"/>
              <a:t>As long as the pulse input remains at this level, any changes in the data input will change the output and the state of the latch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0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with using Latches in Sequential Circuits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a sequential circuit the inputs of the flip-flops are derived in part from the outputs of the same and other flip-flops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state transitions of the latches start as soon as the clock pulse changes to the logic-1 level</a:t>
            </a:r>
          </a:p>
          <a:p>
            <a:r>
              <a:rPr lang="en-US" dirty="0"/>
              <a:t>The new state of a latch appears at the output while the pulse is still active</a:t>
            </a:r>
          </a:p>
          <a:p>
            <a:r>
              <a:rPr lang="en-US" dirty="0"/>
              <a:t>If the inputs applied to the latches change while the clock pulse is still at the logic-1 level, the latches will respond to new values and a new output state may occur</a:t>
            </a:r>
          </a:p>
          <a:p>
            <a:r>
              <a:rPr lang="en-US" dirty="0"/>
              <a:t>The result is an unpredictable situation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16480"/>
            <a:ext cx="4774528" cy="1188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480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with using Latches in Sequential Circuits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the inputs applied to the latches change while the clock pulse is still at the logic-1 level, the latches will respond to new values and a new output state may occur</a:t>
            </a:r>
          </a:p>
          <a:p>
            <a:r>
              <a:rPr lang="en-US" dirty="0"/>
              <a:t>The result is an unpredictable situation</a:t>
            </a:r>
          </a:p>
          <a:p>
            <a:r>
              <a:rPr lang="en-US" dirty="0"/>
              <a:t>Because of this unreliable operation, the output of a latch cannot be applied directly or through combinational logic to the input of the same or another latch when all the latches are triggered by a common clock source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4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 Flops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Flip-flop circuits are constructed in such a way as to make them operate properly when they are part of a sequential circuit that employs a common clock</a:t>
            </a:r>
          </a:p>
          <a:p>
            <a:r>
              <a:rPr lang="en-US" dirty="0"/>
              <a:t>The problem with the latch is that it responds to a change in the level of a clock pulse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4800600"/>
            <a:ext cx="50387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3371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 Flops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62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key to the proper operation of a flip-flop is to trigger it only during a signal transition</a:t>
            </a:r>
          </a:p>
          <a:p>
            <a:r>
              <a:rPr lang="en-US" dirty="0"/>
              <a:t>A clock pulse goes through two transitions: </a:t>
            </a:r>
          </a:p>
          <a:p>
            <a:pPr lvl="1"/>
            <a:r>
              <a:rPr lang="en-US" dirty="0"/>
              <a:t>From 0 to 1</a:t>
            </a:r>
          </a:p>
          <a:p>
            <a:pPr lvl="2"/>
            <a:r>
              <a:rPr lang="en-US" dirty="0"/>
              <a:t>Positive edge transition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From 1 to 0</a:t>
            </a:r>
          </a:p>
          <a:p>
            <a:pPr lvl="2"/>
            <a:r>
              <a:rPr lang="en-US" dirty="0"/>
              <a:t>Negative edge transition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3810000"/>
            <a:ext cx="49911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562600"/>
            <a:ext cx="5019675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606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 Flops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two ways that a latch can be modified to form a flip-flop</a:t>
            </a:r>
          </a:p>
          <a:p>
            <a:pPr lvl="1"/>
            <a:r>
              <a:rPr lang="en-US" dirty="0"/>
              <a:t>One way is to employ two latches in a special configuration that isolates the output of the flip-flop and prevents it from being affected while the input to the flip-flop is changing</a:t>
            </a:r>
          </a:p>
          <a:p>
            <a:pPr lvl="1"/>
            <a:r>
              <a:rPr lang="en-US" dirty="0"/>
              <a:t>Another way is to produce a flip-flop that triggers only during a signal transition (from 0 to 1 or from 1 to 0) of the synchronizing signal (clock) and is disabled during the rest of the clock pulse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6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Edge Triggered D – Flip Flop with D Latches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Master – Slave Configuration</a:t>
            </a:r>
          </a:p>
          <a:p>
            <a:r>
              <a:rPr lang="en-US" dirty="0"/>
              <a:t>A change in the output of the flip-flop can be triggered only by and during the transition of the clock from 1 to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4114799"/>
            <a:ext cx="590550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529137"/>
            <a:ext cx="17907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 descr="A picture containing text, sky, clock&#10;&#10;Description automatically generated">
            <a:extLst>
              <a:ext uri="{FF2B5EF4-FFF2-40B4-BE49-F238E27FC236}">
                <a16:creationId xmlns:a16="http://schemas.microsoft.com/office/drawing/2014/main" id="{4C507A3E-CDB5-EF1D-E847-D45576B0B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33" y="1219200"/>
            <a:ext cx="6235483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35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Edge Triggered D – Flip Flop with SR Latches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600200"/>
            <a:ext cx="4676775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When </a:t>
            </a:r>
            <a:r>
              <a:rPr lang="en-US" dirty="0" err="1"/>
              <a:t>Clk</a:t>
            </a:r>
            <a:r>
              <a:rPr lang="en-US" dirty="0"/>
              <a:t> = 0</a:t>
            </a:r>
          </a:p>
          <a:p>
            <a:pPr lvl="1"/>
            <a:r>
              <a:rPr lang="en-US" dirty="0"/>
              <a:t>R = 1, S = 1</a:t>
            </a:r>
          </a:p>
          <a:p>
            <a:pPr lvl="1"/>
            <a:r>
              <a:rPr lang="en-US" dirty="0"/>
              <a:t>No change in state</a:t>
            </a:r>
          </a:p>
          <a:p>
            <a:r>
              <a:rPr lang="en-US" dirty="0"/>
              <a:t>When D = 0 and </a:t>
            </a:r>
            <a:r>
              <a:rPr lang="en-US" dirty="0" err="1"/>
              <a:t>Clk</a:t>
            </a:r>
            <a:r>
              <a:rPr lang="en-US" dirty="0"/>
              <a:t> changes from  0 to 1</a:t>
            </a:r>
          </a:p>
          <a:p>
            <a:pPr lvl="1"/>
            <a:r>
              <a:rPr lang="en-US" dirty="0"/>
              <a:t>R = 0, S = 1 </a:t>
            </a:r>
            <a:r>
              <a:rPr lang="en-US" dirty="0">
                <a:sym typeface="Wingdings" pitchFamily="2" charset="2"/>
              </a:rPr>
              <a:t> Q = 0</a:t>
            </a:r>
            <a:endParaRPr lang="en-US" dirty="0"/>
          </a:p>
          <a:p>
            <a:pPr lvl="1"/>
            <a:r>
              <a:rPr lang="en-US" dirty="0"/>
              <a:t>Reset state</a:t>
            </a:r>
          </a:p>
          <a:p>
            <a:pPr lvl="1"/>
            <a:r>
              <a:rPr lang="en-US" dirty="0"/>
              <a:t>Further change in D when </a:t>
            </a:r>
            <a:r>
              <a:rPr lang="en-US" dirty="0" err="1"/>
              <a:t>Clk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Locked state as R = 0</a:t>
            </a:r>
          </a:p>
          <a:p>
            <a:r>
              <a:rPr lang="en-US" dirty="0"/>
              <a:t>When D = 1 and </a:t>
            </a:r>
            <a:r>
              <a:rPr lang="en-US" dirty="0" err="1"/>
              <a:t>Clk</a:t>
            </a:r>
            <a:r>
              <a:rPr lang="en-US" dirty="0"/>
              <a:t> changes from  0 to 1</a:t>
            </a:r>
          </a:p>
          <a:p>
            <a:pPr lvl="1"/>
            <a:r>
              <a:rPr lang="en-US" dirty="0"/>
              <a:t>S = 0, R = 1 </a:t>
            </a:r>
            <a:r>
              <a:rPr lang="en-US" dirty="0">
                <a:sym typeface="Wingdings" pitchFamily="2" charset="2"/>
              </a:rPr>
              <a:t> Q = 1</a:t>
            </a:r>
          </a:p>
          <a:p>
            <a:pPr lvl="1"/>
            <a:r>
              <a:rPr lang="en-US" dirty="0">
                <a:sym typeface="Wingdings" pitchFamily="2" charset="2"/>
              </a:rPr>
              <a:t>Set State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1981200"/>
            <a:ext cx="3857625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A5AEF455-98BE-25D0-FA96-A1602D89A8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8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Setup, Hold and Propagation Delay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There is a minimum time called the </a:t>
            </a:r>
            <a:r>
              <a:rPr lang="en-US" b="1" dirty="0"/>
              <a:t>setup time </a:t>
            </a:r>
            <a:r>
              <a:rPr lang="en-US" dirty="0"/>
              <a:t>during which the D input must be maintained at a constant value prior to the occurrence of the clock transition</a:t>
            </a:r>
          </a:p>
          <a:p>
            <a:r>
              <a:rPr lang="en-US" dirty="0"/>
              <a:t>There is a minimum time called the </a:t>
            </a:r>
            <a:r>
              <a:rPr lang="en-US" b="1" dirty="0"/>
              <a:t>hold time </a:t>
            </a:r>
            <a:r>
              <a:rPr lang="en-US" dirty="0"/>
              <a:t>during which the D input must not change after the application of the positive transition of the clock</a:t>
            </a:r>
          </a:p>
          <a:p>
            <a:r>
              <a:rPr lang="en-US" dirty="0"/>
              <a:t>The </a:t>
            </a:r>
            <a:r>
              <a:rPr lang="en-US" b="1" dirty="0"/>
              <a:t>propagation delay time </a:t>
            </a:r>
            <a:r>
              <a:rPr lang="en-US" dirty="0"/>
              <a:t>of the flip-flop is defined as the interval between the trigger edge and the stabilization of the output to a new state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07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Symbols of D – 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dynamic indicator (&gt;) denotes the fact that the flip-flop responds to the edge transition of the clock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5" y="3429000"/>
            <a:ext cx="493395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485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Flip Flops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three operations that can be performed with a flip-flop</a:t>
            </a:r>
          </a:p>
          <a:p>
            <a:pPr lvl="1"/>
            <a:r>
              <a:rPr lang="en-US" dirty="0"/>
              <a:t>Set it to 1</a:t>
            </a:r>
          </a:p>
          <a:p>
            <a:pPr lvl="1"/>
            <a:r>
              <a:rPr lang="en-US" dirty="0"/>
              <a:t>Reset it to 0</a:t>
            </a:r>
          </a:p>
          <a:p>
            <a:pPr lvl="1"/>
            <a:r>
              <a:rPr lang="en-US" dirty="0"/>
              <a:t>Complement its output</a:t>
            </a:r>
          </a:p>
          <a:p>
            <a:r>
              <a:rPr lang="en-US" dirty="0"/>
              <a:t>With only a single input, the D flip-flop can set or reset the output</a:t>
            </a:r>
          </a:p>
          <a:p>
            <a:r>
              <a:rPr lang="en-US" dirty="0"/>
              <a:t>There are two other flip flops</a:t>
            </a:r>
          </a:p>
          <a:p>
            <a:pPr lvl="1"/>
            <a:r>
              <a:rPr lang="en-US" dirty="0"/>
              <a:t>JK flip flop</a:t>
            </a:r>
          </a:p>
          <a:p>
            <a:pPr lvl="1"/>
            <a:r>
              <a:rPr lang="en-US" dirty="0"/>
              <a:t>T flip flop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2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JK 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495800" cy="1828800"/>
          </a:xfrm>
        </p:spPr>
        <p:txBody>
          <a:bodyPr>
            <a:normAutofit fontScale="92500"/>
          </a:bodyPr>
          <a:lstStyle/>
          <a:p>
            <a:r>
              <a:rPr lang="en-US" dirty="0"/>
              <a:t>2 inputs J and K</a:t>
            </a:r>
          </a:p>
          <a:p>
            <a:r>
              <a:rPr lang="en-US" dirty="0"/>
              <a:t>Performs all 3 operations</a:t>
            </a:r>
          </a:p>
          <a:p>
            <a:r>
              <a:rPr lang="en-US" dirty="0"/>
              <a:t>D = JQ’ + K’Q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3505200"/>
            <a:ext cx="24955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590800"/>
            <a:ext cx="4572000" cy="2568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7" y="5029200"/>
            <a:ext cx="1704975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698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/>
              <a:t>Toggle (T) – 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819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T (toggle) flip-flop is a complementing flip-flop and can be obtained from a JK flip-flop when inputs J and K are tied together</a:t>
            </a:r>
          </a:p>
          <a:p>
            <a:r>
              <a:rPr lang="en-US" dirty="0"/>
              <a:t>The T flip-flop can be constructed with a D flip-flop and an exclusive-OR gate as</a:t>
            </a:r>
          </a:p>
          <a:p>
            <a:pPr marL="0" indent="0" algn="ctr">
              <a:buNone/>
            </a:pPr>
            <a:r>
              <a:rPr lang="en-US" dirty="0"/>
              <a:t>D = T </a:t>
            </a:r>
            <a:r>
              <a:rPr lang="en-US" dirty="0">
                <a:sym typeface="Symbol"/>
              </a:rPr>
              <a:t></a:t>
            </a:r>
            <a:r>
              <a:rPr lang="en-US" dirty="0"/>
              <a:t> Q = TQ’ + T’Q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18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464280"/>
            <a:ext cx="7315200" cy="1707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608762"/>
            <a:ext cx="20574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227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next state [Q(t + 1)] can be obtained with the help of characteristic equations</a:t>
            </a:r>
          </a:p>
          <a:p>
            <a:r>
              <a:rPr lang="en-US" dirty="0"/>
              <a:t>For D – Flip Flop</a:t>
            </a:r>
          </a:p>
          <a:p>
            <a:pPr marL="0" indent="0" algn="ctr">
              <a:buNone/>
            </a:pPr>
            <a:r>
              <a:rPr lang="en-US" dirty="0"/>
              <a:t>Q(t + 1) = D</a:t>
            </a:r>
          </a:p>
          <a:p>
            <a:r>
              <a:rPr lang="en-US" dirty="0"/>
              <a:t>For JK Flip Flop</a:t>
            </a:r>
          </a:p>
          <a:p>
            <a:pPr marL="0" indent="0" algn="ctr">
              <a:buNone/>
            </a:pPr>
            <a:r>
              <a:rPr lang="en-US" dirty="0"/>
              <a:t>Q(t + 1) = JQ’ + K’Q</a:t>
            </a:r>
          </a:p>
          <a:p>
            <a:r>
              <a:rPr lang="en-US" dirty="0"/>
              <a:t>For T – Flip Flop</a:t>
            </a:r>
          </a:p>
          <a:p>
            <a:pPr marL="0" indent="0" algn="ctr">
              <a:buNone/>
            </a:pPr>
            <a:r>
              <a:rPr lang="en-US" dirty="0"/>
              <a:t>Q(t + 1) = T </a:t>
            </a:r>
            <a:r>
              <a:rPr lang="en-US" dirty="0">
                <a:sym typeface="Symbol"/>
              </a:rPr>
              <a:t></a:t>
            </a:r>
            <a:r>
              <a:rPr lang="en-US" dirty="0"/>
              <a:t> Q = TQ’ + T’Q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0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Inputs in Flip Flops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flip-flops have asynchronous inputs that are used to force the flip-flop to a particular state independently of the clock</a:t>
            </a:r>
          </a:p>
          <a:p>
            <a:r>
              <a:rPr lang="en-US" dirty="0"/>
              <a:t>The input that sets the flip-flop to 1 is called </a:t>
            </a:r>
            <a:r>
              <a:rPr lang="en-US" b="1" dirty="0"/>
              <a:t>preset</a:t>
            </a:r>
            <a:r>
              <a:rPr lang="en-US" dirty="0"/>
              <a:t> or </a:t>
            </a:r>
            <a:r>
              <a:rPr lang="en-US" b="1" dirty="0"/>
              <a:t>direct set</a:t>
            </a:r>
          </a:p>
          <a:p>
            <a:r>
              <a:rPr lang="en-US" dirty="0"/>
              <a:t>The input that clears the flip-flop to 0 is called </a:t>
            </a:r>
            <a:r>
              <a:rPr lang="en-US" b="1" dirty="0"/>
              <a:t>clear</a:t>
            </a:r>
            <a:r>
              <a:rPr lang="en-US" dirty="0"/>
              <a:t> or </a:t>
            </a:r>
            <a:r>
              <a:rPr lang="en-US" b="1" dirty="0"/>
              <a:t>direct reset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Edge Triggered D Flip Flop with Direct Reset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21</a:t>
            </a:fld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047875"/>
            <a:ext cx="7734300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07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Conversion Combinational Circuit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Missed Topic from Chapter 4</a:t>
            </a:r>
          </a:p>
        </p:txBody>
      </p:sp>
    </p:spTree>
    <p:extLst>
      <p:ext uri="{BB962C8B-B14F-4D97-AF65-F5344CB8AC3E}">
        <p14:creationId xmlns:p14="http://schemas.microsoft.com/office/powerpoint/2010/main" val="2177128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BCD to Excess – 3 Code Conversion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dirty="0"/>
              <a:t>Truth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2133600"/>
            <a:ext cx="4848225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05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/>
          </a:bodyPr>
          <a:lstStyle/>
          <a:p>
            <a:r>
              <a:rPr lang="en-US" sz="3800" dirty="0"/>
              <a:t>BCD to Excess – 3 Code Conversion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dirty="0"/>
              <a:t>K – Map Simplification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600200"/>
            <a:ext cx="5105400" cy="482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4536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BCD to Excess – 3 Code Conversion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Boolean Equations</a:t>
            </a:r>
          </a:p>
          <a:p>
            <a:endParaRPr lang="en-US" sz="1800" dirty="0"/>
          </a:p>
          <a:p>
            <a:pPr marL="400050" lvl="1" indent="0">
              <a:buNone/>
            </a:pPr>
            <a:r>
              <a:rPr lang="pl-PL" dirty="0"/>
              <a:t>z = D</a:t>
            </a:r>
            <a:r>
              <a:rPr lang="en-US" dirty="0"/>
              <a:t>’</a:t>
            </a:r>
          </a:p>
          <a:p>
            <a:pPr marL="400050" lvl="1" indent="0">
              <a:buNone/>
            </a:pPr>
            <a:endParaRPr lang="pl-PL" sz="1600" dirty="0"/>
          </a:p>
          <a:p>
            <a:pPr marL="400050" lvl="1" indent="0">
              <a:buNone/>
            </a:pPr>
            <a:r>
              <a:rPr lang="pl-PL" dirty="0"/>
              <a:t>y = CD + C</a:t>
            </a:r>
            <a:r>
              <a:rPr lang="en-US" dirty="0"/>
              <a:t>’</a:t>
            </a:r>
            <a:r>
              <a:rPr lang="pl-PL" dirty="0"/>
              <a:t>D</a:t>
            </a:r>
            <a:r>
              <a:rPr lang="en-US" dirty="0"/>
              <a:t>’</a:t>
            </a:r>
            <a:r>
              <a:rPr lang="pl-PL" dirty="0"/>
              <a:t> 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y </a:t>
            </a:r>
            <a:r>
              <a:rPr lang="pl-PL" dirty="0"/>
              <a:t>= CD + </a:t>
            </a:r>
            <a:r>
              <a:rPr lang="en-US" dirty="0"/>
              <a:t>(</a:t>
            </a:r>
            <a:r>
              <a:rPr lang="pl-PL" dirty="0"/>
              <a:t>C + D</a:t>
            </a:r>
            <a:r>
              <a:rPr lang="en-US" dirty="0"/>
              <a:t>)’</a:t>
            </a:r>
            <a:endParaRPr lang="pl-PL" dirty="0"/>
          </a:p>
          <a:p>
            <a:pPr marL="400050" lvl="1" indent="0">
              <a:buNone/>
            </a:pPr>
            <a:endParaRPr lang="en-US" sz="1600" dirty="0"/>
          </a:p>
          <a:p>
            <a:pPr marL="400050" lvl="1" indent="0">
              <a:buNone/>
            </a:pPr>
            <a:r>
              <a:rPr lang="pl-PL" dirty="0"/>
              <a:t>x = B</a:t>
            </a:r>
            <a:r>
              <a:rPr lang="en-US" dirty="0"/>
              <a:t>’</a:t>
            </a:r>
            <a:r>
              <a:rPr lang="pl-PL" dirty="0"/>
              <a:t>C + B</a:t>
            </a:r>
            <a:r>
              <a:rPr lang="en-US" dirty="0"/>
              <a:t>’</a:t>
            </a:r>
            <a:r>
              <a:rPr lang="pl-PL" dirty="0"/>
              <a:t>D + BC</a:t>
            </a:r>
            <a:r>
              <a:rPr lang="en-US" dirty="0"/>
              <a:t>’</a:t>
            </a:r>
            <a:r>
              <a:rPr lang="pl-PL" dirty="0"/>
              <a:t>D</a:t>
            </a:r>
            <a:r>
              <a:rPr lang="en-US" dirty="0"/>
              <a:t>’</a:t>
            </a:r>
            <a:r>
              <a:rPr lang="pl-PL" dirty="0"/>
              <a:t> 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x </a:t>
            </a:r>
            <a:r>
              <a:rPr lang="pl-PL" dirty="0"/>
              <a:t>= B</a:t>
            </a:r>
            <a:r>
              <a:rPr lang="en-US" dirty="0"/>
              <a:t>’(</a:t>
            </a:r>
            <a:r>
              <a:rPr lang="pl-PL" dirty="0"/>
              <a:t>C + D</a:t>
            </a:r>
            <a:r>
              <a:rPr lang="en-US" dirty="0"/>
              <a:t>)</a:t>
            </a:r>
            <a:r>
              <a:rPr lang="pl-PL" dirty="0"/>
              <a:t> + BC</a:t>
            </a:r>
            <a:r>
              <a:rPr lang="en-US" dirty="0"/>
              <a:t>’</a:t>
            </a:r>
            <a:r>
              <a:rPr lang="pl-PL" dirty="0"/>
              <a:t>D</a:t>
            </a:r>
            <a:r>
              <a:rPr lang="en-US" dirty="0"/>
              <a:t>’</a:t>
            </a:r>
            <a:endParaRPr lang="pl-PL" dirty="0"/>
          </a:p>
          <a:p>
            <a:pPr marL="400050" lvl="1" indent="0">
              <a:buNone/>
            </a:pPr>
            <a:r>
              <a:rPr lang="en-US" dirty="0"/>
              <a:t>x </a:t>
            </a:r>
            <a:r>
              <a:rPr lang="pl-PL" dirty="0"/>
              <a:t>= B</a:t>
            </a:r>
            <a:r>
              <a:rPr lang="en-US" dirty="0"/>
              <a:t>’(</a:t>
            </a:r>
            <a:r>
              <a:rPr lang="pl-PL" dirty="0"/>
              <a:t>C + D</a:t>
            </a:r>
            <a:r>
              <a:rPr lang="en-US" dirty="0"/>
              <a:t>) </a:t>
            </a:r>
            <a:r>
              <a:rPr lang="pl-PL" dirty="0"/>
              <a:t>+ B</a:t>
            </a:r>
            <a:r>
              <a:rPr lang="en-US" dirty="0"/>
              <a:t>(</a:t>
            </a:r>
            <a:r>
              <a:rPr lang="pl-PL" dirty="0"/>
              <a:t>C + D</a:t>
            </a:r>
            <a:r>
              <a:rPr lang="en-US" dirty="0"/>
              <a:t>)’</a:t>
            </a:r>
            <a:endParaRPr lang="pl-PL" dirty="0"/>
          </a:p>
          <a:p>
            <a:pPr marL="400050" lvl="1" indent="0">
              <a:buNone/>
            </a:pPr>
            <a:endParaRPr lang="en-US" sz="1600" dirty="0"/>
          </a:p>
          <a:p>
            <a:pPr marL="400050" lvl="1" indent="0">
              <a:buNone/>
            </a:pPr>
            <a:r>
              <a:rPr lang="pl-PL" dirty="0"/>
              <a:t>w = A + BC + BD 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w </a:t>
            </a:r>
            <a:r>
              <a:rPr lang="pl-PL" dirty="0"/>
              <a:t>= A + B</a:t>
            </a:r>
            <a:r>
              <a:rPr lang="en-US" dirty="0"/>
              <a:t>(</a:t>
            </a:r>
            <a:r>
              <a:rPr lang="pl-PL" dirty="0"/>
              <a:t>C + D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42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715962"/>
          </a:xfrm>
        </p:spPr>
        <p:txBody>
          <a:bodyPr>
            <a:normAutofit/>
          </a:bodyPr>
          <a:lstStyle/>
          <a:p>
            <a:r>
              <a:rPr lang="en-US" sz="3800" dirty="0"/>
              <a:t>BCD to Excess – 3 Code Conversion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r>
              <a:rPr lang="en-US" dirty="0"/>
              <a:t>Circuit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163" y="1447800"/>
            <a:ext cx="6660037" cy="4937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21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3 and 4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  <a:p>
            <a:r>
              <a:rPr lang="en-US" dirty="0"/>
              <a:t>Was Done in Class</a:t>
            </a:r>
          </a:p>
        </p:txBody>
      </p:sp>
    </p:spTree>
    <p:extLst>
      <p:ext uri="{BB962C8B-B14F-4D97-AF65-F5344CB8AC3E}">
        <p14:creationId xmlns:p14="http://schemas.microsoft.com/office/powerpoint/2010/main" val="8781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27995</TotalTime>
  <Words>1428</Words>
  <Application>Microsoft Office PowerPoint</Application>
  <PresentationFormat>On-screen Show (4:3)</PresentationFormat>
  <Paragraphs>202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Symbol</vt:lpstr>
      <vt:lpstr>Wingdings</vt:lpstr>
      <vt:lpstr>Office Theme</vt:lpstr>
      <vt:lpstr>EE227 – Digital Logic Design</vt:lpstr>
      <vt:lpstr>Outline</vt:lpstr>
      <vt:lpstr>Latch and Flip Flop</vt:lpstr>
      <vt:lpstr>SR Latch</vt:lpstr>
      <vt:lpstr>D Latch</vt:lpstr>
      <vt:lpstr>Conversion of D Latch to Flip Flop</vt:lpstr>
      <vt:lpstr>Problem with using Latches in Sequential Circuits (1/2)</vt:lpstr>
      <vt:lpstr>Problem with using Latches in Sequential Circuits (2/2)</vt:lpstr>
      <vt:lpstr>Flip Flops (1/3)</vt:lpstr>
      <vt:lpstr>Flip Flops (2/3)</vt:lpstr>
      <vt:lpstr>Flip Flops (3/3)</vt:lpstr>
      <vt:lpstr>Edge Triggered D – Flip Flop with D Latches</vt:lpstr>
      <vt:lpstr>Edge Triggered D – Flip Flop with SR Latches</vt:lpstr>
      <vt:lpstr>Setup, Hold and Propagation Delay Time</vt:lpstr>
      <vt:lpstr>Graphical Symbols of D – Flip Flop</vt:lpstr>
      <vt:lpstr>Other Flip Flops</vt:lpstr>
      <vt:lpstr>JK Flip Flop</vt:lpstr>
      <vt:lpstr>Toggle (T) – Flip Flop</vt:lpstr>
      <vt:lpstr>Characteristic Equations</vt:lpstr>
      <vt:lpstr>Direct Inputs in Flip Flops</vt:lpstr>
      <vt:lpstr>Edge Triggered D Flip Flop with Direct Reset</vt:lpstr>
      <vt:lpstr>Code Conversion Combinational Circuit</vt:lpstr>
      <vt:lpstr>BCD to Excess – 3 Code Conversion (1/4)</vt:lpstr>
      <vt:lpstr>BCD to Excess – 3 Code Conversion (2/4)</vt:lpstr>
      <vt:lpstr>BCD to Excess – 3 Code Conversion (3/4)</vt:lpstr>
      <vt:lpstr>BCD to Excess – 3 Code Conversion (4/4)</vt:lpstr>
      <vt:lpstr>Quiz 3 and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Waqar Baig</cp:lastModifiedBy>
  <cp:revision>302</cp:revision>
  <dcterms:created xsi:type="dcterms:W3CDTF">2018-01-21T13:37:44Z</dcterms:created>
  <dcterms:modified xsi:type="dcterms:W3CDTF">2025-04-19T03:47:43Z</dcterms:modified>
</cp:coreProperties>
</file>