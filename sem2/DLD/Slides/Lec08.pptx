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8" r:id="rId3"/>
    <p:sldId id="285" r:id="rId4"/>
    <p:sldId id="326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</p:sldIdLst>
  <p:sldSz cx="9144000" cy="6858000" type="screen4x3"/>
  <p:notesSz cx="6858000" cy="9144000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9900"/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980" autoAdjust="0"/>
    <p:restoredTop sz="73220" autoAdjust="0"/>
  </p:normalViewPr>
  <p:slideViewPr>
    <p:cSldViewPr>
      <p:cViewPr varScale="1">
        <p:scale>
          <a:sx n="65" d="100"/>
          <a:sy n="65" d="100"/>
        </p:scale>
        <p:origin x="15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C1E48BC-0B5D-4089-9968-B413FBA80DD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136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17BF34-BBFD-4C9A-A5D5-191125F831A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9079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9330D4-C92C-4788-9B58-82F7F51A1FC1}" type="slidenum">
              <a:rPr lang="en-GB"/>
              <a:pPr/>
              <a:t>1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086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B88CA-D1F3-4471-A707-A71332E5F078}" type="slidenum">
              <a:rPr lang="en-GB"/>
              <a:pPr/>
              <a:t>5</a:t>
            </a:fld>
            <a:endParaRPr lang="en-GB"/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 variable K-map has 8 cells.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can be arranged in 2 columns and 4 rows representing the column form of the Karnaugh Map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Alternately the 8 cells can be organized in 2 rows and 4 columns representing the row form of the Karnaugh map.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Any of the two forms of the Karnaugh Map can be used to simplify Boolean expressions.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simplified expressions using either of the two K-maps are identical.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Considering first the column based 3-variable </a:t>
            </a:r>
            <a:r>
              <a:rPr lang="en-GB" sz="800" dirty="0" err="1"/>
              <a:t>Karnuagh</a:t>
            </a:r>
            <a:r>
              <a:rPr lang="en-GB" sz="800" dirty="0"/>
              <a:t> map. 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left most column of the K-map represent the binary values of variables A and B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top row of the K-map represents the binary values of variable C.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0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0 or the </a:t>
            </a:r>
            <a:r>
              <a:rPr lang="en-GB" sz="800" dirty="0" err="1"/>
              <a:t>maxterm</a:t>
            </a:r>
            <a:r>
              <a:rPr lang="en-GB" sz="800" dirty="0"/>
              <a:t> 0 having binary value of variables A, B and C equal to 000.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5 represents the </a:t>
            </a:r>
            <a:r>
              <a:rPr lang="en-GB" sz="800" dirty="0" err="1"/>
              <a:t>minterm</a:t>
            </a:r>
            <a:r>
              <a:rPr lang="en-GB" sz="800" dirty="0"/>
              <a:t> 5 or the </a:t>
            </a:r>
            <a:r>
              <a:rPr lang="en-GB" sz="800" dirty="0" err="1"/>
              <a:t>maxterm</a:t>
            </a:r>
            <a:r>
              <a:rPr lang="en-GB" sz="800" dirty="0"/>
              <a:t> 5 having binary values of variables A, B and C equal to 101.  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3-variable K-Map based on the row representation is considered next.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left most column of the K-map represent the binary values of variable A.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top row of the K-map represent the binary values of variables B and C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1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1 or the </a:t>
            </a:r>
            <a:r>
              <a:rPr lang="en-GB" sz="800" dirty="0" err="1"/>
              <a:t>maxterm</a:t>
            </a:r>
            <a:r>
              <a:rPr lang="en-GB" sz="800" dirty="0"/>
              <a:t> 1 having binary value of variables A, B and C equal to 001.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7 represents the </a:t>
            </a:r>
            <a:r>
              <a:rPr lang="en-GB" sz="800" dirty="0" err="1"/>
              <a:t>minterm</a:t>
            </a:r>
            <a:r>
              <a:rPr lang="en-GB" sz="800" dirty="0"/>
              <a:t> 7 or the </a:t>
            </a:r>
            <a:r>
              <a:rPr lang="en-GB" sz="800" dirty="0" err="1"/>
              <a:t>maxterm</a:t>
            </a:r>
            <a:r>
              <a:rPr lang="en-GB" sz="800" dirty="0"/>
              <a:t> 7 having binary values of variables A, B and C equal to 111.  </a:t>
            </a:r>
          </a:p>
        </p:txBody>
      </p:sp>
    </p:spTree>
    <p:extLst>
      <p:ext uri="{BB962C8B-B14F-4D97-AF65-F5344CB8AC3E}">
        <p14:creationId xmlns:p14="http://schemas.microsoft.com/office/powerpoint/2010/main" val="389749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7608F-8870-4D7E-9EA3-DB40269DB2BF}" type="slidenum">
              <a:rPr lang="en-GB"/>
              <a:pPr/>
              <a:t>6</a:t>
            </a:fld>
            <a:endParaRPr lang="en-GB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K-Map has a square format with four rows and four columns of cells.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left most column of the K-map represent the binary values of variables A and B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top row of the K-map represents the binary values of variables C and D </a:t>
            </a:r>
          </a:p>
          <a:p>
            <a:pPr>
              <a:buFontTx/>
              <a:buChar char="•"/>
            </a:pPr>
            <a:r>
              <a:rPr lang="en-GB"/>
              <a:t>The 16 cells marked with numbers 0 to 15 represent the cells 0 to 15 corresponding to the minterms 0 to 15 or the maxterms 0 to 15 in a 4 variable Boolean expression.</a:t>
            </a:r>
          </a:p>
          <a:p>
            <a:pPr>
              <a:buFontTx/>
              <a:buChar char="•"/>
            </a:pPr>
            <a:r>
              <a:rPr lang="en-GB"/>
              <a:t>The cell marked 6 for example, represents the minterm 6 or the maxterm 6 having binary value of variables A, B, C and D equal to 0110</a:t>
            </a:r>
          </a:p>
          <a:p>
            <a:pPr>
              <a:buFontTx/>
              <a:buChar char="•"/>
            </a:pPr>
            <a:r>
              <a:rPr lang="en-GB"/>
              <a:t>Similarly cell marked 13 represents the minterm 13 or the maxterm 13 having binary values of variables A, B, C and D equal to 1101.  </a:t>
            </a:r>
          </a:p>
        </p:txBody>
      </p:sp>
    </p:spTree>
    <p:extLst>
      <p:ext uri="{BB962C8B-B14F-4D97-AF65-F5344CB8AC3E}">
        <p14:creationId xmlns:p14="http://schemas.microsoft.com/office/powerpoint/2010/main" val="161569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EBB6E4-7598-4564-AB51-2982995EB4F4}" type="slidenum">
              <a:rPr lang="en-GB"/>
              <a:pPr/>
              <a:t>9</a:t>
            </a:fld>
            <a:endParaRPr lang="en-GB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3-variable standard SOP expression ABC*+AB*C*+A*BC*</a:t>
            </a:r>
          </a:p>
          <a:p>
            <a:pPr>
              <a:buFontTx/>
              <a:buChar char="•"/>
            </a:pPr>
            <a:r>
              <a:rPr lang="en-GB"/>
              <a:t>A 3-variable K-map is used to map the expression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three minterms 2, 4 and 6.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three minterms are marked with 1s, remaining cells are marked with 0s.</a:t>
            </a:r>
          </a:p>
          <a:p>
            <a:pPr>
              <a:buFontTx/>
              <a:buChar char="•"/>
            </a:pPr>
            <a:r>
              <a:rPr lang="en-GB"/>
              <a:t>Any of the two K-maps can be used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05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FFD1FD-6261-49D7-8297-2E6FC0E8BAAB}" type="slidenum">
              <a:rPr lang="en-GB"/>
              <a:pPr/>
              <a:t>10</a:t>
            </a:fld>
            <a:endParaRPr lang="en-GB"/>
          </a:p>
        </p:txBody>
      </p:sp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4-variable SOP expression having the 7 sum terms.</a:t>
            </a:r>
          </a:p>
          <a:p>
            <a:pPr>
              <a:buFontTx/>
              <a:buChar char="•"/>
            </a:pPr>
            <a:r>
              <a:rPr lang="en-GB"/>
              <a:t>A 4-variable K-map is used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seven minterms 1, 4, 5, 6, 8, 13 and 14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7 minterms are marked with 1s, remaining cells are marked with 0s.</a:t>
            </a:r>
          </a:p>
        </p:txBody>
      </p:sp>
    </p:spTree>
    <p:extLst>
      <p:ext uri="{BB962C8B-B14F-4D97-AF65-F5344CB8AC3E}">
        <p14:creationId xmlns:p14="http://schemas.microsoft.com/office/powerpoint/2010/main" val="2931822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8BCC0-DFCF-413F-BCBB-04A0EBC013E3}" type="slidenum">
              <a:rPr lang="en-GB"/>
              <a:pPr/>
              <a:t>12</a:t>
            </a:fld>
            <a:endParaRPr lang="en-GB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non-standard SOP expression A+BC*</a:t>
            </a:r>
          </a:p>
          <a:p>
            <a:pPr>
              <a:buFontTx/>
              <a:buChar char="•"/>
            </a:pPr>
            <a:r>
              <a:rPr lang="en-GB"/>
              <a:t>A 3-variable K-map is used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Any of the two K-maps representations, that is column or row representation can be used</a:t>
            </a:r>
          </a:p>
          <a:p>
            <a:pPr>
              <a:buFontTx/>
              <a:buChar char="•"/>
            </a:pPr>
            <a:r>
              <a:rPr lang="en-GB"/>
              <a:t>The non-standard product term A is mapped first.</a:t>
            </a:r>
          </a:p>
          <a:p>
            <a:pPr>
              <a:buFontTx/>
              <a:buChar char="•"/>
            </a:pPr>
            <a:r>
              <a:rPr lang="en-GB"/>
              <a:t>The 3 variable K-map cells having the term A are marked with 1s.  </a:t>
            </a:r>
          </a:p>
          <a:p>
            <a:pPr>
              <a:buFontTx/>
              <a:buChar char="•"/>
            </a:pPr>
            <a:r>
              <a:rPr lang="en-GB"/>
              <a:t>The cells marked 4, 5, 6 and 7 all have the term A, therefore these cells are marked with 1s</a:t>
            </a:r>
          </a:p>
        </p:txBody>
      </p:sp>
    </p:spTree>
    <p:extLst>
      <p:ext uri="{BB962C8B-B14F-4D97-AF65-F5344CB8AC3E}">
        <p14:creationId xmlns:p14="http://schemas.microsoft.com/office/powerpoint/2010/main" val="1927610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0A86C-A25E-4FA6-80EA-294B4A105FB7}" type="slidenum">
              <a:rPr lang="en-GB"/>
              <a:pPr/>
              <a:t>13</a:t>
            </a:fld>
            <a:endParaRPr lang="en-GB"/>
          </a:p>
        </p:txBody>
      </p:sp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Now consider the second non-standard product term BC*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2 and 6 are marked with 1s.</a:t>
            </a:r>
          </a:p>
          <a:p>
            <a:pPr>
              <a:buFontTx/>
              <a:buChar char="•"/>
            </a:pPr>
            <a:r>
              <a:rPr lang="en-GB"/>
              <a:t>Both the cells have the variable BC*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A and BC*. </a:t>
            </a:r>
          </a:p>
          <a:p>
            <a:pPr>
              <a:buFontTx/>
              <a:buChar char="•"/>
            </a:pPr>
            <a:r>
              <a:rPr lang="en-GB"/>
              <a:t>Both the terms are present in cell 6.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57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F539D-6162-4700-AE6E-C7619D12EDC3}" type="slidenum">
              <a:rPr lang="en-GB"/>
              <a:pPr/>
              <a:t>14</a:t>
            </a:fld>
            <a:endParaRPr lang="en-GB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4-variable non-standard SOP expression D+AC*+BC</a:t>
            </a:r>
          </a:p>
          <a:p>
            <a:pPr>
              <a:buFontTx/>
              <a:buChar char="•"/>
            </a:pPr>
            <a:r>
              <a:rPr lang="en-GB"/>
              <a:t>A 4-variable K-map is used to map the expression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The non-standard product term D is mapped first.</a:t>
            </a:r>
          </a:p>
          <a:p>
            <a:pPr>
              <a:buFontTx/>
              <a:buChar char="•"/>
            </a:pPr>
            <a:r>
              <a:rPr lang="en-GB"/>
              <a:t>The K-map cells having the product term D are marked with 1s. </a:t>
            </a:r>
          </a:p>
          <a:p>
            <a:pPr>
              <a:buFontTx/>
              <a:buChar char="•"/>
            </a:pPr>
            <a:r>
              <a:rPr lang="en-GB"/>
              <a:t>The 8 cells marked 1, 3, 5, 7, 9, 11, 13 and 15 all have the D product term therefore they are marked with 1s.</a:t>
            </a:r>
          </a:p>
        </p:txBody>
      </p:sp>
    </p:spTree>
    <p:extLst>
      <p:ext uri="{BB962C8B-B14F-4D97-AF65-F5344CB8AC3E}">
        <p14:creationId xmlns:p14="http://schemas.microsoft.com/office/powerpoint/2010/main" val="278945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774DE9-DBD3-490F-995E-5F91A7C2A0EE}" type="slidenum">
              <a:rPr lang="en-GB"/>
              <a:pPr/>
              <a:t>15</a:t>
            </a:fld>
            <a:endParaRPr lang="en-GB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non-standard product term AC* is mapped next.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8, 9, 12 and 13 are marked with 1s.</a:t>
            </a:r>
          </a:p>
          <a:p>
            <a:pPr>
              <a:buFontTx/>
              <a:buChar char="•"/>
            </a:pPr>
            <a:r>
              <a:rPr lang="en-GB"/>
              <a:t>As all four cells have the variable AC*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D and AC*in cells 9 and 13. 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457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1677FD-3A60-442E-8510-4529AA8332EA}" type="slidenum">
              <a:rPr lang="en-GB"/>
              <a:pPr/>
              <a:t>16</a:t>
            </a:fld>
            <a:endParaRPr lang="en-GB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Finally, the third non-standard product term BC is mapped.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6, 7, 14 and 15 are marked with 1s.</a:t>
            </a:r>
          </a:p>
          <a:p>
            <a:pPr>
              <a:buFontTx/>
              <a:buChar char="•"/>
            </a:pPr>
            <a:r>
              <a:rPr lang="en-GB"/>
              <a:t>All four cells have the variable BC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Again, presence of multiple terms in a single cell is marked by a single 1.  </a:t>
            </a:r>
          </a:p>
        </p:txBody>
      </p:sp>
    </p:spTree>
    <p:extLst>
      <p:ext uri="{BB962C8B-B14F-4D97-AF65-F5344CB8AC3E}">
        <p14:creationId xmlns:p14="http://schemas.microsoft.com/office/powerpoint/2010/main" val="138770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88091-5FF2-4987-8A26-7DCB5A58134C}" type="slidenum">
              <a:rPr lang="en-GB"/>
              <a:pPr/>
              <a:t>18</a:t>
            </a:fld>
            <a:endParaRPr lang="en-GB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44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3547D-190C-46CC-9C1A-BAAB464644E2}" type="slidenum">
              <a:rPr lang="en-GB"/>
              <a:pPr/>
              <a:t>19</a:t>
            </a:fld>
            <a:endParaRPr lang="en-GB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Consider the 3-variable column based K-map in which the SOP expression has been mapped.</a:t>
            </a:r>
          </a:p>
          <a:p>
            <a:pPr>
              <a:buFontTx/>
              <a:buChar char="•"/>
            </a:pPr>
            <a:r>
              <a:rPr lang="en-GB" dirty="0"/>
              <a:t>The SOP expression has 5 </a:t>
            </a:r>
            <a:r>
              <a:rPr lang="en-GB" dirty="0" err="1"/>
              <a:t>minterms</a:t>
            </a:r>
            <a:r>
              <a:rPr lang="en-GB" dirty="0"/>
              <a:t> marked by 1s in the K-map.</a:t>
            </a:r>
          </a:p>
          <a:p>
            <a:pPr>
              <a:buFontTx/>
              <a:buChar char="•"/>
            </a:pPr>
            <a:r>
              <a:rPr lang="en-GB" dirty="0"/>
              <a:t>Three groups of two cells each are formed.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cells 2 and 6 forms the product term BC*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5 and 7 forms the product term AC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1 and 5 forms the product term B*C</a:t>
            </a:r>
          </a:p>
          <a:p>
            <a:pPr>
              <a:buFontTx/>
              <a:buChar char="•"/>
            </a:pPr>
            <a:r>
              <a:rPr lang="en-GB" dirty="0"/>
              <a:t>The five term SOP expression simplifies to a 3 term SOP expression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Consider the 3-variable row based K-map in which the SOP expression has been mapped.</a:t>
            </a:r>
          </a:p>
          <a:p>
            <a:pPr>
              <a:buFontTx/>
              <a:buChar char="•"/>
            </a:pPr>
            <a:r>
              <a:rPr lang="en-GB" dirty="0"/>
              <a:t>The SOP expression has 4 </a:t>
            </a:r>
            <a:r>
              <a:rPr lang="en-GB" dirty="0" err="1"/>
              <a:t>minterms</a:t>
            </a:r>
            <a:r>
              <a:rPr lang="en-GB" dirty="0"/>
              <a:t> marked as 1s in the K-map.</a:t>
            </a:r>
          </a:p>
          <a:p>
            <a:pPr>
              <a:buFontTx/>
              <a:buChar char="•"/>
            </a:pPr>
            <a:r>
              <a:rPr lang="en-GB" dirty="0"/>
              <a:t>Two groups of 2 cells each and a third group of single cell are formed.</a:t>
            </a:r>
          </a:p>
          <a:p>
            <a:pPr>
              <a:buFontTx/>
              <a:buChar char="•"/>
            </a:pPr>
            <a:r>
              <a:rPr lang="en-GB" dirty="0"/>
              <a:t>The single cell group comprising of cell 4 forms the product term AB*C*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1 and 3 forms the product term A*C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r>
              <a:rPr lang="en-GB" dirty="0"/>
              <a:t>The four term SOP simplifies to a 3 term SOP expression </a:t>
            </a:r>
          </a:p>
          <a:p>
            <a:pPr>
              <a:buFontTx/>
              <a:buChar char="•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8883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EC350-3300-42A5-8720-13F2F2FA6075}" type="slidenum">
              <a:rPr lang="en-GB"/>
              <a:pPr/>
              <a:t>20</a:t>
            </a:fld>
            <a:endParaRPr lang="en-GB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Consider the 3-variable column based K-map</a:t>
            </a:r>
          </a:p>
          <a:p>
            <a:pPr>
              <a:buFontTx/>
              <a:buChar char="•"/>
            </a:pPr>
            <a:r>
              <a:rPr lang="en-GB" dirty="0"/>
              <a:t>Two groups of four cells and two cells each are formed respectively.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cells 2, 3, 6 and 7 forms the product term B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5 and 7 forms the product term AC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Consider the 3-variable row based K-map.</a:t>
            </a:r>
          </a:p>
          <a:p>
            <a:pPr>
              <a:buFontTx/>
              <a:buChar char="•"/>
            </a:pPr>
            <a:r>
              <a:rPr lang="en-GB" dirty="0"/>
              <a:t>Three groups of 2 cells each are formed.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 4 and 5 forms the product term AB*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3 and 7 forms the product term BC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1604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B8EA7D-3DF7-47C9-B43F-FBD4E3828D40}" type="slidenum">
              <a:rPr lang="en-GB"/>
              <a:pPr/>
              <a:t>21</a:t>
            </a:fld>
            <a:endParaRPr lang="en-GB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12 term SOP expression mapped on a 4-variable K-map.</a:t>
            </a:r>
          </a:p>
          <a:p>
            <a:pPr>
              <a:buFontTx/>
              <a:buChar char="•"/>
            </a:pPr>
            <a:r>
              <a:rPr lang="en-GB"/>
              <a:t>Three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8, 9, 12 and 13 forms the product term AC*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1, 3, 9 and 11 forms the product term B*D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expression. 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5588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38EB45-EBA5-42E0-9547-2AE2FBB6541D}" type="slidenum">
              <a:rPr lang="en-GB"/>
              <a:pPr/>
              <a:t>22</a:t>
            </a:fld>
            <a:endParaRPr lang="en-GB"/>
          </a:p>
        </p:txBody>
      </p:sp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8 term SOP expression mapped to a 4 variable K-map.</a:t>
            </a:r>
          </a:p>
          <a:p>
            <a:pPr>
              <a:buFontTx/>
              <a:buChar char="•"/>
            </a:pPr>
            <a:r>
              <a:rPr lang="en-GB"/>
              <a:t>One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 and 12 forms the product term AC*D*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3, 7, 11 and 15 forms the product term CD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SOP expression.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2720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6A6EE-AF76-4398-9ADD-83CCD8291D98}" type="slidenum">
              <a:rPr lang="en-GB"/>
              <a:pPr/>
              <a:t>23</a:t>
            </a:fld>
            <a:endParaRPr lang="en-GB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9 term SOP expression mapped to a 4-variable K-map.</a:t>
            </a:r>
          </a:p>
          <a:p>
            <a:pPr>
              <a:buFontTx/>
              <a:buChar char="•"/>
            </a:pPr>
            <a:r>
              <a:rPr lang="en-GB"/>
              <a:t>Two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corner cells 0, 2, 8 and 10 forms the product term B*D*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2, 3, 10 and 11 forms the product term B*C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13 and 15 forms the product term ABD</a:t>
            </a:r>
          </a:p>
          <a:p>
            <a:pPr>
              <a:buFontTx/>
              <a:buChar char="•"/>
            </a:pPr>
            <a:r>
              <a:rPr lang="en-GB"/>
              <a:t>The fourth group of 1s comprising of cells 2 and 6 forms the product term A*CD*</a:t>
            </a:r>
          </a:p>
          <a:p>
            <a:pPr>
              <a:buFontTx/>
              <a:buChar char="•"/>
            </a:pPr>
            <a:r>
              <a:rPr lang="en-GB"/>
              <a:t>The SOP expression has simplified to a 4 term SOP expression.</a:t>
            </a:r>
          </a:p>
          <a:p>
            <a:r>
              <a:rPr lang="en-GB"/>
              <a:t>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534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E6A0A-DE33-483D-9DE8-09E27BF8FB0E}" type="slidenum">
              <a:rPr lang="en-GB"/>
              <a:pPr/>
              <a:t>25</a:t>
            </a:fld>
            <a:endParaRPr lang="en-GB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logical circuit that accepts 4-bit binary numbers representing decimal numbers 0 to 15.</a:t>
            </a:r>
          </a:p>
          <a:p>
            <a:pPr>
              <a:buFontTx/>
              <a:buChar char="•"/>
            </a:pPr>
            <a:r>
              <a:rPr lang="en-GB"/>
              <a:t>The circuit checks the four bit binary equivalent of the decimal number.</a:t>
            </a:r>
          </a:p>
          <a:p>
            <a:pPr>
              <a:buFontTx/>
              <a:buChar char="•"/>
            </a:pPr>
            <a:r>
              <a:rPr lang="en-GB"/>
              <a:t>If the number is odd and it is a prime number the function outputs a one.</a:t>
            </a:r>
          </a:p>
          <a:p>
            <a:pPr>
              <a:buFontTx/>
              <a:buChar char="•"/>
            </a:pPr>
            <a:r>
              <a:rPr lang="en-GB"/>
              <a:t>Before designing the logic circuit a function table is implemented with all the input output combinations.</a:t>
            </a:r>
          </a:p>
          <a:p>
            <a:pPr>
              <a:buFontTx/>
              <a:buChar char="•"/>
            </a:pPr>
            <a:r>
              <a:rPr lang="en-GB"/>
              <a:t>The function table for the odd prime number checker is shown.</a:t>
            </a:r>
          </a:p>
          <a:p>
            <a:pPr>
              <a:buFontTx/>
              <a:buChar char="•"/>
            </a:pPr>
            <a:r>
              <a:rPr lang="en-GB"/>
              <a:t>The output is a 1 for inputs 1, 3, 5, 7, 11 and 13.  </a:t>
            </a:r>
          </a:p>
        </p:txBody>
      </p:sp>
    </p:spTree>
    <p:extLst>
      <p:ext uri="{BB962C8B-B14F-4D97-AF65-F5344CB8AC3E}">
        <p14:creationId xmlns:p14="http://schemas.microsoft.com/office/powerpoint/2010/main" val="739900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B72E7-8246-43F8-8604-C975D184A92D}" type="slidenum">
              <a:rPr lang="en-GB"/>
              <a:pPr/>
              <a:t>26</a:t>
            </a:fld>
            <a:endParaRPr lang="en-GB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K-map.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1285043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43991C-3E0D-4AA2-8EEF-0C7FBB81EF8D}" type="slidenum">
              <a:rPr lang="en-GB"/>
              <a:pPr/>
              <a:t>28</a:t>
            </a:fld>
            <a:endParaRPr lang="en-GB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number checker circuit that only checks for the odd prime numbers between 0 and 9</a:t>
            </a:r>
          </a:p>
          <a:p>
            <a:pPr>
              <a:buFontTx/>
              <a:buChar char="•"/>
            </a:pPr>
            <a:r>
              <a:rPr lang="en-GB"/>
              <a:t>To modify the operation of the number checker circuit the function table is modified to show don’t care output states for the inputs 10 to 15.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357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BEEB0F-9BB5-46B2-9463-36F69CA69858}" type="slidenum">
              <a:rPr lang="en-GB"/>
              <a:pPr/>
              <a:t>29</a:t>
            </a:fld>
            <a:endParaRPr lang="en-GB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K-map, including the don’t care states.</a:t>
            </a:r>
          </a:p>
          <a:p>
            <a:pPr>
              <a:buFontTx/>
              <a:buChar char="•"/>
            </a:pPr>
            <a:r>
              <a:rPr lang="en-GB"/>
              <a:t>In this particular case all the don’t care states are assumed to be 0s. The K-map simplification leads to the expression A*D.</a:t>
            </a:r>
          </a:p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cells 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1540880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DEC6E-C5A1-4117-9966-8C60D91E7CC4}" type="slidenum">
              <a:rPr lang="en-GB"/>
              <a:pPr/>
              <a:t>30</a:t>
            </a:fld>
            <a:endParaRPr lang="en-GB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4 cells 9, 11, 13 and 15 marked with x indicate the don’t care state are assumed to be 1s. </a:t>
            </a:r>
          </a:p>
          <a:p>
            <a:pPr>
              <a:buFontTx/>
              <a:buChar char="•"/>
            </a:pPr>
            <a:r>
              <a:rPr lang="en-GB"/>
              <a:t>Forming a group of 8 adjacent cells comprising cells 1, 3, 5, 7, 9, 11, 13 and 15 result in the simplest expression D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29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9175-CA28-4708-A6D3-C83F5D3369B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60475"/>
            <a:ext cx="8229600" cy="1143000"/>
          </a:xfrm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Digital Logic and Design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860675"/>
            <a:ext cx="8229600" cy="31591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GB" sz="2800" dirty="0" smtClean="0"/>
              <a:t>Waqar Baig</a:t>
            </a:r>
            <a:endParaRPr lang="en-GB" sz="2800" dirty="0"/>
          </a:p>
          <a:p>
            <a:pPr algn="ctr">
              <a:buFont typeface="Wingdings" pitchFamily="2" charset="2"/>
              <a:buNone/>
            </a:pPr>
            <a:endParaRPr lang="en-GB" sz="2800" dirty="0"/>
          </a:p>
          <a:p>
            <a:pPr algn="ctr">
              <a:buFont typeface="Wingdings" pitchFamily="2" charset="2"/>
              <a:buNone/>
            </a:pPr>
            <a:r>
              <a:rPr lang="en-GB" sz="2800" dirty="0"/>
              <a:t>Lecture No. </a:t>
            </a:r>
            <a:r>
              <a:rPr lang="en-GB" sz="2800" dirty="0" smtClean="0"/>
              <a:t>08</a:t>
            </a:r>
            <a:endParaRPr lang="en-GB" sz="2800" dirty="0"/>
          </a:p>
        </p:txBody>
      </p:sp>
    </p:spTree>
  </p:cSld>
  <p:clrMapOvr>
    <a:masterClrMapping/>
  </p:clrMapOvr>
  <p:transition advTm="328128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Examples of Boolean Analysis of Logic Circuits</a:t>
            </a:r>
          </a:p>
          <a:p>
            <a:r>
              <a:rPr lang="en-GB"/>
              <a:t>Examples of Simplification of Boolean Expressions</a:t>
            </a:r>
          </a:p>
          <a:p>
            <a:r>
              <a:rPr lang="en-GB"/>
              <a:t>Standard form of SOP and POS expressions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Need for Standard SOP and POS expressions</a:t>
            </a:r>
          </a:p>
          <a:p>
            <a:r>
              <a:rPr lang="en-GB"/>
              <a:t>Converting standard SOP-POS </a:t>
            </a:r>
          </a:p>
          <a:p>
            <a:r>
              <a:rPr lang="en-GB"/>
              <a:t>Minterms &amp; Maxterms</a:t>
            </a:r>
          </a:p>
          <a:p>
            <a:r>
              <a:rPr lang="en-GB"/>
              <a:t>Converting SOP &amp; POS to truth table format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Karnaugh Map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Simplification of Boolean Expressions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Doesn’t guarantee simplest form of expression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Terms are not obvious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Skills of applying rules and laws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GB"/>
              <a:t>K-map provides a systematic method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An array of cells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Used for simplifying 2, 3, 4 and 5 variable expressions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3-Variable K-map</a:t>
            </a:r>
          </a:p>
        </p:txBody>
      </p:sp>
      <p:graphicFrame>
        <p:nvGraphicFramePr>
          <p:cNvPr id="507079" name="Group 199"/>
          <p:cNvGraphicFramePr>
            <a:graphicFrameLocks noGrp="1"/>
          </p:cNvGraphicFramePr>
          <p:nvPr>
            <p:ph sz="half" idx="1"/>
          </p:nvPr>
        </p:nvGraphicFramePr>
        <p:xfrm>
          <a:off x="609600" y="1752600"/>
          <a:ext cx="2286000" cy="4343402"/>
        </p:xfrm>
        <a:graphic>
          <a:graphicData uri="http://schemas.openxmlformats.org/drawingml/2006/table">
            <a:tbl>
              <a:tblPr/>
              <a:tblGrid>
                <a:gridCol w="788988"/>
                <a:gridCol w="747712"/>
                <a:gridCol w="749300"/>
              </a:tblGrid>
              <a:tr h="10747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61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7077" name="Group 197"/>
          <p:cNvGraphicFramePr>
            <a:graphicFrameLocks noGrp="1"/>
          </p:cNvGraphicFramePr>
          <p:nvPr>
            <p:ph sz="half" idx="2"/>
          </p:nvPr>
        </p:nvGraphicFramePr>
        <p:xfrm>
          <a:off x="4343400" y="2209800"/>
          <a:ext cx="4267200" cy="1828800"/>
        </p:xfrm>
        <a:graphic>
          <a:graphicData uri="http://schemas.openxmlformats.org/drawingml/2006/table">
            <a:tbl>
              <a:tblPr/>
              <a:tblGrid>
                <a:gridCol w="889000"/>
                <a:gridCol w="844550"/>
                <a:gridCol w="844550"/>
                <a:gridCol w="844550"/>
                <a:gridCol w="844550"/>
              </a:tblGrid>
              <a:tr h="7302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4-Variable K-map</a:t>
            </a:r>
          </a:p>
        </p:txBody>
      </p:sp>
      <p:graphicFrame>
        <p:nvGraphicFramePr>
          <p:cNvPr id="512218" name="Group 218"/>
          <p:cNvGraphicFramePr>
            <a:graphicFrameLocks noGrp="1"/>
          </p:cNvGraphicFramePr>
          <p:nvPr>
            <p:ph type="tbl" idx="1"/>
          </p:nvPr>
        </p:nvGraphicFramePr>
        <p:xfrm>
          <a:off x="1905000" y="1600200"/>
          <a:ext cx="5257800" cy="4530727"/>
        </p:xfrm>
        <a:graphic>
          <a:graphicData uri="http://schemas.openxmlformats.org/drawingml/2006/table">
            <a:tbl>
              <a:tblPr/>
              <a:tblGrid>
                <a:gridCol w="1050925"/>
                <a:gridCol w="1052513"/>
                <a:gridCol w="1050925"/>
                <a:gridCol w="1052512"/>
                <a:gridCol w="1050925"/>
              </a:tblGrid>
              <a:tr h="1131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13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15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14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8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9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Grouping &amp; Adjacent Cells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K-map is considered to be wrapped around </a:t>
            </a:r>
          </a:p>
          <a:p>
            <a:r>
              <a:rPr lang="en-GB"/>
              <a:t>All sides are adjacent to each other</a:t>
            </a:r>
          </a:p>
          <a:p>
            <a:r>
              <a:rPr lang="en-GB"/>
              <a:t>Groups of 2, 4, 8,16 and 32 adjacent cells are formed</a:t>
            </a:r>
          </a:p>
          <a:p>
            <a:r>
              <a:rPr lang="en-GB"/>
              <a:t>Groups can be row, column, square  or rectangular.</a:t>
            </a:r>
          </a:p>
          <a:p>
            <a:r>
              <a:rPr lang="en-GB"/>
              <a:t>Groups of diagonal cells are not allowed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cell for each minterm 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17323" name="Group 203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/>
                <a:gridCol w="773113"/>
                <a:gridCol w="773112"/>
              </a:tblGrid>
              <a:tr h="8112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7320" name="Group 200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/>
                <a:gridCol w="800100"/>
                <a:gridCol w="798513"/>
                <a:gridCol w="800100"/>
                <a:gridCol w="798512"/>
              </a:tblGrid>
              <a:tr h="874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1712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600200"/>
            <a:ext cx="31178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2411" name="Group 171"/>
          <p:cNvGraphicFramePr>
            <a:graphicFrameLocks noGrp="1"/>
          </p:cNvGraphicFramePr>
          <p:nvPr>
            <p:ph sz="half" idx="2"/>
          </p:nvPr>
        </p:nvGraphicFramePr>
        <p:xfrm>
          <a:off x="2209800" y="2819400"/>
          <a:ext cx="4876800" cy="3690938"/>
        </p:xfrm>
        <a:graphic>
          <a:graphicData uri="http://schemas.openxmlformats.org/drawingml/2006/table">
            <a:tbl>
              <a:tblPr/>
              <a:tblGrid>
                <a:gridCol w="974725"/>
                <a:gridCol w="976313"/>
                <a:gridCol w="974725"/>
                <a:gridCol w="976312"/>
                <a:gridCol w="974725"/>
              </a:tblGrid>
              <a:tr h="803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2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246" name="Rectangle 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2245" name="Object 5"/>
          <p:cNvGraphicFramePr>
            <a:graphicFrameLocks noChangeAspect="1"/>
          </p:cNvGraphicFramePr>
          <p:nvPr/>
        </p:nvGraphicFramePr>
        <p:xfrm>
          <a:off x="457200" y="2286000"/>
          <a:ext cx="84915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51" name="Equation" r:id="rId4" imgW="4330700" imgH="215900" progId="Equation.3">
                  <p:embed/>
                </p:oleObj>
              </mc:Choice>
              <mc:Fallback>
                <p:oleObj name="Equation" r:id="rId4" imgW="4330700" imgH="2159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849153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all the cells where the non- standard product term is present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6340" name="Group 4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/>
                <a:gridCol w="773113"/>
                <a:gridCol w="773112"/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6367" name="Group 31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/>
                <a:gridCol w="800100"/>
                <a:gridCol w="798513"/>
                <a:gridCol w="800100"/>
                <a:gridCol w="798512"/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26393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8388" name="Group 4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/>
                <a:gridCol w="773113"/>
                <a:gridCol w="773112"/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8414" name="Group 30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/>
                <a:gridCol w="800100"/>
                <a:gridCol w="798513"/>
                <a:gridCol w="800100"/>
                <a:gridCol w="798512"/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28440" name="Picture 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0655" name="Group 223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/>
                <a:gridCol w="765175"/>
                <a:gridCol w="766762"/>
                <a:gridCol w="766763"/>
                <a:gridCol w="766762"/>
              </a:tblGrid>
              <a:tr h="750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30489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3509" name="Group 5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/>
                <a:gridCol w="765175"/>
                <a:gridCol w="766762"/>
                <a:gridCol w="766763"/>
                <a:gridCol w="766762"/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33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5557" name="Group 5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/>
                <a:gridCol w="765175"/>
                <a:gridCol w="766762"/>
                <a:gridCol w="766763"/>
                <a:gridCol w="766762"/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35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Mapping of expression</a:t>
            </a:r>
          </a:p>
          <a:p>
            <a:r>
              <a:rPr lang="en-GB"/>
              <a:t>Forming of Groups of 1s</a:t>
            </a:r>
          </a:p>
          <a:p>
            <a:r>
              <a:rPr lang="en-GB"/>
              <a:t>Each group represents product term</a:t>
            </a:r>
          </a:p>
          <a:p>
            <a:r>
              <a:rPr lang="en-GB"/>
              <a:t>3-variable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value of 1 for function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4-variable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4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16 cell group yields a value of 1 for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0889" name="Rectangle 21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895" name="Rectangle 22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00" name="Rectangle 22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89" name="Oval 317"/>
          <p:cNvSpPr>
            <a:spLocks noChangeArrowheads="1"/>
          </p:cNvSpPr>
          <p:nvPr/>
        </p:nvSpPr>
        <p:spPr bwMode="auto">
          <a:xfrm>
            <a:off x="1905000" y="3962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87" name="Freeform 315"/>
          <p:cNvSpPr>
            <a:spLocks/>
          </p:cNvSpPr>
          <p:nvPr/>
        </p:nvSpPr>
        <p:spPr bwMode="auto">
          <a:xfrm rot="10665632">
            <a:off x="2667000" y="52578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93" name="Rectangle 32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99" name="Rectangle 32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004" name="Rectangle 332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197" name="Group 525"/>
          <p:cNvGraphicFramePr>
            <a:graphicFrameLocks noGrp="1"/>
          </p:cNvGraphicFramePr>
          <p:nvPr/>
        </p:nvGraphicFramePr>
        <p:xfrm>
          <a:off x="990600" y="27432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/>
                <a:gridCol w="747712"/>
                <a:gridCol w="749300"/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1095" name="Rectangle 423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100" name="Rectangle 42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207" name="Group 535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/>
                <a:gridCol w="774700"/>
                <a:gridCol w="793750"/>
                <a:gridCol w="730250"/>
                <a:gridCol w="838200"/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1193" name="Rectangle 5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192" name="Object 520"/>
          <p:cNvGraphicFramePr>
            <a:graphicFrameLocks noChangeAspect="1"/>
          </p:cNvGraphicFramePr>
          <p:nvPr/>
        </p:nvGraphicFramePr>
        <p:xfrm>
          <a:off x="1143000" y="19812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219" name="Equation" r:id="rId4" imgW="1028254" imgH="215806" progId="Equation.3">
                  <p:embed/>
                </p:oleObj>
              </mc:Choice>
              <mc:Fallback>
                <p:oleObj name="Equation" r:id="rId4" imgW="1028254" imgH="215806" progId="Equation.3">
                  <p:embed/>
                  <p:pic>
                    <p:nvPicPr>
                      <p:cNvPr id="0" name="Picture 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199" name="Oval 527"/>
          <p:cNvSpPr>
            <a:spLocks noChangeArrowheads="1"/>
          </p:cNvSpPr>
          <p:nvPr/>
        </p:nvSpPr>
        <p:spPr bwMode="auto">
          <a:xfrm>
            <a:off x="2667000" y="45720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1" name="Oval 419"/>
          <p:cNvSpPr>
            <a:spLocks noChangeArrowheads="1"/>
          </p:cNvSpPr>
          <p:nvPr/>
        </p:nvSpPr>
        <p:spPr bwMode="auto">
          <a:xfrm rot="5400000">
            <a:off x="6345238" y="31797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2" name="Oval 420"/>
          <p:cNvSpPr>
            <a:spLocks noChangeArrowheads="1"/>
          </p:cNvSpPr>
          <p:nvPr/>
        </p:nvSpPr>
        <p:spPr bwMode="auto">
          <a:xfrm rot="5400000">
            <a:off x="7200900" y="31623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0" name="Oval 418"/>
          <p:cNvSpPr>
            <a:spLocks noChangeArrowheads="1"/>
          </p:cNvSpPr>
          <p:nvPr/>
        </p:nvSpPr>
        <p:spPr bwMode="auto">
          <a:xfrm>
            <a:off x="5257800" y="4343400"/>
            <a:ext cx="495300" cy="49212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209" name="Rectangle 53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208" name="Object 536"/>
          <p:cNvGraphicFramePr>
            <a:graphicFrameLocks noChangeAspect="1"/>
          </p:cNvGraphicFramePr>
          <p:nvPr/>
        </p:nvGraphicFramePr>
        <p:xfrm>
          <a:off x="4953000" y="5105400"/>
          <a:ext cx="2889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220" name="Equation" r:id="rId6" imgW="1167893" imgH="215806" progId="Equation.3">
                  <p:embed/>
                </p:oleObj>
              </mc:Choice>
              <mc:Fallback>
                <p:oleObj name="Equation" r:id="rId6" imgW="1167893" imgH="215806" progId="Equation.3">
                  <p:embed/>
                  <p:pic>
                    <p:nvPicPr>
                      <p:cNvPr id="0" name="Picture 5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105400"/>
                        <a:ext cx="28892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990" name="Freeform 318"/>
          <p:cNvSpPr>
            <a:spLocks/>
          </p:cNvSpPr>
          <p:nvPr/>
        </p:nvSpPr>
        <p:spPr bwMode="auto">
          <a:xfrm>
            <a:off x="2667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2723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9" name="Rectangle 9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0" name="Rectangle 10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1" name="Rectangle 1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32" name="Group 12"/>
          <p:cNvGraphicFramePr>
            <a:graphicFrameLocks noGrp="1"/>
          </p:cNvGraphicFramePr>
          <p:nvPr/>
        </p:nvGraphicFramePr>
        <p:xfrm>
          <a:off x="1066800" y="28194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/>
                <a:gridCol w="747712"/>
                <a:gridCol w="749300"/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2758" name="Rectangle 3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59" name="Rectangle 3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60" name="Group 40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/>
                <a:gridCol w="774700"/>
                <a:gridCol w="793750"/>
                <a:gridCol w="730250"/>
                <a:gridCol w="838200"/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2786" name="Rectangle 6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88" name="Oval 68"/>
          <p:cNvSpPr>
            <a:spLocks noChangeArrowheads="1"/>
          </p:cNvSpPr>
          <p:nvPr/>
        </p:nvSpPr>
        <p:spPr bwMode="auto">
          <a:xfrm>
            <a:off x="2743200" y="4724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89" name="Oval 69"/>
          <p:cNvSpPr>
            <a:spLocks noChangeArrowheads="1"/>
          </p:cNvSpPr>
          <p:nvPr/>
        </p:nvSpPr>
        <p:spPr bwMode="auto">
          <a:xfrm rot="5400000">
            <a:off x="5659438" y="37131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0" name="Oval 70"/>
          <p:cNvSpPr>
            <a:spLocks noChangeArrowheads="1"/>
          </p:cNvSpPr>
          <p:nvPr/>
        </p:nvSpPr>
        <p:spPr bwMode="auto">
          <a:xfrm rot="5400000">
            <a:off x="7200900" y="32385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2" name="Rectangle 7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95" name="Rectangle 7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4" name="Object 74"/>
          <p:cNvGraphicFramePr>
            <a:graphicFrameLocks noChangeAspect="1"/>
          </p:cNvGraphicFramePr>
          <p:nvPr/>
        </p:nvGraphicFramePr>
        <p:xfrm>
          <a:off x="1066800" y="1981200"/>
          <a:ext cx="13160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7" name="Equation" r:id="rId4" imgW="532937" imgH="177646" progId="Equation.3">
                  <p:embed/>
                </p:oleObj>
              </mc:Choice>
              <mc:Fallback>
                <p:oleObj name="Equation" r:id="rId4" imgW="532937" imgH="177646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131603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7" name="Rectangle 7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6" name="Object 76"/>
          <p:cNvGraphicFramePr>
            <a:graphicFrameLocks noChangeAspect="1"/>
          </p:cNvGraphicFramePr>
          <p:nvPr/>
        </p:nvGraphicFramePr>
        <p:xfrm>
          <a:off x="5105400" y="51816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8" name="Equation" r:id="rId6" imgW="1028254" imgH="215806" progId="Equation.3">
                  <p:embed/>
                </p:oleObj>
              </mc:Choice>
              <mc:Fallback>
                <p:oleObj name="Equation" r:id="rId6" imgW="1028254" imgH="215806" progId="Equation.3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16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26" name="Oval 6"/>
          <p:cNvSpPr>
            <a:spLocks noChangeArrowheads="1"/>
          </p:cNvSpPr>
          <p:nvPr/>
        </p:nvSpPr>
        <p:spPr bwMode="auto">
          <a:xfrm>
            <a:off x="1752600" y="3962400"/>
            <a:ext cx="16764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8" name="Oval 78"/>
          <p:cNvSpPr>
            <a:spLocks noChangeArrowheads="1"/>
          </p:cNvSpPr>
          <p:nvPr/>
        </p:nvSpPr>
        <p:spPr bwMode="auto">
          <a:xfrm>
            <a:off x="6858000" y="37338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4771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3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4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5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6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3" name="Rectangle 35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4" name="Rectangle 36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31" name="Rectangle 6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5" name="Rectangle 6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6" name="Rectangle 6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8" name="Rectangle 70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43" name="Rectangle 7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4842" name="Object 74"/>
          <p:cNvGraphicFramePr>
            <a:graphicFrameLocks noChangeAspect="1"/>
          </p:cNvGraphicFramePr>
          <p:nvPr/>
        </p:nvGraphicFramePr>
        <p:xfrm>
          <a:off x="1292225" y="1981200"/>
          <a:ext cx="25368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48" name="Equation" r:id="rId4" imgW="1028520" imgH="215640" progId="Equation.3">
                  <p:embed/>
                </p:oleObj>
              </mc:Choice>
              <mc:Fallback>
                <p:oleObj name="Equation" r:id="rId4" imgW="1028520" imgH="215640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1981200"/>
                        <a:ext cx="25368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862" name="Rectangle 94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5013" name="Group 245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/>
                <a:gridCol w="768350"/>
                <a:gridCol w="769937"/>
                <a:gridCol w="771525"/>
                <a:gridCol w="76835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5015" name="Oval 247"/>
          <p:cNvSpPr>
            <a:spLocks noChangeArrowheads="1"/>
          </p:cNvSpPr>
          <p:nvPr/>
        </p:nvSpPr>
        <p:spPr bwMode="auto">
          <a:xfrm>
            <a:off x="49530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16" name="Oval 248"/>
          <p:cNvSpPr>
            <a:spLocks noChangeArrowheads="1"/>
          </p:cNvSpPr>
          <p:nvPr/>
        </p:nvSpPr>
        <p:spPr bwMode="auto">
          <a:xfrm>
            <a:off x="3352800" y="49530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08" name="Freeform 240"/>
          <p:cNvSpPr>
            <a:spLocks/>
          </p:cNvSpPr>
          <p:nvPr/>
        </p:nvSpPr>
        <p:spPr bwMode="auto">
          <a:xfrm>
            <a:off x="4267200" y="35814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5017" name="Freeform 249"/>
          <p:cNvSpPr>
            <a:spLocks/>
          </p:cNvSpPr>
          <p:nvPr/>
        </p:nvSpPr>
        <p:spPr bwMode="auto">
          <a:xfrm rot="10800000">
            <a:off x="4267200" y="57912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0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1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2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3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4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5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6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7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8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9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0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1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3" name="Rectangle 17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34" name="Group 18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/>
                <a:gridCol w="768350"/>
                <a:gridCol w="769937"/>
                <a:gridCol w="771525"/>
                <a:gridCol w="76835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6872" name="Oval 56"/>
          <p:cNvSpPr>
            <a:spLocks noChangeArrowheads="1"/>
          </p:cNvSpPr>
          <p:nvPr/>
        </p:nvSpPr>
        <p:spPr bwMode="auto">
          <a:xfrm>
            <a:off x="5105400" y="3581400"/>
            <a:ext cx="6096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3" name="Oval 57"/>
          <p:cNvSpPr>
            <a:spLocks noChangeArrowheads="1"/>
          </p:cNvSpPr>
          <p:nvPr/>
        </p:nvSpPr>
        <p:spPr bwMode="auto">
          <a:xfrm>
            <a:off x="48768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7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76" name="Object 60"/>
          <p:cNvGraphicFramePr>
            <a:graphicFrameLocks noChangeAspect="1"/>
          </p:cNvGraphicFramePr>
          <p:nvPr/>
        </p:nvGraphicFramePr>
        <p:xfrm>
          <a:off x="1219200" y="1905000"/>
          <a:ext cx="28336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882" name="Equation" r:id="rId4" imgW="1155600" imgH="215640" progId="Equation.3">
                  <p:embed/>
                </p:oleObj>
              </mc:Choice>
              <mc:Fallback>
                <p:oleObj name="Equation" r:id="rId4" imgW="1155600" imgH="21564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28336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78" name="Oval 62"/>
          <p:cNvSpPr>
            <a:spLocks noChangeArrowheads="1"/>
          </p:cNvSpPr>
          <p:nvPr/>
        </p:nvSpPr>
        <p:spPr bwMode="auto">
          <a:xfrm>
            <a:off x="3581400" y="4953000"/>
            <a:ext cx="5334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8867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1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2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3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4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5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6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7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8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9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80" name="Rectangle 16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881" name="Group 17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/>
                <a:gridCol w="768350"/>
                <a:gridCol w="769937"/>
                <a:gridCol w="771525"/>
                <a:gridCol w="76835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8919" name="Oval 55"/>
          <p:cNvSpPr>
            <a:spLocks noChangeArrowheads="1"/>
          </p:cNvSpPr>
          <p:nvPr/>
        </p:nvSpPr>
        <p:spPr bwMode="auto">
          <a:xfrm>
            <a:off x="5867400" y="3581400"/>
            <a:ext cx="6096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1" name="Rectangle 5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923" name="Oval 59"/>
          <p:cNvSpPr>
            <a:spLocks noChangeArrowheads="1"/>
          </p:cNvSpPr>
          <p:nvPr/>
        </p:nvSpPr>
        <p:spPr bwMode="auto">
          <a:xfrm>
            <a:off x="4267200" y="5029200"/>
            <a:ext cx="15240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5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924" name="Object 60"/>
          <p:cNvGraphicFramePr>
            <a:graphicFrameLocks noChangeAspect="1"/>
          </p:cNvGraphicFramePr>
          <p:nvPr/>
        </p:nvGraphicFramePr>
        <p:xfrm>
          <a:off x="1219200" y="1905000"/>
          <a:ext cx="40592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30" name="Equation" r:id="rId4" imgW="1651000" imgH="215900" progId="Equation.3">
                  <p:embed/>
                </p:oleObj>
              </mc:Choice>
              <mc:Fallback>
                <p:oleObj name="Equation" r:id="rId4" imgW="1651000" imgH="2159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40592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926" name="Freeform 62"/>
          <p:cNvSpPr>
            <a:spLocks/>
          </p:cNvSpPr>
          <p:nvPr/>
        </p:nvSpPr>
        <p:spPr bwMode="auto">
          <a:xfrm rot="-1205162">
            <a:off x="3505200" y="36576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7" name="Freeform 63"/>
          <p:cNvSpPr>
            <a:spLocks/>
          </p:cNvSpPr>
          <p:nvPr/>
        </p:nvSpPr>
        <p:spPr bwMode="auto">
          <a:xfrm rot="34382644">
            <a:off x="3657600" y="5715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8" name="Freeform 64"/>
          <p:cNvSpPr>
            <a:spLocks/>
          </p:cNvSpPr>
          <p:nvPr/>
        </p:nvSpPr>
        <p:spPr bwMode="auto">
          <a:xfrm rot="3191743">
            <a:off x="5881687" y="3643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9" name="Freeform 65"/>
          <p:cNvSpPr>
            <a:spLocks/>
          </p:cNvSpPr>
          <p:nvPr/>
        </p:nvSpPr>
        <p:spPr bwMode="auto">
          <a:xfrm rot="8802065">
            <a:off x="5943600" y="56388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0" name="Freeform 66"/>
          <p:cNvSpPr>
            <a:spLocks/>
          </p:cNvSpPr>
          <p:nvPr/>
        </p:nvSpPr>
        <p:spPr bwMode="auto">
          <a:xfrm>
            <a:off x="5029200" y="35814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1" name="Freeform 67"/>
          <p:cNvSpPr>
            <a:spLocks/>
          </p:cNvSpPr>
          <p:nvPr/>
        </p:nvSpPr>
        <p:spPr bwMode="auto">
          <a:xfrm rot="10800000">
            <a:off x="5029200" y="56388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Function of a logic circuit defined by function table</a:t>
            </a:r>
          </a:p>
          <a:p>
            <a:r>
              <a:rPr lang="en-GB"/>
              <a:t>Function can be directly mapped to K-map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graphicFrame>
        <p:nvGraphicFramePr>
          <p:cNvPr id="552658" name="Group 72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990600"/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2665" name="Group 729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990600"/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5026" name="Rectangle 18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76" name="Group 168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/>
                <a:gridCol w="781050"/>
                <a:gridCol w="781050"/>
                <a:gridCol w="781050"/>
                <a:gridCol w="781050"/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5013" name="Oval 5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7" name="Oval 169"/>
          <p:cNvSpPr>
            <a:spLocks noChangeArrowheads="1"/>
          </p:cNvSpPr>
          <p:nvPr/>
        </p:nvSpPr>
        <p:spPr bwMode="auto">
          <a:xfrm>
            <a:off x="4572000" y="3962400"/>
            <a:ext cx="5334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8" name="Freeform 170"/>
          <p:cNvSpPr>
            <a:spLocks/>
          </p:cNvSpPr>
          <p:nvPr/>
        </p:nvSpPr>
        <p:spPr bwMode="auto">
          <a:xfrm>
            <a:off x="5334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9" name="Freeform 171"/>
          <p:cNvSpPr>
            <a:spLocks/>
          </p:cNvSpPr>
          <p:nvPr/>
        </p:nvSpPr>
        <p:spPr bwMode="auto">
          <a:xfrm rot="10800000">
            <a:off x="5410200" y="51816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81" name="Rectangle 17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80" name="Object 172"/>
          <p:cNvGraphicFramePr>
            <a:graphicFrameLocks noChangeAspect="1"/>
          </p:cNvGraphicFramePr>
          <p:nvPr/>
        </p:nvGraphicFramePr>
        <p:xfrm>
          <a:off x="838200" y="1828800"/>
          <a:ext cx="31178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186" name="Equation" r:id="rId4" imgW="1269449" imgH="215806" progId="Equation.3">
                  <p:embed/>
                </p:oleObj>
              </mc:Choice>
              <mc:Fallback>
                <p:oleObj name="Equation" r:id="rId4" imgW="1269449" imgH="215806" progId="Equation.3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31178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Don’t care Conditions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Some input combinations never occur</a:t>
            </a:r>
          </a:p>
          <a:p>
            <a:r>
              <a:rPr lang="en-GB"/>
              <a:t>Outputs are assumed to be don’t care</a:t>
            </a:r>
          </a:p>
          <a:p>
            <a:r>
              <a:rPr lang="en-GB"/>
              <a:t>Don’t care outputs used as 0 or 1 during simplification.</a:t>
            </a:r>
          </a:p>
          <a:p>
            <a:r>
              <a:rPr lang="en-GB"/>
              <a:t>Results in simpler and shorter expressions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</a:t>
            </a:r>
          </a:p>
        </p:txBody>
      </p:sp>
      <p:graphicFrame>
        <p:nvGraphicFramePr>
          <p:cNvPr id="559107" name="Group 3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990600"/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9172" name="Group 68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990600"/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1155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56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/>
                <a:gridCol w="781050"/>
                <a:gridCol w="781050"/>
                <a:gridCol w="781050"/>
                <a:gridCol w="781050"/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1194" name="Oval 42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1198" name="Rectangle 4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99" name="Object 47"/>
          <p:cNvGraphicFramePr>
            <a:graphicFrameLocks noChangeAspect="1"/>
          </p:cNvGraphicFramePr>
          <p:nvPr/>
        </p:nvGraphicFramePr>
        <p:xfrm>
          <a:off x="2054225" y="1828800"/>
          <a:ext cx="685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205" name="Equation" r:id="rId4" imgW="279360" imgH="215640" progId="Equation.3">
                  <p:embed/>
                </p:oleObj>
              </mc:Choice>
              <mc:Fallback>
                <p:oleObj name="Equation" r:id="rId4" imgW="279360" imgH="21564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828800"/>
                        <a:ext cx="6858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3203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04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/>
                <a:gridCol w="781050"/>
                <a:gridCol w="781050"/>
                <a:gridCol w="781050"/>
                <a:gridCol w="781050"/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242" name="Oval 42"/>
          <p:cNvSpPr>
            <a:spLocks noChangeArrowheads="1"/>
          </p:cNvSpPr>
          <p:nvPr/>
        </p:nvSpPr>
        <p:spPr bwMode="auto">
          <a:xfrm>
            <a:off x="4419600" y="3352800"/>
            <a:ext cx="15240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43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44" name="Object 44"/>
          <p:cNvGraphicFramePr>
            <a:graphicFrameLocks noChangeAspect="1"/>
          </p:cNvGraphicFramePr>
          <p:nvPr/>
        </p:nvGraphicFramePr>
        <p:xfrm>
          <a:off x="2209800" y="1892300"/>
          <a:ext cx="3730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0" name="Equation" r:id="rId4" imgW="152280" imgH="164880" progId="Equation.3">
                  <p:embed/>
                </p:oleObj>
              </mc:Choice>
              <mc:Fallback>
                <p:oleObj name="Equation" r:id="rId4" imgW="152280" imgH="1648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92300"/>
                        <a:ext cx="3730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15452</TotalTime>
  <Words>3314</Words>
  <Application>Microsoft Office PowerPoint</Application>
  <PresentationFormat>On-screen Show (4:3)</PresentationFormat>
  <Paragraphs>887</Paragraphs>
  <Slides>30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Times New Roman</vt:lpstr>
      <vt:lpstr>Wingdings</vt:lpstr>
      <vt:lpstr>Office Theme</vt:lpstr>
      <vt:lpstr>Equation</vt:lpstr>
      <vt:lpstr>Digital Logic and Design</vt:lpstr>
      <vt:lpstr>Recap</vt:lpstr>
      <vt:lpstr>Recap</vt:lpstr>
      <vt:lpstr>Karnaugh Map</vt:lpstr>
      <vt:lpstr>3-Variable K-map</vt:lpstr>
      <vt:lpstr>4-Variable K-map</vt:lpstr>
      <vt:lpstr>Grouping &amp; Adjacent Cells</vt:lpstr>
      <vt:lpstr>Mapping of Standard SOP expression</vt:lpstr>
      <vt:lpstr>Mapping of Standard SOP expression</vt:lpstr>
      <vt:lpstr>Mapping of 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Mapping Directly from Function Table </vt:lpstr>
      <vt:lpstr>Mapping Directly from Function Table </vt:lpstr>
      <vt:lpstr>Mapping Directly from Function Table </vt:lpstr>
      <vt:lpstr>Don’t care Conditions</vt:lpstr>
      <vt:lpstr>Don’t Care Conditions</vt:lpstr>
      <vt:lpstr>Don’t Care Conditions </vt:lpstr>
      <vt:lpstr>Don’t Care Conditions </vt:lpstr>
    </vt:vector>
  </TitlesOfParts>
  <Company>NU_FAST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Mirza Waqar Baig</cp:lastModifiedBy>
  <cp:revision>481</cp:revision>
  <dcterms:created xsi:type="dcterms:W3CDTF">2003-07-15T08:28:34Z</dcterms:created>
  <dcterms:modified xsi:type="dcterms:W3CDTF">2016-02-19T16:15:01Z</dcterms:modified>
</cp:coreProperties>
</file>