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</p:sldMasterIdLst>
  <p:notesMasterIdLst>
    <p:notesMasterId r:id="rId37"/>
  </p:notesMasterIdLst>
  <p:handoutMasterIdLst>
    <p:handoutMasterId r:id="rId38"/>
  </p:handoutMasterIdLst>
  <p:sldIdLst>
    <p:sldId id="256" r:id="rId2"/>
    <p:sldId id="278" r:id="rId3"/>
    <p:sldId id="285" r:id="rId4"/>
    <p:sldId id="326" r:id="rId5"/>
    <p:sldId id="288" r:id="rId6"/>
    <p:sldId id="290" r:id="rId7"/>
    <p:sldId id="291" r:id="rId8"/>
    <p:sldId id="292" r:id="rId9"/>
    <p:sldId id="293" r:id="rId10"/>
    <p:sldId id="327" r:id="rId11"/>
    <p:sldId id="294" r:id="rId12"/>
    <p:sldId id="328" r:id="rId13"/>
    <p:sldId id="295" r:id="rId14"/>
    <p:sldId id="296" r:id="rId15"/>
    <p:sldId id="329" r:id="rId16"/>
    <p:sldId id="297" r:id="rId17"/>
    <p:sldId id="330" r:id="rId18"/>
    <p:sldId id="298" r:id="rId19"/>
    <p:sldId id="299" r:id="rId20"/>
    <p:sldId id="300" r:id="rId21"/>
    <p:sldId id="331" r:id="rId22"/>
    <p:sldId id="301" r:id="rId23"/>
    <p:sldId id="302" r:id="rId24"/>
    <p:sldId id="303" r:id="rId25"/>
    <p:sldId id="304" r:id="rId26"/>
    <p:sldId id="305" r:id="rId27"/>
    <p:sldId id="306" r:id="rId28"/>
    <p:sldId id="307" r:id="rId29"/>
    <p:sldId id="308" r:id="rId30"/>
    <p:sldId id="309" r:id="rId31"/>
    <p:sldId id="310" r:id="rId32"/>
    <p:sldId id="311" r:id="rId33"/>
    <p:sldId id="312" r:id="rId34"/>
    <p:sldId id="313" r:id="rId35"/>
    <p:sldId id="314" r:id="rId36"/>
  </p:sldIdLst>
  <p:sldSz cx="9144000" cy="6858000" type="screen4x3"/>
  <p:notesSz cx="6858000" cy="9144000"/>
  <p:defaultTextStyle>
    <a:defPPr>
      <a:defRPr lang="en-GB"/>
    </a:defPPr>
    <a:lvl1pPr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FF9900"/>
    <a:srgbClr val="FFFFFF"/>
    <a:srgbClr val="000000"/>
    <a:srgbClr val="FF0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21980" autoAdjust="0"/>
    <p:restoredTop sz="73220" autoAdjust="0"/>
  </p:normalViewPr>
  <p:slideViewPr>
    <p:cSldViewPr>
      <p:cViewPr varScale="1">
        <p:scale>
          <a:sx n="53" d="100"/>
          <a:sy n="53" d="100"/>
        </p:scale>
        <p:origin x="123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185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GB"/>
          </a:p>
        </p:txBody>
      </p:sp>
      <p:sp>
        <p:nvSpPr>
          <p:cNvPr id="160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160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C1E48BC-0B5D-4089-9968-B413FBA80DD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61367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GB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317BF34-BBFD-4C9A-A5D5-191125F831A7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89079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9330D4-C92C-4788-9B58-82F7F51A1FC1}" type="slidenum">
              <a:rPr lang="en-GB"/>
              <a:pPr/>
              <a:t>1</a:t>
            </a:fld>
            <a:endParaRPr lang="en-GB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7086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5B88CA-D1F3-4471-A707-A71332E5F078}" type="slidenum">
              <a:rPr lang="en-GB"/>
              <a:pPr/>
              <a:t>5</a:t>
            </a:fld>
            <a:endParaRPr lang="en-GB"/>
          </a:p>
        </p:txBody>
      </p:sp>
      <p:sp>
        <p:nvSpPr>
          <p:cNvPr id="509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9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3 variable K-map has 8 cells. 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8 cells can be arranged in 2 columns and 4 rows representing the column form of the Karnaugh Map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Alternately the 8 cells can be organized in 2 rows and 4 columns representing the row form of the Karnaugh map.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Any of the two forms of the Karnaugh Map can be used to simplify Boolean expressions.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simplified expressions using either of the two K-maps are identical.</a:t>
            </a:r>
          </a:p>
          <a:p>
            <a:pPr>
              <a:lnSpc>
                <a:spcPct val="80000"/>
              </a:lnSpc>
              <a:buFontTx/>
              <a:buChar char="•"/>
            </a:pPr>
            <a:endParaRPr lang="en-GB" sz="800" dirty="0"/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Considering first the column based 3-variable </a:t>
            </a:r>
            <a:r>
              <a:rPr lang="en-GB" sz="800" dirty="0" err="1"/>
              <a:t>Karnuagh</a:t>
            </a:r>
            <a:r>
              <a:rPr lang="en-GB" sz="800" dirty="0"/>
              <a:t> map.  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binary values 00, 01, 11 and 10 in the left most column of the K-map represent the binary values of variables A and B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binary values 0 and 1 in the top row of the K-map represents the binary values of variable C. 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8 cells marked with numbers 0 to 7 represent the cells 0 to 7 corresponding to the minterms 0 to 7 or the </a:t>
            </a:r>
            <a:r>
              <a:rPr lang="en-GB" sz="800" dirty="0" err="1"/>
              <a:t>maxterms</a:t>
            </a:r>
            <a:r>
              <a:rPr lang="en-GB" sz="800" dirty="0"/>
              <a:t> 0 to 7 in a 3 variable Boolean expression.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cell marked 0 for example, represents the </a:t>
            </a:r>
            <a:r>
              <a:rPr lang="en-GB" sz="800" dirty="0" err="1"/>
              <a:t>minterm</a:t>
            </a:r>
            <a:r>
              <a:rPr lang="en-GB" sz="800" dirty="0"/>
              <a:t> 0 or the </a:t>
            </a:r>
            <a:r>
              <a:rPr lang="en-GB" sz="800" dirty="0" err="1"/>
              <a:t>maxterm</a:t>
            </a:r>
            <a:r>
              <a:rPr lang="en-GB" sz="800" dirty="0"/>
              <a:t> 0 having binary value of variables A, B and C equal to 000.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Similarly cell marked 5 represents the </a:t>
            </a:r>
            <a:r>
              <a:rPr lang="en-GB" sz="800" dirty="0" err="1"/>
              <a:t>minterm</a:t>
            </a:r>
            <a:r>
              <a:rPr lang="en-GB" sz="800" dirty="0"/>
              <a:t> 5 or the </a:t>
            </a:r>
            <a:r>
              <a:rPr lang="en-GB" sz="800" dirty="0" err="1"/>
              <a:t>maxterm</a:t>
            </a:r>
            <a:r>
              <a:rPr lang="en-GB" sz="800" dirty="0"/>
              <a:t> 5 having binary values of variables A, B and C equal to 101.  </a:t>
            </a:r>
          </a:p>
          <a:p>
            <a:pPr>
              <a:lnSpc>
                <a:spcPct val="80000"/>
              </a:lnSpc>
              <a:buFontTx/>
              <a:buChar char="•"/>
            </a:pPr>
            <a:endParaRPr lang="en-GB" sz="800" dirty="0"/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3-variable K-Map based on the row representation is considered next.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binary values 0 and 1 in the left most column of the K-map represent the binary values of variable A.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binary values 00, 01, 11 and 10 in the top row of the K-map represent the binary values of variables B and C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8 cells marked with numbers 0 to 7 represent the cells 0 to 7 corresponding to the minterms 0 to 7 or the </a:t>
            </a:r>
            <a:r>
              <a:rPr lang="en-GB" sz="800" dirty="0" err="1"/>
              <a:t>maxterms</a:t>
            </a:r>
            <a:r>
              <a:rPr lang="en-GB" sz="800" dirty="0"/>
              <a:t> 0 to 7 in a 3 variable Boolean expression.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cell marked 1 for example, represents the </a:t>
            </a:r>
            <a:r>
              <a:rPr lang="en-GB" sz="800" dirty="0" err="1"/>
              <a:t>minterm</a:t>
            </a:r>
            <a:r>
              <a:rPr lang="en-GB" sz="800" dirty="0"/>
              <a:t> 1 or the </a:t>
            </a:r>
            <a:r>
              <a:rPr lang="en-GB" sz="800" dirty="0" err="1"/>
              <a:t>maxterm</a:t>
            </a:r>
            <a:r>
              <a:rPr lang="en-GB" sz="800" dirty="0"/>
              <a:t> 1 having binary value of variables A, B and C equal to 001.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Similarly cell marked 7 represents the </a:t>
            </a:r>
            <a:r>
              <a:rPr lang="en-GB" sz="800" dirty="0" err="1"/>
              <a:t>minterm</a:t>
            </a:r>
            <a:r>
              <a:rPr lang="en-GB" sz="800" dirty="0"/>
              <a:t> 7 or the </a:t>
            </a:r>
            <a:r>
              <a:rPr lang="en-GB" sz="800" dirty="0" err="1"/>
              <a:t>maxterm</a:t>
            </a:r>
            <a:r>
              <a:rPr lang="en-GB" sz="800" dirty="0"/>
              <a:t> 7 having binary values of variables A, B and C equal to 111.  </a:t>
            </a:r>
          </a:p>
        </p:txBody>
      </p:sp>
    </p:spTree>
    <p:extLst>
      <p:ext uri="{BB962C8B-B14F-4D97-AF65-F5344CB8AC3E}">
        <p14:creationId xmlns:p14="http://schemas.microsoft.com/office/powerpoint/2010/main" val="3897494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57608F-8870-4D7E-9EA3-DB40269DB2BF}" type="slidenum">
              <a:rPr lang="en-GB"/>
              <a:pPr/>
              <a:t>6</a:t>
            </a:fld>
            <a:endParaRPr lang="en-GB"/>
          </a:p>
        </p:txBody>
      </p:sp>
      <p:sp>
        <p:nvSpPr>
          <p:cNvPr id="513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3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The 4-variable K-Map has a square format with four rows and four columns of cells.</a:t>
            </a:r>
          </a:p>
          <a:p>
            <a:pPr>
              <a:buFontTx/>
              <a:buChar char="•"/>
            </a:pPr>
            <a:r>
              <a:rPr lang="en-GB"/>
              <a:t>The binary values 00, 01, 11 and 10 in the left most column of the K-map represent the binary values of variables A and B</a:t>
            </a:r>
          </a:p>
          <a:p>
            <a:pPr>
              <a:buFontTx/>
              <a:buChar char="•"/>
            </a:pPr>
            <a:r>
              <a:rPr lang="en-GB"/>
              <a:t>The binary values 00, 01, 11 and 10 in the top row of the K-map represents the binary values of variables C and D </a:t>
            </a:r>
          </a:p>
          <a:p>
            <a:pPr>
              <a:buFontTx/>
              <a:buChar char="•"/>
            </a:pPr>
            <a:r>
              <a:rPr lang="en-GB"/>
              <a:t>The 16 cells marked with numbers 0 to 15 represent the cells 0 to 15 corresponding to the minterms 0 to 15 or the maxterms 0 to 15 in a 4 variable Boolean expression.</a:t>
            </a:r>
          </a:p>
          <a:p>
            <a:pPr>
              <a:buFontTx/>
              <a:buChar char="•"/>
            </a:pPr>
            <a:r>
              <a:rPr lang="en-GB"/>
              <a:t>The cell marked 6 for example, represents the minterm 6 or the maxterm 6 having binary value of variables A, B, C and D equal to 0110</a:t>
            </a:r>
          </a:p>
          <a:p>
            <a:pPr>
              <a:buFontTx/>
              <a:buChar char="•"/>
            </a:pPr>
            <a:r>
              <a:rPr lang="en-GB"/>
              <a:t>Similarly cell marked 13 represents the minterm 13 or the maxterm 13 having binary values of variables A, B, C and D equal to 1101.  </a:t>
            </a:r>
          </a:p>
        </p:txBody>
      </p:sp>
    </p:spTree>
    <p:extLst>
      <p:ext uri="{BB962C8B-B14F-4D97-AF65-F5344CB8AC3E}">
        <p14:creationId xmlns:p14="http://schemas.microsoft.com/office/powerpoint/2010/main" val="1615690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EBB6E4-7598-4564-AB51-2982995EB4F4}" type="slidenum">
              <a:rPr lang="en-GB"/>
              <a:pPr/>
              <a:t>9</a:t>
            </a:fld>
            <a:endParaRPr lang="en-GB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Consider the 3-variable standard SOP expression ABC*+AB*C*+A*BC*</a:t>
            </a:r>
          </a:p>
          <a:p>
            <a:pPr>
              <a:buFontTx/>
              <a:buChar char="•"/>
            </a:pPr>
            <a:r>
              <a:rPr lang="en-GB"/>
              <a:t>A 3-variable K-map is used to map the expression as the SOP expression has a domain of 3 variables.</a:t>
            </a:r>
          </a:p>
          <a:p>
            <a:pPr>
              <a:buFontTx/>
              <a:buChar char="•"/>
            </a:pPr>
            <a:r>
              <a:rPr lang="en-GB"/>
              <a:t>What are the minterms in the SOP expression?</a:t>
            </a:r>
          </a:p>
          <a:p>
            <a:pPr>
              <a:buFontTx/>
              <a:buChar char="•"/>
            </a:pPr>
            <a:r>
              <a:rPr lang="en-GB"/>
              <a:t>The Standard SOP expression has three minterms 2, 4 and 6.</a:t>
            </a:r>
          </a:p>
          <a:p>
            <a:pPr>
              <a:buFontTx/>
              <a:buChar char="•"/>
            </a:pPr>
            <a:r>
              <a:rPr lang="en-GB"/>
              <a:t>The minterms present in the expression are mapped to the corresponding K-map cells.</a:t>
            </a:r>
          </a:p>
          <a:p>
            <a:pPr>
              <a:buFontTx/>
              <a:buChar char="•"/>
            </a:pPr>
            <a:r>
              <a:rPr lang="en-GB"/>
              <a:t>The cells representing the three minterms are marked with 1s, remaining cells are marked with 0s.</a:t>
            </a:r>
          </a:p>
          <a:p>
            <a:pPr>
              <a:buFontTx/>
              <a:buChar char="•"/>
            </a:pPr>
            <a:r>
              <a:rPr lang="en-GB"/>
              <a:t>Any of the two K-maps can be used</a:t>
            </a:r>
          </a:p>
          <a:p>
            <a:r>
              <a:rPr lang="en-GB"/>
              <a:t> </a:t>
            </a:r>
          </a:p>
          <a:p>
            <a:pPr>
              <a:buFontTx/>
              <a:buChar char="•"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76055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FFD1FD-6261-49D7-8297-2E6FC0E8BAAB}" type="slidenum">
              <a:rPr lang="en-GB"/>
              <a:pPr/>
              <a:t>11</a:t>
            </a:fld>
            <a:endParaRPr lang="en-GB"/>
          </a:p>
        </p:txBody>
      </p:sp>
      <p:sp>
        <p:nvSpPr>
          <p:cNvPr id="524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4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Consider the 4-variable SOP expression having the 7 sum terms.</a:t>
            </a:r>
          </a:p>
          <a:p>
            <a:pPr>
              <a:buFontTx/>
              <a:buChar char="•"/>
            </a:pPr>
            <a:r>
              <a:rPr lang="en-GB"/>
              <a:t>A 4-variable K-map is used as the SOP expression has a domain of 4 variables.</a:t>
            </a:r>
          </a:p>
          <a:p>
            <a:pPr>
              <a:buFontTx/>
              <a:buChar char="•"/>
            </a:pPr>
            <a:r>
              <a:rPr lang="en-GB"/>
              <a:t>What are the minterms in the SOP expression?</a:t>
            </a:r>
          </a:p>
          <a:p>
            <a:pPr>
              <a:buFontTx/>
              <a:buChar char="•"/>
            </a:pPr>
            <a:r>
              <a:rPr lang="en-GB"/>
              <a:t>The Standard SOP expression has seven minterms 1, 4, 5, 6, 8, 13 and 14</a:t>
            </a:r>
          </a:p>
          <a:p>
            <a:pPr>
              <a:buFontTx/>
              <a:buChar char="•"/>
            </a:pPr>
            <a:r>
              <a:rPr lang="en-GB"/>
              <a:t>The minterms present in the expression are mapped to the corresponding K-map cells.</a:t>
            </a:r>
          </a:p>
          <a:p>
            <a:pPr>
              <a:buFontTx/>
              <a:buChar char="•"/>
            </a:pPr>
            <a:r>
              <a:rPr lang="en-GB"/>
              <a:t>The cells representing the 7 minterms are marked with 1s, remaining cells are marked with 0s.</a:t>
            </a:r>
          </a:p>
        </p:txBody>
      </p:sp>
    </p:spTree>
    <p:extLst>
      <p:ext uri="{BB962C8B-B14F-4D97-AF65-F5344CB8AC3E}">
        <p14:creationId xmlns:p14="http://schemas.microsoft.com/office/powerpoint/2010/main" val="2931822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A8BCC0-DFCF-413F-BCBB-04A0EBC013E3}" type="slidenum">
              <a:rPr lang="en-GB"/>
              <a:pPr/>
              <a:t>14</a:t>
            </a:fld>
            <a:endParaRPr lang="en-GB"/>
          </a:p>
        </p:txBody>
      </p:sp>
      <p:sp>
        <p:nvSpPr>
          <p:cNvPr id="527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7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Consider the non-standard SOP expression A+BC*</a:t>
            </a:r>
          </a:p>
          <a:p>
            <a:pPr>
              <a:buFontTx/>
              <a:buChar char="•"/>
            </a:pPr>
            <a:r>
              <a:rPr lang="en-GB"/>
              <a:t>A 3-variable K-map is used as the SOP expression has a domain of 3 variables.</a:t>
            </a:r>
          </a:p>
          <a:p>
            <a:pPr>
              <a:buFontTx/>
              <a:buChar char="•"/>
            </a:pPr>
            <a:r>
              <a:rPr lang="en-GB"/>
              <a:t>Any of the two K-maps representations, that is column or row representation can be used</a:t>
            </a:r>
          </a:p>
          <a:p>
            <a:pPr>
              <a:buFontTx/>
              <a:buChar char="•"/>
            </a:pPr>
            <a:r>
              <a:rPr lang="en-GB"/>
              <a:t>The non-standard product term A is mapped first.</a:t>
            </a:r>
          </a:p>
          <a:p>
            <a:pPr>
              <a:buFontTx/>
              <a:buChar char="•"/>
            </a:pPr>
            <a:r>
              <a:rPr lang="en-GB"/>
              <a:t>The 3 variable K-map cells having the term A are marked with 1s.  </a:t>
            </a:r>
          </a:p>
          <a:p>
            <a:pPr>
              <a:buFontTx/>
              <a:buChar char="•"/>
            </a:pPr>
            <a:r>
              <a:rPr lang="en-GB"/>
              <a:t>The cells marked 4, 5, 6 and 7 all have the term A, therefore these cells are marked with 1s</a:t>
            </a:r>
          </a:p>
        </p:txBody>
      </p:sp>
    </p:spTree>
    <p:extLst>
      <p:ext uri="{BB962C8B-B14F-4D97-AF65-F5344CB8AC3E}">
        <p14:creationId xmlns:p14="http://schemas.microsoft.com/office/powerpoint/2010/main" val="19276105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D0A86C-A25E-4FA6-80EA-294B4A105FB7}" type="slidenum">
              <a:rPr lang="en-GB"/>
              <a:pPr/>
              <a:t>16</a:t>
            </a:fld>
            <a:endParaRPr lang="en-GB"/>
          </a:p>
        </p:txBody>
      </p:sp>
      <p:sp>
        <p:nvSpPr>
          <p:cNvPr id="529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9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Now consider the second non-standard product term BC*</a:t>
            </a:r>
          </a:p>
          <a:p>
            <a:pPr>
              <a:buFontTx/>
              <a:buChar char="•"/>
            </a:pPr>
            <a:r>
              <a:rPr lang="en-GB"/>
              <a:t>Using the same k-map</a:t>
            </a:r>
          </a:p>
          <a:p>
            <a:pPr>
              <a:buFontTx/>
              <a:buChar char="•"/>
            </a:pPr>
            <a:r>
              <a:rPr lang="en-GB"/>
              <a:t>The cells marked 2 and 6 are marked with 1s.</a:t>
            </a:r>
          </a:p>
          <a:p>
            <a:pPr>
              <a:buFontTx/>
              <a:buChar char="•"/>
            </a:pPr>
            <a:r>
              <a:rPr lang="en-GB"/>
              <a:t>Both the cells have the variable BC*</a:t>
            </a:r>
          </a:p>
          <a:p>
            <a:pPr>
              <a:buFontTx/>
              <a:buChar char="•"/>
            </a:pPr>
            <a:r>
              <a:rPr lang="en-GB"/>
              <a:t>Remaining cells are marked with 0s.</a:t>
            </a:r>
          </a:p>
          <a:p>
            <a:pPr>
              <a:buFontTx/>
              <a:buChar char="•"/>
            </a:pPr>
            <a:r>
              <a:rPr lang="en-GB"/>
              <a:t>It is possible that multiple terms are present in the same cell, such as the terms A and BC*. </a:t>
            </a:r>
          </a:p>
          <a:p>
            <a:pPr>
              <a:buFontTx/>
              <a:buChar char="•"/>
            </a:pPr>
            <a:r>
              <a:rPr lang="en-GB"/>
              <a:t>Both the terms are present in cell 6.</a:t>
            </a:r>
          </a:p>
          <a:p>
            <a:pPr>
              <a:buFontTx/>
              <a:buChar char="•"/>
            </a:pPr>
            <a:r>
              <a:rPr lang="en-GB"/>
              <a:t>Presence of multiple terms in a single cell is marked by a single 1.  </a:t>
            </a:r>
          </a:p>
          <a:p>
            <a:r>
              <a:rPr lang="en-GB"/>
              <a:t> </a:t>
            </a:r>
          </a:p>
          <a:p>
            <a:pPr>
              <a:buFontTx/>
              <a:buChar char="•"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31572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3F539D-6162-4700-AE6E-C7619D12EDC3}" type="slidenum">
              <a:rPr lang="en-GB"/>
              <a:pPr/>
              <a:t>18</a:t>
            </a:fld>
            <a:endParaRPr lang="en-GB"/>
          </a:p>
        </p:txBody>
      </p:sp>
      <p:sp>
        <p:nvSpPr>
          <p:cNvPr id="531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1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Consider a 4-variable non-standard SOP expression D+AC*+BC</a:t>
            </a:r>
          </a:p>
          <a:p>
            <a:pPr>
              <a:buFontTx/>
              <a:buChar char="•"/>
            </a:pPr>
            <a:r>
              <a:rPr lang="en-GB"/>
              <a:t>A 4-variable K-map is used to map the expression as the SOP expression has a domain of 4 variables.</a:t>
            </a:r>
          </a:p>
          <a:p>
            <a:pPr>
              <a:buFontTx/>
              <a:buChar char="•"/>
            </a:pPr>
            <a:r>
              <a:rPr lang="en-GB"/>
              <a:t>The non-standard product term D is mapped first.</a:t>
            </a:r>
          </a:p>
          <a:p>
            <a:pPr>
              <a:buFontTx/>
              <a:buChar char="•"/>
            </a:pPr>
            <a:r>
              <a:rPr lang="en-GB"/>
              <a:t>The K-map cells having the product term D are marked with 1s. </a:t>
            </a:r>
          </a:p>
          <a:p>
            <a:pPr>
              <a:buFontTx/>
              <a:buChar char="•"/>
            </a:pPr>
            <a:r>
              <a:rPr lang="en-GB"/>
              <a:t>The 8 cells marked 1, 3, 5, 7, 9, 11, 13 and 15 all have the D product term therefore they are marked with 1s.</a:t>
            </a:r>
          </a:p>
        </p:txBody>
      </p:sp>
    </p:spTree>
    <p:extLst>
      <p:ext uri="{BB962C8B-B14F-4D97-AF65-F5344CB8AC3E}">
        <p14:creationId xmlns:p14="http://schemas.microsoft.com/office/powerpoint/2010/main" val="2789452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774DE9-DBD3-490F-995E-5F91A7C2A0EE}" type="slidenum">
              <a:rPr lang="en-GB"/>
              <a:pPr/>
              <a:t>19</a:t>
            </a:fld>
            <a:endParaRPr lang="en-GB"/>
          </a:p>
        </p:txBody>
      </p:sp>
      <p:sp>
        <p:nvSpPr>
          <p:cNvPr id="534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4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The non-standard product term AC* is mapped next.</a:t>
            </a:r>
          </a:p>
          <a:p>
            <a:pPr>
              <a:buFontTx/>
              <a:buChar char="•"/>
            </a:pPr>
            <a:r>
              <a:rPr lang="en-GB"/>
              <a:t>Using the same k-map</a:t>
            </a:r>
          </a:p>
          <a:p>
            <a:pPr>
              <a:buFontTx/>
              <a:buChar char="•"/>
            </a:pPr>
            <a:r>
              <a:rPr lang="en-GB"/>
              <a:t>The cells marked 8, 9, 12 and 13 are marked with 1s.</a:t>
            </a:r>
          </a:p>
          <a:p>
            <a:pPr>
              <a:buFontTx/>
              <a:buChar char="•"/>
            </a:pPr>
            <a:r>
              <a:rPr lang="en-GB"/>
              <a:t>As all four cells have the variable AC*</a:t>
            </a:r>
          </a:p>
          <a:p>
            <a:pPr>
              <a:buFontTx/>
              <a:buChar char="•"/>
            </a:pPr>
            <a:r>
              <a:rPr lang="en-GB"/>
              <a:t>It is possible that multiple terms are present in the same cell, such as the terms D and AC*in cells 9 and 13. </a:t>
            </a:r>
          </a:p>
          <a:p>
            <a:pPr>
              <a:buFontTx/>
              <a:buChar char="•"/>
            </a:pPr>
            <a:r>
              <a:rPr lang="en-GB"/>
              <a:t>Presence of multiple terms in a single cell is marked by a single 1.  </a:t>
            </a:r>
          </a:p>
          <a:p>
            <a:r>
              <a:rPr lang="en-GB"/>
              <a:t> </a:t>
            </a:r>
          </a:p>
          <a:p>
            <a:pPr>
              <a:buFontTx/>
              <a:buChar char="•"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64578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1677FD-3A60-442E-8510-4529AA8332EA}" type="slidenum">
              <a:rPr lang="en-GB"/>
              <a:pPr/>
              <a:t>20</a:t>
            </a:fld>
            <a:endParaRPr lang="en-GB"/>
          </a:p>
        </p:txBody>
      </p:sp>
      <p:sp>
        <p:nvSpPr>
          <p:cNvPr id="536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6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Finally, the third non-standard product term BC is mapped.</a:t>
            </a:r>
          </a:p>
          <a:p>
            <a:pPr>
              <a:buFontTx/>
              <a:buChar char="•"/>
            </a:pPr>
            <a:r>
              <a:rPr lang="en-GB"/>
              <a:t>Using the same k-map</a:t>
            </a:r>
          </a:p>
          <a:p>
            <a:pPr>
              <a:buFontTx/>
              <a:buChar char="•"/>
            </a:pPr>
            <a:r>
              <a:rPr lang="en-GB"/>
              <a:t>The cells marked 6, 7, 14 and 15 are marked with 1s.</a:t>
            </a:r>
          </a:p>
          <a:p>
            <a:pPr>
              <a:buFontTx/>
              <a:buChar char="•"/>
            </a:pPr>
            <a:r>
              <a:rPr lang="en-GB"/>
              <a:t>All four cells have the variable BC</a:t>
            </a:r>
          </a:p>
          <a:p>
            <a:pPr>
              <a:buFontTx/>
              <a:buChar char="•"/>
            </a:pPr>
            <a:r>
              <a:rPr lang="en-GB"/>
              <a:t>Remaining cells are marked with 0s.</a:t>
            </a:r>
          </a:p>
          <a:p>
            <a:pPr>
              <a:buFontTx/>
              <a:buChar char="•"/>
            </a:pPr>
            <a:r>
              <a:rPr lang="en-GB"/>
              <a:t>Again, presence of multiple terms in a single cell is marked by a single 1.  </a:t>
            </a:r>
          </a:p>
        </p:txBody>
      </p:sp>
    </p:spTree>
    <p:extLst>
      <p:ext uri="{BB962C8B-B14F-4D97-AF65-F5344CB8AC3E}">
        <p14:creationId xmlns:p14="http://schemas.microsoft.com/office/powerpoint/2010/main" val="13877050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288091-5FF2-4987-8A26-7DCB5A58134C}" type="slidenum">
              <a:rPr lang="en-GB"/>
              <a:pPr/>
              <a:t>23</a:t>
            </a:fld>
            <a:endParaRPr lang="en-GB"/>
          </a:p>
        </p:txBody>
      </p:sp>
      <p:sp>
        <p:nvSpPr>
          <p:cNvPr id="539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9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1442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C3547D-190C-46CC-9C1A-BAAB464644E2}" type="slidenum">
              <a:rPr lang="en-GB"/>
              <a:pPr/>
              <a:t>24</a:t>
            </a:fld>
            <a:endParaRPr lang="en-GB"/>
          </a:p>
        </p:txBody>
      </p:sp>
      <p:sp>
        <p:nvSpPr>
          <p:cNvPr id="541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1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 dirty="0"/>
              <a:t>Consider the 3-variable column based K-map in which the SOP expression has been mapped.</a:t>
            </a:r>
          </a:p>
          <a:p>
            <a:pPr>
              <a:buFontTx/>
              <a:buChar char="•"/>
            </a:pPr>
            <a:r>
              <a:rPr lang="en-GB" dirty="0"/>
              <a:t>The SOP expression has 5 </a:t>
            </a:r>
            <a:r>
              <a:rPr lang="en-GB" dirty="0" err="1"/>
              <a:t>minterms</a:t>
            </a:r>
            <a:r>
              <a:rPr lang="en-GB" dirty="0"/>
              <a:t> marked by 1s in the K-map.</a:t>
            </a:r>
          </a:p>
          <a:p>
            <a:pPr>
              <a:buFontTx/>
              <a:buChar char="•"/>
            </a:pPr>
            <a:r>
              <a:rPr lang="en-GB" dirty="0"/>
              <a:t>Three groups of two cells each are formed.</a:t>
            </a:r>
          </a:p>
          <a:p>
            <a:pPr>
              <a:buFontTx/>
              <a:buChar char="•"/>
            </a:pPr>
            <a:r>
              <a:rPr lang="en-GB" dirty="0"/>
              <a:t>The first group of 1s comprising of cells 2 and 6 forms the product term BC*</a:t>
            </a:r>
          </a:p>
          <a:p>
            <a:pPr>
              <a:buFontTx/>
              <a:buChar char="•"/>
            </a:pPr>
            <a:r>
              <a:rPr lang="en-GB" dirty="0"/>
              <a:t>The second group of 1s comprising of cells 5 and 7 forms the product term AC</a:t>
            </a:r>
          </a:p>
          <a:p>
            <a:pPr>
              <a:buFontTx/>
              <a:buChar char="•"/>
            </a:pPr>
            <a:r>
              <a:rPr lang="en-GB" dirty="0"/>
              <a:t>The third group of 1s comprising of cells 1 and 5 forms the product term B*C</a:t>
            </a:r>
          </a:p>
          <a:p>
            <a:pPr>
              <a:buFontTx/>
              <a:buChar char="•"/>
            </a:pPr>
            <a:r>
              <a:rPr lang="en-GB" dirty="0"/>
              <a:t>The five term SOP expression simplifies to a 3 term SOP expression</a:t>
            </a:r>
          </a:p>
          <a:p>
            <a:pPr>
              <a:buFontTx/>
              <a:buChar char="•"/>
            </a:pPr>
            <a:endParaRPr lang="en-GB" dirty="0"/>
          </a:p>
          <a:p>
            <a:pPr>
              <a:buFontTx/>
              <a:buChar char="•"/>
            </a:pPr>
            <a:r>
              <a:rPr lang="en-GB" dirty="0"/>
              <a:t>Consider the 3-variable row based K-map in which the SOP expression has been mapped.</a:t>
            </a:r>
          </a:p>
          <a:p>
            <a:pPr>
              <a:buFontTx/>
              <a:buChar char="•"/>
            </a:pPr>
            <a:r>
              <a:rPr lang="en-GB" dirty="0"/>
              <a:t>The SOP expression has 4 </a:t>
            </a:r>
            <a:r>
              <a:rPr lang="en-GB" dirty="0" err="1"/>
              <a:t>minterms</a:t>
            </a:r>
            <a:r>
              <a:rPr lang="en-GB" dirty="0"/>
              <a:t> marked as 1s in the K-map.</a:t>
            </a:r>
          </a:p>
          <a:p>
            <a:pPr>
              <a:buFontTx/>
              <a:buChar char="•"/>
            </a:pPr>
            <a:r>
              <a:rPr lang="en-GB" dirty="0"/>
              <a:t>Two groups of 2 cells each and a third group of single cell are formed.</a:t>
            </a:r>
          </a:p>
          <a:p>
            <a:pPr>
              <a:buFontTx/>
              <a:buChar char="•"/>
            </a:pPr>
            <a:r>
              <a:rPr lang="en-GB" dirty="0"/>
              <a:t>The single cell group comprising of cell 4 forms the product term AB*C*</a:t>
            </a:r>
          </a:p>
          <a:p>
            <a:pPr>
              <a:buFontTx/>
              <a:buChar char="•"/>
            </a:pPr>
            <a:r>
              <a:rPr lang="en-GB" dirty="0"/>
              <a:t>The second group of 1s comprising of cells 1 and 3 forms the product term A*C</a:t>
            </a:r>
          </a:p>
          <a:p>
            <a:pPr>
              <a:buFontTx/>
              <a:buChar char="•"/>
            </a:pPr>
            <a:r>
              <a:rPr lang="en-GB" dirty="0"/>
              <a:t>The third group of 1s comprising of cells 2 and 3 forms the product term A*B  </a:t>
            </a:r>
          </a:p>
          <a:p>
            <a:pPr>
              <a:buFontTx/>
              <a:buChar char="•"/>
            </a:pPr>
            <a:r>
              <a:rPr lang="en-GB" dirty="0"/>
              <a:t>The four term SOP simplifies to a 3 term SOP expression </a:t>
            </a:r>
          </a:p>
          <a:p>
            <a:pPr>
              <a:buFontTx/>
              <a:buChar char="•"/>
            </a:pP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488830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3EC350-3300-42A5-8720-13F2F2FA6075}" type="slidenum">
              <a:rPr lang="en-GB"/>
              <a:pPr/>
              <a:t>25</a:t>
            </a:fld>
            <a:endParaRPr lang="en-GB"/>
          </a:p>
        </p:txBody>
      </p:sp>
      <p:sp>
        <p:nvSpPr>
          <p:cNvPr id="543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3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 dirty="0"/>
              <a:t>Consider the 3-variable column based K-map</a:t>
            </a:r>
          </a:p>
          <a:p>
            <a:pPr>
              <a:buFontTx/>
              <a:buChar char="•"/>
            </a:pPr>
            <a:r>
              <a:rPr lang="en-GB" dirty="0"/>
              <a:t>Two groups of four cells and two cells each are formed respectively.</a:t>
            </a:r>
          </a:p>
          <a:p>
            <a:pPr>
              <a:buFontTx/>
              <a:buChar char="•"/>
            </a:pPr>
            <a:r>
              <a:rPr lang="en-GB" dirty="0"/>
              <a:t>The first group of 1s comprising of cells 2, 3, 6 and 7 forms the product term B</a:t>
            </a:r>
          </a:p>
          <a:p>
            <a:pPr>
              <a:buFontTx/>
              <a:buChar char="•"/>
            </a:pPr>
            <a:r>
              <a:rPr lang="en-GB" dirty="0"/>
              <a:t>The second group of 1s comprising of cells 5 and 7 forms the product term AC</a:t>
            </a:r>
          </a:p>
          <a:p>
            <a:pPr>
              <a:buFontTx/>
              <a:buChar char="•"/>
            </a:pPr>
            <a:endParaRPr lang="en-GB" dirty="0"/>
          </a:p>
          <a:p>
            <a:pPr>
              <a:buFontTx/>
              <a:buChar char="•"/>
            </a:pPr>
            <a:r>
              <a:rPr lang="en-GB" dirty="0"/>
              <a:t>Consider the 3-variable row based K-map.</a:t>
            </a:r>
          </a:p>
          <a:p>
            <a:pPr>
              <a:buFontTx/>
              <a:buChar char="•"/>
            </a:pPr>
            <a:r>
              <a:rPr lang="en-GB" dirty="0"/>
              <a:t>Three groups of 2 cells each are formed.</a:t>
            </a:r>
          </a:p>
          <a:p>
            <a:pPr>
              <a:buFontTx/>
              <a:buChar char="•"/>
            </a:pPr>
            <a:r>
              <a:rPr lang="en-GB" dirty="0"/>
              <a:t>The first group of 1s comprising of cell 4 and 5 forms the product term AB*</a:t>
            </a:r>
          </a:p>
          <a:p>
            <a:pPr>
              <a:buFontTx/>
              <a:buChar char="•"/>
            </a:pPr>
            <a:r>
              <a:rPr lang="en-GB" dirty="0"/>
              <a:t>The second group of 1s comprising of cells 3 and 7 forms the product term BC</a:t>
            </a:r>
          </a:p>
          <a:p>
            <a:pPr>
              <a:buFontTx/>
              <a:buChar char="•"/>
            </a:pPr>
            <a:r>
              <a:rPr lang="en-GB" dirty="0"/>
              <a:t>The third group of 1s comprising of cells 2 and 3 forms the product term A*B  </a:t>
            </a:r>
          </a:p>
          <a:p>
            <a:pPr>
              <a:buFontTx/>
              <a:buChar char="•"/>
            </a:pPr>
            <a:endParaRPr lang="en-GB" dirty="0"/>
          </a:p>
          <a:p>
            <a:pPr>
              <a:buFontTx/>
              <a:buChar char="•"/>
            </a:pP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516049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B8EA7D-3DF7-47C9-B43F-FBD4E3828D40}" type="slidenum">
              <a:rPr lang="en-GB"/>
              <a:pPr/>
              <a:t>26</a:t>
            </a:fld>
            <a:endParaRPr lang="en-GB"/>
          </a:p>
        </p:txBody>
      </p:sp>
      <p:sp>
        <p:nvSpPr>
          <p:cNvPr id="545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Consider a 12 term SOP expression mapped on a 4-variable K-map.</a:t>
            </a:r>
          </a:p>
          <a:p>
            <a:pPr>
              <a:buFontTx/>
              <a:buChar char="•"/>
            </a:pPr>
            <a:r>
              <a:rPr lang="en-GB"/>
              <a:t>Three groups of four cells are formed.</a:t>
            </a:r>
          </a:p>
          <a:p>
            <a:pPr>
              <a:buFontTx/>
              <a:buChar char="•"/>
            </a:pPr>
            <a:r>
              <a:rPr lang="en-GB"/>
              <a:t>The first group of 1s comprising of cells 8, 9, 12 and 13 forms the product term AC*</a:t>
            </a:r>
          </a:p>
          <a:p>
            <a:pPr>
              <a:buFontTx/>
              <a:buChar char="•"/>
            </a:pPr>
            <a:r>
              <a:rPr lang="en-GB"/>
              <a:t>The second group of 1s comprising of cells 1, 3, 9 and 11 forms the product term B*D</a:t>
            </a:r>
          </a:p>
          <a:p>
            <a:pPr>
              <a:buFontTx/>
              <a:buChar char="•"/>
            </a:pPr>
            <a:r>
              <a:rPr lang="en-GB"/>
              <a:t>The third group of 1s comprising of cells 6, 7, 14 and 15 forms the product term BC</a:t>
            </a:r>
          </a:p>
          <a:p>
            <a:pPr>
              <a:buFontTx/>
              <a:buChar char="•"/>
            </a:pPr>
            <a:r>
              <a:rPr lang="en-GB"/>
              <a:t>The SOP expression has simplified to a 3 term expression.  </a:t>
            </a:r>
          </a:p>
          <a:p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55884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38EB45-EBA5-42E0-9547-2AE2FBB6541D}" type="slidenum">
              <a:rPr lang="en-GB"/>
              <a:pPr/>
              <a:t>27</a:t>
            </a:fld>
            <a:endParaRPr lang="en-GB"/>
          </a:p>
        </p:txBody>
      </p:sp>
      <p:sp>
        <p:nvSpPr>
          <p:cNvPr id="547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7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Consider a 8 term SOP expression mapped to a 4 variable K-map.</a:t>
            </a:r>
          </a:p>
          <a:p>
            <a:pPr>
              <a:buFontTx/>
              <a:buChar char="•"/>
            </a:pPr>
            <a:r>
              <a:rPr lang="en-GB"/>
              <a:t>One group of two cells and two groups of four cells are formed.</a:t>
            </a:r>
          </a:p>
          <a:p>
            <a:pPr>
              <a:buFontTx/>
              <a:buChar char="•"/>
            </a:pPr>
            <a:r>
              <a:rPr lang="en-GB"/>
              <a:t>The first group of 1s comprising of cells 8 and 12 forms the product term AC*D*</a:t>
            </a:r>
          </a:p>
          <a:p>
            <a:pPr>
              <a:buFontTx/>
              <a:buChar char="•"/>
            </a:pPr>
            <a:r>
              <a:rPr lang="en-GB"/>
              <a:t>The second group of 1s comprising of cells 3, 7, 11 and 15 forms the product term CD</a:t>
            </a:r>
          </a:p>
          <a:p>
            <a:pPr>
              <a:buFontTx/>
              <a:buChar char="•"/>
            </a:pPr>
            <a:r>
              <a:rPr lang="en-GB"/>
              <a:t>The third group of 1s comprising of cells 6, 7, 14 and 15 forms the product term BC</a:t>
            </a:r>
          </a:p>
          <a:p>
            <a:pPr>
              <a:buFontTx/>
              <a:buChar char="•"/>
            </a:pPr>
            <a:r>
              <a:rPr lang="en-GB"/>
              <a:t>The SOP expression has simplified to a 3 term SOP expression. </a:t>
            </a:r>
          </a:p>
          <a:p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227202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56A6EE-AF76-4398-9ADD-83CCD8291D98}" type="slidenum">
              <a:rPr lang="en-GB"/>
              <a:pPr/>
              <a:t>28</a:t>
            </a:fld>
            <a:endParaRPr lang="en-GB"/>
          </a:p>
        </p:txBody>
      </p:sp>
      <p:sp>
        <p:nvSpPr>
          <p:cNvPr id="549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9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Consider the 9 term SOP expression mapped to a 4-variable K-map.</a:t>
            </a:r>
          </a:p>
          <a:p>
            <a:pPr>
              <a:buFontTx/>
              <a:buChar char="•"/>
            </a:pPr>
            <a:r>
              <a:rPr lang="en-GB"/>
              <a:t>Two group of two cells and two groups of four cells are formed.</a:t>
            </a:r>
          </a:p>
          <a:p>
            <a:pPr>
              <a:buFontTx/>
              <a:buChar char="•"/>
            </a:pPr>
            <a:r>
              <a:rPr lang="en-GB"/>
              <a:t>The first group of 1s comprising of corner cells 0, 2, 8 and 10 forms the product term B*D*</a:t>
            </a:r>
          </a:p>
          <a:p>
            <a:pPr>
              <a:buFontTx/>
              <a:buChar char="•"/>
            </a:pPr>
            <a:r>
              <a:rPr lang="en-GB"/>
              <a:t>The second group of 1s comprising of cells 2, 3, 10 and 11 forms the product term B*C</a:t>
            </a:r>
          </a:p>
          <a:p>
            <a:pPr>
              <a:buFontTx/>
              <a:buChar char="•"/>
            </a:pPr>
            <a:r>
              <a:rPr lang="en-GB"/>
              <a:t>The third group of 1s comprising of cells 13 and 15 forms the product term ABD</a:t>
            </a:r>
          </a:p>
          <a:p>
            <a:pPr>
              <a:buFontTx/>
              <a:buChar char="•"/>
            </a:pPr>
            <a:r>
              <a:rPr lang="en-GB"/>
              <a:t>The fourth group of 1s comprising of cells 2 and 6 forms the product term A*CD*</a:t>
            </a:r>
          </a:p>
          <a:p>
            <a:pPr>
              <a:buFontTx/>
              <a:buChar char="•"/>
            </a:pPr>
            <a:r>
              <a:rPr lang="en-GB"/>
              <a:t>The SOP expression has simplified to a 4 term SOP expression.</a:t>
            </a:r>
          </a:p>
          <a:p>
            <a:r>
              <a:rPr lang="en-GB"/>
              <a:t> 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5348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5E6A0A-DE33-483D-9DE8-09E27BF8FB0E}" type="slidenum">
              <a:rPr lang="en-GB"/>
              <a:pPr/>
              <a:t>30</a:t>
            </a:fld>
            <a:endParaRPr lang="en-GB"/>
          </a:p>
        </p:txBody>
      </p:sp>
      <p:sp>
        <p:nvSpPr>
          <p:cNvPr id="556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6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Consider a logical circuit that accepts 4-bit binary numbers representing decimal numbers 0 to 15.</a:t>
            </a:r>
          </a:p>
          <a:p>
            <a:pPr>
              <a:buFontTx/>
              <a:buChar char="•"/>
            </a:pPr>
            <a:r>
              <a:rPr lang="en-GB"/>
              <a:t>The circuit checks the four bit binary equivalent of the decimal number.</a:t>
            </a:r>
          </a:p>
          <a:p>
            <a:pPr>
              <a:buFontTx/>
              <a:buChar char="•"/>
            </a:pPr>
            <a:r>
              <a:rPr lang="en-GB"/>
              <a:t>If the number is odd and it is a prime number the function outputs a one.</a:t>
            </a:r>
          </a:p>
          <a:p>
            <a:pPr>
              <a:buFontTx/>
              <a:buChar char="•"/>
            </a:pPr>
            <a:r>
              <a:rPr lang="en-GB"/>
              <a:t>Before designing the logic circuit a function table is implemented with all the input output combinations.</a:t>
            </a:r>
          </a:p>
          <a:p>
            <a:pPr>
              <a:buFontTx/>
              <a:buChar char="•"/>
            </a:pPr>
            <a:r>
              <a:rPr lang="en-GB"/>
              <a:t>The function table for the odd prime number checker is shown.</a:t>
            </a:r>
          </a:p>
          <a:p>
            <a:pPr>
              <a:buFontTx/>
              <a:buChar char="•"/>
            </a:pPr>
            <a:r>
              <a:rPr lang="en-GB"/>
              <a:t>The output is a 1 for inputs 1, 3, 5, 7, 11 and 13.  </a:t>
            </a:r>
          </a:p>
        </p:txBody>
      </p:sp>
    </p:spTree>
    <p:extLst>
      <p:ext uri="{BB962C8B-B14F-4D97-AF65-F5344CB8AC3E}">
        <p14:creationId xmlns:p14="http://schemas.microsoft.com/office/powerpoint/2010/main" val="7399004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2B72E7-8246-43F8-8604-C975D184A92D}" type="slidenum">
              <a:rPr lang="en-GB"/>
              <a:pPr/>
              <a:t>31</a:t>
            </a:fld>
            <a:endParaRPr lang="en-GB"/>
          </a:p>
        </p:txBody>
      </p:sp>
      <p:sp>
        <p:nvSpPr>
          <p:cNvPr id="557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7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The 4-variable function table is directly mapped to a 4-variable K-map’</a:t>
            </a:r>
          </a:p>
          <a:p>
            <a:pPr>
              <a:buFontTx/>
              <a:buChar char="•"/>
            </a:pPr>
            <a:r>
              <a:rPr lang="en-GB"/>
              <a:t>Each of the 16 minterm values in the function table are mapped to the corresponding minterm cells of the K-map.</a:t>
            </a:r>
          </a:p>
          <a:p>
            <a:pPr>
              <a:buFontTx/>
              <a:buChar char="•"/>
            </a:pPr>
            <a:r>
              <a:rPr lang="en-GB"/>
              <a:t>Simplifying using the K-map gives 3 product terms which can be directly implemented using logic gates to form a odd prime number checker circuit.</a:t>
            </a:r>
          </a:p>
        </p:txBody>
      </p:sp>
    </p:spTree>
    <p:extLst>
      <p:ext uri="{BB962C8B-B14F-4D97-AF65-F5344CB8AC3E}">
        <p14:creationId xmlns:p14="http://schemas.microsoft.com/office/powerpoint/2010/main" val="12850433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43991C-3E0D-4AA2-8EEF-0C7FBB81EF8D}" type="slidenum">
              <a:rPr lang="en-GB"/>
              <a:pPr/>
              <a:t>33</a:t>
            </a:fld>
            <a:endParaRPr lang="en-GB"/>
          </a:p>
        </p:txBody>
      </p:sp>
      <p:sp>
        <p:nvSpPr>
          <p:cNvPr id="560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0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Consider the number checker circuit that only checks for the odd prime numbers between 0 and 9</a:t>
            </a:r>
          </a:p>
          <a:p>
            <a:pPr>
              <a:buFontTx/>
              <a:buChar char="•"/>
            </a:pPr>
            <a:r>
              <a:rPr lang="en-GB"/>
              <a:t>To modify the operation of the number checker circuit the function table is modified to show don’t care output states for the inputs 10 to 15. 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13574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BEEB0F-9BB5-46B2-9463-36F69CA69858}" type="slidenum">
              <a:rPr lang="en-GB"/>
              <a:pPr/>
              <a:t>34</a:t>
            </a:fld>
            <a:endParaRPr lang="en-GB"/>
          </a:p>
        </p:txBody>
      </p:sp>
      <p:sp>
        <p:nvSpPr>
          <p:cNvPr id="562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2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The 4-variable function table is directly mapped to a 4-variable K-map’</a:t>
            </a:r>
          </a:p>
          <a:p>
            <a:pPr>
              <a:buFontTx/>
              <a:buChar char="•"/>
            </a:pPr>
            <a:r>
              <a:rPr lang="en-GB"/>
              <a:t>Each of the 16 minterm values in the function table are mapped to the corresponding minterm cells of the K-map, including the don’t care states.</a:t>
            </a:r>
          </a:p>
          <a:p>
            <a:pPr>
              <a:buFontTx/>
              <a:buChar char="•"/>
            </a:pPr>
            <a:r>
              <a:rPr lang="en-GB"/>
              <a:t>In this particular case all the don’t care states are assumed to be 0s. The K-map simplification leads to the expression A*D.</a:t>
            </a:r>
          </a:p>
          <a:p>
            <a:pPr>
              <a:buFontTx/>
              <a:buChar char="•"/>
            </a:pPr>
            <a:r>
              <a:rPr lang="en-GB"/>
              <a:t>Assuming that the circuit checks for odd prime numbers for the first 9 numbers ranging from 0 to 8, the remaining combinations never occur.</a:t>
            </a:r>
          </a:p>
          <a:p>
            <a:pPr>
              <a:buFontTx/>
              <a:buChar char="•"/>
            </a:pPr>
            <a:r>
              <a:rPr lang="en-GB"/>
              <a:t>The function table is modified to include a don’t care state for the input combination 1001.</a:t>
            </a:r>
          </a:p>
          <a:p>
            <a:pPr>
              <a:buFontTx/>
              <a:buChar char="•"/>
            </a:pPr>
            <a:r>
              <a:rPr lang="en-GB"/>
              <a:t>Mapping the function table to a 4-variable K-map leads to 7 cells having don’t care state. </a:t>
            </a:r>
          </a:p>
          <a:p>
            <a:pPr>
              <a:buFontTx/>
              <a:buChar char="•"/>
            </a:pPr>
            <a:r>
              <a:rPr lang="en-GB"/>
              <a:t>The cells </a:t>
            </a:r>
          </a:p>
          <a:p>
            <a:pPr>
              <a:buFontTx/>
              <a:buChar char="•"/>
            </a:pPr>
            <a:r>
              <a:rPr lang="en-GB"/>
              <a:t>Simplifying using the K-map gives 3 product terms which can be directly implemented using logic gates to form a odd prime number checker circuit.</a:t>
            </a:r>
          </a:p>
        </p:txBody>
      </p:sp>
    </p:spTree>
    <p:extLst>
      <p:ext uri="{BB962C8B-B14F-4D97-AF65-F5344CB8AC3E}">
        <p14:creationId xmlns:p14="http://schemas.microsoft.com/office/powerpoint/2010/main" val="15408808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0DEC6E-C5A1-4117-9966-8C60D91E7CC4}" type="slidenum">
              <a:rPr lang="en-GB"/>
              <a:pPr/>
              <a:t>35</a:t>
            </a:fld>
            <a:endParaRPr lang="en-GB"/>
          </a:p>
        </p:txBody>
      </p:sp>
      <p:sp>
        <p:nvSpPr>
          <p:cNvPr id="564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4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Assuming that the circuit checks for odd prime numbers for the first 9 numbers ranging from 0 to 8, the remaining combinations never occur.</a:t>
            </a:r>
          </a:p>
          <a:p>
            <a:pPr>
              <a:buFontTx/>
              <a:buChar char="•"/>
            </a:pPr>
            <a:r>
              <a:rPr lang="en-GB"/>
              <a:t>The function table is modified to include a don’t care state for the input combination 1001.</a:t>
            </a:r>
          </a:p>
          <a:p>
            <a:pPr>
              <a:buFontTx/>
              <a:buChar char="•"/>
            </a:pPr>
            <a:r>
              <a:rPr lang="en-GB"/>
              <a:t>Mapping the function table to a 4-variable K-map leads to 7 cells having don’t care state. </a:t>
            </a:r>
          </a:p>
          <a:p>
            <a:pPr>
              <a:buFontTx/>
              <a:buChar char="•"/>
            </a:pPr>
            <a:r>
              <a:rPr lang="en-GB"/>
              <a:t>The 4 cells 9, 11, 13 and 15 marked with x indicate the don’t care state are assumed to be 1s. </a:t>
            </a:r>
          </a:p>
          <a:p>
            <a:pPr>
              <a:buFontTx/>
              <a:buChar char="•"/>
            </a:pPr>
            <a:r>
              <a:rPr lang="en-GB"/>
              <a:t>Forming a group of 8 adjacent cells comprising cells 1, 3, 5, 7, 9, 11, 13 and 15 result in the simplest expression D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0293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49175-CA28-4708-A6D3-C83F5D3369BC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7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260475"/>
            <a:ext cx="8229600" cy="1143000"/>
          </a:xfrm>
        </p:spPr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Digital Logic and Design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idx="1"/>
          </p:nvPr>
        </p:nvSpPr>
        <p:spPr>
          <a:xfrm>
            <a:off x="457200" y="2860675"/>
            <a:ext cx="8229600" cy="3159125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en-GB" sz="2800" dirty="0"/>
              <a:t>Waqar Baig</a:t>
            </a:r>
          </a:p>
          <a:p>
            <a:pPr algn="ctr">
              <a:buFont typeface="Wingdings" pitchFamily="2" charset="2"/>
              <a:buNone/>
            </a:pPr>
            <a:endParaRPr lang="en-GB" sz="2800" dirty="0"/>
          </a:p>
          <a:p>
            <a:pPr algn="ctr">
              <a:buFont typeface="Wingdings" pitchFamily="2" charset="2"/>
              <a:buNone/>
            </a:pPr>
            <a:r>
              <a:rPr lang="en-GB" sz="2800" dirty="0"/>
              <a:t>Lecture No. 08</a:t>
            </a:r>
          </a:p>
        </p:txBody>
      </p:sp>
    </p:spTree>
  </p:cSld>
  <p:clrMapOvr>
    <a:masterClrMapping/>
  </p:clrMapOvr>
  <p:transition advTm="328128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Recap</a:t>
            </a:r>
          </a:p>
        </p:txBody>
      </p:sp>
      <p:sp>
        <p:nvSpPr>
          <p:cNvPr id="436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Examples of Boolean Analysis of Logic Circuits</a:t>
            </a:r>
          </a:p>
          <a:p>
            <a:r>
              <a:rPr lang="en-GB"/>
              <a:t>Examples of Simplification of Boolean Expressions</a:t>
            </a:r>
          </a:p>
          <a:p>
            <a:r>
              <a:rPr lang="en-GB"/>
              <a:t>Standard form of SOP and POS expressions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Recap</a:t>
            </a:r>
          </a:p>
        </p:txBody>
      </p:sp>
      <p:sp>
        <p:nvSpPr>
          <p:cNvPr id="4577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Need for Standard SOP and POS expressions</a:t>
            </a:r>
          </a:p>
          <a:p>
            <a:r>
              <a:rPr lang="en-GB"/>
              <a:t>Converting standard SOP-POS </a:t>
            </a:r>
          </a:p>
          <a:p>
            <a:r>
              <a:rPr lang="en-GB"/>
              <a:t>Minterms &amp; Maxterms</a:t>
            </a:r>
          </a:p>
          <a:p>
            <a:r>
              <a:rPr lang="en-GB"/>
              <a:t>Converting SOP &amp; POS to truth table format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Karnaugh Map</a:t>
            </a:r>
          </a:p>
        </p:txBody>
      </p:sp>
      <p:sp>
        <p:nvSpPr>
          <p:cNvPr id="5867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/>
              <a:t>Simplification of Boolean Expressions</a:t>
            </a:r>
          </a:p>
          <a:p>
            <a:pPr lvl="1">
              <a:lnSpc>
                <a:spcPct val="90000"/>
              </a:lnSpc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Doesn’t guarantee simplest form of expression</a:t>
            </a:r>
          </a:p>
          <a:p>
            <a:pPr lvl="1">
              <a:lnSpc>
                <a:spcPct val="90000"/>
              </a:lnSpc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Terms are not obvious</a:t>
            </a:r>
          </a:p>
          <a:p>
            <a:pPr lvl="1">
              <a:lnSpc>
                <a:spcPct val="90000"/>
              </a:lnSpc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Skills of applying rules and laws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GB"/>
              <a:t>K-map provides a systematic method </a:t>
            </a:r>
          </a:p>
          <a:p>
            <a:pPr lvl="1">
              <a:lnSpc>
                <a:spcPct val="90000"/>
              </a:lnSpc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An array of cells</a:t>
            </a:r>
          </a:p>
          <a:p>
            <a:pPr lvl="1">
              <a:lnSpc>
                <a:spcPct val="90000"/>
              </a:lnSpc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Used for simplifying 2, 3, 4 and 5 variable expressions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4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/>
              <a:t>3-Variable K-map</a:t>
            </a:r>
          </a:p>
        </p:txBody>
      </p:sp>
      <p:graphicFrame>
        <p:nvGraphicFramePr>
          <p:cNvPr id="507079" name="Group 199"/>
          <p:cNvGraphicFramePr>
            <a:graphicFrameLocks noGrp="1"/>
          </p:cNvGraphicFramePr>
          <p:nvPr>
            <p:ph sz="half" idx="1"/>
          </p:nvPr>
        </p:nvGraphicFramePr>
        <p:xfrm>
          <a:off x="609600" y="1752600"/>
          <a:ext cx="2286000" cy="4343402"/>
        </p:xfrm>
        <a:graphic>
          <a:graphicData uri="http://schemas.openxmlformats.org/drawingml/2006/table">
            <a:tbl>
              <a:tblPr/>
              <a:tblGrid>
                <a:gridCol w="788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7473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803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2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3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803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6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7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613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4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5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07077" name="Group 197"/>
          <p:cNvGraphicFramePr>
            <a:graphicFrameLocks noGrp="1"/>
          </p:cNvGraphicFramePr>
          <p:nvPr>
            <p:ph sz="half" idx="2"/>
          </p:nvPr>
        </p:nvGraphicFramePr>
        <p:xfrm>
          <a:off x="4343400" y="2209800"/>
          <a:ext cx="4267200" cy="1828800"/>
        </p:xfrm>
        <a:graphic>
          <a:graphicData uri="http://schemas.openxmlformats.org/drawingml/2006/table">
            <a:tbl>
              <a:tblPr/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4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4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02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A\BC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3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2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4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5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7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6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/>
              <a:t>4-Variable K-map</a:t>
            </a:r>
          </a:p>
        </p:txBody>
      </p:sp>
      <p:graphicFrame>
        <p:nvGraphicFramePr>
          <p:cNvPr id="512218" name="Group 218"/>
          <p:cNvGraphicFramePr>
            <a:graphicFrameLocks noGrp="1"/>
          </p:cNvGraphicFramePr>
          <p:nvPr>
            <p:ph type="tbl" idx="1"/>
          </p:nvPr>
        </p:nvGraphicFramePr>
        <p:xfrm>
          <a:off x="1905000" y="1600200"/>
          <a:ext cx="5257800" cy="453072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2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2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318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93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3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2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93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4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5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7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6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09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12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13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15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14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93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8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9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Grouping &amp; Adjacent Cells</a:t>
            </a:r>
          </a:p>
        </p:txBody>
      </p:sp>
      <p:sp>
        <p:nvSpPr>
          <p:cNvPr id="5150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K-map is considered to be wrapped around </a:t>
            </a:r>
          </a:p>
          <a:p>
            <a:r>
              <a:rPr lang="en-GB"/>
              <a:t>All sides are adjacent to each other</a:t>
            </a:r>
          </a:p>
          <a:p>
            <a:r>
              <a:rPr lang="en-GB"/>
              <a:t>Groups of 2, 4, 8,16 and 32 adjacent cells are formed</a:t>
            </a:r>
          </a:p>
          <a:p>
            <a:r>
              <a:rPr lang="en-GB"/>
              <a:t>Groups can be row, column, square  or rectangular.</a:t>
            </a:r>
          </a:p>
          <a:p>
            <a:r>
              <a:rPr lang="en-GB"/>
              <a:t>Groups of diagonal cells are not allowed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4100"/>
              <a:t>Mapping of Standard SOP expression</a:t>
            </a:r>
          </a:p>
        </p:txBody>
      </p:sp>
      <p:sp>
        <p:nvSpPr>
          <p:cNvPr id="516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Selecting n-variable K-map  </a:t>
            </a:r>
          </a:p>
          <a:p>
            <a:r>
              <a:rPr lang="en-GB"/>
              <a:t>1 marked in cell for each minterm </a:t>
            </a:r>
          </a:p>
          <a:p>
            <a:r>
              <a:rPr lang="en-GB"/>
              <a:t>Remaining cells marked with 0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4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4100"/>
              <a:t>Mapping of Standard SOP expression</a:t>
            </a:r>
          </a:p>
        </p:txBody>
      </p:sp>
      <p:sp>
        <p:nvSpPr>
          <p:cNvPr id="51712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GB" sz="2800"/>
              <a:t>SOP expression</a:t>
            </a:r>
          </a:p>
        </p:txBody>
      </p:sp>
      <p:pic>
        <p:nvPicPr>
          <p:cNvPr id="517127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86200" y="1600200"/>
            <a:ext cx="3117850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502BD-C9E6-40D7-BE35-D121052CC5B9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385E8C-EF67-4252-87BD-404A68F924C6}"/>
              </a:ext>
            </a:extLst>
          </p:cNvPr>
          <p:cNvSpPr>
            <a:spLocks noGrp="1"/>
          </p:cNvSpPr>
          <p:nvPr>
            <p:ph sz="quarter" idx="3"/>
          </p:nvPr>
        </p:nvSpPr>
        <p:spPr/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203">
            <a:extLst>
              <a:ext uri="{FF2B5EF4-FFF2-40B4-BE49-F238E27FC236}">
                <a16:creationId xmlns:a16="http://schemas.microsoft.com/office/drawing/2014/main" id="{21CD8DD9-EFBE-4552-B067-5697DF0EA8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4780393"/>
              </p:ext>
            </p:extLst>
          </p:nvPr>
        </p:nvGraphicFramePr>
        <p:xfrm>
          <a:off x="914400" y="2667000"/>
          <a:ext cx="2362200" cy="3429002"/>
        </p:xfrm>
        <a:graphic>
          <a:graphicData uri="http://schemas.openxmlformats.org/drawingml/2006/table">
            <a:tbl>
              <a:tblPr/>
              <a:tblGrid>
                <a:gridCol w="81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3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12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63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4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63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Group 200">
            <a:extLst>
              <a:ext uri="{FF2B5EF4-FFF2-40B4-BE49-F238E27FC236}">
                <a16:creationId xmlns:a16="http://schemas.microsoft.com/office/drawing/2014/main" id="{3DEC27D8-EC2A-416D-9B49-D9D92B805A7E}"/>
              </a:ext>
            </a:extLst>
          </p:cNvPr>
          <p:cNvGraphicFramePr>
            <a:graphicFrameLocks/>
          </p:cNvGraphicFramePr>
          <p:nvPr/>
        </p:nvGraphicFramePr>
        <p:xfrm>
          <a:off x="4267200" y="3962400"/>
          <a:ext cx="4038600" cy="2189163"/>
        </p:xfrm>
        <a:graphic>
          <a:graphicData uri="http://schemas.openxmlformats.org/drawingml/2006/table">
            <a:tbl>
              <a:tblPr/>
              <a:tblGrid>
                <a:gridCol w="84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8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8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747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A\BC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2787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4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4100"/>
              <a:t>Mapping of Standard SOP expression</a:t>
            </a:r>
          </a:p>
        </p:txBody>
      </p:sp>
      <p:sp>
        <p:nvSpPr>
          <p:cNvPr id="52224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GB" sz="2800"/>
              <a:t>SOP expression</a:t>
            </a:r>
          </a:p>
        </p:txBody>
      </p:sp>
      <p:sp>
        <p:nvSpPr>
          <p:cNvPr id="522246" name="Rectangle 6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22245" name="Object 5"/>
          <p:cNvGraphicFramePr>
            <a:graphicFrameLocks noChangeAspect="1"/>
          </p:cNvGraphicFramePr>
          <p:nvPr/>
        </p:nvGraphicFramePr>
        <p:xfrm>
          <a:off x="457200" y="2286000"/>
          <a:ext cx="8491538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30700" imgH="215900" progId="Equation.3">
                  <p:embed/>
                </p:oleObj>
              </mc:Choice>
              <mc:Fallback>
                <p:oleObj name="Equation" r:id="rId3" imgW="4330700" imgH="2159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286000"/>
                        <a:ext cx="8491538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A1410-C53D-40B9-A07B-05058B6871D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171">
            <a:extLst>
              <a:ext uri="{FF2B5EF4-FFF2-40B4-BE49-F238E27FC236}">
                <a16:creationId xmlns:a16="http://schemas.microsoft.com/office/drawing/2014/main" id="{049BB6E8-F3C5-4210-B4E6-680E47A8E02E}"/>
              </a:ext>
            </a:extLst>
          </p:cNvPr>
          <p:cNvGraphicFramePr>
            <a:graphicFrameLocks/>
          </p:cNvGraphicFramePr>
          <p:nvPr/>
        </p:nvGraphicFramePr>
        <p:xfrm>
          <a:off x="2209800" y="2819400"/>
          <a:ext cx="4876800" cy="3690938"/>
        </p:xfrm>
        <a:graphic>
          <a:graphicData uri="http://schemas.openxmlformats.org/drawingml/2006/table">
            <a:tbl>
              <a:tblPr/>
              <a:tblGrid>
                <a:gridCol w="97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6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6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032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72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72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3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174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100"/>
              <a:t>Mapping of Non-Standard SOP expression</a:t>
            </a:r>
          </a:p>
        </p:txBody>
      </p:sp>
      <p:sp>
        <p:nvSpPr>
          <p:cNvPr id="525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Selecting n-variable K-map  </a:t>
            </a:r>
          </a:p>
          <a:p>
            <a:r>
              <a:rPr lang="en-GB"/>
              <a:t>1 marked in all the cells where the non- standard product term is present</a:t>
            </a:r>
          </a:p>
          <a:p>
            <a:r>
              <a:rPr lang="en-GB"/>
              <a:t>Remaining cells marked with 0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GB" sz="4100"/>
              <a:t>Mapping of Non-Standard SOP expression</a:t>
            </a:r>
          </a:p>
        </p:txBody>
      </p:sp>
      <p:sp>
        <p:nvSpPr>
          <p:cNvPr id="52633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GB" sz="2800"/>
              <a:t>SOP expression</a:t>
            </a:r>
          </a:p>
        </p:txBody>
      </p:sp>
      <p:pic>
        <p:nvPicPr>
          <p:cNvPr id="526393" name="Picture 5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33800" y="1600200"/>
            <a:ext cx="1243013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D8A6F-0564-459E-86C4-1A5B858CDD95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1C20F4-CC29-4EC2-8D59-1F51223630DD}"/>
              </a:ext>
            </a:extLst>
          </p:cNvPr>
          <p:cNvSpPr>
            <a:spLocks noGrp="1"/>
          </p:cNvSpPr>
          <p:nvPr>
            <p:ph sz="quarter" idx="3"/>
          </p:nvPr>
        </p:nvSpPr>
        <p:spPr/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4">
            <a:extLst>
              <a:ext uri="{FF2B5EF4-FFF2-40B4-BE49-F238E27FC236}">
                <a16:creationId xmlns:a16="http://schemas.microsoft.com/office/drawing/2014/main" id="{00F086DD-22A2-4CE1-B551-599199187DE8}"/>
              </a:ext>
            </a:extLst>
          </p:cNvPr>
          <p:cNvGraphicFramePr>
            <a:graphicFrameLocks/>
          </p:cNvGraphicFramePr>
          <p:nvPr/>
        </p:nvGraphicFramePr>
        <p:xfrm>
          <a:off x="990600" y="2743200"/>
          <a:ext cx="2362200" cy="3429002"/>
        </p:xfrm>
        <a:graphic>
          <a:graphicData uri="http://schemas.openxmlformats.org/drawingml/2006/table">
            <a:tbl>
              <a:tblPr/>
              <a:tblGrid>
                <a:gridCol w="81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3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1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Group 31">
            <a:extLst>
              <a:ext uri="{FF2B5EF4-FFF2-40B4-BE49-F238E27FC236}">
                <a16:creationId xmlns:a16="http://schemas.microsoft.com/office/drawing/2014/main" id="{1219631C-AAE3-4F96-A24E-F86EB41E8B40}"/>
              </a:ext>
            </a:extLst>
          </p:cNvPr>
          <p:cNvGraphicFramePr>
            <a:graphicFrameLocks/>
          </p:cNvGraphicFramePr>
          <p:nvPr/>
        </p:nvGraphicFramePr>
        <p:xfrm>
          <a:off x="4267200" y="3962400"/>
          <a:ext cx="4038600" cy="2189163"/>
        </p:xfrm>
        <a:graphic>
          <a:graphicData uri="http://schemas.openxmlformats.org/drawingml/2006/table">
            <a:tbl>
              <a:tblPr/>
              <a:tblGrid>
                <a:gridCol w="84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8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8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74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A\BC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7072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GB" sz="4100"/>
              <a:t>Mapping of Non-Standard SOP expression</a:t>
            </a:r>
          </a:p>
        </p:txBody>
      </p:sp>
      <p:sp>
        <p:nvSpPr>
          <p:cNvPr id="52838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GB" sz="2800"/>
              <a:t>SOP expression</a:t>
            </a:r>
          </a:p>
        </p:txBody>
      </p:sp>
      <p:pic>
        <p:nvPicPr>
          <p:cNvPr id="528440" name="Picture 5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33800" y="1600200"/>
            <a:ext cx="1243013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C7C1A-787F-4966-A9C5-8CE2AC0EA4A4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2455FB-5D42-423A-B210-B8AE757708E1}"/>
              </a:ext>
            </a:extLst>
          </p:cNvPr>
          <p:cNvSpPr>
            <a:spLocks noGrp="1"/>
          </p:cNvSpPr>
          <p:nvPr>
            <p:ph sz="quarter" idx="3"/>
          </p:nvPr>
        </p:nvSpPr>
        <p:spPr/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4">
            <a:extLst>
              <a:ext uri="{FF2B5EF4-FFF2-40B4-BE49-F238E27FC236}">
                <a16:creationId xmlns:a16="http://schemas.microsoft.com/office/drawing/2014/main" id="{49EA4181-0245-4FA5-A529-1958775E2900}"/>
              </a:ext>
            </a:extLst>
          </p:cNvPr>
          <p:cNvGraphicFramePr>
            <a:graphicFrameLocks/>
          </p:cNvGraphicFramePr>
          <p:nvPr/>
        </p:nvGraphicFramePr>
        <p:xfrm>
          <a:off x="990600" y="2743200"/>
          <a:ext cx="2362200" cy="3429002"/>
        </p:xfrm>
        <a:graphic>
          <a:graphicData uri="http://schemas.openxmlformats.org/drawingml/2006/table">
            <a:tbl>
              <a:tblPr/>
              <a:tblGrid>
                <a:gridCol w="81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3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1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Group 30">
            <a:extLst>
              <a:ext uri="{FF2B5EF4-FFF2-40B4-BE49-F238E27FC236}">
                <a16:creationId xmlns:a16="http://schemas.microsoft.com/office/drawing/2014/main" id="{335D3F96-E348-44F8-A4C3-08B9DD6052C7}"/>
              </a:ext>
            </a:extLst>
          </p:cNvPr>
          <p:cNvGraphicFramePr>
            <a:graphicFrameLocks/>
          </p:cNvGraphicFramePr>
          <p:nvPr/>
        </p:nvGraphicFramePr>
        <p:xfrm>
          <a:off x="4267200" y="3962400"/>
          <a:ext cx="4038600" cy="2189163"/>
        </p:xfrm>
        <a:graphic>
          <a:graphicData uri="http://schemas.openxmlformats.org/drawingml/2006/table">
            <a:tbl>
              <a:tblPr/>
              <a:tblGrid>
                <a:gridCol w="84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8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8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74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A\BC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58680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GB" sz="4100"/>
              <a:t>Mapping of Non-Standard SOP expression</a:t>
            </a:r>
          </a:p>
        </p:txBody>
      </p:sp>
      <p:sp>
        <p:nvSpPr>
          <p:cNvPr id="53043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GB" sz="2800"/>
              <a:t>SOP expression</a:t>
            </a:r>
          </a:p>
        </p:txBody>
      </p:sp>
      <p:graphicFrame>
        <p:nvGraphicFramePr>
          <p:cNvPr id="530655" name="Group 223"/>
          <p:cNvGraphicFramePr>
            <a:graphicFrameLocks noGrp="1"/>
          </p:cNvGraphicFramePr>
          <p:nvPr>
            <p:ph sz="half" idx="2"/>
          </p:nvPr>
        </p:nvGraphicFramePr>
        <p:xfrm>
          <a:off x="2667000" y="2514600"/>
          <a:ext cx="4038600" cy="3692527"/>
        </p:xfrm>
        <a:graphic>
          <a:graphicData uri="http://schemas.openxmlformats.org/drawingml/2006/table">
            <a:tbl>
              <a:tblPr/>
              <a:tblGrid>
                <a:gridCol w="973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6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67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67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508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50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50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50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30489" name="Picture 5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81400" y="1600200"/>
            <a:ext cx="2130425" cy="53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GB" sz="4100"/>
              <a:t>Mapping of Non-Standard SOP expression</a:t>
            </a:r>
          </a:p>
        </p:txBody>
      </p:sp>
      <p:sp>
        <p:nvSpPr>
          <p:cNvPr id="53350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GB" sz="2800"/>
              <a:t>SOP expression</a:t>
            </a:r>
          </a:p>
        </p:txBody>
      </p:sp>
      <p:graphicFrame>
        <p:nvGraphicFramePr>
          <p:cNvPr id="533509" name="Group 5"/>
          <p:cNvGraphicFramePr>
            <a:graphicFrameLocks noGrp="1"/>
          </p:cNvGraphicFramePr>
          <p:nvPr>
            <p:ph sz="half" idx="2"/>
          </p:nvPr>
        </p:nvGraphicFramePr>
        <p:xfrm>
          <a:off x="2667000" y="2514600"/>
          <a:ext cx="4038600" cy="3692527"/>
        </p:xfrm>
        <a:graphic>
          <a:graphicData uri="http://schemas.openxmlformats.org/drawingml/2006/table">
            <a:tbl>
              <a:tblPr/>
              <a:tblGrid>
                <a:gridCol w="973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6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67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67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50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3350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81400" y="1600200"/>
            <a:ext cx="2130425" cy="53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GB" sz="4100"/>
              <a:t>Mapping of Non-Standard SOP expression</a:t>
            </a:r>
          </a:p>
        </p:txBody>
      </p:sp>
      <p:sp>
        <p:nvSpPr>
          <p:cNvPr id="53555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GB" sz="2800"/>
              <a:t>SOP expression</a:t>
            </a:r>
          </a:p>
        </p:txBody>
      </p:sp>
      <p:pic>
        <p:nvPicPr>
          <p:cNvPr id="53555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81400" y="1600200"/>
            <a:ext cx="2130425" cy="53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81D07-32C1-4CEE-90BB-2FCF72CAACE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5">
            <a:extLst>
              <a:ext uri="{FF2B5EF4-FFF2-40B4-BE49-F238E27FC236}">
                <a16:creationId xmlns:a16="http://schemas.microsoft.com/office/drawing/2014/main" id="{7E1C1C64-2E37-4DF9-AA27-2F0B2D72E4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7573564"/>
              </p:ext>
            </p:extLst>
          </p:nvPr>
        </p:nvGraphicFramePr>
        <p:xfrm>
          <a:off x="2628902" y="2450590"/>
          <a:ext cx="4038600" cy="3692527"/>
        </p:xfrm>
        <a:graphic>
          <a:graphicData uri="http://schemas.openxmlformats.org/drawingml/2006/table">
            <a:tbl>
              <a:tblPr/>
              <a:tblGrid>
                <a:gridCol w="973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6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67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67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50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11153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100"/>
              <a:t>Simplification of SOP expressions using K-map</a:t>
            </a:r>
          </a:p>
        </p:txBody>
      </p:sp>
      <p:sp>
        <p:nvSpPr>
          <p:cNvPr id="537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Mapping of expression</a:t>
            </a:r>
          </a:p>
          <a:p>
            <a:r>
              <a:rPr lang="en-GB"/>
              <a:t>Forming of Groups of 1s</a:t>
            </a:r>
          </a:p>
          <a:p>
            <a:r>
              <a:rPr lang="en-GB"/>
              <a:t>Each group represents product term</a:t>
            </a:r>
          </a:p>
          <a:p>
            <a:r>
              <a:rPr lang="en-GB"/>
              <a:t>3-variable K-map</a:t>
            </a:r>
          </a:p>
          <a:p>
            <a:pPr lvl="1"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1 cell group yields a 3 variable product term</a:t>
            </a:r>
          </a:p>
          <a:p>
            <a:pPr lvl="1"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2 cell group yields a 2 variable product term</a:t>
            </a:r>
          </a:p>
          <a:p>
            <a:pPr lvl="1"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4 cell group yields a 1 variable product term</a:t>
            </a:r>
          </a:p>
          <a:p>
            <a:pPr lvl="1"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8 cell group yields a value of 1 for function</a:t>
            </a:r>
            <a:endParaRPr lang="en-GB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100"/>
              <a:t>Simplification of SOP expressions using K-map</a:t>
            </a:r>
          </a:p>
        </p:txBody>
      </p:sp>
      <p:sp>
        <p:nvSpPr>
          <p:cNvPr id="538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4-variable K-map</a:t>
            </a:r>
          </a:p>
          <a:p>
            <a:pPr lvl="1"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1 cell group yields a 4 variable product term</a:t>
            </a:r>
          </a:p>
          <a:p>
            <a:pPr lvl="1"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2 cell group yields a 3 variable product term</a:t>
            </a:r>
          </a:p>
          <a:p>
            <a:pPr lvl="1"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4 cell group yields a 2 variable product term</a:t>
            </a:r>
          </a:p>
          <a:p>
            <a:pPr lvl="1"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8 cell group yields a 1 variable product term</a:t>
            </a:r>
          </a:p>
          <a:p>
            <a:pPr lvl="1"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16 cell group yields a value of 1 for function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676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GB"/>
              <a:t>Simplification of SOP expressions using K-map</a:t>
            </a:r>
          </a:p>
        </p:txBody>
      </p:sp>
      <p:sp>
        <p:nvSpPr>
          <p:cNvPr id="540889" name="Rectangle 217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0895" name="Rectangle 223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0900" name="Rectangle 228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0989" name="Oval 317"/>
          <p:cNvSpPr>
            <a:spLocks noChangeArrowheads="1"/>
          </p:cNvSpPr>
          <p:nvPr/>
        </p:nvSpPr>
        <p:spPr bwMode="auto">
          <a:xfrm>
            <a:off x="1905000" y="3962400"/>
            <a:ext cx="4572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0987" name="Freeform 315"/>
          <p:cNvSpPr>
            <a:spLocks/>
          </p:cNvSpPr>
          <p:nvPr/>
        </p:nvSpPr>
        <p:spPr bwMode="auto">
          <a:xfrm rot="10665632">
            <a:off x="2667000" y="5257800"/>
            <a:ext cx="457200" cy="457200"/>
          </a:xfrm>
          <a:custGeom>
            <a:avLst/>
            <a:gdLst/>
            <a:ahLst/>
            <a:cxnLst>
              <a:cxn ang="0">
                <a:pos x="30" y="0"/>
              </a:cxn>
              <a:cxn ang="0">
                <a:pos x="30" y="180"/>
              </a:cxn>
              <a:cxn ang="0">
                <a:pos x="210" y="360"/>
              </a:cxn>
              <a:cxn ang="0">
                <a:pos x="390" y="180"/>
              </a:cxn>
              <a:cxn ang="0">
                <a:pos x="390" y="0"/>
              </a:cxn>
            </a:cxnLst>
            <a:rect l="0" t="0" r="r" b="b"/>
            <a:pathLst>
              <a:path w="420" h="360">
                <a:moveTo>
                  <a:pt x="30" y="0"/>
                </a:moveTo>
                <a:cubicBezTo>
                  <a:pt x="15" y="60"/>
                  <a:pt x="0" y="120"/>
                  <a:pt x="30" y="180"/>
                </a:cubicBezTo>
                <a:cubicBezTo>
                  <a:pt x="60" y="240"/>
                  <a:pt x="150" y="360"/>
                  <a:pt x="210" y="360"/>
                </a:cubicBezTo>
                <a:cubicBezTo>
                  <a:pt x="270" y="360"/>
                  <a:pt x="360" y="240"/>
                  <a:pt x="390" y="180"/>
                </a:cubicBezTo>
                <a:cubicBezTo>
                  <a:pt x="420" y="120"/>
                  <a:pt x="405" y="60"/>
                  <a:pt x="390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0993" name="Rectangle 321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0999" name="Rectangle 327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1004" name="Rectangle 332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541197" name="Group 525"/>
          <p:cNvGraphicFramePr>
            <a:graphicFrameLocks noGrp="1"/>
          </p:cNvGraphicFramePr>
          <p:nvPr/>
        </p:nvGraphicFramePr>
        <p:xfrm>
          <a:off x="990600" y="2743200"/>
          <a:ext cx="2286000" cy="3141664"/>
        </p:xfrm>
        <a:graphic>
          <a:graphicData uri="http://schemas.openxmlformats.org/drawingml/2006/table">
            <a:tbl>
              <a:tblPr/>
              <a:tblGrid>
                <a:gridCol w="788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1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2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         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41095" name="Rectangle 423"/>
          <p:cNvSpPr>
            <a:spLocks noChangeArrowheads="1"/>
          </p:cNvSpPr>
          <p:nvPr/>
        </p:nvSpPr>
        <p:spPr bwMode="auto">
          <a:xfrm>
            <a:off x="3602038" y="2951163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1100" name="Rectangle 428"/>
          <p:cNvSpPr>
            <a:spLocks noChangeArrowheads="1"/>
          </p:cNvSpPr>
          <p:nvPr/>
        </p:nvSpPr>
        <p:spPr bwMode="auto">
          <a:xfrm>
            <a:off x="3602038" y="2951163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541207" name="Group 535"/>
          <p:cNvGraphicFramePr>
            <a:graphicFrameLocks noGrp="1"/>
          </p:cNvGraphicFramePr>
          <p:nvPr/>
        </p:nvGraphicFramePr>
        <p:xfrm>
          <a:off x="4343400" y="3276600"/>
          <a:ext cx="3962400" cy="1600201"/>
        </p:xfrm>
        <a:graphic>
          <a:graphicData uri="http://schemas.openxmlformats.org/drawingml/2006/table">
            <a:tbl>
              <a:tblPr/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A\BC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9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1193" name="Rectangle 521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41192" name="Object 520"/>
          <p:cNvGraphicFramePr>
            <a:graphicFrameLocks noChangeAspect="1"/>
          </p:cNvGraphicFramePr>
          <p:nvPr/>
        </p:nvGraphicFramePr>
        <p:xfrm>
          <a:off x="1143000" y="1981200"/>
          <a:ext cx="25320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28254" imgH="215806" progId="Equation.3">
                  <p:embed/>
                </p:oleObj>
              </mc:Choice>
              <mc:Fallback>
                <p:oleObj name="Equation" r:id="rId3" imgW="1028254" imgH="215806" progId="Equation.3">
                  <p:embed/>
                  <p:pic>
                    <p:nvPicPr>
                      <p:cNvPr id="0" name="Picture 5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981200"/>
                        <a:ext cx="2532063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1199" name="Oval 527"/>
          <p:cNvSpPr>
            <a:spLocks noChangeArrowheads="1"/>
          </p:cNvSpPr>
          <p:nvPr/>
        </p:nvSpPr>
        <p:spPr bwMode="auto">
          <a:xfrm>
            <a:off x="2667000" y="4572000"/>
            <a:ext cx="4572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1091" name="Oval 419"/>
          <p:cNvSpPr>
            <a:spLocks noChangeArrowheads="1"/>
          </p:cNvSpPr>
          <p:nvPr/>
        </p:nvSpPr>
        <p:spPr bwMode="auto">
          <a:xfrm rot="5400000">
            <a:off x="6345238" y="3179762"/>
            <a:ext cx="533400" cy="1641475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1092" name="Oval 420"/>
          <p:cNvSpPr>
            <a:spLocks noChangeArrowheads="1"/>
          </p:cNvSpPr>
          <p:nvPr/>
        </p:nvSpPr>
        <p:spPr bwMode="auto">
          <a:xfrm rot="5400000">
            <a:off x="7200900" y="3162300"/>
            <a:ext cx="533400" cy="16764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1090" name="Oval 418"/>
          <p:cNvSpPr>
            <a:spLocks noChangeArrowheads="1"/>
          </p:cNvSpPr>
          <p:nvPr/>
        </p:nvSpPr>
        <p:spPr bwMode="auto">
          <a:xfrm>
            <a:off x="5257800" y="4343400"/>
            <a:ext cx="495300" cy="492125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1209" name="Rectangle 537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41208" name="Object 536"/>
          <p:cNvGraphicFramePr>
            <a:graphicFrameLocks noChangeAspect="1"/>
          </p:cNvGraphicFramePr>
          <p:nvPr/>
        </p:nvGraphicFramePr>
        <p:xfrm>
          <a:off x="4953000" y="5105400"/>
          <a:ext cx="28892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67893" imgH="215806" progId="Equation.3">
                  <p:embed/>
                </p:oleObj>
              </mc:Choice>
              <mc:Fallback>
                <p:oleObj name="Equation" r:id="rId5" imgW="1167893" imgH="215806" progId="Equation.3">
                  <p:embed/>
                  <p:pic>
                    <p:nvPicPr>
                      <p:cNvPr id="0" name="Picture 5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5105400"/>
                        <a:ext cx="288925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0990" name="Freeform 318"/>
          <p:cNvSpPr>
            <a:spLocks/>
          </p:cNvSpPr>
          <p:nvPr/>
        </p:nvSpPr>
        <p:spPr bwMode="auto">
          <a:xfrm>
            <a:off x="2667000" y="3429000"/>
            <a:ext cx="457200" cy="457200"/>
          </a:xfrm>
          <a:custGeom>
            <a:avLst/>
            <a:gdLst/>
            <a:ahLst/>
            <a:cxnLst>
              <a:cxn ang="0">
                <a:pos x="30" y="0"/>
              </a:cxn>
              <a:cxn ang="0">
                <a:pos x="30" y="180"/>
              </a:cxn>
              <a:cxn ang="0">
                <a:pos x="210" y="360"/>
              </a:cxn>
              <a:cxn ang="0">
                <a:pos x="390" y="180"/>
              </a:cxn>
              <a:cxn ang="0">
                <a:pos x="390" y="0"/>
              </a:cxn>
            </a:cxnLst>
            <a:rect l="0" t="0" r="r" b="b"/>
            <a:pathLst>
              <a:path w="420" h="360">
                <a:moveTo>
                  <a:pt x="30" y="0"/>
                </a:moveTo>
                <a:cubicBezTo>
                  <a:pt x="15" y="60"/>
                  <a:pt x="0" y="120"/>
                  <a:pt x="30" y="180"/>
                </a:cubicBezTo>
                <a:cubicBezTo>
                  <a:pt x="60" y="240"/>
                  <a:pt x="150" y="360"/>
                  <a:pt x="210" y="360"/>
                </a:cubicBezTo>
                <a:cubicBezTo>
                  <a:pt x="270" y="360"/>
                  <a:pt x="360" y="240"/>
                  <a:pt x="390" y="180"/>
                </a:cubicBezTo>
                <a:cubicBezTo>
                  <a:pt x="420" y="120"/>
                  <a:pt x="405" y="60"/>
                  <a:pt x="390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GB"/>
              <a:t>Simplification of SOP expressions using K-map</a:t>
            </a:r>
          </a:p>
        </p:txBody>
      </p:sp>
      <p:sp>
        <p:nvSpPr>
          <p:cNvPr id="542723" name="Rectangle 3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2724" name="Rectangle 4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2725" name="Rectangle 5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2729" name="Rectangle 9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2730" name="Rectangle 10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2731" name="Rectangle 11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542732" name="Group 12"/>
          <p:cNvGraphicFramePr>
            <a:graphicFrameLocks noGrp="1"/>
          </p:cNvGraphicFramePr>
          <p:nvPr/>
        </p:nvGraphicFramePr>
        <p:xfrm>
          <a:off x="1066800" y="2819400"/>
          <a:ext cx="2286000" cy="3141664"/>
        </p:xfrm>
        <a:graphic>
          <a:graphicData uri="http://schemas.openxmlformats.org/drawingml/2006/table">
            <a:tbl>
              <a:tblPr/>
              <a:tblGrid>
                <a:gridCol w="788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1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2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         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42758" name="Rectangle 38"/>
          <p:cNvSpPr>
            <a:spLocks noChangeArrowheads="1"/>
          </p:cNvSpPr>
          <p:nvPr/>
        </p:nvSpPr>
        <p:spPr bwMode="auto">
          <a:xfrm>
            <a:off x="3602038" y="2951163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2759" name="Rectangle 39"/>
          <p:cNvSpPr>
            <a:spLocks noChangeArrowheads="1"/>
          </p:cNvSpPr>
          <p:nvPr/>
        </p:nvSpPr>
        <p:spPr bwMode="auto">
          <a:xfrm>
            <a:off x="3602038" y="2951163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542760" name="Group 40"/>
          <p:cNvGraphicFramePr>
            <a:graphicFrameLocks noGrp="1"/>
          </p:cNvGraphicFramePr>
          <p:nvPr/>
        </p:nvGraphicFramePr>
        <p:xfrm>
          <a:off x="4343400" y="3276600"/>
          <a:ext cx="3962400" cy="1600201"/>
        </p:xfrm>
        <a:graphic>
          <a:graphicData uri="http://schemas.openxmlformats.org/drawingml/2006/table">
            <a:tbl>
              <a:tblPr/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A\BC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9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2786" name="Rectangle 66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2788" name="Oval 68"/>
          <p:cNvSpPr>
            <a:spLocks noChangeArrowheads="1"/>
          </p:cNvSpPr>
          <p:nvPr/>
        </p:nvSpPr>
        <p:spPr bwMode="auto">
          <a:xfrm>
            <a:off x="2743200" y="4724400"/>
            <a:ext cx="4572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2789" name="Oval 69"/>
          <p:cNvSpPr>
            <a:spLocks noChangeArrowheads="1"/>
          </p:cNvSpPr>
          <p:nvPr/>
        </p:nvSpPr>
        <p:spPr bwMode="auto">
          <a:xfrm rot="5400000">
            <a:off x="5659438" y="3713162"/>
            <a:ext cx="533400" cy="1641475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2790" name="Oval 70"/>
          <p:cNvSpPr>
            <a:spLocks noChangeArrowheads="1"/>
          </p:cNvSpPr>
          <p:nvPr/>
        </p:nvSpPr>
        <p:spPr bwMode="auto">
          <a:xfrm rot="5400000">
            <a:off x="7200900" y="3238500"/>
            <a:ext cx="533400" cy="16764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2792" name="Rectangle 72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2795" name="Rectangle 75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42794" name="Object 74"/>
          <p:cNvGraphicFramePr>
            <a:graphicFrameLocks noChangeAspect="1"/>
          </p:cNvGraphicFramePr>
          <p:nvPr/>
        </p:nvGraphicFramePr>
        <p:xfrm>
          <a:off x="1066800" y="1981200"/>
          <a:ext cx="1316038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32937" imgH="177646" progId="Equation.3">
                  <p:embed/>
                </p:oleObj>
              </mc:Choice>
              <mc:Fallback>
                <p:oleObj name="Equation" r:id="rId3" imgW="532937" imgH="177646" progId="Equation.3">
                  <p:embed/>
                  <p:pic>
                    <p:nvPicPr>
                      <p:cNvPr id="0" name="Picture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981200"/>
                        <a:ext cx="1316038" cy="446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97" name="Rectangle 77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42796" name="Object 76"/>
          <p:cNvGraphicFramePr>
            <a:graphicFrameLocks noChangeAspect="1"/>
          </p:cNvGraphicFramePr>
          <p:nvPr/>
        </p:nvGraphicFramePr>
        <p:xfrm>
          <a:off x="5105400" y="5181600"/>
          <a:ext cx="25320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28254" imgH="215806" progId="Equation.3">
                  <p:embed/>
                </p:oleObj>
              </mc:Choice>
              <mc:Fallback>
                <p:oleObj name="Equation" r:id="rId5" imgW="1028254" imgH="215806" progId="Equation.3">
                  <p:embed/>
                  <p:pic>
                    <p:nvPicPr>
                      <p:cNvPr id="0" name="Picture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5181600"/>
                        <a:ext cx="2532063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26" name="Oval 6"/>
          <p:cNvSpPr>
            <a:spLocks noChangeArrowheads="1"/>
          </p:cNvSpPr>
          <p:nvPr/>
        </p:nvSpPr>
        <p:spPr bwMode="auto">
          <a:xfrm>
            <a:off x="1752600" y="3962400"/>
            <a:ext cx="1676400" cy="12954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2798" name="Oval 78"/>
          <p:cNvSpPr>
            <a:spLocks noChangeArrowheads="1"/>
          </p:cNvSpPr>
          <p:nvPr/>
        </p:nvSpPr>
        <p:spPr bwMode="auto">
          <a:xfrm>
            <a:off x="6858000" y="3733800"/>
            <a:ext cx="4572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GB"/>
              <a:t>Simplification of SOP expressions using K-map</a:t>
            </a:r>
          </a:p>
        </p:txBody>
      </p:sp>
      <p:sp>
        <p:nvSpPr>
          <p:cNvPr id="544771" name="Rectangle 3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4772" name="Rectangle 4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4773" name="Rectangle 5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4774" name="Rectangle 6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4775" name="Rectangle 7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4776" name="Rectangle 8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4803" name="Rectangle 35"/>
          <p:cNvSpPr>
            <a:spLocks noChangeArrowheads="1"/>
          </p:cNvSpPr>
          <p:nvPr/>
        </p:nvSpPr>
        <p:spPr bwMode="auto">
          <a:xfrm>
            <a:off x="3602038" y="2951163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4804" name="Rectangle 36"/>
          <p:cNvSpPr>
            <a:spLocks noChangeArrowheads="1"/>
          </p:cNvSpPr>
          <p:nvPr/>
        </p:nvSpPr>
        <p:spPr bwMode="auto">
          <a:xfrm>
            <a:off x="3602038" y="2951163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4831" name="Rectangle 63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4835" name="Rectangle 67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4836" name="Rectangle 68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4838" name="Rectangle 70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4843" name="Rectangle 75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44842" name="Object 74"/>
          <p:cNvGraphicFramePr>
            <a:graphicFrameLocks noChangeAspect="1"/>
          </p:cNvGraphicFramePr>
          <p:nvPr/>
        </p:nvGraphicFramePr>
        <p:xfrm>
          <a:off x="1292225" y="1981200"/>
          <a:ext cx="25368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28520" imgH="215640" progId="Equation.3">
                  <p:embed/>
                </p:oleObj>
              </mc:Choice>
              <mc:Fallback>
                <p:oleObj name="Equation" r:id="rId3" imgW="1028520" imgH="215640" progId="Equation.3">
                  <p:embed/>
                  <p:pic>
                    <p:nvPicPr>
                      <p:cNvPr id="0" name="Picture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2225" y="1981200"/>
                        <a:ext cx="2536825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4862" name="Rectangle 94"/>
          <p:cNvSpPr>
            <a:spLocks noChangeArrowheads="1"/>
          </p:cNvSpPr>
          <p:nvPr/>
        </p:nvSpPr>
        <p:spPr bwMode="auto">
          <a:xfrm>
            <a:off x="1779588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45013" name="Group 245"/>
          <p:cNvGraphicFramePr>
            <a:graphicFrameLocks noGrp="1"/>
          </p:cNvGraphicFramePr>
          <p:nvPr/>
        </p:nvGraphicFramePr>
        <p:xfrm>
          <a:off x="2362200" y="2743200"/>
          <a:ext cx="4191000" cy="3581401"/>
        </p:xfrm>
        <a:graphic>
          <a:graphicData uri="http://schemas.openxmlformats.org/drawingml/2006/table">
            <a:tbl>
              <a:tblPr/>
              <a:tblGrid>
                <a:gridCol w="1112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9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45015" name="Oval 247"/>
          <p:cNvSpPr>
            <a:spLocks noChangeArrowheads="1"/>
          </p:cNvSpPr>
          <p:nvPr/>
        </p:nvSpPr>
        <p:spPr bwMode="auto">
          <a:xfrm>
            <a:off x="4953000" y="4267200"/>
            <a:ext cx="1752600" cy="13716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5016" name="Oval 248"/>
          <p:cNvSpPr>
            <a:spLocks noChangeArrowheads="1"/>
          </p:cNvSpPr>
          <p:nvPr/>
        </p:nvSpPr>
        <p:spPr bwMode="auto">
          <a:xfrm>
            <a:off x="3352800" y="4953000"/>
            <a:ext cx="1752600" cy="13716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5008" name="Freeform 240"/>
          <p:cNvSpPr>
            <a:spLocks/>
          </p:cNvSpPr>
          <p:nvPr/>
        </p:nvSpPr>
        <p:spPr bwMode="auto">
          <a:xfrm>
            <a:off x="4267200" y="3581400"/>
            <a:ext cx="1524000" cy="609600"/>
          </a:xfrm>
          <a:custGeom>
            <a:avLst/>
            <a:gdLst/>
            <a:ahLst/>
            <a:cxnLst>
              <a:cxn ang="0">
                <a:pos x="60" y="0"/>
              </a:cxn>
              <a:cxn ang="0">
                <a:pos x="60" y="180"/>
              </a:cxn>
              <a:cxn ang="0">
                <a:pos x="420" y="360"/>
              </a:cxn>
              <a:cxn ang="0">
                <a:pos x="960" y="360"/>
              </a:cxn>
              <a:cxn ang="0">
                <a:pos x="1320" y="180"/>
              </a:cxn>
              <a:cxn ang="0">
                <a:pos x="1320" y="0"/>
              </a:cxn>
            </a:cxnLst>
            <a:rect l="0" t="0" r="r" b="b"/>
            <a:pathLst>
              <a:path w="1380" h="390">
                <a:moveTo>
                  <a:pt x="60" y="0"/>
                </a:moveTo>
                <a:cubicBezTo>
                  <a:pt x="30" y="60"/>
                  <a:pt x="0" y="120"/>
                  <a:pt x="60" y="180"/>
                </a:cubicBezTo>
                <a:cubicBezTo>
                  <a:pt x="120" y="240"/>
                  <a:pt x="270" y="330"/>
                  <a:pt x="420" y="360"/>
                </a:cubicBezTo>
                <a:cubicBezTo>
                  <a:pt x="570" y="390"/>
                  <a:pt x="810" y="390"/>
                  <a:pt x="960" y="360"/>
                </a:cubicBezTo>
                <a:cubicBezTo>
                  <a:pt x="1110" y="330"/>
                  <a:pt x="1260" y="240"/>
                  <a:pt x="1320" y="180"/>
                </a:cubicBezTo>
                <a:cubicBezTo>
                  <a:pt x="1380" y="120"/>
                  <a:pt x="1290" y="30"/>
                  <a:pt x="1320" y="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5017" name="Freeform 249"/>
          <p:cNvSpPr>
            <a:spLocks/>
          </p:cNvSpPr>
          <p:nvPr/>
        </p:nvSpPr>
        <p:spPr bwMode="auto">
          <a:xfrm rot="10800000">
            <a:off x="4267200" y="5791200"/>
            <a:ext cx="1524000" cy="609600"/>
          </a:xfrm>
          <a:custGeom>
            <a:avLst/>
            <a:gdLst/>
            <a:ahLst/>
            <a:cxnLst>
              <a:cxn ang="0">
                <a:pos x="60" y="0"/>
              </a:cxn>
              <a:cxn ang="0">
                <a:pos x="60" y="180"/>
              </a:cxn>
              <a:cxn ang="0">
                <a:pos x="420" y="360"/>
              </a:cxn>
              <a:cxn ang="0">
                <a:pos x="960" y="360"/>
              </a:cxn>
              <a:cxn ang="0">
                <a:pos x="1320" y="180"/>
              </a:cxn>
              <a:cxn ang="0">
                <a:pos x="1320" y="0"/>
              </a:cxn>
            </a:cxnLst>
            <a:rect l="0" t="0" r="r" b="b"/>
            <a:pathLst>
              <a:path w="1380" h="390">
                <a:moveTo>
                  <a:pt x="60" y="0"/>
                </a:moveTo>
                <a:cubicBezTo>
                  <a:pt x="30" y="60"/>
                  <a:pt x="0" y="120"/>
                  <a:pt x="60" y="180"/>
                </a:cubicBezTo>
                <a:cubicBezTo>
                  <a:pt x="120" y="240"/>
                  <a:pt x="270" y="330"/>
                  <a:pt x="420" y="360"/>
                </a:cubicBezTo>
                <a:cubicBezTo>
                  <a:pt x="570" y="390"/>
                  <a:pt x="810" y="390"/>
                  <a:pt x="960" y="360"/>
                </a:cubicBezTo>
                <a:cubicBezTo>
                  <a:pt x="1110" y="330"/>
                  <a:pt x="1260" y="240"/>
                  <a:pt x="1320" y="180"/>
                </a:cubicBezTo>
                <a:cubicBezTo>
                  <a:pt x="1380" y="120"/>
                  <a:pt x="1290" y="30"/>
                  <a:pt x="1320" y="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GB"/>
              <a:t>Simplification of SOP expressions using K-map</a:t>
            </a:r>
          </a:p>
        </p:txBody>
      </p:sp>
      <p:sp>
        <p:nvSpPr>
          <p:cNvPr id="546819" name="Rectangle 3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6820" name="Rectangle 4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6821" name="Rectangle 5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6822" name="Rectangle 6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6823" name="Rectangle 7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6824" name="Rectangle 8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6825" name="Rectangle 9"/>
          <p:cNvSpPr>
            <a:spLocks noChangeArrowheads="1"/>
          </p:cNvSpPr>
          <p:nvPr/>
        </p:nvSpPr>
        <p:spPr bwMode="auto">
          <a:xfrm>
            <a:off x="3602038" y="2951163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6826" name="Rectangle 10"/>
          <p:cNvSpPr>
            <a:spLocks noChangeArrowheads="1"/>
          </p:cNvSpPr>
          <p:nvPr/>
        </p:nvSpPr>
        <p:spPr bwMode="auto">
          <a:xfrm>
            <a:off x="3602038" y="2951163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6827" name="Rectangle 11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6828" name="Rectangle 12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6829" name="Rectangle 13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6830" name="Rectangle 14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6831" name="Rectangle 15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6833" name="Rectangle 17"/>
          <p:cNvSpPr>
            <a:spLocks noChangeArrowheads="1"/>
          </p:cNvSpPr>
          <p:nvPr/>
        </p:nvSpPr>
        <p:spPr bwMode="auto">
          <a:xfrm>
            <a:off x="1779588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46834" name="Group 18"/>
          <p:cNvGraphicFramePr>
            <a:graphicFrameLocks noGrp="1"/>
          </p:cNvGraphicFramePr>
          <p:nvPr/>
        </p:nvGraphicFramePr>
        <p:xfrm>
          <a:off x="2362200" y="2743200"/>
          <a:ext cx="4191000" cy="3581401"/>
        </p:xfrm>
        <a:graphic>
          <a:graphicData uri="http://schemas.openxmlformats.org/drawingml/2006/table">
            <a:tbl>
              <a:tblPr/>
              <a:tblGrid>
                <a:gridCol w="1112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9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46872" name="Oval 56"/>
          <p:cNvSpPr>
            <a:spLocks noChangeArrowheads="1"/>
          </p:cNvSpPr>
          <p:nvPr/>
        </p:nvSpPr>
        <p:spPr bwMode="auto">
          <a:xfrm>
            <a:off x="5105400" y="3581400"/>
            <a:ext cx="609600" cy="2667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6873" name="Oval 57"/>
          <p:cNvSpPr>
            <a:spLocks noChangeArrowheads="1"/>
          </p:cNvSpPr>
          <p:nvPr/>
        </p:nvSpPr>
        <p:spPr bwMode="auto">
          <a:xfrm>
            <a:off x="4876800" y="4267200"/>
            <a:ext cx="1752600" cy="13716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6877" name="Rectangle 61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46876" name="Object 60"/>
          <p:cNvGraphicFramePr>
            <a:graphicFrameLocks noChangeAspect="1"/>
          </p:cNvGraphicFramePr>
          <p:nvPr/>
        </p:nvGraphicFramePr>
        <p:xfrm>
          <a:off x="1219200" y="1905000"/>
          <a:ext cx="2833688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55600" imgH="215640" progId="Equation.3">
                  <p:embed/>
                </p:oleObj>
              </mc:Choice>
              <mc:Fallback>
                <p:oleObj name="Equation" r:id="rId3" imgW="1155600" imgH="215640" progId="Equation.3">
                  <p:embed/>
                  <p:pic>
                    <p:nvPicPr>
                      <p:cNvPr id="0" name="Picture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905000"/>
                        <a:ext cx="2833688" cy="538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6878" name="Oval 62"/>
          <p:cNvSpPr>
            <a:spLocks noChangeArrowheads="1"/>
          </p:cNvSpPr>
          <p:nvPr/>
        </p:nvSpPr>
        <p:spPr bwMode="auto">
          <a:xfrm>
            <a:off x="3581400" y="4953000"/>
            <a:ext cx="533400" cy="13716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GB"/>
              <a:t>Simplification of SOP expressions using K-map</a:t>
            </a:r>
          </a:p>
        </p:txBody>
      </p:sp>
      <p:sp>
        <p:nvSpPr>
          <p:cNvPr id="548867" name="Rectangle 3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8868" name="Rectangle 4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8869" name="Rectangle 5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8870" name="Rectangle 6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8871" name="Rectangle 7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8872" name="Rectangle 8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8873" name="Rectangle 9"/>
          <p:cNvSpPr>
            <a:spLocks noChangeArrowheads="1"/>
          </p:cNvSpPr>
          <p:nvPr/>
        </p:nvSpPr>
        <p:spPr bwMode="auto">
          <a:xfrm>
            <a:off x="3602038" y="2951163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8874" name="Rectangle 10"/>
          <p:cNvSpPr>
            <a:spLocks noChangeArrowheads="1"/>
          </p:cNvSpPr>
          <p:nvPr/>
        </p:nvSpPr>
        <p:spPr bwMode="auto">
          <a:xfrm>
            <a:off x="3602038" y="2951163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8875" name="Rectangle 11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8876" name="Rectangle 12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8877" name="Rectangle 13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8878" name="Rectangle 14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8879" name="Rectangle 15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8880" name="Rectangle 16"/>
          <p:cNvSpPr>
            <a:spLocks noChangeArrowheads="1"/>
          </p:cNvSpPr>
          <p:nvPr/>
        </p:nvSpPr>
        <p:spPr bwMode="auto">
          <a:xfrm>
            <a:off x="1779588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48881" name="Group 17"/>
          <p:cNvGraphicFramePr>
            <a:graphicFrameLocks noGrp="1"/>
          </p:cNvGraphicFramePr>
          <p:nvPr/>
        </p:nvGraphicFramePr>
        <p:xfrm>
          <a:off x="2362200" y="2743200"/>
          <a:ext cx="4191000" cy="3581401"/>
        </p:xfrm>
        <a:graphic>
          <a:graphicData uri="http://schemas.openxmlformats.org/drawingml/2006/table">
            <a:tbl>
              <a:tblPr/>
              <a:tblGrid>
                <a:gridCol w="1112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9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48919" name="Oval 55"/>
          <p:cNvSpPr>
            <a:spLocks noChangeArrowheads="1"/>
          </p:cNvSpPr>
          <p:nvPr/>
        </p:nvSpPr>
        <p:spPr bwMode="auto">
          <a:xfrm>
            <a:off x="5867400" y="3581400"/>
            <a:ext cx="609600" cy="12954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8921" name="Rectangle 57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8923" name="Oval 59"/>
          <p:cNvSpPr>
            <a:spLocks noChangeArrowheads="1"/>
          </p:cNvSpPr>
          <p:nvPr/>
        </p:nvSpPr>
        <p:spPr bwMode="auto">
          <a:xfrm>
            <a:off x="4267200" y="5029200"/>
            <a:ext cx="1524000" cy="5334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8925" name="Rectangle 61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48924" name="Object 60"/>
          <p:cNvGraphicFramePr>
            <a:graphicFrameLocks noChangeAspect="1"/>
          </p:cNvGraphicFramePr>
          <p:nvPr/>
        </p:nvGraphicFramePr>
        <p:xfrm>
          <a:off x="1219200" y="1905000"/>
          <a:ext cx="4059238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51000" imgH="215900" progId="Equation.3">
                  <p:embed/>
                </p:oleObj>
              </mc:Choice>
              <mc:Fallback>
                <p:oleObj name="Equation" r:id="rId3" imgW="1651000" imgH="215900" progId="Equation.3">
                  <p:embed/>
                  <p:pic>
                    <p:nvPicPr>
                      <p:cNvPr id="0" name="Picture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905000"/>
                        <a:ext cx="4059238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8926" name="Freeform 62"/>
          <p:cNvSpPr>
            <a:spLocks/>
          </p:cNvSpPr>
          <p:nvPr/>
        </p:nvSpPr>
        <p:spPr bwMode="auto">
          <a:xfrm rot="-1205162">
            <a:off x="3505200" y="3657600"/>
            <a:ext cx="512763" cy="541338"/>
          </a:xfrm>
          <a:custGeom>
            <a:avLst/>
            <a:gdLst/>
            <a:ahLst/>
            <a:cxnLst>
              <a:cxn ang="0">
                <a:pos x="720" y="0"/>
              </a:cxn>
              <a:cxn ang="0">
                <a:pos x="540" y="540"/>
              </a:cxn>
              <a:cxn ang="0">
                <a:pos x="0" y="180"/>
              </a:cxn>
            </a:cxnLst>
            <a:rect l="0" t="0" r="r" b="b"/>
            <a:pathLst>
              <a:path w="720" h="570">
                <a:moveTo>
                  <a:pt x="720" y="0"/>
                </a:moveTo>
                <a:cubicBezTo>
                  <a:pt x="690" y="255"/>
                  <a:pt x="660" y="510"/>
                  <a:pt x="540" y="540"/>
                </a:cubicBezTo>
                <a:cubicBezTo>
                  <a:pt x="420" y="570"/>
                  <a:pt x="210" y="375"/>
                  <a:pt x="0" y="18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8927" name="Freeform 63"/>
          <p:cNvSpPr>
            <a:spLocks/>
          </p:cNvSpPr>
          <p:nvPr/>
        </p:nvSpPr>
        <p:spPr bwMode="auto">
          <a:xfrm rot="34382644">
            <a:off x="3657600" y="5715000"/>
            <a:ext cx="512763" cy="541338"/>
          </a:xfrm>
          <a:custGeom>
            <a:avLst/>
            <a:gdLst/>
            <a:ahLst/>
            <a:cxnLst>
              <a:cxn ang="0">
                <a:pos x="720" y="0"/>
              </a:cxn>
              <a:cxn ang="0">
                <a:pos x="540" y="540"/>
              </a:cxn>
              <a:cxn ang="0">
                <a:pos x="0" y="180"/>
              </a:cxn>
            </a:cxnLst>
            <a:rect l="0" t="0" r="r" b="b"/>
            <a:pathLst>
              <a:path w="720" h="570">
                <a:moveTo>
                  <a:pt x="720" y="0"/>
                </a:moveTo>
                <a:cubicBezTo>
                  <a:pt x="690" y="255"/>
                  <a:pt x="660" y="510"/>
                  <a:pt x="540" y="540"/>
                </a:cubicBezTo>
                <a:cubicBezTo>
                  <a:pt x="420" y="570"/>
                  <a:pt x="210" y="375"/>
                  <a:pt x="0" y="18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8928" name="Freeform 64"/>
          <p:cNvSpPr>
            <a:spLocks/>
          </p:cNvSpPr>
          <p:nvPr/>
        </p:nvSpPr>
        <p:spPr bwMode="auto">
          <a:xfrm rot="3191743">
            <a:off x="5881687" y="3643313"/>
            <a:ext cx="512763" cy="541338"/>
          </a:xfrm>
          <a:custGeom>
            <a:avLst/>
            <a:gdLst/>
            <a:ahLst/>
            <a:cxnLst>
              <a:cxn ang="0">
                <a:pos x="720" y="0"/>
              </a:cxn>
              <a:cxn ang="0">
                <a:pos x="540" y="540"/>
              </a:cxn>
              <a:cxn ang="0">
                <a:pos x="0" y="180"/>
              </a:cxn>
            </a:cxnLst>
            <a:rect l="0" t="0" r="r" b="b"/>
            <a:pathLst>
              <a:path w="720" h="570">
                <a:moveTo>
                  <a:pt x="720" y="0"/>
                </a:moveTo>
                <a:cubicBezTo>
                  <a:pt x="690" y="255"/>
                  <a:pt x="660" y="510"/>
                  <a:pt x="540" y="540"/>
                </a:cubicBezTo>
                <a:cubicBezTo>
                  <a:pt x="420" y="570"/>
                  <a:pt x="210" y="375"/>
                  <a:pt x="0" y="18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8929" name="Freeform 65"/>
          <p:cNvSpPr>
            <a:spLocks/>
          </p:cNvSpPr>
          <p:nvPr/>
        </p:nvSpPr>
        <p:spPr bwMode="auto">
          <a:xfrm rot="8802065">
            <a:off x="5943600" y="5638800"/>
            <a:ext cx="512763" cy="541338"/>
          </a:xfrm>
          <a:custGeom>
            <a:avLst/>
            <a:gdLst/>
            <a:ahLst/>
            <a:cxnLst>
              <a:cxn ang="0">
                <a:pos x="720" y="0"/>
              </a:cxn>
              <a:cxn ang="0">
                <a:pos x="540" y="540"/>
              </a:cxn>
              <a:cxn ang="0">
                <a:pos x="0" y="180"/>
              </a:cxn>
            </a:cxnLst>
            <a:rect l="0" t="0" r="r" b="b"/>
            <a:pathLst>
              <a:path w="720" h="570">
                <a:moveTo>
                  <a:pt x="720" y="0"/>
                </a:moveTo>
                <a:cubicBezTo>
                  <a:pt x="690" y="255"/>
                  <a:pt x="660" y="510"/>
                  <a:pt x="540" y="540"/>
                </a:cubicBezTo>
                <a:cubicBezTo>
                  <a:pt x="420" y="570"/>
                  <a:pt x="210" y="375"/>
                  <a:pt x="0" y="18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8930" name="Freeform 66"/>
          <p:cNvSpPr>
            <a:spLocks/>
          </p:cNvSpPr>
          <p:nvPr/>
        </p:nvSpPr>
        <p:spPr bwMode="auto">
          <a:xfrm>
            <a:off x="5029200" y="3581400"/>
            <a:ext cx="1447800" cy="609600"/>
          </a:xfrm>
          <a:custGeom>
            <a:avLst/>
            <a:gdLst/>
            <a:ahLst/>
            <a:cxnLst>
              <a:cxn ang="0">
                <a:pos x="60" y="0"/>
              </a:cxn>
              <a:cxn ang="0">
                <a:pos x="60" y="180"/>
              </a:cxn>
              <a:cxn ang="0">
                <a:pos x="420" y="360"/>
              </a:cxn>
              <a:cxn ang="0">
                <a:pos x="960" y="360"/>
              </a:cxn>
              <a:cxn ang="0">
                <a:pos x="1320" y="180"/>
              </a:cxn>
              <a:cxn ang="0">
                <a:pos x="1320" y="0"/>
              </a:cxn>
            </a:cxnLst>
            <a:rect l="0" t="0" r="r" b="b"/>
            <a:pathLst>
              <a:path w="1380" h="390">
                <a:moveTo>
                  <a:pt x="60" y="0"/>
                </a:moveTo>
                <a:cubicBezTo>
                  <a:pt x="30" y="60"/>
                  <a:pt x="0" y="120"/>
                  <a:pt x="60" y="180"/>
                </a:cubicBezTo>
                <a:cubicBezTo>
                  <a:pt x="120" y="240"/>
                  <a:pt x="270" y="330"/>
                  <a:pt x="420" y="360"/>
                </a:cubicBezTo>
                <a:cubicBezTo>
                  <a:pt x="570" y="390"/>
                  <a:pt x="810" y="390"/>
                  <a:pt x="960" y="360"/>
                </a:cubicBezTo>
                <a:cubicBezTo>
                  <a:pt x="1110" y="330"/>
                  <a:pt x="1260" y="240"/>
                  <a:pt x="1320" y="180"/>
                </a:cubicBezTo>
                <a:cubicBezTo>
                  <a:pt x="1380" y="120"/>
                  <a:pt x="1290" y="30"/>
                  <a:pt x="1320" y="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8931" name="Freeform 67"/>
          <p:cNvSpPr>
            <a:spLocks/>
          </p:cNvSpPr>
          <p:nvPr/>
        </p:nvSpPr>
        <p:spPr bwMode="auto">
          <a:xfrm rot="10800000">
            <a:off x="5029200" y="5638800"/>
            <a:ext cx="1447800" cy="609600"/>
          </a:xfrm>
          <a:custGeom>
            <a:avLst/>
            <a:gdLst/>
            <a:ahLst/>
            <a:cxnLst>
              <a:cxn ang="0">
                <a:pos x="60" y="0"/>
              </a:cxn>
              <a:cxn ang="0">
                <a:pos x="60" y="180"/>
              </a:cxn>
              <a:cxn ang="0">
                <a:pos x="420" y="360"/>
              </a:cxn>
              <a:cxn ang="0">
                <a:pos x="960" y="360"/>
              </a:cxn>
              <a:cxn ang="0">
                <a:pos x="1320" y="180"/>
              </a:cxn>
              <a:cxn ang="0">
                <a:pos x="1320" y="0"/>
              </a:cxn>
            </a:cxnLst>
            <a:rect l="0" t="0" r="r" b="b"/>
            <a:pathLst>
              <a:path w="1380" h="390">
                <a:moveTo>
                  <a:pt x="60" y="0"/>
                </a:moveTo>
                <a:cubicBezTo>
                  <a:pt x="30" y="60"/>
                  <a:pt x="0" y="120"/>
                  <a:pt x="60" y="180"/>
                </a:cubicBezTo>
                <a:cubicBezTo>
                  <a:pt x="120" y="240"/>
                  <a:pt x="270" y="330"/>
                  <a:pt x="420" y="360"/>
                </a:cubicBezTo>
                <a:cubicBezTo>
                  <a:pt x="570" y="390"/>
                  <a:pt x="810" y="390"/>
                  <a:pt x="960" y="360"/>
                </a:cubicBezTo>
                <a:cubicBezTo>
                  <a:pt x="1110" y="330"/>
                  <a:pt x="1260" y="240"/>
                  <a:pt x="1320" y="180"/>
                </a:cubicBezTo>
                <a:cubicBezTo>
                  <a:pt x="1380" y="120"/>
                  <a:pt x="1290" y="30"/>
                  <a:pt x="1320" y="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4100"/>
              <a:t>Mapping Directly from Function Table </a:t>
            </a:r>
          </a:p>
        </p:txBody>
      </p:sp>
      <p:sp>
        <p:nvSpPr>
          <p:cNvPr id="550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Function of a logic circuit defined by function table</a:t>
            </a:r>
          </a:p>
          <a:p>
            <a:r>
              <a:rPr lang="en-GB"/>
              <a:t>Function can be directly mapped to K-map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940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4100"/>
              <a:t>Mapping Directly from Function Table </a:t>
            </a:r>
          </a:p>
        </p:txBody>
      </p:sp>
      <p:graphicFrame>
        <p:nvGraphicFramePr>
          <p:cNvPr id="552658" name="Group 722"/>
          <p:cNvGraphicFramePr>
            <a:graphicFrameLocks noGrp="1"/>
          </p:cNvGraphicFramePr>
          <p:nvPr>
            <p:ph sz="half" idx="1"/>
          </p:nvPr>
        </p:nvGraphicFramePr>
        <p:xfrm>
          <a:off x="457200" y="2209800"/>
          <a:ext cx="4038600" cy="405574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425">
                <a:tc gridSpan="4"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Inputs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Output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552665" name="Group 729"/>
          <p:cNvGraphicFramePr>
            <a:graphicFrameLocks noGrp="1"/>
          </p:cNvGraphicFramePr>
          <p:nvPr>
            <p:ph sz="half" idx="2"/>
          </p:nvPr>
        </p:nvGraphicFramePr>
        <p:xfrm>
          <a:off x="4648200" y="2209800"/>
          <a:ext cx="4038600" cy="404558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425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Inputs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Output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012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4100"/>
              <a:t>Mapping Directly from Function Table </a:t>
            </a:r>
          </a:p>
        </p:txBody>
      </p:sp>
      <p:sp>
        <p:nvSpPr>
          <p:cNvPr id="555026" name="Rectangle 18"/>
          <p:cNvSpPr>
            <a:spLocks noChangeArrowheads="1"/>
          </p:cNvSpPr>
          <p:nvPr/>
        </p:nvSpPr>
        <p:spPr bwMode="auto">
          <a:xfrm>
            <a:off x="1781175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55176" name="Group 168"/>
          <p:cNvGraphicFramePr>
            <a:graphicFrameLocks noGrp="1"/>
          </p:cNvGraphicFramePr>
          <p:nvPr/>
        </p:nvGraphicFramePr>
        <p:xfrm>
          <a:off x="2667000" y="2590800"/>
          <a:ext cx="4114800" cy="3124202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9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rgbClr val="999999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55013" name="Oval 5"/>
          <p:cNvSpPr>
            <a:spLocks noChangeArrowheads="1"/>
          </p:cNvSpPr>
          <p:nvPr/>
        </p:nvSpPr>
        <p:spPr bwMode="auto">
          <a:xfrm>
            <a:off x="4419600" y="3429000"/>
            <a:ext cx="1524000" cy="10668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5177" name="Oval 169"/>
          <p:cNvSpPr>
            <a:spLocks noChangeArrowheads="1"/>
          </p:cNvSpPr>
          <p:nvPr/>
        </p:nvSpPr>
        <p:spPr bwMode="auto">
          <a:xfrm>
            <a:off x="4572000" y="3962400"/>
            <a:ext cx="533400" cy="10668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5178" name="Freeform 170"/>
          <p:cNvSpPr>
            <a:spLocks/>
          </p:cNvSpPr>
          <p:nvPr/>
        </p:nvSpPr>
        <p:spPr bwMode="auto">
          <a:xfrm>
            <a:off x="5334000" y="3429000"/>
            <a:ext cx="457200" cy="457200"/>
          </a:xfrm>
          <a:custGeom>
            <a:avLst/>
            <a:gdLst/>
            <a:ahLst/>
            <a:cxnLst>
              <a:cxn ang="0">
                <a:pos x="30" y="0"/>
              </a:cxn>
              <a:cxn ang="0">
                <a:pos x="30" y="180"/>
              </a:cxn>
              <a:cxn ang="0">
                <a:pos x="210" y="360"/>
              </a:cxn>
              <a:cxn ang="0">
                <a:pos x="390" y="180"/>
              </a:cxn>
              <a:cxn ang="0">
                <a:pos x="390" y="0"/>
              </a:cxn>
            </a:cxnLst>
            <a:rect l="0" t="0" r="r" b="b"/>
            <a:pathLst>
              <a:path w="420" h="360">
                <a:moveTo>
                  <a:pt x="30" y="0"/>
                </a:moveTo>
                <a:cubicBezTo>
                  <a:pt x="15" y="60"/>
                  <a:pt x="0" y="120"/>
                  <a:pt x="30" y="180"/>
                </a:cubicBezTo>
                <a:cubicBezTo>
                  <a:pt x="60" y="240"/>
                  <a:pt x="150" y="360"/>
                  <a:pt x="210" y="360"/>
                </a:cubicBezTo>
                <a:cubicBezTo>
                  <a:pt x="270" y="360"/>
                  <a:pt x="360" y="240"/>
                  <a:pt x="390" y="180"/>
                </a:cubicBezTo>
                <a:cubicBezTo>
                  <a:pt x="420" y="120"/>
                  <a:pt x="405" y="60"/>
                  <a:pt x="390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5179" name="Freeform 171"/>
          <p:cNvSpPr>
            <a:spLocks/>
          </p:cNvSpPr>
          <p:nvPr/>
        </p:nvSpPr>
        <p:spPr bwMode="auto">
          <a:xfrm rot="10800000">
            <a:off x="5410200" y="5181600"/>
            <a:ext cx="457200" cy="457200"/>
          </a:xfrm>
          <a:custGeom>
            <a:avLst/>
            <a:gdLst/>
            <a:ahLst/>
            <a:cxnLst>
              <a:cxn ang="0">
                <a:pos x="30" y="0"/>
              </a:cxn>
              <a:cxn ang="0">
                <a:pos x="30" y="180"/>
              </a:cxn>
              <a:cxn ang="0">
                <a:pos x="210" y="360"/>
              </a:cxn>
              <a:cxn ang="0">
                <a:pos x="390" y="180"/>
              </a:cxn>
              <a:cxn ang="0">
                <a:pos x="390" y="0"/>
              </a:cxn>
            </a:cxnLst>
            <a:rect l="0" t="0" r="r" b="b"/>
            <a:pathLst>
              <a:path w="420" h="360">
                <a:moveTo>
                  <a:pt x="30" y="0"/>
                </a:moveTo>
                <a:cubicBezTo>
                  <a:pt x="15" y="60"/>
                  <a:pt x="0" y="120"/>
                  <a:pt x="30" y="180"/>
                </a:cubicBezTo>
                <a:cubicBezTo>
                  <a:pt x="60" y="240"/>
                  <a:pt x="150" y="360"/>
                  <a:pt x="210" y="360"/>
                </a:cubicBezTo>
                <a:cubicBezTo>
                  <a:pt x="270" y="360"/>
                  <a:pt x="360" y="240"/>
                  <a:pt x="390" y="180"/>
                </a:cubicBezTo>
                <a:cubicBezTo>
                  <a:pt x="420" y="120"/>
                  <a:pt x="405" y="60"/>
                  <a:pt x="390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5181" name="Rectangle 173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55180" name="Object 172"/>
          <p:cNvGraphicFramePr>
            <a:graphicFrameLocks noChangeAspect="1"/>
          </p:cNvGraphicFramePr>
          <p:nvPr/>
        </p:nvGraphicFramePr>
        <p:xfrm>
          <a:off x="838200" y="1828800"/>
          <a:ext cx="31178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69449" imgH="215806" progId="Equation.3">
                  <p:embed/>
                </p:oleObj>
              </mc:Choice>
              <mc:Fallback>
                <p:oleObj name="Equation" r:id="rId3" imgW="1269449" imgH="215806" progId="Equation.3">
                  <p:embed/>
                  <p:pic>
                    <p:nvPicPr>
                      <p:cNvPr id="0" name="Picture 1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828800"/>
                        <a:ext cx="311785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Don’t care Conditions</a:t>
            </a:r>
          </a:p>
        </p:txBody>
      </p:sp>
      <p:sp>
        <p:nvSpPr>
          <p:cNvPr id="558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Some input combinations never occur</a:t>
            </a:r>
          </a:p>
          <a:p>
            <a:r>
              <a:rPr lang="en-GB"/>
              <a:t>Outputs are assumed to be don’t care</a:t>
            </a:r>
          </a:p>
          <a:p>
            <a:r>
              <a:rPr lang="en-GB"/>
              <a:t>Don’t care outputs used as 0 or 1 during simplification.</a:t>
            </a:r>
          </a:p>
          <a:p>
            <a:r>
              <a:rPr lang="en-GB"/>
              <a:t>Results in simpler and shorter expressions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4100"/>
              <a:t>Don’t Care Conditions</a:t>
            </a:r>
          </a:p>
        </p:txBody>
      </p:sp>
      <p:graphicFrame>
        <p:nvGraphicFramePr>
          <p:cNvPr id="559107" name="Group 3"/>
          <p:cNvGraphicFramePr>
            <a:graphicFrameLocks noGrp="1"/>
          </p:cNvGraphicFramePr>
          <p:nvPr>
            <p:ph sz="half" idx="1"/>
          </p:nvPr>
        </p:nvGraphicFramePr>
        <p:xfrm>
          <a:off x="457200" y="2209800"/>
          <a:ext cx="4038600" cy="405574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425">
                <a:tc gridSpan="4"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Inputs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Output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559172" name="Group 68"/>
          <p:cNvGraphicFramePr>
            <a:graphicFrameLocks noGrp="1"/>
          </p:cNvGraphicFramePr>
          <p:nvPr>
            <p:ph sz="half" idx="2"/>
          </p:nvPr>
        </p:nvGraphicFramePr>
        <p:xfrm>
          <a:off x="4648200" y="2209800"/>
          <a:ext cx="4038600" cy="404558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425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Inputs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Output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4100"/>
              <a:t>Don’t Care Conditions </a:t>
            </a:r>
          </a:p>
        </p:txBody>
      </p:sp>
      <p:sp>
        <p:nvSpPr>
          <p:cNvPr id="561155" name="Rectangle 3"/>
          <p:cNvSpPr>
            <a:spLocks noChangeArrowheads="1"/>
          </p:cNvSpPr>
          <p:nvPr/>
        </p:nvSpPr>
        <p:spPr bwMode="auto">
          <a:xfrm>
            <a:off x="1781175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61156" name="Group 4"/>
          <p:cNvGraphicFramePr>
            <a:graphicFrameLocks noGrp="1"/>
          </p:cNvGraphicFramePr>
          <p:nvPr/>
        </p:nvGraphicFramePr>
        <p:xfrm>
          <a:off x="2667000" y="2590800"/>
          <a:ext cx="4114800" cy="3124202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9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rgbClr val="999999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61194" name="Oval 42"/>
          <p:cNvSpPr>
            <a:spLocks noChangeArrowheads="1"/>
          </p:cNvSpPr>
          <p:nvPr/>
        </p:nvSpPr>
        <p:spPr bwMode="auto">
          <a:xfrm>
            <a:off x="4419600" y="3429000"/>
            <a:ext cx="1524000" cy="10668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1198" name="Rectangle 46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61199" name="Object 47"/>
          <p:cNvGraphicFramePr>
            <a:graphicFrameLocks noChangeAspect="1"/>
          </p:cNvGraphicFramePr>
          <p:nvPr/>
        </p:nvGraphicFramePr>
        <p:xfrm>
          <a:off x="2054225" y="1828800"/>
          <a:ext cx="6858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9360" imgH="215640" progId="Equation.3">
                  <p:embed/>
                </p:oleObj>
              </mc:Choice>
              <mc:Fallback>
                <p:oleObj name="Equation" r:id="rId3" imgW="279360" imgH="215640" progId="Equation.3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4225" y="1828800"/>
                        <a:ext cx="68580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0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4100"/>
              <a:t>Don’t Care Conditions </a:t>
            </a:r>
          </a:p>
        </p:txBody>
      </p:sp>
      <p:sp>
        <p:nvSpPr>
          <p:cNvPr id="563203" name="Rectangle 3"/>
          <p:cNvSpPr>
            <a:spLocks noChangeArrowheads="1"/>
          </p:cNvSpPr>
          <p:nvPr/>
        </p:nvSpPr>
        <p:spPr bwMode="auto">
          <a:xfrm>
            <a:off x="1781175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63204" name="Group 4"/>
          <p:cNvGraphicFramePr>
            <a:graphicFrameLocks noGrp="1"/>
          </p:cNvGraphicFramePr>
          <p:nvPr/>
        </p:nvGraphicFramePr>
        <p:xfrm>
          <a:off x="2667000" y="2590800"/>
          <a:ext cx="4114800" cy="3124202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9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rgbClr val="999999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63242" name="Oval 42"/>
          <p:cNvSpPr>
            <a:spLocks noChangeArrowheads="1"/>
          </p:cNvSpPr>
          <p:nvPr/>
        </p:nvSpPr>
        <p:spPr bwMode="auto">
          <a:xfrm>
            <a:off x="4419600" y="3352800"/>
            <a:ext cx="1524000" cy="24384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243" name="Rectangle 43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63244" name="Object 44"/>
          <p:cNvGraphicFramePr>
            <a:graphicFrameLocks noChangeAspect="1"/>
          </p:cNvGraphicFramePr>
          <p:nvPr/>
        </p:nvGraphicFramePr>
        <p:xfrm>
          <a:off x="2209800" y="1892300"/>
          <a:ext cx="37306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80" imgH="164880" progId="Equation.3">
                  <p:embed/>
                </p:oleObj>
              </mc:Choice>
              <mc:Fallback>
                <p:oleObj name="Equation" r:id="rId3" imgW="152280" imgH="164880" progId="Equation.3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892300"/>
                        <a:ext cx="373063" cy="41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15455</TotalTime>
  <Words>3392</Words>
  <Application>Microsoft Office PowerPoint</Application>
  <PresentationFormat>On-screen Show (4:3)</PresentationFormat>
  <Paragraphs>887</Paragraphs>
  <Slides>35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Wingdings</vt:lpstr>
      <vt:lpstr>Office Theme</vt:lpstr>
      <vt:lpstr>Equation</vt:lpstr>
      <vt:lpstr>Digital Logic and Design</vt:lpstr>
      <vt:lpstr>Recap</vt:lpstr>
      <vt:lpstr>Recap</vt:lpstr>
      <vt:lpstr>Karnaugh Map</vt:lpstr>
      <vt:lpstr>3-Variable K-map</vt:lpstr>
      <vt:lpstr>4-Variable K-map</vt:lpstr>
      <vt:lpstr>Grouping &amp; Adjacent Cells</vt:lpstr>
      <vt:lpstr>Mapping of Standard SOP expression</vt:lpstr>
      <vt:lpstr>Mapping of Standard SOP expression</vt:lpstr>
      <vt:lpstr>PowerPoint Presentation</vt:lpstr>
      <vt:lpstr>Mapping of Standard SOP expression</vt:lpstr>
      <vt:lpstr>PowerPoint Presentation</vt:lpstr>
      <vt:lpstr>Mapping of Non-Standard SOP expression</vt:lpstr>
      <vt:lpstr>Mapping of Non-Standard SOP expression</vt:lpstr>
      <vt:lpstr>PowerPoint Presentation</vt:lpstr>
      <vt:lpstr>Mapping of Non-Standard SOP expression</vt:lpstr>
      <vt:lpstr>PowerPoint Presentation</vt:lpstr>
      <vt:lpstr>Mapping of Non-Standard SOP expression</vt:lpstr>
      <vt:lpstr>Mapping of Non-Standard SOP expression</vt:lpstr>
      <vt:lpstr>Mapping of Non-Standard SOP expression</vt:lpstr>
      <vt:lpstr>PowerPoint Presentation</vt:lpstr>
      <vt:lpstr>Simplification of SOP expressions using K-map</vt:lpstr>
      <vt:lpstr>Simplification of SOP expressions using K-map</vt:lpstr>
      <vt:lpstr>Simplification of SOP expressions using K-map</vt:lpstr>
      <vt:lpstr>Simplification of SOP expressions using K-map</vt:lpstr>
      <vt:lpstr>Simplification of SOP expressions using K-map</vt:lpstr>
      <vt:lpstr>Simplification of SOP expressions using K-map</vt:lpstr>
      <vt:lpstr>Simplification of SOP expressions using K-map</vt:lpstr>
      <vt:lpstr>Mapping Directly from Function Table </vt:lpstr>
      <vt:lpstr>Mapping Directly from Function Table </vt:lpstr>
      <vt:lpstr>Mapping Directly from Function Table </vt:lpstr>
      <vt:lpstr>Don’t care Conditions</vt:lpstr>
      <vt:lpstr>Don’t Care Conditions</vt:lpstr>
      <vt:lpstr>Don’t Care Conditions </vt:lpstr>
      <vt:lpstr>Don’t Care Conditions </vt:lpstr>
    </vt:vector>
  </TitlesOfParts>
  <Company>NU_FAST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No. 1</dc:title>
  <dc:creator>waseem</dc:creator>
  <cp:lastModifiedBy>Mirza Waqar Baig</cp:lastModifiedBy>
  <cp:revision>482</cp:revision>
  <dcterms:created xsi:type="dcterms:W3CDTF">2003-07-15T08:28:34Z</dcterms:created>
  <dcterms:modified xsi:type="dcterms:W3CDTF">2021-10-08T06:49:48Z</dcterms:modified>
</cp:coreProperties>
</file>