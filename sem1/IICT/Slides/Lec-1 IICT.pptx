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63" r:id="rId2"/>
    <p:sldId id="256" r:id="rId3"/>
    <p:sldId id="293" r:id="rId4"/>
    <p:sldId id="257" r:id="rId5"/>
    <p:sldId id="287" r:id="rId6"/>
    <p:sldId id="294" r:id="rId7"/>
    <p:sldId id="288" r:id="rId8"/>
    <p:sldId id="289" r:id="rId9"/>
    <p:sldId id="290" r:id="rId10"/>
    <p:sldId id="291" r:id="rId11"/>
    <p:sldId id="292" r:id="rId12"/>
    <p:sldId id="259" r:id="rId13"/>
    <p:sldId id="260" r:id="rId14"/>
    <p:sldId id="261" r:id="rId15"/>
    <p:sldId id="265" r:id="rId16"/>
    <p:sldId id="295" r:id="rId17"/>
    <p:sldId id="269" r:id="rId18"/>
    <p:sldId id="270" r:id="rId19"/>
    <p:sldId id="271" r:id="rId20"/>
    <p:sldId id="273" r:id="rId21"/>
    <p:sldId id="281" r:id="rId22"/>
    <p:sldId id="280" r:id="rId23"/>
    <p:sldId id="298" r:id="rId24"/>
    <p:sldId id="299" r:id="rId25"/>
    <p:sldId id="300" r:id="rId26"/>
    <p:sldId id="296" r:id="rId27"/>
    <p:sldId id="297" r:id="rId28"/>
    <p:sldId id="274" r:id="rId29"/>
    <p:sldId id="275" r:id="rId30"/>
    <p:sldId id="276" r:id="rId31"/>
    <p:sldId id="277" r:id="rId32"/>
    <p:sldId id="278" r:id="rId33"/>
    <p:sldId id="279" r:id="rId34"/>
    <p:sldId id="282" r:id="rId35"/>
    <p:sldId id="283" r:id="rId36"/>
    <p:sldId id="284" r:id="rId37"/>
    <p:sldId id="285" r:id="rId38"/>
    <p:sldId id="262" r:id="rId39"/>
    <p:sldId id="28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69323-570B-4514-930F-62E85A2973E4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665F4-0280-4898-BC7D-E6BA760D8B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7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Any other example in your mind</a:t>
            </a: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9B348853-5212-4F2C-A7CC-F8F7AED73F2E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615420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 As I</a:t>
            </a:r>
            <a:r>
              <a:rPr lang="en-US" baseline="0" dirty="0"/>
              <a:t> am delivering lecture using computer, FAST </a:t>
            </a:r>
            <a:r>
              <a:rPr lang="en-US" baseline="0" dirty="0" err="1"/>
              <a:t>Uni</a:t>
            </a:r>
            <a:r>
              <a:rPr lang="en-US" baseline="0" dirty="0"/>
              <a:t> online test. Flex system, attendance management and evaluation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665F4-0280-4898-BC7D-E6BA760D8B7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82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665F4-0280-4898-BC7D-E6BA760D8B7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Intelligence quotient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665F4-0280-4898-BC7D-E6BA760D8B78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74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But we have a choice.</a:t>
            </a: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B7D74D96-60C2-47B4-95FC-8D612759E7DC}" type="slidenum">
              <a:rPr lang="en-US" altLang="en-US" sz="1200" smtClean="0"/>
              <a:pPr/>
              <a:t>38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053274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1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6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5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98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44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59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9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40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47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2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14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5CB43-9177-4F15-8891-C6DBEE17578A}" type="datetimeFigureOut">
              <a:rPr lang="en-US" smtClean="0"/>
              <a:pPr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D9D07-4F13-4760-8D6F-76721988DE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1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800" dirty="0"/>
              <a:t> Ms. Marwa Khan</a:t>
            </a:r>
          </a:p>
          <a:p>
            <a:pPr lvl="1"/>
            <a:r>
              <a:rPr lang="en-US" sz="2800" dirty="0"/>
              <a:t> Email-ID: Marwa.khan@nu.edu.pk</a:t>
            </a:r>
          </a:p>
          <a:p>
            <a:pPr lvl="1"/>
            <a:r>
              <a:rPr lang="en-US" sz="2800" spc="10" dirty="0">
                <a:cs typeface="Arial"/>
              </a:rPr>
              <a:t> Class</a:t>
            </a:r>
            <a:r>
              <a:rPr lang="en-US" sz="2800" spc="-100" dirty="0">
                <a:cs typeface="Arial"/>
              </a:rPr>
              <a:t> </a:t>
            </a:r>
            <a:r>
              <a:rPr lang="en-US" sz="2800" dirty="0">
                <a:cs typeface="Arial"/>
              </a:rPr>
              <a:t>Timings: 1:00pm – 4:00pm</a:t>
            </a:r>
            <a:endParaRPr lang="en-US" sz="2800" spc="5" dirty="0">
              <a:cs typeface="Arial"/>
            </a:endParaRPr>
          </a:p>
          <a:p>
            <a:pPr lvl="1"/>
            <a:r>
              <a:rPr lang="en-US" sz="2800" spc="15" dirty="0">
                <a:cs typeface="Arial"/>
              </a:rPr>
              <a:t> Grading: Absolute</a:t>
            </a:r>
          </a:p>
          <a:p>
            <a:pPr lvl="1"/>
            <a:r>
              <a:rPr lang="en-US" sz="2800" spc="15" dirty="0">
                <a:cs typeface="Arial"/>
              </a:rPr>
              <a:t> Attendance: 80%</a:t>
            </a:r>
          </a:p>
          <a:p>
            <a:pPr lvl="1"/>
            <a:r>
              <a:rPr lang="en-US" sz="2800" spc="15" dirty="0">
                <a:cs typeface="Arial"/>
              </a:rPr>
              <a:t> Google classroom Code: </a:t>
            </a:r>
            <a:r>
              <a:rPr lang="en-US" sz="2800" b="1" i="0" dirty="0" err="1">
                <a:solidFill>
                  <a:srgbClr val="1A73E8"/>
                </a:solidFill>
                <a:effectLst/>
                <a:highlight>
                  <a:srgbClr val="FFFFFF"/>
                </a:highlight>
                <a:latin typeface="+mj-lt"/>
              </a:rPr>
              <a:t>clsarmp</a:t>
            </a:r>
            <a:endParaRPr 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01511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4944" y="2552131"/>
            <a:ext cx="9144000" cy="1531037"/>
          </a:xfrm>
        </p:spPr>
        <p:txBody>
          <a:bodyPr/>
          <a:lstStyle/>
          <a:p>
            <a:r>
              <a:rPr lang="en-US" dirty="0"/>
              <a:t>Introduction to ICT </a:t>
            </a:r>
            <a:br>
              <a:rPr lang="en-US" dirty="0"/>
            </a:br>
            <a:r>
              <a:rPr lang="en-US" sz="2800" b="1" dirty="0"/>
              <a:t>Lecture 01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2836362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0100"/>
          </a:xfrm>
        </p:spPr>
        <p:txBody>
          <a:bodyPr/>
          <a:lstStyle/>
          <a:p>
            <a:r>
              <a:rPr lang="en-US" dirty="0"/>
              <a:t>Course Outline &amp; Marks Distribution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88819" y="893619"/>
          <a:ext cx="4378035" cy="576695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510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7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</a:rPr>
                        <a:t>Week</a:t>
                      </a:r>
                      <a:endParaRPr lang="en-US" sz="1300" kern="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Topic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</a:rPr>
                        <a:t>1</a:t>
                      </a:r>
                      <a:endParaRPr lang="en-US" sz="1300" kern="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Introduction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dirty="0">
                          <a:effectLst/>
                        </a:rPr>
                        <a:t>2</a:t>
                      </a:r>
                      <a:endParaRPr lang="en-US" sz="1300" kern="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Number System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3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Computer Organization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8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4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Mathematics in Computer Science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5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Operating systems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8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6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Data Management and its applications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7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Computer Graphics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8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Communication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9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Web development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10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Artificial Intelligence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11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Big data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>
                          <a:effectLst/>
                        </a:rPr>
                        <a:t>12, 13, 14</a:t>
                      </a:r>
                      <a:endParaRPr lang="en-US" sz="1300" kern="5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jaVu Sans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Student Presentations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22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3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079" marR="23079" marT="23079" marB="23079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FINAL EXAM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079" marR="23079" marT="23079" marB="23079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12427" y="2060094"/>
          <a:ext cx="5569528" cy="1553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1149">
                <a:tc>
                  <a:txBody>
                    <a:bodyPr/>
                    <a:lstStyle/>
                    <a:p>
                      <a:pPr marL="176213" indent="-176213">
                        <a:buFont typeface="Arial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Class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Participation, Assignments &amp;     Quizzes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29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2000" b="1" dirty="0"/>
                        <a:t> Final Presentation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25%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029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2000" b="1" dirty="0"/>
                        <a:t> Exam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50%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Information and Communication Technology (IICT)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is IICT?</a:t>
            </a:r>
          </a:p>
          <a:p>
            <a:pPr>
              <a:defRPr/>
            </a:pPr>
            <a:r>
              <a:rPr lang="en-US" dirty="0"/>
              <a:t>Significance of IICT</a:t>
            </a:r>
          </a:p>
          <a:p>
            <a:pPr lvl="1">
              <a:defRPr/>
            </a:pPr>
            <a:r>
              <a:rPr lang="en-US" dirty="0"/>
              <a:t>Why we need to study this course?</a:t>
            </a:r>
          </a:p>
          <a:p>
            <a:pPr>
              <a:defRPr/>
            </a:pPr>
            <a:r>
              <a:rPr lang="en-US" dirty="0"/>
              <a:t>Looking into the impact of Computers in our lives.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9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90"/>
                </a:solidFill>
              </a:rPr>
              <a:t>Information</a:t>
            </a:r>
          </a:p>
          <a:p>
            <a:pPr lvl="1"/>
            <a:r>
              <a:rPr lang="en-US" dirty="0"/>
              <a:t>Any entity or form that provides the answer to a Query</a:t>
            </a:r>
          </a:p>
          <a:p>
            <a:r>
              <a:rPr lang="en-US" dirty="0">
                <a:solidFill>
                  <a:srgbClr val="FF6600"/>
                </a:solidFill>
              </a:rPr>
              <a:t>Communication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Act of transferring information from one place to another</a:t>
            </a:r>
          </a:p>
          <a:p>
            <a:r>
              <a:rPr lang="en-US" dirty="0">
                <a:solidFill>
                  <a:srgbClr val="008000"/>
                </a:solidFill>
              </a:rPr>
              <a:t>Technology</a:t>
            </a:r>
          </a:p>
          <a:p>
            <a:pPr lvl="1"/>
            <a:r>
              <a:rPr lang="en-US" dirty="0"/>
              <a:t>Collection of techniques, methods and processes used to produce goods or services or accomplish objectives. </a:t>
            </a:r>
          </a:p>
        </p:txBody>
      </p:sp>
      <p:pic>
        <p:nvPicPr>
          <p:cNvPr id="6" name="Picture 5" descr="ICT-horizontal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692" y="5334080"/>
            <a:ext cx="4365309" cy="15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2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Meaning of 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3300" lvl="8" indent="0"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1" lang="en-US" altLang="en-US" sz="3200" b="1" dirty="0"/>
              <a:t>I</a:t>
            </a:r>
            <a:r>
              <a:rPr kumimoji="1" lang="en-US" altLang="en-US" sz="3200" dirty="0">
                <a:solidFill>
                  <a:schemeClr val="tx2"/>
                </a:solidFill>
              </a:rPr>
              <a:t>nformation</a:t>
            </a:r>
          </a:p>
          <a:p>
            <a:pPr marL="3543300" lvl="8" indent="0"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1" lang="en-US" altLang="en-US" sz="3200" dirty="0"/>
              <a:t>	</a:t>
            </a:r>
            <a:r>
              <a:rPr kumimoji="1" lang="en-US" altLang="en-US" sz="3200" b="1" dirty="0"/>
              <a:t>C</a:t>
            </a:r>
            <a:r>
              <a:rPr kumimoji="1" lang="en-US" altLang="en-US" sz="3200" dirty="0">
                <a:solidFill>
                  <a:schemeClr val="tx2"/>
                </a:solidFill>
              </a:rPr>
              <a:t>ommunication</a:t>
            </a:r>
          </a:p>
          <a:p>
            <a:pPr marL="3543300" lvl="8" indent="0"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1" lang="en-US" altLang="en-US" sz="3200" dirty="0"/>
              <a:t>	</a:t>
            </a:r>
            <a:r>
              <a:rPr kumimoji="1" lang="en-US" altLang="en-US" sz="3200" b="1" dirty="0"/>
              <a:t>T</a:t>
            </a:r>
            <a:r>
              <a:rPr kumimoji="1" lang="en-US" altLang="en-US" sz="3200" dirty="0">
                <a:solidFill>
                  <a:schemeClr val="tx2"/>
                </a:solidFill>
              </a:rPr>
              <a:t>echnologies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0000"/>
              <a:buFont typeface="Monotype Sorts"/>
              <a:buChar char="n"/>
            </a:pPr>
            <a:endParaRPr kumimoji="1" lang="en-US" altLang="en-US" sz="3200" dirty="0"/>
          </a:p>
          <a:p>
            <a:pPr algn="just">
              <a:spcBef>
                <a:spcPct val="2000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en-US" b="1" dirty="0"/>
              <a:t>   ICT</a:t>
            </a:r>
            <a:r>
              <a:rPr kumimoji="1" lang="en-US" altLang="en-US" dirty="0"/>
              <a:t> </a:t>
            </a:r>
            <a:r>
              <a:rPr kumimoji="1" lang="en-US" altLang="en-US" dirty="0">
                <a:solidFill>
                  <a:schemeClr val="tx2"/>
                </a:solidFill>
              </a:rPr>
              <a:t>are the hardware and software that enable society to create, collect, consolidate and communicate information in different formats and for various purposes.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684" y="2173526"/>
            <a:ext cx="1720733" cy="1697891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83388" y="2092686"/>
            <a:ext cx="5839519" cy="1778731"/>
          </a:xfrm>
        </p:spPr>
        <p:txBody>
          <a:bodyPr/>
          <a:lstStyle/>
          <a:p>
            <a:r>
              <a:rPr lang="en-US" dirty="0"/>
              <a:t>Do you use an ICT</a:t>
            </a:r>
          </a:p>
        </p:txBody>
      </p:sp>
    </p:spTree>
    <p:extLst>
      <p:ext uri="{BB962C8B-B14F-4D97-AF65-F5344CB8AC3E}">
        <p14:creationId xmlns:p14="http://schemas.microsoft.com/office/powerpoint/2010/main" val="3682462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tuff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83665"/>
            <a:ext cx="9144000" cy="609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67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Amazing Facts and Statistics</a:t>
            </a:r>
          </a:p>
        </p:txBody>
      </p:sp>
      <p:pic>
        <p:nvPicPr>
          <p:cNvPr id="38914" name="Picture 2" descr="Digital 2024: Global Overview Report — DataReportal – Global Digital  Insight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0036" y="1819275"/>
            <a:ext cx="9035357" cy="41741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3224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Amazing Facts and Statistics</a:t>
            </a:r>
          </a:p>
        </p:txBody>
      </p:sp>
      <p:pic>
        <p:nvPicPr>
          <p:cNvPr id="37890" name="Picture 2" descr="Global social media statistics research summary 2024 [May 2024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639" y="1768082"/>
            <a:ext cx="7945343" cy="49138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8292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Amazing Facts and Statistics</a:t>
            </a:r>
          </a:p>
        </p:txBody>
      </p:sp>
      <p:pic>
        <p:nvPicPr>
          <p:cNvPr id="4" name="Picture 3" descr="social-Media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64"/>
          <a:stretch/>
        </p:blipFill>
        <p:spPr>
          <a:xfrm>
            <a:off x="2992331" y="1653727"/>
            <a:ext cx="6160508" cy="505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81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Cont…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41445" y="1924334"/>
            <a:ext cx="9340755" cy="4095466"/>
          </a:xfrm>
        </p:spPr>
        <p:txBody>
          <a:bodyPr/>
          <a:lstStyle/>
          <a:p>
            <a:r>
              <a:rPr lang="en-US" altLang="en-US" dirty="0"/>
              <a:t>Computers are penetrating into every aspects of our lives</a:t>
            </a:r>
          </a:p>
          <a:p>
            <a:pPr lvl="1"/>
            <a:r>
              <a:rPr lang="en-US" altLang="en-US" dirty="0"/>
              <a:t>Air Conditioners </a:t>
            </a:r>
          </a:p>
          <a:p>
            <a:pPr lvl="1"/>
            <a:r>
              <a:rPr lang="en-US" altLang="en-US" dirty="0"/>
              <a:t>Cars</a:t>
            </a:r>
          </a:p>
          <a:p>
            <a:pPr lvl="1"/>
            <a:r>
              <a:rPr lang="en-US" altLang="en-US" dirty="0"/>
              <a:t>Airplanes</a:t>
            </a:r>
          </a:p>
          <a:p>
            <a:pPr lvl="1"/>
            <a:r>
              <a:rPr lang="en-US" altLang="en-US" dirty="0"/>
              <a:t>Smartphones</a:t>
            </a:r>
          </a:p>
          <a:p>
            <a:pPr lvl="1"/>
            <a:r>
              <a:rPr lang="en-US" altLang="en-US" dirty="0"/>
              <a:t>Etc…</a:t>
            </a:r>
          </a:p>
          <a:p>
            <a:pPr lvl="1"/>
            <a:endParaRPr lang="en-US" altLang="en-US" dirty="0"/>
          </a:p>
        </p:txBody>
      </p:sp>
      <p:pic>
        <p:nvPicPr>
          <p:cNvPr id="5124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334001"/>
            <a:ext cx="57943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186" y="4233863"/>
            <a:ext cx="4484688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836" y="2656339"/>
            <a:ext cx="3953342" cy="223281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4536" y="4889156"/>
            <a:ext cx="3545695" cy="184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51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838201"/>
            <a:ext cx="5638800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Box 7"/>
          <p:cNvSpPr txBox="1">
            <a:spLocks noChangeArrowheads="1"/>
          </p:cNvSpPr>
          <p:nvPr/>
        </p:nvSpPr>
        <p:spPr bwMode="auto">
          <a:xfrm>
            <a:off x="2979738" y="5845176"/>
            <a:ext cx="609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" panose="02020603050405020304" pitchFamily="18" charset="0"/>
              </a:rPr>
              <a:t>Some examples of Computers (Embedded Systems) in our daily life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901752" y="2160897"/>
            <a:ext cx="22098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" panose="02020603050405020304" pitchFamily="18" charset="0"/>
              </a:rPr>
              <a:t>So, these computers are taking over our lives.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" panose="02020603050405020304" pitchFamily="18" charset="0"/>
              </a:rPr>
              <a:t>Is this good or bad?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28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Bright side of Computer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Enable new discoveries</a:t>
            </a:r>
          </a:p>
          <a:p>
            <a:r>
              <a:rPr lang="en-US" altLang="en-US"/>
              <a:t>Lead to efficiencies</a:t>
            </a:r>
          </a:p>
          <a:p>
            <a:r>
              <a:rPr lang="en-US" altLang="en-US"/>
              <a:t>Making Life easy</a:t>
            </a:r>
          </a:p>
        </p:txBody>
      </p:sp>
      <p:pic>
        <p:nvPicPr>
          <p:cNvPr id="819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427" y="1825625"/>
            <a:ext cx="322447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788" y="4554538"/>
            <a:ext cx="2424112" cy="154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1" y="4554539"/>
            <a:ext cx="2314575" cy="197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5" y="5072063"/>
            <a:ext cx="3606800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9746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Life Easy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Today, computers are used in every/most of the aspects of our lives.</a:t>
            </a:r>
          </a:p>
          <a:p>
            <a:pPr marL="0" indent="0">
              <a:buNone/>
            </a:pPr>
            <a:r>
              <a:rPr lang="en-US" dirty="0"/>
              <a:t>Some aspects are given below:</a:t>
            </a:r>
          </a:p>
          <a:p>
            <a:r>
              <a:rPr lang="en-US" dirty="0"/>
              <a:t>Social Media/Communication</a:t>
            </a:r>
          </a:p>
          <a:p>
            <a:r>
              <a:rPr lang="en-US" dirty="0"/>
              <a:t>E-Commerce/ M-commerce</a:t>
            </a:r>
          </a:p>
          <a:p>
            <a:r>
              <a:rPr lang="en-US" dirty="0"/>
              <a:t>Automation</a:t>
            </a:r>
          </a:p>
          <a:p>
            <a:r>
              <a:rPr lang="en-US" dirty="0"/>
              <a:t>Defense </a:t>
            </a:r>
          </a:p>
          <a:p>
            <a:r>
              <a:rPr lang="en-US" dirty="0"/>
              <a:t>Education and Science &amp; Technology</a:t>
            </a:r>
          </a:p>
          <a:p>
            <a:r>
              <a:rPr lang="en-US" dirty="0"/>
              <a:t>Recreational Aspects</a:t>
            </a:r>
          </a:p>
        </p:txBody>
      </p:sp>
    </p:spTree>
    <p:extLst>
      <p:ext uri="{BB962C8B-B14F-4D97-AF65-F5344CB8AC3E}">
        <p14:creationId xmlns:p14="http://schemas.microsoft.com/office/powerpoint/2010/main" val="2369639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</a:t>
            </a:r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17FD7458-1CB0-4F78-9875-6474745116FA}"/>
              </a:ext>
            </a:extLst>
          </p:cNvPr>
          <p:cNvGrpSpPr>
            <a:grpSpLocks noGrp="1"/>
          </p:cNvGrpSpPr>
          <p:nvPr/>
        </p:nvGrpSpPr>
        <p:grpSpPr bwMode="auto">
          <a:xfrm>
            <a:off x="1984664" y="1825625"/>
            <a:ext cx="8447809" cy="4351338"/>
            <a:chOff x="336" y="0"/>
            <a:chExt cx="5424" cy="398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1B85C2A-4D03-40EB-A601-20B30BE01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360"/>
              <a:ext cx="5280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marL="342900" indent="-3429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indent="0">
                <a:spcBef>
                  <a:spcPct val="20000"/>
                </a:spcBef>
                <a:buClr>
                  <a:schemeClr val="tx2"/>
                </a:buClr>
                <a:buSzPct val="70000"/>
              </a:pPr>
              <a:r>
                <a:rPr kumimoji="1" lang="en-US" altLang="en-US" sz="2400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Innovations in ICT have made the transfer of digital information from remote sites possible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3C9BBF6-2B7F-4FE3-8EDA-BF25D1716ED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1104"/>
              <a:ext cx="1380" cy="2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81A4750-5026-43B9-B59B-CFB616CD7A8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4" y="1440"/>
              <a:ext cx="1881" cy="1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494B0BEF-8034-47EF-8433-5C87C7AEE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016"/>
              <a:ext cx="1008" cy="720"/>
            </a:xfrm>
            <a:prstGeom prst="rightArrow">
              <a:avLst>
                <a:gd name="adj1" fmla="val 50000"/>
                <a:gd name="adj2" fmla="val 70006"/>
              </a:avLst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CEF76E3-0919-4353-8AF0-7F88190A5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0"/>
              <a:ext cx="3168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chemeClr val="tx2"/>
                  </a:solidFill>
                  <a:latin typeface="Arial" panose="020B0604020202020204" pitchFamily="34" charset="0"/>
                </a:rPr>
                <a:t>Shift from Print to Digital</a:t>
              </a:r>
              <a:endParaRPr lang="en-US" altLang="en-US" sz="3200" b="1">
                <a:solidFill>
                  <a:schemeClr val="tx2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B9BC236-8635-4850-9CED-1E14A2CFF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0"/>
              <a:ext cx="1632" cy="81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 b="1">
                  <a:latin typeface="Arial" panose="020B0604020202020204" pitchFamily="34" charset="0"/>
                </a:rPr>
                <a:t>Internet</a:t>
              </a:r>
              <a:endParaRPr lang="en-US" altLang="en-US" sz="2400">
                <a:latin typeface="Arial" panose="020B0604020202020204" pitchFamily="34" charset="0"/>
              </a:endParaRPr>
            </a:p>
          </p:txBody>
        </p:sp>
        <p:cxnSp>
          <p:nvCxnSpPr>
            <p:cNvPr id="11" name="AutoShape 10">
              <a:extLst>
                <a:ext uri="{FF2B5EF4-FFF2-40B4-BE49-F238E27FC236}">
                  <a16:creationId xmlns:a16="http://schemas.microsoft.com/office/drawing/2014/main" id="{6D214DFC-3C24-430C-B9DD-ECF51315E5DC}"/>
                </a:ext>
              </a:extLst>
            </p:cNvPr>
            <p:cNvCxnSpPr>
              <a:cxnSpLocks noChangeShapeType="1"/>
              <a:stCxn id="10" idx="2"/>
            </p:cNvCxnSpPr>
            <p:nvPr/>
          </p:nvCxnSpPr>
          <p:spPr bwMode="auto">
            <a:xfrm rot="16200000" flipH="1">
              <a:off x="4695" y="1065"/>
              <a:ext cx="624" cy="125"/>
            </a:xfrm>
            <a:prstGeom prst="bentConnector3">
              <a:avLst>
                <a:gd name="adj1" fmla="val 50000"/>
              </a:avLst>
            </a:prstGeom>
            <a:noFill/>
            <a:ln w="57150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11">
              <a:extLst>
                <a:ext uri="{FF2B5EF4-FFF2-40B4-BE49-F238E27FC236}">
                  <a16:creationId xmlns:a16="http://schemas.microsoft.com/office/drawing/2014/main" id="{47D7F420-C918-440D-A3D7-60D43E2A60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44" y="480"/>
              <a:ext cx="2784" cy="1296"/>
            </a:xfrm>
            <a:prstGeom prst="bentConnector3">
              <a:avLst>
                <a:gd name="adj1" fmla="val 62963"/>
              </a:avLst>
            </a:prstGeom>
            <a:noFill/>
            <a:ln w="57150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Media/Communication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 examples of Social Media</a:t>
            </a:r>
          </a:p>
          <a:p>
            <a:r>
              <a:rPr lang="en-US" dirty="0"/>
              <a:t>Facebook</a:t>
            </a:r>
          </a:p>
          <a:p>
            <a:r>
              <a:rPr lang="en-US" dirty="0"/>
              <a:t>Twitter</a:t>
            </a:r>
          </a:p>
          <a:p>
            <a:r>
              <a:rPr lang="en-US" dirty="0"/>
              <a:t>LinkedIn</a:t>
            </a:r>
          </a:p>
          <a:p>
            <a:r>
              <a:rPr lang="en-US" dirty="0"/>
              <a:t>Facebook Messenger</a:t>
            </a:r>
          </a:p>
          <a:p>
            <a:r>
              <a:rPr lang="en-US" dirty="0" err="1"/>
              <a:t>WhatsApp</a:t>
            </a:r>
            <a:endParaRPr lang="en-US" dirty="0"/>
          </a:p>
          <a:p>
            <a:r>
              <a:rPr lang="en-US" dirty="0"/>
              <a:t>…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350" y="2302288"/>
            <a:ext cx="1876425" cy="1914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350" y="4387041"/>
            <a:ext cx="1876425" cy="17345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333" y="4387041"/>
            <a:ext cx="2334065" cy="17775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639" y="2364993"/>
            <a:ext cx="2177451" cy="178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9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252415" cy="4351338"/>
          </a:xfrm>
        </p:spPr>
        <p:txBody>
          <a:bodyPr/>
          <a:lstStyle/>
          <a:p>
            <a:r>
              <a:rPr lang="en-US" dirty="0"/>
              <a:t>Amazon</a:t>
            </a:r>
          </a:p>
          <a:p>
            <a:r>
              <a:rPr lang="en-US" dirty="0"/>
              <a:t>Daraz.pk</a:t>
            </a:r>
          </a:p>
          <a:p>
            <a:r>
              <a:rPr lang="en-US" dirty="0"/>
              <a:t>UBER</a:t>
            </a:r>
          </a:p>
          <a:p>
            <a:r>
              <a:rPr lang="en-US" dirty="0"/>
              <a:t>Air/Bus ticket booking and seat reservation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432" y="1948005"/>
            <a:ext cx="2640784" cy="904378"/>
          </a:xfrm>
          <a:prstGeom prst="rect">
            <a:avLst/>
          </a:prstGeom>
        </p:spPr>
      </p:pic>
      <p:pic>
        <p:nvPicPr>
          <p:cNvPr id="10242" name="Picture 2" descr="Image result for daraz.p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719" y="3312592"/>
            <a:ext cx="2396497" cy="68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0530" y="1985608"/>
            <a:ext cx="15525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8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 automation system </a:t>
            </a:r>
          </a:p>
          <a:p>
            <a:pPr lvl="1"/>
            <a:r>
              <a:rPr lang="en-US" dirty="0"/>
              <a:t>Example: JARVIS by FACEBOOK</a:t>
            </a:r>
          </a:p>
          <a:p>
            <a:r>
              <a:rPr lang="en-US" dirty="0"/>
              <a:t>Car assembly automation</a:t>
            </a:r>
          </a:p>
          <a:p>
            <a:r>
              <a:rPr lang="en-US" dirty="0"/>
              <a:t>Food products packing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112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Defense/Military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Missile Control</a:t>
            </a:r>
          </a:p>
          <a:p>
            <a:pPr lvl="1"/>
            <a:r>
              <a:rPr lang="en-US" dirty="0"/>
              <a:t>Military Communication</a:t>
            </a:r>
          </a:p>
          <a:p>
            <a:pPr lvl="1"/>
            <a:r>
              <a:rPr lang="en-US" dirty="0"/>
              <a:t>Military Operation and Planning</a:t>
            </a:r>
          </a:p>
          <a:p>
            <a:pPr lvl="1"/>
            <a:r>
              <a:rPr lang="en-US" dirty="0"/>
              <a:t>Smart Weapons</a:t>
            </a:r>
          </a:p>
          <a:p>
            <a:endParaRPr lang="en-US" dirty="0"/>
          </a:p>
        </p:txBody>
      </p:sp>
      <p:pic>
        <p:nvPicPr>
          <p:cNvPr id="4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419" y="1825625"/>
            <a:ext cx="3614381" cy="2731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5057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760976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Education</a:t>
            </a:r>
          </a:p>
          <a:p>
            <a:pPr lvl="1"/>
            <a:r>
              <a:rPr lang="en-US" dirty="0"/>
              <a:t>The computer provides a tool in the education system known as CBE (Computer Based Education).</a:t>
            </a:r>
          </a:p>
          <a:p>
            <a:pPr lvl="1"/>
            <a:r>
              <a:rPr lang="en-US" dirty="0"/>
              <a:t>CBE involves control, delivery, and evaluation of learning.</a:t>
            </a:r>
          </a:p>
          <a:p>
            <a:pPr lvl="1"/>
            <a:r>
              <a:rPr lang="en-US" dirty="0"/>
              <a:t>Computer education is rapidly increasing the graph of number of computer students.</a:t>
            </a:r>
          </a:p>
          <a:p>
            <a:pPr lvl="1"/>
            <a:r>
              <a:rPr lang="en-US" dirty="0"/>
              <a:t>There are a number of methods in which educational institutions can use a computer to educate the students.</a:t>
            </a:r>
          </a:p>
          <a:p>
            <a:pPr lvl="1"/>
            <a:r>
              <a:rPr lang="en-US" dirty="0"/>
              <a:t>It is used to prepare a database about performance of a student and analysis is carried out on this basis.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170" name="Picture 2" descr="Computer Educatio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153" y="2886015"/>
            <a:ext cx="3148850" cy="209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104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Recreational and Entertainment Aspect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examples?</a:t>
            </a:r>
          </a:p>
          <a:p>
            <a:r>
              <a:rPr lang="en-US" dirty="0"/>
              <a:t>Animated Movies</a:t>
            </a:r>
          </a:p>
          <a:p>
            <a:r>
              <a:rPr lang="en-US" dirty="0"/>
              <a:t>High graphics games</a:t>
            </a:r>
          </a:p>
        </p:txBody>
      </p:sp>
    </p:spTree>
    <p:extLst>
      <p:ext uri="{BB962C8B-B14F-4D97-AF65-F5344CB8AC3E}">
        <p14:creationId xmlns:p14="http://schemas.microsoft.com/office/powerpoint/2010/main" val="325302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  <p:grpSp>
        <p:nvGrpSpPr>
          <p:cNvPr id="4" name="Content Placeholder 3">
            <a:extLst>
              <a:ext uri="{FF2B5EF4-FFF2-40B4-BE49-F238E27FC236}">
                <a16:creationId xmlns:a16="http://schemas.microsoft.com/office/drawing/2014/main" id="{C0DA6365-349D-4761-A309-1A3377A5A784}"/>
              </a:ext>
            </a:extLst>
          </p:cNvPr>
          <p:cNvGrpSpPr>
            <a:grpSpLocks noGrp="1"/>
          </p:cNvGrpSpPr>
          <p:nvPr/>
        </p:nvGrpSpPr>
        <p:grpSpPr bwMode="auto">
          <a:xfrm>
            <a:off x="838200" y="1825625"/>
            <a:ext cx="10515600" cy="4351338"/>
            <a:chOff x="204" y="711"/>
            <a:chExt cx="5222" cy="2945"/>
          </a:xfrm>
        </p:grpSpPr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A7DA5EA3-F0E5-4172-A593-2BF867A0E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" y="711"/>
              <a:ext cx="9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 b="1">
                  <a:solidFill>
                    <a:schemeClr val="tx2"/>
                  </a:solidFill>
                </a:rPr>
                <a:t>Computer</a:t>
              </a:r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B25982F7-18E6-45F8-8687-6F117D249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" y="1933"/>
              <a:ext cx="9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 b="1">
                  <a:solidFill>
                    <a:schemeClr val="tx2"/>
                  </a:solidFill>
                </a:rPr>
                <a:t>Hardware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D55A3C0E-2CA9-4D96-82D6-57CBBAD59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1936"/>
              <a:ext cx="8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 b="1">
                  <a:solidFill>
                    <a:schemeClr val="tx2"/>
                  </a:solidFill>
                </a:rPr>
                <a:t>Software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7D985A23-2567-4895-B991-332A3BB3D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3" y="3133"/>
              <a:ext cx="108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 b="1">
                  <a:solidFill>
                    <a:schemeClr val="tx2"/>
                  </a:solidFill>
                </a:rPr>
                <a:t>Application</a:t>
              </a:r>
            </a:p>
            <a:p>
              <a:pPr algn="ctr"/>
              <a:r>
                <a:rPr lang="en-US" altLang="en-US" sz="2400" b="1">
                  <a:solidFill>
                    <a:schemeClr val="tx2"/>
                  </a:solidFill>
                </a:rPr>
                <a:t>Software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C8590579-E8C7-4E03-8D8F-E3F481FC8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0" y="3133"/>
              <a:ext cx="85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 b="1">
                  <a:solidFill>
                    <a:schemeClr val="tx2"/>
                  </a:solidFill>
                </a:rPr>
                <a:t>System</a:t>
              </a:r>
            </a:p>
            <a:p>
              <a:pPr algn="ctr"/>
              <a:r>
                <a:rPr lang="en-US" altLang="en-US" sz="2400" b="1">
                  <a:solidFill>
                    <a:schemeClr val="tx2"/>
                  </a:solidFill>
                </a:rPr>
                <a:t>Software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2DE04F2B-43BF-4821-910F-569EEA078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3200"/>
              <a:ext cx="5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 b="1">
                  <a:solidFill>
                    <a:schemeClr val="tx2"/>
                  </a:solidFill>
                </a:rPr>
                <a:t>CPU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38DC2497-F8A0-4729-A700-C459D07AF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" y="3200"/>
              <a:ext cx="8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 b="1">
                  <a:solidFill>
                    <a:schemeClr val="tx2"/>
                  </a:solidFill>
                </a:rPr>
                <a:t>Memory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08E02AB0-B377-4CF8-ACB2-CA3857D0E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8" y="3200"/>
              <a:ext cx="3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 b="1">
                  <a:solidFill>
                    <a:schemeClr val="tx2"/>
                  </a:solidFill>
                </a:rPr>
                <a:t>I/O</a:t>
              </a:r>
            </a:p>
          </p:txBody>
        </p:sp>
        <p:cxnSp>
          <p:nvCxnSpPr>
            <p:cNvPr id="13" name="AutoShape 13">
              <a:extLst>
                <a:ext uri="{FF2B5EF4-FFF2-40B4-BE49-F238E27FC236}">
                  <a16:creationId xmlns:a16="http://schemas.microsoft.com/office/drawing/2014/main" id="{79EE7CD1-3BAC-4FFC-B6BB-EE7B54121D11}"/>
                </a:ext>
              </a:extLst>
            </p:cNvPr>
            <p:cNvCxnSpPr>
              <a:cxnSpLocks noChangeShapeType="1"/>
              <a:stCxn id="5" idx="2"/>
              <a:endCxn id="6" idx="0"/>
            </p:cNvCxnSpPr>
            <p:nvPr/>
          </p:nvCxnSpPr>
          <p:spPr bwMode="auto">
            <a:xfrm rot="5400000">
              <a:off x="1556" y="740"/>
              <a:ext cx="934" cy="1451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AutoShape 14">
              <a:extLst>
                <a:ext uri="{FF2B5EF4-FFF2-40B4-BE49-F238E27FC236}">
                  <a16:creationId xmlns:a16="http://schemas.microsoft.com/office/drawing/2014/main" id="{42D0CF5C-F4D9-4D11-9AD7-FD187041FD16}"/>
                </a:ext>
              </a:extLst>
            </p:cNvPr>
            <p:cNvCxnSpPr>
              <a:cxnSpLocks noChangeShapeType="1"/>
              <a:stCxn id="5" idx="2"/>
              <a:endCxn id="7" idx="0"/>
            </p:cNvCxnSpPr>
            <p:nvPr/>
          </p:nvCxnSpPr>
          <p:spPr bwMode="auto">
            <a:xfrm rot="16200000" flipH="1">
              <a:off x="3020" y="727"/>
              <a:ext cx="937" cy="1482"/>
            </a:xfrm>
            <a:prstGeom prst="bentConnector3">
              <a:avLst>
                <a:gd name="adj1" fmla="val 49944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AutoShape 15">
              <a:extLst>
                <a:ext uri="{FF2B5EF4-FFF2-40B4-BE49-F238E27FC236}">
                  <a16:creationId xmlns:a16="http://schemas.microsoft.com/office/drawing/2014/main" id="{72873E79-A255-408A-9CE9-202051E5B0A5}"/>
                </a:ext>
              </a:extLst>
            </p:cNvPr>
            <p:cNvCxnSpPr>
              <a:cxnSpLocks noChangeShapeType="1"/>
              <a:stCxn id="6" idx="2"/>
              <a:endCxn id="10" idx="0"/>
            </p:cNvCxnSpPr>
            <p:nvPr/>
          </p:nvCxnSpPr>
          <p:spPr bwMode="auto">
            <a:xfrm rot="5400000">
              <a:off x="389" y="2292"/>
              <a:ext cx="979" cy="837"/>
            </a:xfrm>
            <a:prstGeom prst="bentConnector3">
              <a:avLst>
                <a:gd name="adj1" fmla="val 49949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AutoShape 16">
              <a:extLst>
                <a:ext uri="{FF2B5EF4-FFF2-40B4-BE49-F238E27FC236}">
                  <a16:creationId xmlns:a16="http://schemas.microsoft.com/office/drawing/2014/main" id="{A63F1FFA-D9CB-4693-8D04-0B63E195C787}"/>
                </a:ext>
              </a:extLst>
            </p:cNvPr>
            <p:cNvCxnSpPr>
              <a:cxnSpLocks noChangeShapeType="1"/>
              <a:stCxn id="6" idx="2"/>
              <a:endCxn id="11" idx="0"/>
            </p:cNvCxnSpPr>
            <p:nvPr/>
          </p:nvCxnSpPr>
          <p:spPr bwMode="auto">
            <a:xfrm rot="5400000">
              <a:off x="807" y="2710"/>
              <a:ext cx="979" cy="1"/>
            </a:xfrm>
            <a:prstGeom prst="bentConnector3">
              <a:avLst>
                <a:gd name="adj1" fmla="val 49949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17">
              <a:extLst>
                <a:ext uri="{FF2B5EF4-FFF2-40B4-BE49-F238E27FC236}">
                  <a16:creationId xmlns:a16="http://schemas.microsoft.com/office/drawing/2014/main" id="{606C5C2C-083B-4C4D-9DF8-D5975061439A}"/>
                </a:ext>
              </a:extLst>
            </p:cNvPr>
            <p:cNvCxnSpPr>
              <a:cxnSpLocks noChangeShapeType="1"/>
              <a:stCxn id="6" idx="2"/>
              <a:endCxn id="12" idx="0"/>
            </p:cNvCxnSpPr>
            <p:nvPr/>
          </p:nvCxnSpPr>
          <p:spPr bwMode="auto">
            <a:xfrm rot="16200000" flipH="1">
              <a:off x="1151" y="2367"/>
              <a:ext cx="979" cy="688"/>
            </a:xfrm>
            <a:prstGeom prst="bentConnector3">
              <a:avLst>
                <a:gd name="adj1" fmla="val 49949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19">
              <a:extLst>
                <a:ext uri="{FF2B5EF4-FFF2-40B4-BE49-F238E27FC236}">
                  <a16:creationId xmlns:a16="http://schemas.microsoft.com/office/drawing/2014/main" id="{5D4230C1-0D99-4570-9D01-D732ABB909C3}"/>
                </a:ext>
              </a:extLst>
            </p:cNvPr>
            <p:cNvCxnSpPr>
              <a:cxnSpLocks noChangeShapeType="1"/>
              <a:stCxn id="7" idx="2"/>
              <a:endCxn id="8" idx="0"/>
            </p:cNvCxnSpPr>
            <p:nvPr/>
          </p:nvCxnSpPr>
          <p:spPr bwMode="auto">
            <a:xfrm rot="5400000">
              <a:off x="3424" y="2327"/>
              <a:ext cx="909" cy="704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20">
              <a:extLst>
                <a:ext uri="{FF2B5EF4-FFF2-40B4-BE49-F238E27FC236}">
                  <a16:creationId xmlns:a16="http://schemas.microsoft.com/office/drawing/2014/main" id="{E12F95BC-4F11-4D82-B05B-F9D694CE7F3E}"/>
                </a:ext>
              </a:extLst>
            </p:cNvPr>
            <p:cNvCxnSpPr>
              <a:cxnSpLocks noChangeShapeType="1"/>
              <a:stCxn id="7" idx="2"/>
              <a:endCxn id="9" idx="0"/>
            </p:cNvCxnSpPr>
            <p:nvPr/>
          </p:nvCxnSpPr>
          <p:spPr bwMode="auto">
            <a:xfrm rot="16200000" flipH="1">
              <a:off x="4160" y="2294"/>
              <a:ext cx="909" cy="76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Hardware: 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Processor consists of 2 components: ALU &amp; CU</a:t>
            </a:r>
          </a:p>
          <a:p>
            <a:r>
              <a:rPr lang="en-US" altLang="en-US" dirty="0"/>
              <a:t>The control unit (CU) of the CPU contains circuitry that uses electrical signals to direct the entire computer system to carry out, or execute, stored program instructions. </a:t>
            </a:r>
          </a:p>
          <a:p>
            <a:r>
              <a:rPr lang="en-US" altLang="en-US" dirty="0"/>
              <a:t>The arithmetic/logic unit (ALU) contains the electronic circuitry that executes all arithmetic and logical operations.</a:t>
            </a:r>
          </a:p>
          <a:p>
            <a:endParaRPr lang="en-US" altLang="en-US" sz="2400" dirty="0">
              <a:latin typeface="Arial" panose="020B0604020202020204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Hardware: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Memory</a:t>
            </a:r>
          </a:p>
          <a:p>
            <a:pPr indent="61913">
              <a:buFont typeface="Courier New" pitchFamily="49" charset="0"/>
              <a:buChar char="o"/>
            </a:pPr>
            <a:r>
              <a:rPr lang="en-US" dirty="0"/>
              <a:t> RAM, SRAM, DRAM, SDRAM</a:t>
            </a:r>
          </a:p>
          <a:p>
            <a:pPr indent="61913">
              <a:buFont typeface="Courier New" pitchFamily="49" charset="0"/>
              <a:buChar char="o"/>
            </a:pPr>
            <a:r>
              <a:rPr lang="en-US" dirty="0"/>
              <a:t> ROM, EROM, EPROM, EEPROM</a:t>
            </a:r>
          </a:p>
          <a:p>
            <a:pPr marL="61913" indent="0"/>
            <a:r>
              <a:rPr lang="en-US" dirty="0"/>
              <a:t> Secondary Memory</a:t>
            </a:r>
          </a:p>
          <a:p>
            <a:pPr indent="61913">
              <a:buFont typeface="Courier New" pitchFamily="49" charset="0"/>
              <a:buChar char="o"/>
            </a:pPr>
            <a:r>
              <a:rPr lang="en-US" dirty="0"/>
              <a:t> CD, DVD, Memory Cards</a:t>
            </a:r>
          </a:p>
          <a:p>
            <a:pPr indent="61913">
              <a:buFont typeface="Courier New" pitchFamily="49" charset="0"/>
              <a:buChar char="o"/>
            </a:pPr>
            <a:r>
              <a:rPr lang="en-US" dirty="0"/>
              <a:t> SD Cards, Flash Drives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en-US" dirty="0"/>
              <a:t>Hardware &amp; Software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383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Software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Physical</a:t>
                      </a:r>
                      <a:r>
                        <a:rPr lang="en-US" baseline="0" dirty="0"/>
                        <a:t> elements of a computer or electronic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collection of instructions that tells the computer how to perform a task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Categories: I/O devices, Processor, Memory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Mainly divided</a:t>
                      </a:r>
                      <a:r>
                        <a:rPr lang="en-US" baseline="0" dirty="0"/>
                        <a:t> into system software and application software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Tangible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Intangible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Developed using</a:t>
                      </a:r>
                      <a:r>
                        <a:rPr lang="en-US" baseline="0" dirty="0"/>
                        <a:t> electronic and other materials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Developed by writing instructions using programming languages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When</a:t>
                      </a:r>
                      <a:r>
                        <a:rPr lang="en-US" baseline="0" dirty="0"/>
                        <a:t> damages, it can be replaced with a new component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When</a:t>
                      </a:r>
                      <a:r>
                        <a:rPr lang="en-US" baseline="0" dirty="0"/>
                        <a:t> damages, it can be reinstalled using a backup copy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Starts functioning once the software is loaded into the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Should be installed into the computer to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Examples: Keyboard, Mouse, CPU,</a:t>
                      </a:r>
                      <a:r>
                        <a:rPr lang="en-US" baseline="0" dirty="0"/>
                        <a:t> ROM, 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Examples: MS Word, Excel, </a:t>
                      </a:r>
                      <a:r>
                        <a:rPr lang="en-US" dirty="0" err="1"/>
                        <a:t>Whatsapp</a:t>
                      </a:r>
                      <a:r>
                        <a:rPr lang="en-US" dirty="0"/>
                        <a:t>,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Instagram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Vs Application (Software)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75855" y="2542598"/>
          <a:ext cx="10515600" cy="2021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System Software</a:t>
                      </a:r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Application</a:t>
                      </a:r>
                      <a:r>
                        <a:rPr lang="en-US" baseline="0" dirty="0"/>
                        <a:t> Software</a:t>
                      </a:r>
                      <a:endParaRPr lang="en-US" dirty="0"/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  <a:r>
                        <a:rPr lang="en-US" baseline="0" dirty="0"/>
                        <a:t> software controls hardware. </a:t>
                      </a:r>
                      <a:endParaRPr lang="en-US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</a:t>
                      </a:r>
                      <a:r>
                        <a:rPr lang="en-US" baseline="0" dirty="0"/>
                        <a:t> software fulfils user requests</a:t>
                      </a:r>
                      <a:endParaRPr lang="en-US" dirty="0"/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Acts as an interface between hardware</a:t>
                      </a:r>
                      <a:r>
                        <a:rPr lang="en-US" baseline="0" dirty="0"/>
                        <a:t> and application software</a:t>
                      </a:r>
                      <a:endParaRPr lang="en-US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Runs on the platform provided by system software</a:t>
                      </a:r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Examples include, Operating</a:t>
                      </a:r>
                      <a:r>
                        <a:rPr lang="en-US" baseline="0" dirty="0"/>
                        <a:t> Systems, device drivers, etc.</a:t>
                      </a:r>
                      <a:endParaRPr lang="en-US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Word processors, media players,</a:t>
                      </a:r>
                      <a:r>
                        <a:rPr lang="en-US" baseline="0" dirty="0"/>
                        <a:t> etc.</a:t>
                      </a:r>
                      <a:endParaRPr lang="en-US" dirty="0"/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PC (Personal Computer )</a:t>
            </a:r>
          </a:p>
          <a:p>
            <a:pPr lvl="1"/>
            <a:r>
              <a:rPr lang="en-US" dirty="0"/>
              <a:t>Small</a:t>
            </a:r>
          </a:p>
          <a:p>
            <a:pPr lvl="1"/>
            <a:r>
              <a:rPr lang="en-US" dirty="0"/>
              <a:t>Inexpensive</a:t>
            </a:r>
          </a:p>
          <a:p>
            <a:pPr lvl="1"/>
            <a:r>
              <a:rPr lang="en-US" dirty="0"/>
              <a:t>Business Use</a:t>
            </a:r>
          </a:p>
          <a:p>
            <a:pPr lvl="2"/>
            <a:r>
              <a:rPr lang="en-US" dirty="0"/>
              <a:t>Word processing, running spreadsheets etc.</a:t>
            </a:r>
          </a:p>
          <a:p>
            <a:pPr lvl="1"/>
            <a:r>
              <a:rPr lang="en-US" dirty="0"/>
              <a:t>Personal Use</a:t>
            </a:r>
          </a:p>
          <a:p>
            <a:pPr lvl="2"/>
            <a:r>
              <a:rPr lang="en-US" dirty="0"/>
              <a:t>Playing games, surfing the internet, movies, games etc.</a:t>
            </a:r>
          </a:p>
          <a:p>
            <a:pPr lvl="1"/>
            <a:r>
              <a:rPr lang="en-US" dirty="0"/>
              <a:t>Single user system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26" name="Picture 2" descr="Personal computers come in many forms, including the new Apple iPad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025" y="1995985"/>
            <a:ext cx="3269775" cy="1961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740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Desktop</a:t>
            </a:r>
          </a:p>
          <a:p>
            <a:pPr lvl="1"/>
            <a:r>
              <a:rPr lang="en-US" dirty="0"/>
              <a:t>PC not designed for portability</a:t>
            </a:r>
          </a:p>
          <a:p>
            <a:pPr lvl="1"/>
            <a:r>
              <a:rPr lang="en-US" dirty="0"/>
              <a:t>More storage and computation with less cost</a:t>
            </a:r>
          </a:p>
          <a:p>
            <a:r>
              <a:rPr lang="en-US" dirty="0"/>
              <a:t>Laptop (notebook)</a:t>
            </a:r>
          </a:p>
          <a:p>
            <a:pPr lvl="1"/>
            <a:r>
              <a:rPr lang="en-US" dirty="0"/>
              <a:t>Portable with integrated display</a:t>
            </a:r>
          </a:p>
          <a:p>
            <a:pPr lvl="1"/>
            <a:r>
              <a:rPr lang="en-US" dirty="0"/>
              <a:t>Battery operated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665" y="2012428"/>
            <a:ext cx="3073021" cy="1843813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450307"/>
            <a:ext cx="3100316" cy="1860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9441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Netbook</a:t>
            </a:r>
            <a:r>
              <a:rPr lang="en-US" dirty="0"/>
              <a:t>/Notebook</a:t>
            </a:r>
          </a:p>
          <a:p>
            <a:pPr lvl="1"/>
            <a:r>
              <a:rPr lang="en-US" dirty="0"/>
              <a:t>Smaller and cheaper than laptops</a:t>
            </a:r>
          </a:p>
          <a:p>
            <a:pPr lvl="1"/>
            <a:r>
              <a:rPr lang="en-US" dirty="0"/>
              <a:t>Less powerful than laptop</a:t>
            </a:r>
          </a:p>
          <a:p>
            <a:r>
              <a:rPr lang="en-US" dirty="0"/>
              <a:t>PDA (personal digital assistant)</a:t>
            </a:r>
          </a:p>
          <a:p>
            <a:pPr lvl="1"/>
            <a:r>
              <a:rPr lang="en-US" dirty="0"/>
              <a:t>Tightly integrated computer</a:t>
            </a:r>
          </a:p>
          <a:p>
            <a:pPr lvl="1"/>
            <a:r>
              <a:rPr lang="en-US" dirty="0"/>
              <a:t>Flash memory instead of hard disk</a:t>
            </a:r>
          </a:p>
          <a:p>
            <a:pPr lvl="1"/>
            <a:r>
              <a:rPr lang="en-US" dirty="0"/>
              <a:t>Touch screen instead of keyboard</a:t>
            </a:r>
          </a:p>
          <a:p>
            <a:pPr lvl="1"/>
            <a:r>
              <a:rPr lang="en-US" dirty="0"/>
              <a:t>Lightweight and reasonable battery life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798" y="2091520"/>
            <a:ext cx="3201537" cy="1920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799" y="4636827"/>
            <a:ext cx="3076433" cy="1845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3768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Workstation</a:t>
            </a:r>
          </a:p>
          <a:p>
            <a:pPr lvl="1"/>
            <a:r>
              <a:rPr lang="en-US" dirty="0"/>
              <a:t>Desktop computer with more processing power</a:t>
            </a:r>
          </a:p>
          <a:p>
            <a:pPr lvl="1"/>
            <a:r>
              <a:rPr lang="en-US" dirty="0"/>
              <a:t>More memory</a:t>
            </a:r>
          </a:p>
          <a:p>
            <a:pPr lvl="1"/>
            <a:r>
              <a:rPr lang="en-US" dirty="0"/>
              <a:t>More capabilities in performing specialized tasks</a:t>
            </a:r>
          </a:p>
          <a:p>
            <a:pPr lvl="1"/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987" y="3746311"/>
            <a:ext cx="3150357" cy="189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19183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Server</a:t>
            </a:r>
          </a:p>
          <a:p>
            <a:pPr lvl="1"/>
            <a:r>
              <a:rPr lang="en-US" dirty="0"/>
              <a:t>Computer that serves other computers over network</a:t>
            </a:r>
          </a:p>
          <a:p>
            <a:pPr lvl="1"/>
            <a:r>
              <a:rPr lang="en-US" dirty="0"/>
              <a:t>More processing power, memory and storage</a:t>
            </a:r>
          </a:p>
          <a:p>
            <a:pPr lvl="1"/>
            <a:r>
              <a:rPr lang="en-US" dirty="0"/>
              <a:t>Large in size</a:t>
            </a:r>
          </a:p>
          <a:p>
            <a:pPr lvl="1"/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776" y="3431132"/>
            <a:ext cx="3402698" cy="2041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88596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Mainframe</a:t>
            </a:r>
          </a:p>
          <a:p>
            <a:pPr lvl="1"/>
            <a:r>
              <a:rPr lang="en-US" dirty="0"/>
              <a:t>Very large size</a:t>
            </a:r>
          </a:p>
          <a:p>
            <a:pPr lvl="1"/>
            <a:r>
              <a:rPr lang="en-US" dirty="0"/>
              <a:t>Now known as enterprise server</a:t>
            </a:r>
          </a:p>
          <a:p>
            <a:pPr lvl="1"/>
            <a:r>
              <a:rPr lang="en-US" dirty="0"/>
              <a:t>More processing power</a:t>
            </a:r>
          </a:p>
          <a:p>
            <a:r>
              <a:rPr lang="en-US" dirty="0"/>
              <a:t>Supercomputer</a:t>
            </a:r>
          </a:p>
          <a:p>
            <a:pPr lvl="1"/>
            <a:r>
              <a:rPr lang="en-US" dirty="0"/>
              <a:t>Very expensive</a:t>
            </a:r>
          </a:p>
          <a:p>
            <a:pPr lvl="1"/>
            <a:r>
              <a:rPr lang="en-US" dirty="0"/>
              <a:t>Fastest computers</a:t>
            </a:r>
          </a:p>
          <a:p>
            <a:pPr lvl="1"/>
            <a:r>
              <a:rPr lang="en-US" dirty="0"/>
              <a:t>Employed for specific applications which require immense amount of calculations</a:t>
            </a:r>
          </a:p>
          <a:p>
            <a:pPr lvl="2"/>
            <a:r>
              <a:rPr lang="en-US" dirty="0"/>
              <a:t>weather forecasting</a:t>
            </a:r>
          </a:p>
          <a:p>
            <a:pPr lvl="2"/>
            <a:r>
              <a:rPr lang="en-US" dirty="0"/>
              <a:t>scientific simulations</a:t>
            </a:r>
          </a:p>
          <a:p>
            <a:pPr lvl="2"/>
            <a:r>
              <a:rPr lang="en-US" dirty="0"/>
              <a:t>(animated) graphics</a:t>
            </a:r>
          </a:p>
          <a:p>
            <a:pPr lvl="2"/>
            <a:r>
              <a:rPr lang="en-US" dirty="0"/>
              <a:t>nuclear energy research</a:t>
            </a:r>
          </a:p>
          <a:p>
            <a:pPr lvl="2"/>
            <a:r>
              <a:rPr lang="en-US" dirty="0"/>
              <a:t>electronic design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314" y="1851344"/>
            <a:ext cx="2669232" cy="1601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835" y="4734565"/>
            <a:ext cx="3027267" cy="1816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8830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 Speed</a:t>
            </a:r>
          </a:p>
          <a:p>
            <a:pPr lvl="1"/>
            <a:r>
              <a:rPr lang="en-US" dirty="0"/>
              <a:t>Units of speed in microsecond and nanosecond</a:t>
            </a:r>
          </a:p>
          <a:p>
            <a:pPr lvl="1"/>
            <a:r>
              <a:rPr lang="en-US" dirty="0"/>
              <a:t>It can perform millions of calculations in few seconds where it will take months for a human to perform same calculations</a:t>
            </a:r>
          </a:p>
          <a:p>
            <a:r>
              <a:rPr lang="en-US" dirty="0"/>
              <a:t>Accuracy</a:t>
            </a:r>
          </a:p>
          <a:p>
            <a:pPr lvl="1"/>
            <a:r>
              <a:rPr lang="en-US" dirty="0"/>
              <a:t>100 % error free</a:t>
            </a:r>
          </a:p>
          <a:p>
            <a:r>
              <a:rPr lang="en-US" dirty="0"/>
              <a:t>Storage</a:t>
            </a:r>
          </a:p>
          <a:p>
            <a:pPr lvl="1"/>
            <a:r>
              <a:rPr lang="en-US" dirty="0"/>
              <a:t>More storage capacity than humans</a:t>
            </a:r>
          </a:p>
          <a:p>
            <a:pPr lvl="1"/>
            <a:r>
              <a:rPr lang="en-US" dirty="0"/>
              <a:t>All types of images can be stored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1540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Diligence</a:t>
            </a:r>
          </a:p>
          <a:p>
            <a:pPr lvl="1"/>
            <a:r>
              <a:rPr lang="en-US" dirty="0"/>
              <a:t>Free from tiredness and lack of concentration</a:t>
            </a:r>
          </a:p>
          <a:p>
            <a:pPr lvl="1"/>
            <a:r>
              <a:rPr lang="en-US" dirty="0"/>
              <a:t>Can work continuously without error and boredom</a:t>
            </a:r>
          </a:p>
          <a:p>
            <a:pPr lvl="1"/>
            <a:r>
              <a:rPr lang="en-US" dirty="0"/>
              <a:t>Repeated task with same time and accuracy</a:t>
            </a:r>
          </a:p>
          <a:p>
            <a:r>
              <a:rPr lang="en-US" dirty="0"/>
              <a:t>Versatility</a:t>
            </a:r>
          </a:p>
          <a:p>
            <a:pPr lvl="1"/>
            <a:r>
              <a:rPr lang="en-US" dirty="0"/>
              <a:t> solves different problems</a:t>
            </a:r>
          </a:p>
          <a:p>
            <a:pPr lvl="2"/>
            <a:r>
              <a:rPr lang="en-US" dirty="0"/>
              <a:t>Solving complex problems</a:t>
            </a:r>
          </a:p>
          <a:p>
            <a:pPr lvl="2"/>
            <a:r>
              <a:rPr lang="en-US" dirty="0"/>
              <a:t>Games </a:t>
            </a:r>
          </a:p>
          <a:p>
            <a:r>
              <a:rPr lang="en-US" dirty="0"/>
              <a:t>Reliability</a:t>
            </a:r>
          </a:p>
          <a:p>
            <a:pPr lvl="1"/>
            <a:r>
              <a:rPr lang="en-US" dirty="0"/>
              <a:t>Machines with long lives</a:t>
            </a:r>
          </a:p>
          <a:p>
            <a:pPr lvl="1"/>
            <a:r>
              <a:rPr lang="en-US" dirty="0"/>
              <a:t>Easy maintenance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812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Automation</a:t>
            </a:r>
          </a:p>
          <a:p>
            <a:pPr lvl="1"/>
            <a:r>
              <a:rPr lang="en-US" dirty="0"/>
              <a:t>Computer is automatic machine</a:t>
            </a:r>
          </a:p>
          <a:p>
            <a:pPr lvl="1"/>
            <a:r>
              <a:rPr lang="en-US" dirty="0"/>
              <a:t>After taking input and program, then it can process without human interaction</a:t>
            </a:r>
          </a:p>
          <a:p>
            <a:r>
              <a:rPr lang="en-US" dirty="0"/>
              <a:t>Reduction in manual work and paper cost</a:t>
            </a:r>
          </a:p>
          <a:p>
            <a:pPr lvl="1"/>
            <a:r>
              <a:rPr lang="en-US" dirty="0"/>
              <a:t>Data stored inside computers electronically reduces paper cost</a:t>
            </a:r>
          </a:p>
          <a:p>
            <a:pPr lvl="1"/>
            <a:r>
              <a:rPr lang="en-US" dirty="0"/>
              <a:t>Increases speed</a:t>
            </a:r>
          </a:p>
          <a:p>
            <a:pPr lvl="1"/>
            <a:r>
              <a:rPr lang="en-US" dirty="0"/>
              <a:t>Data retrieved easily and speedily when required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4405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Weaknesses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I.Q.</a:t>
            </a:r>
          </a:p>
          <a:p>
            <a:pPr lvl="1"/>
            <a:r>
              <a:rPr lang="en-US" dirty="0"/>
              <a:t>No intelligence</a:t>
            </a:r>
          </a:p>
          <a:p>
            <a:pPr lvl="1"/>
            <a:r>
              <a:rPr lang="en-US" dirty="0"/>
              <a:t>Instructions given to computer</a:t>
            </a:r>
          </a:p>
          <a:p>
            <a:pPr lvl="1"/>
            <a:r>
              <a:rPr lang="en-US" dirty="0"/>
              <a:t>Cannot take decisions </a:t>
            </a:r>
          </a:p>
          <a:p>
            <a:r>
              <a:rPr lang="en-US" dirty="0"/>
              <a:t>Dependency</a:t>
            </a:r>
          </a:p>
          <a:p>
            <a:pPr lvl="1"/>
            <a:r>
              <a:rPr lang="en-US" dirty="0"/>
              <a:t>Depends on instructions given by humans</a:t>
            </a:r>
          </a:p>
          <a:p>
            <a:r>
              <a:rPr lang="en-US" dirty="0"/>
              <a:t>No Feeling</a:t>
            </a:r>
          </a:p>
          <a:p>
            <a:pPr lvl="1"/>
            <a:r>
              <a:rPr lang="en-US" dirty="0"/>
              <a:t>Cannot make judgment on feelings, taste, experience, knowledge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708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High risk of privacy invasion</a:t>
            </a:r>
          </a:p>
          <a:p>
            <a:r>
              <a:rPr lang="en-US" altLang="en-US" dirty="0"/>
              <a:t>Health implications</a:t>
            </a:r>
          </a:p>
          <a:p>
            <a:r>
              <a:rPr lang="en-US" altLang="en-US" dirty="0"/>
              <a:t>Social Disconnect</a:t>
            </a:r>
          </a:p>
          <a:p>
            <a:r>
              <a:rPr lang="en-US" altLang="en-US" dirty="0"/>
              <a:t>Addiction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922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1" y="1724025"/>
            <a:ext cx="1852613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439" y="4535488"/>
            <a:ext cx="5449887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TextBox 5"/>
          <p:cNvSpPr txBox="1">
            <a:spLocks noChangeArrowheads="1"/>
          </p:cNvSpPr>
          <p:nvPr/>
        </p:nvSpPr>
        <p:spPr bwMode="auto">
          <a:xfrm>
            <a:off x="7658100" y="6530976"/>
            <a:ext cx="28194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dirty="0">
                <a:solidFill>
                  <a:srgbClr val="0070C0"/>
                </a:solidFill>
                <a:latin typeface="Times" panose="02020603050405020304" pitchFamily="18" charset="0"/>
              </a:rPr>
              <a:t>http://www.bbc.com/news/world-asia-42549687</a:t>
            </a:r>
          </a:p>
        </p:txBody>
      </p:sp>
      <p:pic>
        <p:nvPicPr>
          <p:cNvPr id="9223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438" y="3859214"/>
            <a:ext cx="4946650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571625" y="4800600"/>
            <a:ext cx="3124200" cy="1200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But we have a choice:</a:t>
            </a:r>
            <a:endParaRPr lang="en-US" altLang="en-US" sz="2400">
              <a:solidFill>
                <a:srgbClr val="FF0000"/>
              </a:solidFill>
              <a:latin typeface="Times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" panose="02020603050405020304" pitchFamily="18" charset="0"/>
              </a:rPr>
              <a:t>What to do about/with this beast (Computer)?</a:t>
            </a:r>
          </a:p>
        </p:txBody>
      </p:sp>
      <p:cxnSp>
        <p:nvCxnSpPr>
          <p:cNvPr id="9225" name="Straight Connector 9"/>
          <p:cNvCxnSpPr>
            <a:cxnSpLocks noChangeShapeType="1"/>
          </p:cNvCxnSpPr>
          <p:nvPr/>
        </p:nvCxnSpPr>
        <p:spPr bwMode="auto">
          <a:xfrm>
            <a:off x="5024438" y="3917951"/>
            <a:ext cx="0" cy="26717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6890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4426"/>
            <a:ext cx="12192000" cy="1325563"/>
          </a:xfrm>
        </p:spPr>
        <p:txBody>
          <a:bodyPr/>
          <a:lstStyle/>
          <a:p>
            <a:r>
              <a:rPr lang="en-US" dirty="0"/>
              <a:t>End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1170735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2742</TotalTime>
  <Words>1251</Words>
  <Application>Microsoft Office PowerPoint</Application>
  <PresentationFormat>Widescreen</PresentationFormat>
  <Paragraphs>281</Paragraphs>
  <Slides>39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Courier New</vt:lpstr>
      <vt:lpstr>Monotype Sorts</vt:lpstr>
      <vt:lpstr>Times</vt:lpstr>
      <vt:lpstr>Times New Roman</vt:lpstr>
      <vt:lpstr>Office Theme</vt:lpstr>
      <vt:lpstr>About Me</vt:lpstr>
      <vt:lpstr>Introduction to ICT  Lecture 01</vt:lpstr>
      <vt:lpstr>Course Outline &amp; Marks Distribution</vt:lpstr>
      <vt:lpstr>Introduction to Information and Communication Technology (IICT)</vt:lpstr>
      <vt:lpstr>ICT</vt:lpstr>
      <vt:lpstr>The Meaning of ICT</vt:lpstr>
      <vt:lpstr>Do you use an ICT</vt:lpstr>
      <vt:lpstr>PowerPoint Presentation</vt:lpstr>
      <vt:lpstr>Amazing Facts and Statistics</vt:lpstr>
      <vt:lpstr>Amazing Facts and Statistics</vt:lpstr>
      <vt:lpstr>Amazing Facts and Statistics</vt:lpstr>
      <vt:lpstr>Cont…</vt:lpstr>
      <vt:lpstr>PowerPoint Presentation</vt:lpstr>
      <vt:lpstr>Bright side of Computer</vt:lpstr>
      <vt:lpstr>Making Life Easy</vt:lpstr>
      <vt:lpstr>Transition</vt:lpstr>
      <vt:lpstr>Social Media/Communication</vt:lpstr>
      <vt:lpstr>E-Commerce</vt:lpstr>
      <vt:lpstr>Automation</vt:lpstr>
      <vt:lpstr>Defense/Military</vt:lpstr>
      <vt:lpstr>Education</vt:lpstr>
      <vt:lpstr>Recreational and Entertainment Aspect</vt:lpstr>
      <vt:lpstr>Basics</vt:lpstr>
      <vt:lpstr>Hardware: Processor</vt:lpstr>
      <vt:lpstr>Hardware: Memory</vt:lpstr>
      <vt:lpstr>Hardware &amp; Software</vt:lpstr>
      <vt:lpstr>System Vs Application (Software)</vt:lpstr>
      <vt:lpstr>Types of Computer</vt:lpstr>
      <vt:lpstr>Types of Computer</vt:lpstr>
      <vt:lpstr>Types of Computer</vt:lpstr>
      <vt:lpstr>Types of Computer</vt:lpstr>
      <vt:lpstr>Types of Computer</vt:lpstr>
      <vt:lpstr>Types of Computer</vt:lpstr>
      <vt:lpstr>Advantages of Computer</vt:lpstr>
      <vt:lpstr>Advantages of Computer</vt:lpstr>
      <vt:lpstr>Advantages of Computer</vt:lpstr>
      <vt:lpstr>Weaknesses of Computer</vt:lpstr>
      <vt:lpstr>Cons</vt:lpstr>
      <vt:lpstr>End of The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Bismillah Jan</dc:creator>
  <cp:lastModifiedBy>03-134162-024</cp:lastModifiedBy>
  <cp:revision>176</cp:revision>
  <dcterms:created xsi:type="dcterms:W3CDTF">2018-08-27T11:57:44Z</dcterms:created>
  <dcterms:modified xsi:type="dcterms:W3CDTF">2024-08-29T07:59:03Z</dcterms:modified>
</cp:coreProperties>
</file>