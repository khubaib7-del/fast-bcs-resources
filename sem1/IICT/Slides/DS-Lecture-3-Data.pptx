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7010400" cy="9236075"/>
  <p:embeddedFontLst>
    <p:embeddedFont>
      <p:font typeface="Overlock"/>
      <p:regular r:id="rId10"/>
      <p:bold r:id="rId11"/>
      <p:italic r:id="rId12"/>
      <p:boldItalic r:id="rId13"/>
    </p:embeddedFont>
    <p:embeddedFont>
      <p:font typeface="Tahoma" panose="020B0604030504040204" pitchFamily="3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9">
          <p15:clr>
            <a:srgbClr val="000000"/>
          </p15:clr>
        </p15:guide>
        <p15:guide id="2" pos="2208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hpUCvxfh78aaF8mNUc7M6vCy8J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E560973-E091-4184-875D-EE27F69CB816}">
  <a:tblStyle styleId="{9E560973-E091-4184-875D-EE27F69CB816}" styleName="Table_0">
    <a:wholeTbl>
      <a:tcTxStyle b="off" i="off">
        <a:font>
          <a:latin typeface="Tahoma"/>
          <a:ea typeface="Tahoma"/>
          <a:cs typeface="Tahom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AF1"/>
          </a:solidFill>
        </a:fill>
      </a:tcStyle>
    </a:wholeTbl>
    <a:band1H>
      <a:tcTxStyle/>
      <a:tcStyle>
        <a:tcBdr/>
        <a:fill>
          <a:solidFill>
            <a:srgbClr val="CAF5E1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F5E1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Tahoma"/>
          <a:ea typeface="Tahoma"/>
          <a:cs typeface="Tahoma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ahoma"/>
          <a:ea typeface="Tahoma"/>
          <a:cs typeface="Tahoma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ahoma"/>
          <a:ea typeface="Tahoma"/>
          <a:cs typeface="Tahom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ahoma"/>
          <a:ea typeface="Tahoma"/>
          <a:cs typeface="Tahom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386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09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8475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1925" y="0"/>
            <a:ext cx="3038475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8563" y="693738"/>
            <a:ext cx="4616450" cy="34623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935038" y="4386263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25" tIns="45350" rIns="90725" bIns="45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8563" y="693738"/>
            <a:ext cx="4616450" cy="34623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5" name="Google Shape;145;p7:notes"/>
          <p:cNvSpPr txBox="1">
            <a:spLocks noGrp="1"/>
          </p:cNvSpPr>
          <p:nvPr>
            <p:ph type="body" idx="1"/>
          </p:nvPr>
        </p:nvSpPr>
        <p:spPr>
          <a:xfrm>
            <a:off x="935038" y="4386263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25" tIns="45350" rIns="90725" bIns="45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8563" y="693738"/>
            <a:ext cx="4616450" cy="34623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3" name="Google Shape;153;p10:notes"/>
          <p:cNvSpPr txBox="1">
            <a:spLocks noGrp="1"/>
          </p:cNvSpPr>
          <p:nvPr>
            <p:ph type="body" idx="1"/>
          </p:nvPr>
        </p:nvSpPr>
        <p:spPr>
          <a:xfrm>
            <a:off x="935038" y="4386263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25" tIns="45350" rIns="90725" bIns="45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1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sldNum" idx="12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83820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marL="914400" lvl="1" indent="-291465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marL="1371600" lvl="2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sldNum" idx="12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14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5" name="Google Shape;25;p14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6" name="Google Shape;26;p14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7" name="Google Shape;27;p14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>
                <a:gsLst>
                  <a:gs pos="0">
                    <a:schemeClr val="folHlink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28" name="Google Shape;28;p14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9" name="Google Shape;29;p14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0" name="Google Shape;30;p14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31" name="Google Shape;31;p14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hlink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" name="Google Shape;32;p14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3" name="Google Shape;33;p14"/>
            <p:cNvSpPr/>
            <p:nvPr/>
          </p:nvSpPr>
          <p:spPr>
            <a:xfrm rot="10800000" flipH="1">
              <a:off x="199" y="2054"/>
              <a:ext cx="5476" cy="3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34" name="Google Shape;34;p14"/>
          <p:cNvSpPr txBox="1">
            <a:spLocks noGrp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SzPts val="168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dt" idx="10"/>
          </p:nvPr>
        </p:nvSpPr>
        <p:spPr>
          <a:xfrm>
            <a:off x="990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ftr" idx="11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sldNum" idx="12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sldNum" idx="12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4114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marL="914400" lvl="1" indent="-312419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marL="1371600" lvl="2" indent="-2921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marL="1828800" lvl="3" indent="-291464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2"/>
          </p:nvPr>
        </p:nvSpPr>
        <p:spPr>
          <a:xfrm>
            <a:off x="4572000" y="1295400"/>
            <a:ext cx="4114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marL="914400" lvl="1" indent="-312419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marL="1371600" lvl="2" indent="-2921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marL="1828800" lvl="3" indent="-291464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sldNum" idx="12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44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1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9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88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marL="914400" lvl="1" indent="-29845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marL="1371600" lvl="2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marL="1828800" lvl="3" indent="-28448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marL="2286000" lvl="4" indent="-279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marL="2743200" lvl="5" indent="-279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marL="3200400" lvl="6" indent="-279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marL="3657600" lvl="7" indent="-279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marL="4114800" lvl="8" indent="-279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44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1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9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88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marL="914400" lvl="1" indent="-29845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marL="1371600" lvl="2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marL="1828800" lvl="3" indent="-28448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marL="2286000" lvl="4" indent="-279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marL="2743200" lvl="5" indent="-279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marL="3200400" lvl="6" indent="-279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marL="3657600" lvl="7" indent="-279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marL="4114800" lvl="8" indent="-279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>
            <a:endParaRPr/>
          </a:p>
        </p:txBody>
      </p:sp>
      <p:sp>
        <p:nvSpPr>
          <p:cNvPr id="54" name="Google Shape;54;p17"/>
          <p:cNvSpPr txBox="1">
            <a:spLocks noGrp="1"/>
          </p:cNvSpPr>
          <p:nvPr>
            <p:ph type="sldNum" idx="12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 txBox="1"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sldNum" idx="12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>
            <a:spLocks noGrp="1"/>
          </p:cNvSpPr>
          <p:nvPr>
            <p:ph type="sldNum" idx="12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marL="914400" lvl="1" indent="-326390" algn="l"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marL="1371600" lvl="2" indent="-304800" algn="l"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marL="1828800" lvl="3" indent="-29845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marL="2286000" lvl="4" indent="-2921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marL="2743200" lvl="5" indent="-2921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marL="3200400" lvl="6" indent="-2921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marL="3657600" lvl="7" indent="-2921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marL="4114800" lvl="8" indent="-2921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body" idx="1"/>
          </p:nvPr>
        </p:nvSpPr>
        <p:spPr>
          <a:xfrm rot="5400000">
            <a:off x="1905000" y="-304800"/>
            <a:ext cx="5181600" cy="83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marL="914400" lvl="1" indent="-291465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marL="1371600" lvl="2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21"/>
          <p:cNvSpPr txBox="1">
            <a:spLocks noGrp="1"/>
          </p:cNvSpPr>
          <p:nvPr>
            <p:ph type="sldNum" idx="12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2"/>
          <p:cNvSpPr txBox="1">
            <a:spLocks noGrp="1"/>
          </p:cNvSpPr>
          <p:nvPr>
            <p:ph type="title"/>
          </p:nvPr>
        </p:nvSpPr>
        <p:spPr>
          <a:xfrm rot="5400000">
            <a:off x="4733925" y="2295525"/>
            <a:ext cx="6172200" cy="219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body" idx="1"/>
          </p:nvPr>
        </p:nvSpPr>
        <p:spPr>
          <a:xfrm rot="5400000">
            <a:off x="276225" y="180975"/>
            <a:ext cx="6172200" cy="6419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marL="914400" lvl="1" indent="-291465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marL="1371600" lvl="2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sldNum" idx="12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3"/>
          <p:cNvSpPr txBox="1"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4114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marL="914400" lvl="1" indent="-291465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marL="1371600" lvl="2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2"/>
          </p:nvPr>
        </p:nvSpPr>
        <p:spPr>
          <a:xfrm>
            <a:off x="4572000" y="1295400"/>
            <a:ext cx="4114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marL="914400" lvl="1" indent="-291465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marL="1371600" lvl="2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body" idx="3"/>
          </p:nvPr>
        </p:nvSpPr>
        <p:spPr>
          <a:xfrm>
            <a:off x="4572000" y="3962400"/>
            <a:ext cx="4114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marL="914400" lvl="1" indent="-291465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marL="1371600" lvl="2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sldNum" idx="12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4"/>
          <p:cNvSpPr txBox="1"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4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4114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marL="914400" lvl="1" indent="-291465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marL="1371600" lvl="2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body" idx="2"/>
          </p:nvPr>
        </p:nvSpPr>
        <p:spPr>
          <a:xfrm>
            <a:off x="4572000" y="1295400"/>
            <a:ext cx="4114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marL="914400" lvl="1" indent="-291465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marL="1371600" lvl="2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sldNum" idx="12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5"/>
          <p:cNvSpPr txBox="1"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5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4114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marL="914400" lvl="1" indent="-291465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marL="1371600" lvl="2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87" name="Google Shape;87;p25"/>
          <p:cNvSpPr>
            <a:spLocks noGrp="1"/>
          </p:cNvSpPr>
          <p:nvPr>
            <p:ph type="chart" idx="2"/>
          </p:nvPr>
        </p:nvSpPr>
        <p:spPr>
          <a:xfrm>
            <a:off x="4572000" y="1295400"/>
            <a:ext cx="4114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8" name="Google Shape;88;p25"/>
          <p:cNvSpPr txBox="1">
            <a:spLocks noGrp="1"/>
          </p:cNvSpPr>
          <p:nvPr>
            <p:ph type="sldNum" idx="12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ntent" type="fourObj">
  <p:cSld name="FOUR_OBJECTS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6"/>
          <p:cNvSpPr txBox="1"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6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4114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marL="914400" lvl="1" indent="-291465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marL="1371600" lvl="2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6"/>
          <p:cNvSpPr txBox="1">
            <a:spLocks noGrp="1"/>
          </p:cNvSpPr>
          <p:nvPr>
            <p:ph type="body" idx="2"/>
          </p:nvPr>
        </p:nvSpPr>
        <p:spPr>
          <a:xfrm>
            <a:off x="4572000" y="1295400"/>
            <a:ext cx="4114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marL="914400" lvl="1" indent="-291465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marL="1371600" lvl="2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93" name="Google Shape;93;p26"/>
          <p:cNvSpPr txBox="1">
            <a:spLocks noGrp="1"/>
          </p:cNvSpPr>
          <p:nvPr>
            <p:ph type="body" idx="3"/>
          </p:nvPr>
        </p:nvSpPr>
        <p:spPr>
          <a:xfrm>
            <a:off x="304800" y="3962400"/>
            <a:ext cx="4114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marL="914400" lvl="1" indent="-291465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marL="1371600" lvl="2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94" name="Google Shape;94;p26"/>
          <p:cNvSpPr txBox="1">
            <a:spLocks noGrp="1"/>
          </p:cNvSpPr>
          <p:nvPr>
            <p:ph type="body" idx="4"/>
          </p:nvPr>
        </p:nvSpPr>
        <p:spPr>
          <a:xfrm>
            <a:off x="4572000" y="3962400"/>
            <a:ext cx="4114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marL="914400" lvl="1" indent="-291465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marL="1371600" lvl="2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95" name="Google Shape;95;p26"/>
          <p:cNvSpPr txBox="1">
            <a:spLocks noGrp="1"/>
          </p:cNvSpPr>
          <p:nvPr>
            <p:ph type="sldNum" idx="12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304800" y="1143000"/>
            <a:ext cx="8226425" cy="46038"/>
          </a:xfrm>
          <a:prstGeom prst="rect">
            <a:avLst/>
          </a:prstGeom>
          <a:gradFill>
            <a:gsLst>
              <a:gs pos="0">
                <a:srgbClr val="008080">
                  <a:alpha val="94901"/>
                </a:srgbClr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" name="Google Shape;11;p11"/>
          <p:cNvSpPr txBox="1"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83820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528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26390" algn="l" rtl="0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304800" algn="l" rtl="0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29845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2921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2921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3200400" marR="0" lvl="6" indent="-2921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657600" marR="0" lvl="7" indent="-2921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4114800" marR="0" lvl="8" indent="-2921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sldNum" idx="12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>
    <p:zoom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/>
          <p:nvPr/>
        </p:nvSpPr>
        <p:spPr>
          <a:xfrm>
            <a:off x="912813" y="995363"/>
            <a:ext cx="73152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0625" bIns="0" anchor="ctr" anchorCtr="0">
            <a:noAutofit/>
          </a:bodyPr>
          <a:lstStyle/>
          <a:p>
            <a:pPr marL="40005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 b="0" i="0" u="none" strike="noStrike" cap="none">
              <a:solidFill>
                <a:srgbClr val="FF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>
            <a:spLocks noGrp="1"/>
          </p:cNvSpPr>
          <p:nvPr>
            <p:ph type="title"/>
          </p:nvPr>
        </p:nvSpPr>
        <p:spPr>
          <a:xfrm>
            <a:off x="162719" y="-30163"/>
            <a:ext cx="8815387" cy="12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7373D1"/>
                </a:solidFill>
              </a:rPr>
              <a:t>Data Science</a:t>
            </a:r>
            <a:br>
              <a:rPr lang="en-US" sz="3200" b="1">
                <a:solidFill>
                  <a:srgbClr val="7373D1"/>
                </a:solidFill>
              </a:rPr>
            </a:br>
            <a:endParaRPr sz="3200" b="1">
              <a:solidFill>
                <a:srgbClr val="7373D1"/>
              </a:solidFill>
            </a:endParaRPr>
          </a:p>
        </p:txBody>
      </p:sp>
      <p:sp>
        <p:nvSpPr>
          <p:cNvPr id="103" name="Google Shape;103;p1"/>
          <p:cNvSpPr txBox="1">
            <a:spLocks noGrp="1"/>
          </p:cNvSpPr>
          <p:nvPr>
            <p:ph type="body" idx="1"/>
          </p:nvPr>
        </p:nvSpPr>
        <p:spPr>
          <a:xfrm>
            <a:off x="1927225" y="4222750"/>
            <a:ext cx="5008563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0625" bIns="0" anchor="t" anchorCtr="0">
            <a:noAutofit/>
          </a:bodyPr>
          <a:lstStyle/>
          <a:p>
            <a:pPr marL="382905" lvl="0" indent="-342900" algn="ctr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US" sz="2400" dirty="0">
                <a:solidFill>
                  <a:srgbClr val="3333CC"/>
                </a:solidFill>
              </a:rPr>
              <a:t>Instructor: Marwa Khan</a:t>
            </a:r>
            <a:endParaRPr sz="2400" dirty="0">
              <a:solidFill>
                <a:srgbClr val="3333CC"/>
              </a:solidFill>
            </a:endParaRPr>
          </a:p>
          <a:p>
            <a:pPr marL="382905" lvl="0" indent="-342900" algn="ctr" rtl="0">
              <a:spcBef>
                <a:spcPts val="550"/>
              </a:spcBef>
              <a:spcAft>
                <a:spcPts val="0"/>
              </a:spcAft>
              <a:buSzPts val="1440"/>
              <a:buNone/>
            </a:pPr>
            <a:endParaRPr sz="2400" dirty="0">
              <a:solidFill>
                <a:srgbClr val="3333CC"/>
              </a:solidFill>
            </a:endParaRPr>
          </a:p>
        </p:txBody>
      </p:sp>
      <p:sp>
        <p:nvSpPr>
          <p:cNvPr id="104" name="Google Shape;104;p1"/>
          <p:cNvSpPr txBox="1">
            <a:spLocks noGrp="1"/>
          </p:cNvSpPr>
          <p:nvPr>
            <p:ph type="ftr" idx="11"/>
          </p:nvPr>
        </p:nvSpPr>
        <p:spPr>
          <a:xfrm>
            <a:off x="938213" y="5822950"/>
            <a:ext cx="6986587" cy="898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National University of Computer and Emerging Sciences, Lahore</a:t>
            </a:r>
            <a:endParaRPr sz="2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>
            <a:spLocks noGrp="1"/>
          </p:cNvSpPr>
          <p:nvPr>
            <p:ph type="sldNum" idx="4294967295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 descr="Image result for mobile applications"/>
          <p:cNvSpPr/>
          <p:nvPr/>
        </p:nvSpPr>
        <p:spPr>
          <a:xfrm>
            <a:off x="176213" y="-1825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 descr="Image result for mobile applications"/>
          <p:cNvSpPr/>
          <p:nvPr/>
        </p:nvSpPr>
        <p:spPr>
          <a:xfrm>
            <a:off x="328613" y="-301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 descr="Image result for mobile applications"/>
          <p:cNvSpPr/>
          <p:nvPr/>
        </p:nvSpPr>
        <p:spPr>
          <a:xfrm>
            <a:off x="481013" y="1222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 descr="data:image/jpeg;base64,/9j/4AAQSkZJRgABAQAAAQABAAD/2wCEAAkGBxQTEhUUExQVFRQXGBoWGBgYFxwcHhsdGBcXHRgbHB0YHiggHBwlHRgeITEiJSkrLi4uGB8zODMsNygtLi0BCgoKDg0OGxAQGywlICQvLCwvLCwsLC8sLCwsLywsLCwsLCwsLCwsLCwsLCwsLCwsLCwsLCwsLCwsLCwsLCwsLP/AABEIAJEBXAMBEQACEQEDEQH/xAAcAAEAAgMBAQEAAAAAAAAAAAAABQYDBAcCAQj/xABEEAACAQIEAwUFBQYDBwUBAAABAgMAEQQFEiEGMUETIlFhcQcygZGhFEJSscEjM2Jy0fCCsuEVNFNjc8LxJTVDksMk/8QAGwEBAAMBAQEBAAAAAAAAAAAAAAIDBAEFBgf/xAA3EQACAQIFAQYGAgEBCQAAAAAAAQIDEQQSITFBUQUTYXGB8CIykaGx0cHhI0IUFTM0UnKSovH/2gAMAwEAAhEDEQA/AO40AoBQCgFAKAUAoBQCgFAKAUAoBQCgFAKAwY9mEblPeCkj1tUo2zK5XVclBuO9jmEGIYSqJJ5mXUAwMsnI9dmHrzFem4LLol9EfKRxMo1UpybV+r/fqbs2Owm4IxAO4vqe4+eIPL0NVqlU8PfoaJY7DbNT++n/ALk5wHjtpIGYsyHULkna9mAv0B3/AMVU4mFrSXJu7JxLlmoyeq9v7/ktbuACTsBWKc4wi5Sdkj2km3ZETPPr3LMF52Xw5C/qdq+er4lYj4nOUY76XWmyv/3PRb3eyauzVGOXSyuYcHhyWGk2PMnwqODwcm007S3b6e/v5EqlTTXYjc+9n0GKxRxEjuoZVDolhqK7Aljcju2G3hzr350FKV2W4ftSrQpd3FLwb4Ga4nCZTGogw69o+yheZA6vIbtb5n621YbDKTstDzcb2hUlrUbk+nH6RXMTmsmIiEuKYFGLHswWVFVTpuFRg0jarXLG2493nXowpqE8sN+um/rt6a+Z5VSq5wzT26a7em+vXTyMuW5guCk7VVYRGyyKTc6SdnA59QRfc6tvvaezg68cr34/Xv8AV64z/wBnlnXy8rw6++vnaw8TTDWjGRzC6XUI2zfpaxBvvzr43tSnLvkpyko22XVHrupFK58wv2JEDswa4vZjc+mlflvXaOEwNOCnLXz/AEg6sbXuaeHzPs8b0VS+iwtYK1gvu7eB+FRp/wCLFtpWV7ej229Cl17Tsy9V7poFAKAUAoBQCgFAKAUAoBQCgFAKAUAoBQCgFAKAUAoBQCgFAKAUAoBQCgOU8VImGxPeAZb30kkal2IG2/I2+FenTqXp7nyOPoKlib5brp1XvT0IGfN42kLkLYtq0d63O9r87VNTSja5hnGU6rqZd3e3HkTHDWddpmEZiUAu2kot7BNNm5+CjV6iqajj3WVs9HBurLGKpGKV+F0t7fmXfi3M2iKqVbQfvDkW8Phzt1+FfJdrurK0No/l9PT7+h9pQyrXk0cFjZZWUGKQryB0mw9Ta3xrJTp16ko503bRaaL31ZY5RS0LZg8PoW3U8z/fSvoqFFUo255Mk5ZmZ6uIkJxbkYxUJAt2qXaM+fVT5Ny+R6VZSnklcprUu8jbk5Xhs17Jikv7Ox2fRcoRcFbXuNyQbb95h1BX2FHvI5o+q9+/58ZVO7lllp0dtvf766bK2mjfD4NTO723UN3F1aj2jyqv3tVrWB1G+43jfJJTq6W+/GiRZlU4OnS1vz051b9S1Yzh+aDLFRi00sTa9KAsQGNiibXIF7+O3oK8HtRLEvNFcm+NCUKChe7XuxAJgsW+hZgIF30CV+9Ym7aY1u3PncCvPjg6kkk+CCw9Wehasr4HjsryTPJyYae4viPE/IitEMFGO7LI4NJ/Ey41sNYoBQCgFAKAUAoBQCgFAKAUAoBQCgFAKAUAoBQCgFAKAj8Rm6IxUhiRtsB+pqSiyxUm1c134hQfdf6f1plJdy+pv5bjVmjWRQQGvz57Ej9KiyqSs7GzQ4U/Dys6j9pIWP8AGT6i1/De/Kvk+7qzgrTk5t2+Z9Xpa91ZfFfa2huzRT2VvL35Gw8DAX1kjlcMT86qxGGr0o5nO61V020vPoShOL4J3Kv3Y9T+dfS4BWoJGOr8x4x2T4eZg0sMUjAWBdFY28NxyrapNbGeVKEneST9DWTLcEjaVhw6tysI05/AVRLG0lNU3NZulyccKkrqCt5ElDhkX3UVfRQPyq+4SS2Krxj7Q8LgDoN5p/8AhRkXXw1k7L6bnflapRg5HHJI3+B+JRj8MJtHZuGZHj1atJB271he6lTy6kdK5KOV2Op3M+bZ6I7rGA78v4V9T1PkPpXEiyNNsgziZ2G8z6r76e6tvK1rfX1qSiWxp6m3l2GkZgQWYgg3ZiQPnUnZE5ZYrUZ3wNBicQJnZgvN41sNbDYEtzUW52sTYG43vKniZ01aJ5dTC06kryLDgMBHCgjiRY0HRRb1J8SfE7mqpScnds0RioqyRFY/OWMjxRjSUsCx57i/dHL4n5USuXU4KW5p4XBLqJa5JBZje7Gw2uTufLwqe2xdpFfCTWTTApp/D+R5frUJLUpqxs7khUSoUAoBQCgFAKAUAoBQCgFAKAUAoBQCgFAKAUAoBQCgFAV7HgGZ1uAdrX6mwsPK9WLY0xdoJkPn05WNo0Pe6sPxeXkOVWUUnNZtinEylGjKadnbQiMuMiRLqxEigkWVZggUMb35Ekkam+HXpulGF7Rivpc8WM6jSlOb18bELxXjMVDE7pi8RawKntmuO8t1Ok2JF9+m/wAKshGnJfKvoVuVSM18Ta8zcyDOO/cm9mYWv5kV+fyaw+JzWvZvwPp7OUbFqXGJp0ob3N7npblWbEVMNToulRbd3e74ttbrfXfX7E4qbleR8zviN8Jl8k0IRpQ4Ch7le9IisTpIOwY9RuK+gwFWCjTpN6yvb0V2Za8WryKZgONc3xbCNBhxsSSI3AAHVj2hIHT1IrfiMLCpGzlJLwaV/W1yiFWSeiXqasHE2YCVY3ESEOFa0ZuveAP3yLisVPsHCJprN9f6JTxlWzvb6f2dB47x2I/2Y02Gco4CtIVHe0cpNJ+6Re+rmADaxsa20JwqO66teqdvyiM7qJxXIo0SUSOQQdYJYahdlYXYfeF2uR13rVJaFSepdPZ7mX2fGfZ2dGixSWVk93UCwQi9rbh0t42qE1dX6EouzOjRZFJ1KD0v/QVTc05zciyf8TXHOwFvreu5gqjWxJxxhRYCwqJBtvcq+L41j1ukKCXQdLOXCpq6gEBmNup0286jmvsZnXTbUdbeP/38FWx/tFxRYrGkCDxBMnyNwPp/Sq3UZ5WI7UqQdkl+SyY6Q3w+JKlTKgSQEWsxFxz/ALstXwdz3cNUcoqTVro2ftI0EabMRa9+YuDy8dqstqbMrvfg38mwjqdR2BFrHmfh0qMmiqrNNWRL1AoFAKAUAoBQCgFAKAUAoBQCgFAKAUAoBQCgFAKAUAoBQEXjsn7Ry2si9treAt41JSsWxq5VaxC8Q8P6cNO/aG6RO3u/hQnx8quoS/yx80U4qrehNeD/AAUfA4wTwBVdRIoRSvZRMe6QqsNZBYWLEnpf5+nUXdzu1pry/wCDw6X+WmknqrcJ7efqQfHGaIw7NGDWDlioUC7sG09wkNa3ME8/G9Toxai2/D7eYqtOpFR4v9/I7nlMSNDE2le9GjXsN7qDevBlFX2PdT0NwRL+EfIVHLHoduyqe1KMf7OlbqhjPwMsYP8AflUe4Uq1OfMW/umrfh+hyUrQa6nKuFsW7O8aLFKHXS0UkgTWNQICsSO8Dvty8K2ztuURPeJxMSYspA+uISKEa4YEErex6gEkA9bXqcL6XIzSs7HYeHlLxMjreNlA3GxutmHmCK8DA95GvXi08ueTT8bu9jdKzpw62X4OCcTZa2DxE0DE2jbYnqpF0a/mpF/O/hXvRd1cxNWdiw5XlNjh8XmJMEaBewhjXTLL2bFwwXYRpc+9sT5XBKEJTuoHJ1Iws5l4n46xEovhoI40N9MmIcb2veyAqNgDuGIFjfkamsLGLtOWvRIqeKlJXgvVsrOY53mCuJXmk1RsJAgIVGCndbR2DLa43v1rXDD0HGyXqY54mspLN9Cy+0riSRcJA2H2hxI70gNmsVDKg8CwJ3590ivDrJweV+RsxlaSppw55KNlhx7KFghlC9CsR22AFmIsOV+m+/Wq03sjz4PE5bRT+hduCOC3DCbFpYqbrGSCS34msT8vHny3lGHLLMH2dJVHVrei/llt4qxOHTDk4qVYoyRZiQDe9wFHMnyAJ51cr8HtXsbGVYaLQskbCQMAVkuCCCNiCNrHxFdbZOVRyRIVEgKAUAoBQCgFAKAUAoBQCgFAKAUAoBQCgFAKAUAoBQCgFAVv2gTSJg2aJ2jYMveU6TYmxFxuKjLYxdoVJU6DlHw/JQswy3FISPt0zKFkLntJdjHpDJYtvdnVQeuqoWa5PPqKtF/O3o778cW8bpLzI/gvDf8AqEEcoEiP2isjjUNo2IuG6ggVONaqpL4n9WRwVTPVUZfRo6SuSQ6riCAHmP2MW3xKbVe6knu39T2VBLZL6El2kg21n5L/AEqsldmbIcS8kIaSxa7A2FuTG30oycXdHvOcrjxMLwSgmNxY2NjsQRY+oFE7O4auUIezCBXOjtxY91u0t6G9r/KvJniO0+9cIxi1fRtaW+v8FypUMt3c3sH7K8IhVi8xZSDsy22Nx929erSqVVH/ACNN+CsvyyiUIPYuL4iOFQt9lAAUbmwFh/5Ndd27jSKsRcUGFxEwlkgjM6gKrOoY2BJGkkbEXPnvXbtKwVmyN9pmUiXDia3ehNz/ACNYN8iFPoDWnB1Ms8vUy4ynmhm6fgpcuJHZoVZEARWUhdbfswxsA11BCtfmpujeG2uEfiaeuvktbeu/nujLUfwpp20utLvS/XTby2Z7zKYnDvIRJZQjq0hts7gaVU9Fu45nbTzAFrKVlUUdOdvD2vuU1k3ScteHr4v+Nft4Fk9kmaiTDvh23aBrpf8AA9yPkdQ9CKy9oUss8y5/Js7Pq56eV8FwzTOIMOAZ5Uj1bLqYAnxsOZrzz1KdGdR2gm/Ip/HntD+y6IsKiyyyxiVXJ/Zqj3CtYG7k25bC29+lWQhcqqNwbi90c2ZftYaXFzh8VqIBlkKqqEKe6oUrzBGlQvO5ubVb8r0Kr3WpNcOcVS5ZIsUlpMO4D6UNxpfcSRk+O+xtffkd65KKlqgnlOzYLFpLGksZ1I6hlPiCLg771nasXGegFAKAUAoBQCgFAKAUAoBQHy9AeWkANibE3Pytf865dHUmz4Zl8RTMjuV9DycUv9iuZ0d7uRjbGDoKi5nVTMT44+QqLqE1SNds0I8DUO+aLO4TJOCYOoZeRrRGSkrozSi4uzMldIigFAKArftEjJwE2kFiNBsBc7SJfYeV6jPYx4+Dnh5JeH5OdYHiaSMJ23asQ6k6ha0ag7C/3ixDXP4E3qtSPKp4qpTS7xN6r6L+b6+iPWRY4TZrhWj1tpsrMw7zaYipd7E2v6npvXE7yRbh6iqYlSjfZK73dluzpSzWJvyOx+f+laT17nqSYWWxO22/re/1oLlJbiTFRTPFGR2YO3cB3JN968ztDEVqLThtboTh4krHxFiiN2F/5RXjPtfFJ20+n9lmhh4M4nxU2YSQTEvH2bMDpXuFXsCSqjZhfY33tX0WFqupSUpb/wBJl0clTDd4kk1Jx51S82X+UbVoMzIefC6Dq94X/u9SIbGjOqkbn0sN/j0+tDlzZy/MO0vBMNYcFL+IINw3wvv/AOaLR3R291ZlAynhfMoZnjjjVolcgPI2kEAnSylDrFwb2G25uK9SrWw84qUnr4f3oefSoV6cnFLTx93LFH7PmkULPMqICWMcCnckk7ySklrFjYaQN+VZ1jMrvFXfV/pF8sJnjlk7Lov2yv4/ieHAdphsuiIfUVknluTqQlSFB52N+dlBvsb1TUqzrO82fQ9m9iQUcz0T4W782VeeIOwkxWIbtpQGuUMllO6GQ6gVBBuFUNYEGwvakYeB9BSi4JqjTulpva75to722u2tSz5ZwyuPwrREiPHYNiiSdGQksivb3kvqAIvYWIuCQeSllemzPn+2aEe8VaG01f15X78Sg4qOaCYxSKY50Ybdb37pHQg7EEXB86sTTR4exf8Ah72fYjFsJ8e7qth3T+9Ybkarjujf712ttYWFVuajpEmot6s6zhoFjRUQWVVCqPAKLAfIVQWmSgFAKAUAoBQCgFAKAUAoBQGv9pFdsDQx0t3X0P5iqKu6NFHZnyoFhjdmHSuNs6kma82NsLG6nxqDmTVMgsbO55k1nbbNKSWx8wGPPuv866pHHHlEvkeO7OQo3utuPDyP6GrqNTK7PYor088brdFrrcecKAUByLMzjHmxDjFyIscrpbtnUAByB3U2sBbfzFePOVaUpNSsk3yfZ0Y4SNKnF0k3KKfyp8dWRuaY3Hwxa/tcpDKzKRKWuFtc2PqOYpGrWjKN5aMSw+CqRnlp2cfBr+jr3DeKMuEw0rG7PDE7HxLIpJ+Zr1ou6TPkKscs5R6NnPfaBmGK+3CGGaZbqmhI3KbtcfdI69Sdq0wgnHMz6TsvC4eWEdWpFaN3bV9vfBDy51jFVjHi45igu6qgJAHNgXjGtR1IJPXlvTu35CXZeGk1mpON9m39tJOz6J+W+hM8G8QyywYyScdqYBGUCgJfVr526XAuegBqDi1KzPOxPZdOFeFJO2Z7v0PXDmIYSySPdhpLPa23eG9rjbe23jXjUMTPvZSnqrfS3vzPBVS0muETuc5sHhXs9WktYki3ui9vrf4VHH11VopR2b/B2VXS6NThPPsLAJ+2kjjlaQnf3mQAaeXMai9vU1swKboJpbdPJFNHERSkpu3xN/Wx4zP2hMWth0TT4vvf4KRaqa1bGJ3hSaXim39tvuXrEUP+tfVF3wc6zRpIvJ1DW9RyPn0rfTmpxUlyWNEZjMvJe0Y9b8l+P6VZchlNTO2+wYZ8QoEko0qNVwvedQbAf3tUJyaRXWqdzTcyrp7SsUoBkwiWYXU3dLjxBYG48xVed9DF/vGUUnKO/vob2G9qCn38K6/yyBvzC13vPAf71gleSZX/AGk5cNaYhAQs6CSxHUgagbdbFT6k1qozSPtew8VmVn75X6IbE9j2UWJSQdujRK0bEWtHGqggW3F47npZ6lneq4PSg6veToSXwNSaa8W3v6/VF34NwuIOKlx8ijD4Z0NxIbEqAuk2sLAab6mtsbC43qptWseNjqtGGGjh080o8rbm/wCf58D3i+MYZMSJYcIswiFvtLCzBWax0d0kKeQJIuTyq6FBtau1z5Ov2jGEvhV7bvoX9GBAI3B3HxrMekmmro9UOigFAKAUAoBQCgFAKAUAoBQEF2ldOmnmGK0tGf5h9BWevpZmnDa3R7XHjqapzl/dmGbOEtYNvXHVR1UWRuNxhNVynctjGxqYfFh+6fhUCVjUzBiki+DC4+Frj6j50sdN/D4sWAPL8j4il7HGi2cO5jrBjY3ZeR8V/wBK20Kl1lZgxNLK8y5JmtBlFAcezrEth8XigYHYNKXVrWC6gddgyMrBlcr6E9Tt5s1lnLTk+0w8YV8NStNJqNmutttmmrNX+nrAcQ53HNHZQVfv6yWWxuioLBQALKgWwAGw251XJqTT98GulhZ04Tu7prTfTd7vfVtmpwwuIII7V1sp0hiT7o7qC/LYbDyr1IfKj4fEO9WXmSkWJZZ45JyW7p8iUYOu3pcmtEW8lj6TsmEqmAlCO+Z/VZWbuC+xpPiXF+zUHsB3tw3dZbNubqxHeqUpTaSZsrLFzo04vd/NtpbVPTx6Et7IYgZMZGwurRxAg9R+1B/OoVXd3PL7ebjUhJb6/wAG5xJmGTYObsZ5mjkABKr2j6QRcX0q1tje3O1YJYOk3ex8rLDwk23yQeYZ9l0if/wYlpZQ26Orju2NyNSLvfSOfWpU+zaVSVrv36GLGRjQp511sYsvlgHemi7Rmub6UO1yLDVv08etejSwfdLLTehhjjqEY/5I3b146258j7m6Qk64lCKVBC2tyYg7XPh41qjFqNmYMZWpzd4Kya29X59C4ezPNtaPh2O6d9P5WPeA9G3/AMdfO4CVoZOnv8n1lOd20XSadUF3ZVHixA/Ot5aVb2mTD7ASCCGdLHx3uPyqE9jB2n/y79CuYXHxz2dSTplR1VxYLI6JHFGNzcagXNui1y9yhVada0lw09eG0kl9dSDz/ACKzCQyBzJ3iuk6o30vcXOxO4PnUZPQ8fG0O7aea97/AFT1OmZvkAxWEjiLaCoQhrXtZbEWuOYJHPwq6Oh9lhKzoNSXQ0uGeA4MKQ7/ALeYbhmFlX+VLkA+ZufC1Scrm/F9qVa/wr4Y9P2yse0KeeXGHDytaABXjjGwfYd59+8Qwaw5DSNr71pw8YvU+W7Rq1Ippbe/5PbZqqQxwRxgBgA5tzJ2YqNyW2943PQWHPQqXxOTex5NTGpU40YR33/Dt4+L16Fx4LxxeAxv+8hYxsPT3f6f4ax4iKU7rZ6ntdlVXKjkl80Hlfpt+vQsFUHpCgFAKAUAoBQCgFAKAUAoBQFUZ66SIvPHOlD/ABf9jVRiPlNGG+YiVnJ61iNpr67k1EkbMM/jQ6R63jkZb3BJdT/CxO3wNx8K6CTt2yEeG4boCP1I2tz3riTONpGth5Li9Dpv4TGGOzqbMp2+PTn/AHeuxbTujkoqSs9mdFwk+tFcbalDW8LjlXpxd1c8iUcraK1i49Uzi5LaiAOZ6kegAHwr4nE0KlTF1EpPNmdl9X10SS8baaHqQsqadtLEDxMjrhpSryxuq6gVkkQixB+6wruDrYqnXjGcpeTv/JZGlTk07Jl8ythJBC7WYtGjXO/NQb19otUmeRO8ZNI5/m2Wzpi5nSGQgy9oGVGIPXmu1tzUyJjmwDMmkwlNwfdI5avEfxW+AoSjOUfldi1cM5DC2Ei7fDRl7G/aRLq95rX1C/K1LtF0cZiI7VJf+T/ZO4HLooQRDEkYO50KFv62G9G29yurWqVXepJt+Luci4s4Ujxmc4vXH2rLBA6oZTEpv3GJZUY7AXG3Mb1wqKy2QYTB5gcNA2JecqF7+jRdwrhbgA302N+XSrqE1GV2ef2nh51qGWCu7p8Ey2OXEKJokVYVAS6XtsTzLdSSa0f7TRp2Upq76s8DE4XETtLurJJLT3ySGLwskxUwYaVYyAE2ZgeZJ1kWsSSb8hVkakct8yZVWw9SpNd3Sklst/z6lrwTQYQFcJGZZiLNK2/ra3MXtstl2G5ryqdGNNaH18IqO25DZqk0h1TFmPnaw9ANgKuR1p7sk8PlxzDAjDCXs2hkU3K6rrZtIIuLDcj/AACq5xuU16Pf08l7EW/s9xqALHNEyhu0A1Mp1DYNbSRew8aryM819m14q0JKyd/UxZnw1mUzDtI1awIBVolUXN2NgRuSbk2ua5KMmU4jB4ytJZktPJLxL1xBxRBglAdtUlu7Gu7Hwv8AhHmfrVx9EipZdx5i2kLvAjQnki7OBci4N+9yN+7bbpXTp742xUWKhjxMJPaQmzqRZgjkC5HWzaRcXHfNW0ZWZixtJThr7uQmU4V8QY48OG7VWZmc+6oOnQb9LaSfEk7XrZOoldvY+Zo4WdRxp0080W7vhbW/B0/IMkTDKQCXkc3kc82O/wAhudvOsNSo5s+owuEjh4u2re76slKrNQoBQCgFAKAUAoBQCgFAKAUBTwa6SIrP27qD+I/Qf61nxD+E0YZfEyLwakgjrWQ2HiTDFSSNxYH5Gx+lq44klI8OPConUYMVD2iAgAvGSy6hcEfeUjrcfUCueBI23xbuqghFTmAq29NyS31rtiCVmeJJP2mwJLW2A3vyNh8L11akmakmOBJQHkd/Ig8vUEV1qxxanReC8yV4ezLDUn5H/W/0rVh53jlfBhxVNqWZcmti4Jo8WZViZ0DXGmxuCtj59TXk1MNVhjHXUW1e+nlY3U50amGVNzSdufMhuNJZZ45tMEykwsoUxtctpa1rDe9xVVdTrYuFXJJbLVdGX4enClSazxe70aJTIsAPs0AmMkcqwxKe8w0kRqCpsbixvX0kVaKPnqsk6kteWfcwwckaSFZZgwRmU9tIw2UkGzMRbarIJOSTKak5Ri2t7MsHDmJaTCwO51M0alj4mwudvOuVYqM2kdw83OlGT3aRI1AuFAUniDhzGfbWxeEeEF4kiYSX+6xPLTbw3v40OkNPlGZduuIbBYKWZBpWQCzAb9TKPE9NrmgJD2YcKyYWB48REACdlbS17G4NgSK44p7o49S/EdK6Co53huzk1A21bE/L9LGpIrejK/jZ9ALI+sD3huOfr+dSSvoccsquncy8H4l/tw7FS8TJ+0I5ICLrq6A3AsOdmNq618Ou5BTvUSjt+CxcVcbwYO6D9tP0iQ8vDW3JB9fAGslWvCmtT18H2dWxL+FWXUq+T8Y4zFFoXaOFpAezeNCSrcwO8xuCoIvsb2rNQxneVMrWh6WP7Ghh8P3kJNtb9LeHvYiWyaWB27Ua9W5kID3IvbdhcX5b2O/lXoHz5u4TB3AFrA/dUHvH0/pQFzyLh7SCZVXQylTGQDcH8XT4UucaTVmUTifjLG4fEyxZThIWw8R0ORHcvKNpCoR1ZgpshIB3Vt6Nt7kYwjH5VYwcNe1HNJcUmHxGDiS4LsSksZCLzbvsevdBtzIrhI7FhJ9aK9iNQvY0BmoBQCgFAKAUAoBQCgFAKAUBRsAjCNFY3YAA+ZrpI+ZjlzPpI30j3fXn+nyqirTctUXUqqjoyRyXIF0Bn1An7uwI9edchR5Z2dd7I0854IWRG0SHVuVDAbnoLgi1+V7Vx4foyUMU09UVHAB/dkB1AlTfnsSLHzrK9zb4kjhMvdj3B+g+JrmRs5nSK/mecvhyY2h0MOWs/I2A3HoamoC/JAYfPpVcyByGPWjh0LoVI2s0ZWzftJDIdix7/wDN4/H87+NLPZnJqK1jsWvhnMuyOq4JP5VG7iyLjm0OgZVm9x5f38q0QqMx1aCJuLEq3X51oU0zJKDRB4nE6JXDawC6ixQ6WVrajqtba9aowvFWPOnWyzad91w7W8/A0MXmSGEjUCQzoBffSVuDbnapqk8xVLFQcN+WiW4KJ+wwXBHc6+RNqqxH/EZowLvh4eRN1SaxQCgFAKAUBEcSYEywtpF2AuAPEdPiLj41KDV9Suom4uxXsv4Uech8QOxTQEMaHvML37x+5fbYb+Yq2U1HRalUacp6y0VrW6/o0PaBjJ8KI8NhAuHgZCS8Ys5N7MoP3eYJb3jq5ivLxmInBpLnk+m7E7Pw9aLlP/S9uPPxvqVPLuHyI+2ZWdTc6Y+87bkFmIvoXUCNRBNwdutecqcpLPLXy3/pH0M8VCEu5p2j4vRLwW2Z24v68Enm6vFGssUSxGAx95LEXcAkMbk6kl7tmOo6vKr5U7JSSta3v0ZnwzhUm6dSTlnzaPfS+2ytKOummnidIwnZYzDpKBbtEB26EjcHxINx8K9WEs0Uz5DEUZUKsqcuHb+/Uz5Tk0cA27z9XPP4eA/vepFBHce5/wDYsHJKv71v2cX873sbdQoBcjqFNAcczDEYaTDJh4sQYOSvI0TlmTvF7lRuWc6jvYknxoSLT7O8nMrdqwYdoFRAxuUw0I0xgnxb3iepcUOHWwLUOH2gFAKAUAoBQCgFAKAUAoBQEFhcKq7nvH6V06bYehw+Ge1AYMzzRYIXmc91Re3ieijzJ2+NclLKrkoRcpWRSeGYZJy88xJ1sWt0F/DyHL4Vh+aVz02lCKiTGYzPEhKqSB4eHoKO6OwjGT1KFxZncckP7Qavw+I8xblUY5myc0o7nPmxB6Xt5itGUzZ+hkweJBYee1RlEsp1CyZZK0TqXuFv3SevkbVW1cmnY6LFmPaKrRe9969wLeO43N/75VzV7EW0tzcwmYshJlmhUfxSKB9TU1GZXKdOxIRcZ4RNnx2E9BMh/Jia0QUluY5uL2RixPH+X/exMLeis/5A1am0UuKe6NSb2p4AcpyfSGT9VrhKxqv7WMMCNPbSeXZqPqzC1BYv2W41Z4o5UvpkVXF+dmF7HzocNmgFAKAUAoBQEFxll3bYZja7R98fD3h/9b/ECsuMpd5Sdt1qej2ZiO6rrXR6fr7nLMJmqRhxKHLpq7EobEdqumTvH3RpAIIBtc7b1gouKjf6eu59fWw0ptODVnbNfX5Xdac67rS9lqbeTcP4nMWuxEMGotc33J5soJ1SOesjk8zueVaIUpVNePf18zJisfh8Cssfina3l4O2kV0ikvLk6nlmAhwWHEakrGgJJY3O5JYk+JJ6fAVtWWlDXZHyWIr1MTVdSe7KlmuezylpInMUKbDe1/4jtufL9a8idbEYi9Sk8sFy9L+Oz9+Ny2nThFqMtWzVybEz4hxFPeeOTZ4nsQF2u3kRzB8bdTVWFxdeVaMU83Xy6+n9cnpYjBUYUHKWj48+nqSWO9nGXBSx1wqOZ7U2Hxl1CvoDwbli4fyZMMlkkaQG1mfSTpHIXUAEUOErQCgFAKAUAoBQCgFAKAUAoBQEOi25106fS9dBjvc1wFC9oeZ65Y8MvuqQ7+p90fAXP+IVmry4NuFh/qZOZNmqhFQDYDYCqIy4NFSld3N/E3YbLc+ZtU3qQjofn7MMdiWeRZGEZDkMhjFwRzHuHl6/OtCpw4RkdWpfVmg8bn3pNv5f62qSikQdST3ZgSQf8Yj0AH5Gu2QuyXhyXGOmtYsc6WuCA9iPEbXI9KjniiWSTNPEYIBQ0iyWPIuT+q1K5XY9w5dtqXDSlfxCOS3zG1Rzx6lipT6GysCi20Y8rqTv4gkkVK6IZW+Cx5DwjNigXhjQqDYkBdj8QKJpnJJx3RYoPZjijz0r8E/RqkQuycy/2YGw7SZgL72PTwsOvneguzo+GgWNFRRZVAUDwAFhXAZaAUAoBQCgFAKAqg9n+E7UyMHcWsELd0c99gCbDYXJ5VmhhKcHp9D1p9tYqVLu00vFb+/KxF4jJ8Xlx14XVicKNzAx/aRj/lOeYt907cgNPOtas9zyTznmaTTqLRydla6jTcsSNmbTcbdBy6+nzGM7SjUqOCdkrrXR36u/Tp/O3oUKKWtyIwqTTMqNdjfupYCx8TYdPPlvUJVq1e1JO/0/g9ejQo4eLqvQuUckOAj07POwuwBsT4XJ91B8zvsa97CYSNCFuXu/fB4WMxcsRO/C2RTs6xsuJcGRiR91F2UegO7Hz5/lWyxibNfLcXLH+4kkjsSCDbT5907E325eNaadDNvsefiMaoaR3Or5fKzxIzAqxUEgi1jbfas00lJpG+lJygpSVnY2KiWCgFAKAUAoBQCgFAKAUAoCmJmr/eF66SsbAzRT5UOWM0mIFrgigOOS4gzTPLe+pyw9CTb6bVhk7tnqwWVJEph8cQ3Mj9aqsWZiYhz8gWNdTZFpFJ4wxepy6gK3Ujr6g7GrabaKqkVJamlw1l5xDa5wGRT3V0gBjtckKBcVOrUa0RChRTd2dDx2AieBlbDpYDUCVAsRuLfGqE3wbMtPkmMDPKwFth4mizcCbpLfc5umWdpmM8ti6LK+m++4O/wDXt6VZOfwpFFOCzuTOmYGd2WwWwt15VCN2XTUE7tlebgovM7hNmYty8T4V20tkVKpTWrOg8I5B9lV+QL6dv5b/wBa0Uqbje5ixNZVGrcFgq4zCgFAKAUAoBQCgFAKAUAoCIzrKGlQ9jKYJOYYKrAnzVgR8qw1uzMLWm51IXb5u1+GiyNWcVZMq+XZycHNox8awyvZRiBfsZPDc37Fieh7pNt72FW4fA0cOv8AEvq2/wAkqmIqVIqEnotiZzrKoZNUpsptdiNjy59Q3StOZJXZR3bk7IqWJyg6lGtZUfvK1gL+rXOwuPnWqjOko529jz8VTxLmqUI767fzx5l14f4fjiAckO/Qj3V/lH6n6VCpiXU0jsWYfAKi7z1l+PL9k9VBtFAKAUB8JtzoDwJ1va4qOddSWSXQyVIiKAUAoBQHxmsLmgIvERuzEiWw8Nq6dOO4TjHEbBoY2JIGxYc/Leh25YosykO5jW3hc/naljtjcixwP/xOPiKWFiGw3BWl9UEkgQ/cePVbyBUj61TKimXrENbmzmHBk6qZEVmA3ItZvMhQSSPr5VVKk1sWwxEXo9Cu6CB58qqLzRx2BDsoI25n0Fv1Irqdg9SfyPD6V2HLp+dQe53gzZxaSWK4JILEHytY+m5H1rt7kY6Flw7AKBfp8amtitrU+5Tw+SzMljdix8ixJ512NNtnJ1klYuOX4ARjfdvy9K0xhYxTnmN2pkBQCgFAKAUAoBQCgFAKAUAoBQCgMGNwccyFJEDodiCL0BzzMYZcqlVcOxmwzC4w7kgrvYiCQ7A/8s7HYADc1xyjezJqEnHMuDaw/YYxTJhHCuv7yJhpIPg6c0JP3hdTz3FU1KHQ0UcXKOj2MmAzUQN2byGOT8Dkb+Gk8mHpVKvA0StV1LVh8c3NuX9+FXRqPkyypLg3opg3KrlJMolFx3E8yopZjYCjaSuzkYuTsiv4zipAO7sPE8/lWaVfoa4YXqR7ZpLIRq7ifxHvH0X7vqbVS5uW5oVOMdjLHnMQOnVv5An60UzjgTWDzMX0vy6H+v8AWtFOrwzNUo8xJWtBlFAKAUBXM8xhldsPFKEdACy23a4uBz5f1rp1FRlzCWMlHDXHheh0tc3AuELq6o0ZU3srbHyIa9h6WpciT0eCjUWWNB6KK4DMqAcgBQHqgFAQ2b8NQT3Yrpc82Xa/qOR9efnVcqakWwrSiU/F8HPE5Y99baQVB5b8xzH5edZ5UpI1xrxkvEw4fChedV2Jt3NqPBGUqUUkr5ePOpKLexFyS3LTlOTgd6RdzyB/M1ohT5ZlqVXsiajjCiygAeAFXJWKW29z1Q4KAUAoBQCgFAKAUAoBQCgFAKAUAoBQEXxDlK4iIqRci9geRv0qupDMi2jUcJXOT5plc0Eof9orqbLIm0qX8ekiHwbnYXJA01TGrKGkjVKhCqrxdn9mS+B4ognCJmCx91joxK7Rhv4usD+N+7yJ03ArRaM1dGT46crPcnZUmw4Jvrh5q6jdQfxKNiv8S7b8hzrNKm4muFWM99zPLnHYRrI5UA2t3h1Gx26H9a5mcdSThGehS894zkmk7NLuWNkVRcn0A/vaovNN6lkYRghl+BeEkz2EwPuag2i4B3IJBex5jYch4mMo2diSndaG00zyd2PdiQCegvfdj0Gx9bbVEJdSXhgRLb3P5/0ojhtzY2TbuHT63qV2csi34OW8SN4qp+YFb46pHmT0kzIs1SInmUMQbMPKuAr+ZY+ZSBMpQC9nF9DAjkWHuHwJrp0rOausbJ2zMA28WJG7KR9yS3vDzHT4iugncPjInUF2R25Fl5H5iuAuNcOCgFAKAUAoBQGOWBW95Vb1AP51xpM6m1sekQAWAAHgBaunG7nqgFAKAUAoBQCgFAKAUAoBQCgFAKAUAoBQCgFAVvjWwSMnnqI+Gkk/kKor7I0Ye92cy/2eG7RkcK2onyYcrMOvLY/kbGs6bi7o3NxayzV0MizyfB6RHZojuIGbuEeOHf7h/gNxyABJLVqhVUtHozFVwzgs0dV90TkmBwuZqz4eRo5V9/DtZSD4MpuUuRbUh0n50nR5Qp4lrR7HPMwzSXBu0QjOGcc77MfDvffU22IJBttVHdy5N8a0OFc1cLxC8kwEk3vsqlri4Gw69bUyWRyU1J6I6CuKWMBI1bSe7ZLF2P4hf3m23v08LC1XBzdmXD6kGqRg0ngPdUfq30HIX5nh19DZh4pUdyzDzqV2cyovuVYoNDGRyKL+Vb4fKjzKnzM3FqRAarUB6E3jQELiMHHOhGhLXHNQVPw/Wh0014dC7CCAjyW30oNC3Vw4KAUAoBQCgFAKAUAoBQCgFAKAUAoBQCgFAKAUAoBQCgFAKAUAoBQFb46/cp/P/wBrVRX2Rpw3zM5tiPd+B/Ws5s5NTiP/AHGb+U/5K6t0cMXD3/u2E/6X/wCSV6X+g8n/AFHTeIuS+h/zLWeoaKfJk4T/AHKfyfpU1sVy3Zzvhr3j/wBI/wCZawSPVRuS+61RiJEHPzqYOrcM/wC6Qf8ATWt0PlR5lT535k5hPdHpUisxS866geh7p9D+VcB5w/ufCgMuE9xfSug//9k="/>
          <p:cNvSpPr/>
          <p:nvPr/>
        </p:nvSpPr>
        <p:spPr>
          <a:xfrm>
            <a:off x="633413" y="2746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1219200" y="1867693"/>
            <a:ext cx="60039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7373D1"/>
                </a:solidFill>
                <a:latin typeface="Arial"/>
                <a:ea typeface="Arial"/>
                <a:cs typeface="Arial"/>
                <a:sym typeface="Arial"/>
              </a:rPr>
              <a:t>Data </a:t>
            </a:r>
            <a:endParaRPr sz="4000" b="1" i="0" u="none" strike="noStrike" cap="none">
              <a:solidFill>
                <a:srgbClr val="7373D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 b="1" i="0" u="none" strike="noStrike" cap="none">
              <a:solidFill>
                <a:srgbClr val="7373D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7373D1"/>
                </a:solidFill>
                <a:latin typeface="Arial"/>
                <a:ea typeface="Arial"/>
                <a:cs typeface="Arial"/>
                <a:sym typeface="Arial"/>
              </a:rPr>
              <a:t>Lecture No. </a:t>
            </a:r>
            <a:r>
              <a:rPr lang="en-US" sz="2800">
                <a:solidFill>
                  <a:srgbClr val="7373D1"/>
                </a:solidFill>
              </a:rPr>
              <a:t>10</a:t>
            </a:r>
            <a:endParaRPr sz="2800" b="0" i="0" u="none" strike="noStrike" cap="none">
              <a:solidFill>
                <a:srgbClr val="7373D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18069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>
            <a:spLocks noGrp="1"/>
          </p:cNvSpPr>
          <p:nvPr>
            <p:ph type="sldNum" idx="12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7" name="Google Shape;117;p3"/>
          <p:cNvSpPr txBox="1"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Data Objects</a:t>
            </a:r>
            <a:endParaRPr sz="3200"/>
          </a:p>
        </p:txBody>
      </p:sp>
      <p:sp>
        <p:nvSpPr>
          <p:cNvPr id="118" name="Google Shape;118;p3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83820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US" sz="2400" dirty="0"/>
              <a:t>Data sets are made up of data objects.</a:t>
            </a:r>
            <a:endParaRPr sz="2400" dirty="0"/>
          </a:p>
          <a:p>
            <a:pPr marL="342900" lvl="0" indent="-342900" algn="l" rtl="0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 dirty="0"/>
              <a:t>A </a:t>
            </a:r>
            <a:r>
              <a:rPr lang="en-US" sz="2400" b="1" dirty="0"/>
              <a:t>data object</a:t>
            </a:r>
            <a:r>
              <a:rPr lang="en-US" sz="2400" dirty="0"/>
              <a:t> represents an entity.</a:t>
            </a:r>
            <a:endParaRPr sz="2400" dirty="0"/>
          </a:p>
          <a:p>
            <a:pPr marL="342900" lvl="0" indent="-342900" algn="l" rtl="0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 dirty="0"/>
              <a:t>Examples: </a:t>
            </a:r>
            <a:endParaRPr sz="2400" dirty="0"/>
          </a:p>
          <a:p>
            <a:pPr marL="742950" lvl="1" indent="-285750" algn="l" rtl="0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 dirty="0"/>
              <a:t>sales database:  customers, store items, sales</a:t>
            </a:r>
            <a:endParaRPr sz="2400" dirty="0"/>
          </a:p>
          <a:p>
            <a:pPr marL="742950" lvl="1" indent="-285750" algn="l" rtl="0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 dirty="0"/>
              <a:t>medical database: patients, treatments</a:t>
            </a:r>
            <a:endParaRPr sz="2400" dirty="0"/>
          </a:p>
          <a:p>
            <a:pPr marL="742950" lvl="1" indent="-285750" algn="l" rtl="0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 dirty="0"/>
              <a:t>university database: students, professors, courses</a:t>
            </a:r>
            <a:endParaRPr sz="2400" dirty="0"/>
          </a:p>
          <a:p>
            <a:pPr marL="342900" lvl="0" indent="-342900" algn="l" rtl="0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 dirty="0"/>
              <a:t>Also called </a:t>
            </a:r>
            <a:r>
              <a:rPr lang="en-US" sz="2400" i="1" dirty="0"/>
              <a:t>samples , examples, instances, data points, objects, tuples</a:t>
            </a:r>
            <a:r>
              <a:rPr lang="en-US" sz="2400" dirty="0"/>
              <a:t>.</a:t>
            </a:r>
            <a:endParaRPr sz="2400" dirty="0"/>
          </a:p>
          <a:p>
            <a:pPr marL="342900" lvl="0" indent="-342900" algn="l" rtl="0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 dirty="0"/>
              <a:t>Data objects are described by </a:t>
            </a:r>
            <a:r>
              <a:rPr lang="en-US" sz="2400" b="1" dirty="0"/>
              <a:t>attributes</a:t>
            </a:r>
            <a:r>
              <a:rPr lang="en-US" sz="2400" dirty="0"/>
              <a:t>.</a:t>
            </a:r>
            <a:endParaRPr sz="2400" dirty="0"/>
          </a:p>
          <a:p>
            <a:pPr marL="342900" lvl="0" indent="-342900" algn="l" rtl="0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 dirty="0"/>
              <a:t>Database rows -&gt; data objects; columns -&gt;attributes.</a:t>
            </a:r>
            <a:endParaRPr sz="2400" dirty="0"/>
          </a:p>
        </p:txBody>
      </p:sp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graphicFrame>
        <p:nvGraphicFramePr>
          <p:cNvPr id="124" name="Google Shape;124;p4"/>
          <p:cNvGraphicFramePr/>
          <p:nvPr/>
        </p:nvGraphicFramePr>
        <p:xfrm>
          <a:off x="1406525" y="1524000"/>
          <a:ext cx="6781800" cy="4084600"/>
        </p:xfrm>
        <a:graphic>
          <a:graphicData uri="http://schemas.openxmlformats.org/drawingml/2006/table">
            <a:tbl>
              <a:tblPr firstRow="1" bandRow="1">
                <a:noFill/>
                <a:tableStyleId>{9E560973-E091-4184-875D-EE27F69CB816}</a:tableStyleId>
              </a:tblPr>
              <a:tblGrid>
                <a:gridCol w="13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8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29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Name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Age 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Location 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gender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Marital status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9700">
                <a:tc>
                  <a:txBody>
                    <a:bodyPr/>
                    <a:lstStyle/>
                    <a:p>
                      <a:pPr marL="914400" marR="0" lvl="2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xyz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25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DHA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9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abc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34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JT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9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qwe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29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JT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….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…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….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….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….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….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5" name="Google Shape;125;p4"/>
          <p:cNvSpPr txBox="1">
            <a:spLocks noGrp="1"/>
          </p:cNvSpPr>
          <p:nvPr>
            <p:ph type="sldNum" idx="12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>
            <a:spLocks noGrp="1"/>
          </p:cNvSpPr>
          <p:nvPr>
            <p:ph type="sldNum" idx="12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 sz="1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2" name="Google Shape;132;p5"/>
          <p:cNvSpPr txBox="1"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Attributes</a:t>
            </a:r>
            <a:endParaRPr/>
          </a:p>
        </p:txBody>
      </p:sp>
      <p:sp>
        <p:nvSpPr>
          <p:cNvPr id="133" name="Google Shape;133;p5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 b="1" dirty="0"/>
              <a:t>Attribute (</a:t>
            </a:r>
            <a:r>
              <a:rPr lang="en-US" dirty="0"/>
              <a:t>or</a:t>
            </a:r>
            <a:r>
              <a:rPr lang="en-US" b="1" dirty="0"/>
              <a:t> dimensions, features, variables</a:t>
            </a:r>
            <a:r>
              <a:rPr lang="en-US" dirty="0"/>
              <a:t>): a data field, representing a characteristic or feature of a data object.</a:t>
            </a:r>
            <a:endParaRPr dirty="0"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 i="1" dirty="0"/>
              <a:t>E.g., customer _ID, name, address</a:t>
            </a:r>
            <a:endParaRPr i="1"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 dirty="0"/>
              <a:t>Types:</a:t>
            </a:r>
            <a:endParaRPr dirty="0"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 dirty="0"/>
              <a:t>Nominal</a:t>
            </a:r>
            <a:endParaRPr dirty="0"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 dirty="0"/>
              <a:t>Binary</a:t>
            </a:r>
            <a:endParaRPr dirty="0"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 dirty="0"/>
              <a:t>Numeric: quantitative</a:t>
            </a:r>
            <a:endParaRPr dirty="0"/>
          </a:p>
        </p:txBody>
      </p:sp>
    </p:spTree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>
            <a:spLocks noGrp="1"/>
          </p:cNvSpPr>
          <p:nvPr>
            <p:ph type="sldNum" idx="12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 sz="1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0" name="Google Shape;140;p6"/>
          <p:cNvSpPr txBox="1"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70981"/>
                </a:solidFill>
              </a:rPr>
              <a:t>Qualitative Attribute Types</a:t>
            </a:r>
            <a:r>
              <a:rPr lang="en-US">
                <a:solidFill>
                  <a:schemeClr val="hlink"/>
                </a:solidFill>
              </a:rPr>
              <a:t> </a:t>
            </a:r>
            <a:endParaRPr>
              <a:solidFill>
                <a:schemeClr val="hlink"/>
              </a:solidFill>
            </a:endParaRPr>
          </a:p>
        </p:txBody>
      </p:sp>
      <p:sp>
        <p:nvSpPr>
          <p:cNvPr id="141" name="Google Shape;141;p6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83820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92100" lvl="0" indent="-292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US" sz="2000" b="1"/>
              <a:t>Nominal:</a:t>
            </a:r>
            <a:r>
              <a:rPr lang="en-US" sz="2000"/>
              <a:t> categories, states, or “names of things”</a:t>
            </a:r>
            <a:endParaRPr sz="2000"/>
          </a:p>
          <a:p>
            <a:pPr marL="692150" lvl="1" indent="-2921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/>
              <a:t>No meaningful order (enumerations)</a:t>
            </a:r>
            <a:endParaRPr sz="2000"/>
          </a:p>
          <a:p>
            <a:pPr marL="74930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 i="1"/>
              <a:t>Hair_color = </a:t>
            </a:r>
            <a:r>
              <a:rPr lang="en-US" sz="2000"/>
              <a:t>{</a:t>
            </a:r>
            <a:r>
              <a:rPr lang="en-US" sz="2000" i="1"/>
              <a:t>auburn, black, blond, brown, grey, red, white</a:t>
            </a:r>
            <a:r>
              <a:rPr lang="en-US" sz="2000"/>
              <a:t>}</a:t>
            </a:r>
            <a:endParaRPr sz="2000"/>
          </a:p>
          <a:p>
            <a:pPr marL="74930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/>
              <a:t>marital status, occupation, </a:t>
            </a:r>
            <a:r>
              <a:rPr lang="en-US" sz="2000">
                <a:solidFill>
                  <a:srgbClr val="007254"/>
                </a:solidFill>
              </a:rPr>
              <a:t>ID numbers, zip codes</a:t>
            </a:r>
            <a:endParaRPr sz="2000">
              <a:solidFill>
                <a:srgbClr val="007254"/>
              </a:solidFill>
            </a:endParaRPr>
          </a:p>
          <a:p>
            <a:pPr marL="74930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/>
              <a:t>Possible to represent with numbers (haircolor: black = 0 brown = 1 and so on)</a:t>
            </a:r>
            <a:endParaRPr sz="2000"/>
          </a:p>
          <a:p>
            <a:pPr marL="74930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/>
              <a:t>May have integer value but not considered numeric ID vs age</a:t>
            </a:r>
            <a:endParaRPr sz="2000"/>
          </a:p>
          <a:p>
            <a:pPr marL="74930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/>
              <a:t>No sense to find mean and median. Mode can be useful</a:t>
            </a:r>
            <a:endParaRPr sz="2000"/>
          </a:p>
          <a:p>
            <a:pPr marL="292100" lvl="0" indent="-2921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</a:pPr>
            <a:r>
              <a:rPr lang="en-US" sz="2000" b="1"/>
              <a:t>Binary</a:t>
            </a:r>
            <a:endParaRPr sz="2000" b="1"/>
          </a:p>
          <a:p>
            <a:pPr marL="74930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/>
              <a:t>Nominal attribute with only 2 states (0 and 1)</a:t>
            </a:r>
            <a:endParaRPr sz="2000"/>
          </a:p>
          <a:p>
            <a:pPr marL="74930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 u="sng"/>
              <a:t>Symmetric binary</a:t>
            </a:r>
            <a:r>
              <a:rPr lang="en-US" sz="2000"/>
              <a:t>: both outcomes equally important</a:t>
            </a:r>
            <a:endParaRPr sz="2000"/>
          </a:p>
          <a:p>
            <a:pPr marL="1257300" lvl="2" indent="-3937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</a:pPr>
            <a:r>
              <a:rPr lang="en-US" sz="2000"/>
              <a:t>e.g., gender</a:t>
            </a:r>
            <a:endParaRPr sz="2000"/>
          </a:p>
          <a:p>
            <a:pPr marL="74930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 u="sng"/>
              <a:t>Asymmetric binary</a:t>
            </a:r>
            <a:r>
              <a:rPr lang="en-US" sz="2000"/>
              <a:t>: outcomes not equally important.  </a:t>
            </a:r>
            <a:endParaRPr sz="2000"/>
          </a:p>
          <a:p>
            <a:pPr marL="1257300" lvl="2" indent="-3937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</a:pPr>
            <a:r>
              <a:rPr lang="en-US" sz="2000"/>
              <a:t>e.g., medical test (positive vs. negative)</a:t>
            </a:r>
            <a:endParaRPr sz="2000"/>
          </a:p>
          <a:p>
            <a:pPr marL="1257300" lvl="2" indent="-3937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</a:pPr>
            <a:r>
              <a:rPr lang="en-US" sz="2000"/>
              <a:t>Convention: assign 1 to most important outcome (e.g., HIV)</a:t>
            </a:r>
            <a:endParaRPr sz="2000"/>
          </a:p>
        </p:txBody>
      </p:sp>
    </p:spTree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 txBox="1">
            <a:spLocks noGrp="1"/>
          </p:cNvSpPr>
          <p:nvPr>
            <p:ph type="sldNum" idx="12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8" name="Google Shape;148;p7"/>
          <p:cNvSpPr txBox="1"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70981"/>
                </a:solidFill>
              </a:rPr>
              <a:t>Qualitative Attribute Types</a:t>
            </a:r>
            <a:r>
              <a:rPr lang="en-US">
                <a:solidFill>
                  <a:schemeClr val="hlink"/>
                </a:solidFill>
              </a:rPr>
              <a:t> </a:t>
            </a:r>
            <a:endParaRPr>
              <a:solidFill>
                <a:schemeClr val="hlink"/>
              </a:solidFill>
            </a:endParaRPr>
          </a:p>
        </p:txBody>
      </p:sp>
      <p:sp>
        <p:nvSpPr>
          <p:cNvPr id="149" name="Google Shape;149;p7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83820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92100" lvl="0" indent="-292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US" sz="2000" b="1"/>
              <a:t>Ordinal</a:t>
            </a:r>
            <a:endParaRPr sz="2000" b="1"/>
          </a:p>
          <a:p>
            <a:pPr marL="74930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/>
              <a:t>Values have a meaningful order (ranking) but magnitude between successive values is not known.</a:t>
            </a:r>
            <a:endParaRPr sz="2000"/>
          </a:p>
          <a:p>
            <a:pPr marL="74930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 i="1"/>
              <a:t>Size = </a:t>
            </a:r>
            <a:r>
              <a:rPr lang="en-US" sz="2000"/>
              <a:t>{</a:t>
            </a:r>
            <a:r>
              <a:rPr lang="en-US" sz="2000" i="1"/>
              <a:t>small, medium, large</a:t>
            </a:r>
            <a:r>
              <a:rPr lang="en-US" sz="2000"/>
              <a:t>}</a:t>
            </a:r>
            <a:r>
              <a:rPr lang="en-US" sz="2000" i="1"/>
              <a:t>,</a:t>
            </a:r>
            <a:r>
              <a:rPr lang="en-US" sz="2000"/>
              <a:t> grades, army rankings, professional ranks</a:t>
            </a:r>
            <a:endParaRPr sz="2000"/>
          </a:p>
          <a:p>
            <a:pPr marL="74930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/>
              <a:t>Ordinal attributes are used in surveys for ratings. </a:t>
            </a:r>
            <a:endParaRPr sz="2000"/>
          </a:p>
          <a:p>
            <a:pPr marL="74930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/>
              <a:t>Can be obtained from the discretization of numeric quantities</a:t>
            </a:r>
            <a:endParaRPr sz="2000"/>
          </a:p>
          <a:p>
            <a:pPr marL="74930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/>
              <a:t>Mode and Median can be used</a:t>
            </a:r>
            <a:endParaRPr sz="2000"/>
          </a:p>
          <a:p>
            <a:pPr marL="749300" lvl="1" indent="-2730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endParaRPr sz="2000"/>
          </a:p>
          <a:p>
            <a:pPr marL="34925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</a:pPr>
            <a:r>
              <a:rPr lang="en-US" sz="2000"/>
              <a:t>Nominal, binary and ordinal are qualitative attributes.</a:t>
            </a:r>
            <a:endParaRPr sz="2000"/>
          </a:p>
        </p:txBody>
      </p:sp>
    </p:spTree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 sz="1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6" name="Google Shape;156;p10"/>
          <p:cNvSpPr txBox="1"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Discrete vs. Continuous Attributes </a:t>
            </a:r>
            <a:endParaRPr/>
          </a:p>
        </p:txBody>
      </p:sp>
      <p:sp>
        <p:nvSpPr>
          <p:cNvPr id="157" name="Google Shape;157;p10"/>
          <p:cNvSpPr txBox="1">
            <a:spLocks noGrp="1"/>
          </p:cNvSpPr>
          <p:nvPr>
            <p:ph type="body" idx="1"/>
          </p:nvPr>
        </p:nvSpPr>
        <p:spPr>
          <a:xfrm>
            <a:off x="304800" y="1219200"/>
            <a:ext cx="85344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US" sz="2400" b="1"/>
              <a:t>Discrete</a:t>
            </a:r>
            <a:r>
              <a:rPr lang="en-US" sz="2400"/>
              <a:t> </a:t>
            </a:r>
            <a:r>
              <a:rPr lang="en-US" sz="2400" b="1"/>
              <a:t>Attribute</a:t>
            </a:r>
            <a:endParaRPr sz="2400" b="1"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Has only a finite or countably infinite set of values</a:t>
            </a:r>
            <a:endParaRPr sz="2400"/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E.g., zip codes, profession, or the set of words in a collection of documents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Sometimes, represented as integer variables</a:t>
            </a:r>
            <a:endParaRPr sz="2400"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Note: Binary attributes are a special case of discrete attributes </a:t>
            </a:r>
            <a:endParaRPr sz="2400"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 b="1"/>
              <a:t>Continuous</a:t>
            </a:r>
            <a:r>
              <a:rPr lang="en-US" sz="2400"/>
              <a:t> </a:t>
            </a:r>
            <a:r>
              <a:rPr lang="en-US" sz="2400" b="1"/>
              <a:t>Attribute</a:t>
            </a:r>
            <a:endParaRPr sz="2400" b="1"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Has real numbers as attribute values</a:t>
            </a:r>
            <a:endParaRPr sz="2400"/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E.g., temperature, height, or weight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Practically, real values can only be measured and represented using a finite number of digits</a:t>
            </a:r>
            <a:endParaRPr sz="2400"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Continuous attributes are typically represented as floating-point variables</a:t>
            </a:r>
            <a:endParaRPr sz="2400"/>
          </a:p>
        </p:txBody>
      </p:sp>
    </p:spTree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497</Words>
  <Application>Microsoft Office PowerPoint</Application>
  <PresentationFormat>On-screen Show (4:3)</PresentationFormat>
  <Paragraphs>101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Noto Sans Symbols</vt:lpstr>
      <vt:lpstr>Overlock</vt:lpstr>
      <vt:lpstr>Times New Roman</vt:lpstr>
      <vt:lpstr>Arial</vt:lpstr>
      <vt:lpstr>Tahoma</vt:lpstr>
      <vt:lpstr>Blends</vt:lpstr>
      <vt:lpstr>Data Science </vt:lpstr>
      <vt:lpstr>Data Objects</vt:lpstr>
      <vt:lpstr>EXAMPLE</vt:lpstr>
      <vt:lpstr>Attributes</vt:lpstr>
      <vt:lpstr>Qualitative Attribute Types </vt:lpstr>
      <vt:lpstr>Qualitative Attribute Types </vt:lpstr>
      <vt:lpstr>Discrete vs. Continuous Attributes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Jiawei Han</dc:creator>
  <cp:lastModifiedBy>03-134162-024</cp:lastModifiedBy>
  <cp:revision>2</cp:revision>
  <dcterms:created xsi:type="dcterms:W3CDTF">1998-06-19T04:38:00Z</dcterms:created>
  <dcterms:modified xsi:type="dcterms:W3CDTF">2024-11-06T06:29:05Z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340A0BF58A1445D483850CDB3285F430_12</vt:lpwstr>
  </property>
  <property fmtid="{D5CDD505-2E9C-101B-9397-08002B2CF9AE}" pid="3" name="KSOProductBuildVer">
    <vt:lpwstr>1033-12.2.0.18607</vt:lpwstr>
  </property>
</Properties>
</file>