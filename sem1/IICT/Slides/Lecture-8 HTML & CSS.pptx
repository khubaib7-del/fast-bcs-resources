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256" r:id="rId2"/>
    <p:sldId id="257" r:id="rId3"/>
    <p:sldId id="258" r:id="rId4"/>
    <p:sldId id="260" r:id="rId5"/>
    <p:sldId id="262" r:id="rId6"/>
    <p:sldId id="263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97" r:id="rId19"/>
    <p:sldId id="298" r:id="rId20"/>
    <p:sldId id="299" r:id="rId21"/>
    <p:sldId id="300" r:id="rId22"/>
    <p:sldId id="303" r:id="rId23"/>
    <p:sldId id="304" r:id="rId24"/>
    <p:sldId id="305" r:id="rId25"/>
    <p:sldId id="306" r:id="rId26"/>
    <p:sldId id="307" r:id="rId27"/>
    <p:sldId id="308" r:id="rId28"/>
    <p:sldId id="309" r:id="rId29"/>
    <p:sldId id="302" r:id="rId30"/>
    <p:sldId id="310" r:id="rId31"/>
    <p:sldId id="311" r:id="rId32"/>
    <p:sldId id="312" r:id="rId33"/>
    <p:sldId id="313" r:id="rId34"/>
    <p:sldId id="314" r:id="rId35"/>
    <p:sldId id="315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888B1-ECB9-4A10-8BB5-9BE4ADAAEA18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85430-098C-442A-BEEF-048011610DD1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42569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3410474A-23DA-E5DE-F6A7-9E7389DE1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7:notes">
            <a:extLst>
              <a:ext uri="{FF2B5EF4-FFF2-40B4-BE49-F238E27FC236}">
                <a16:creationId xmlns:a16="http://schemas.microsoft.com/office/drawing/2014/main" id="{9A1E758C-6A6C-5218-F8BC-B12E974281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7:notes">
            <a:extLst>
              <a:ext uri="{FF2B5EF4-FFF2-40B4-BE49-F238E27FC236}">
                <a16:creationId xmlns:a16="http://schemas.microsoft.com/office/drawing/2014/main" id="{10011B06-A6DE-2E32-20CE-7DF7D57F42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9098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43D2789F-ACE6-3153-E442-404555AFB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7:notes">
            <a:extLst>
              <a:ext uri="{FF2B5EF4-FFF2-40B4-BE49-F238E27FC236}">
                <a16:creationId xmlns:a16="http://schemas.microsoft.com/office/drawing/2014/main" id="{3AF672D5-3FD8-DCD1-87E6-7ED2D67A6C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7:notes">
            <a:extLst>
              <a:ext uri="{FF2B5EF4-FFF2-40B4-BE49-F238E27FC236}">
                <a16:creationId xmlns:a16="http://schemas.microsoft.com/office/drawing/2014/main" id="{E8CDD891-3504-F28F-3378-6D3E390E1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9536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B43484B8-FF15-C1E7-7D1D-6BE45A91E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7:notes">
            <a:extLst>
              <a:ext uri="{FF2B5EF4-FFF2-40B4-BE49-F238E27FC236}">
                <a16:creationId xmlns:a16="http://schemas.microsoft.com/office/drawing/2014/main" id="{38A66181-1337-D8E3-A4F6-7CC209C25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7:notes">
            <a:extLst>
              <a:ext uri="{FF2B5EF4-FFF2-40B4-BE49-F238E27FC236}">
                <a16:creationId xmlns:a16="http://schemas.microsoft.com/office/drawing/2014/main" id="{8A6568A0-998F-C383-727D-C8C88D362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15147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15B4231F-B855-522C-7135-AC9F263D0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7:notes">
            <a:extLst>
              <a:ext uri="{FF2B5EF4-FFF2-40B4-BE49-F238E27FC236}">
                <a16:creationId xmlns:a16="http://schemas.microsoft.com/office/drawing/2014/main" id="{23E0E917-BEF4-FCB3-D137-BA48920D3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2" name="Google Shape;482;p47:notes">
            <a:extLst>
              <a:ext uri="{FF2B5EF4-FFF2-40B4-BE49-F238E27FC236}">
                <a16:creationId xmlns:a16="http://schemas.microsoft.com/office/drawing/2014/main" id="{004B26B3-FD6B-3B5A-8014-05D559080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4797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8DEF07D7-0A70-99BC-DA67-3C5A2FB93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7:notes">
            <a:extLst>
              <a:ext uri="{FF2B5EF4-FFF2-40B4-BE49-F238E27FC236}">
                <a16:creationId xmlns:a16="http://schemas.microsoft.com/office/drawing/2014/main" id="{D0CA3943-5CE7-D30C-EA2C-BA332D2A4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2" name="Google Shape;482;p47:notes">
            <a:extLst>
              <a:ext uri="{FF2B5EF4-FFF2-40B4-BE49-F238E27FC236}">
                <a16:creationId xmlns:a16="http://schemas.microsoft.com/office/drawing/2014/main" id="{3D54D3DC-4A37-914A-922D-DCB86A6086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7715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>
          <a:extLst>
            <a:ext uri="{FF2B5EF4-FFF2-40B4-BE49-F238E27FC236}">
              <a16:creationId xmlns:a16="http://schemas.microsoft.com/office/drawing/2014/main" id="{34FCDB45-A7EF-682D-FF22-F54300744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7:notes">
            <a:extLst>
              <a:ext uri="{FF2B5EF4-FFF2-40B4-BE49-F238E27FC236}">
                <a16:creationId xmlns:a16="http://schemas.microsoft.com/office/drawing/2014/main" id="{58801DFD-D80A-AF55-C5C5-9D54AB250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47:notes">
            <a:extLst>
              <a:ext uri="{FF2B5EF4-FFF2-40B4-BE49-F238E27FC236}">
                <a16:creationId xmlns:a16="http://schemas.microsoft.com/office/drawing/2014/main" id="{EB860471-2A37-6603-568D-1D0D9B5F5F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6934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7593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59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80364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87999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0082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22054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5278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49380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66119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08983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15408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68152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0693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9489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12989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31868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E3AE2-EF1A-4B1C-9671-724ECC1CD1D2}" type="datetimeFigureOut">
              <a:rPr lang="x-none" smtClean="0"/>
              <a:pPr/>
              <a:t>10/16/2024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E47862E-A2C9-4B80-849A-42EF17BD65F3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16520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ebsite.com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demy.com/course/design-and-develop-a-killer-website-with-html5-and-css3/?couponCode=ST8MT101424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4E86-6B13-D026-C921-BF98C5055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5400" b="1" dirty="0">
                <a:solidFill>
                  <a:schemeClr val="accent2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Lecture 8</a:t>
            </a:r>
            <a:br>
              <a:rPr lang="en-US" sz="5400" b="1" dirty="0">
                <a:solidFill>
                  <a:schemeClr val="accent2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</a:br>
            <a:r>
              <a:rPr lang="en-US" sz="5400" b="1" dirty="0">
                <a:solidFill>
                  <a:schemeClr val="accent2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Web Development</a:t>
            </a:r>
            <a:endParaRPr lang="x-none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406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C79A-1558-294B-4427-A91BC44C3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0585"/>
          </a:xfrm>
        </p:spPr>
        <p:txBody>
          <a:bodyPr/>
          <a:lstStyle/>
          <a:p>
            <a:r>
              <a:rPr lang="en-US" dirty="0"/>
              <a:t>Objectives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104F1-ECBE-77A0-D897-CED6BCF9F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0185"/>
            <a:ext cx="8596668" cy="473117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Web Development </a:t>
            </a:r>
          </a:p>
          <a:p>
            <a:r>
              <a:rPr lang="en-US" dirty="0"/>
              <a:t>HTML/ Basic HTML tags</a:t>
            </a:r>
          </a:p>
          <a:p>
            <a:r>
              <a:rPr lang="en-US" dirty="0"/>
              <a:t>Headings</a:t>
            </a:r>
          </a:p>
          <a:p>
            <a:r>
              <a:rPr lang="en-US" dirty="0"/>
              <a:t>Title </a:t>
            </a:r>
          </a:p>
          <a:p>
            <a:r>
              <a:rPr lang="en-US" dirty="0"/>
              <a:t>Paragraph</a:t>
            </a:r>
          </a:p>
          <a:p>
            <a:r>
              <a:rPr lang="en-US" dirty="0"/>
              <a:t>Tables</a:t>
            </a:r>
          </a:p>
          <a:p>
            <a:r>
              <a:rPr lang="en-US" dirty="0"/>
              <a:t>Forms</a:t>
            </a:r>
          </a:p>
          <a:p>
            <a:r>
              <a:rPr lang="en-US" dirty="0"/>
              <a:t>Images</a:t>
            </a:r>
          </a:p>
          <a:p>
            <a:r>
              <a:rPr lang="en-US" dirty="0"/>
              <a:t>Links</a:t>
            </a:r>
          </a:p>
          <a:p>
            <a:r>
              <a:rPr lang="en-US" dirty="0"/>
              <a:t>Lists</a:t>
            </a:r>
          </a:p>
          <a:p>
            <a:r>
              <a:rPr lang="en-US" dirty="0"/>
              <a:t>Buttons/Checkbox</a:t>
            </a:r>
          </a:p>
          <a:p>
            <a:r>
              <a:rPr lang="en-US" dirty="0"/>
              <a:t>Bold/Italic/Color</a:t>
            </a:r>
          </a:p>
          <a:p>
            <a:r>
              <a:rPr lang="en-US" dirty="0"/>
              <a:t>Comments</a:t>
            </a:r>
          </a:p>
          <a:p>
            <a:r>
              <a:rPr lang="en-US" dirty="0"/>
              <a:t>Text Box</a:t>
            </a:r>
          </a:p>
          <a:p>
            <a:r>
              <a:rPr lang="en-US" dirty="0"/>
              <a:t>Email/ Password</a:t>
            </a:r>
          </a:p>
        </p:txBody>
      </p:sp>
    </p:spTree>
    <p:extLst>
      <p:ext uri="{BB962C8B-B14F-4D97-AF65-F5344CB8AC3E}">
        <p14:creationId xmlns:p14="http://schemas.microsoft.com/office/powerpoint/2010/main" val="298411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D72F5-FE2B-E096-DC92-EBB0C1DE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 End</a:t>
            </a:r>
            <a:endParaRPr lang="x-none" dirty="0"/>
          </a:p>
        </p:txBody>
      </p:sp>
      <p:sp>
        <p:nvSpPr>
          <p:cNvPr id="5" name="Google Shape;79;p4">
            <a:extLst>
              <a:ext uri="{FF2B5EF4-FFF2-40B4-BE49-F238E27FC236}">
                <a16:creationId xmlns:a16="http://schemas.microsoft.com/office/drawing/2014/main" id="{9BF4B7B3-2BA5-FDDE-2A9C-6A895D345F0B}"/>
              </a:ext>
            </a:extLst>
          </p:cNvPr>
          <p:cNvSpPr/>
          <p:nvPr/>
        </p:nvSpPr>
        <p:spPr>
          <a:xfrm>
            <a:off x="396240" y="2133600"/>
            <a:ext cx="2438400" cy="24384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Google Shape;88;p4">
            <a:extLst>
              <a:ext uri="{FF2B5EF4-FFF2-40B4-BE49-F238E27FC236}">
                <a16:creationId xmlns:a16="http://schemas.microsoft.com/office/drawing/2014/main" id="{FB5C412D-8C23-F00F-62FB-891C25CD4F11}"/>
              </a:ext>
            </a:extLst>
          </p:cNvPr>
          <p:cNvSpPr/>
          <p:nvPr/>
        </p:nvSpPr>
        <p:spPr>
          <a:xfrm>
            <a:off x="2844545" y="3070098"/>
            <a:ext cx="513715" cy="576580"/>
          </a:xfrm>
          <a:custGeom>
            <a:avLst/>
            <a:gdLst/>
            <a:ahLst/>
            <a:cxnLst/>
            <a:rect l="l" t="t" r="r" b="b"/>
            <a:pathLst>
              <a:path w="513714" h="576579" extrusionOk="0">
                <a:moveTo>
                  <a:pt x="0" y="167512"/>
                </a:moveTo>
                <a:lnTo>
                  <a:pt x="167512" y="167512"/>
                </a:lnTo>
                <a:lnTo>
                  <a:pt x="167512" y="0"/>
                </a:lnTo>
                <a:lnTo>
                  <a:pt x="346075" y="0"/>
                </a:lnTo>
                <a:lnTo>
                  <a:pt x="346075" y="167512"/>
                </a:lnTo>
                <a:lnTo>
                  <a:pt x="513588" y="167512"/>
                </a:lnTo>
                <a:lnTo>
                  <a:pt x="513588" y="408559"/>
                </a:lnTo>
                <a:lnTo>
                  <a:pt x="346075" y="408559"/>
                </a:lnTo>
                <a:lnTo>
                  <a:pt x="346075" y="576071"/>
                </a:lnTo>
                <a:lnTo>
                  <a:pt x="167512" y="576071"/>
                </a:lnTo>
                <a:lnTo>
                  <a:pt x="167512" y="408559"/>
                </a:lnTo>
                <a:lnTo>
                  <a:pt x="0" y="408559"/>
                </a:lnTo>
                <a:lnTo>
                  <a:pt x="0" y="167512"/>
                </a:lnTo>
                <a:close/>
              </a:path>
            </a:pathLst>
          </a:custGeom>
          <a:noFill/>
          <a:ln w="28950" cap="flat" cmpd="sng">
            <a:solidFill>
              <a:srgbClr val="6C6E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78;p4">
            <a:extLst>
              <a:ext uri="{FF2B5EF4-FFF2-40B4-BE49-F238E27FC236}">
                <a16:creationId xmlns:a16="http://schemas.microsoft.com/office/drawing/2014/main" id="{1CB53844-A923-6ABD-B873-5636F742BEBB}"/>
              </a:ext>
            </a:extLst>
          </p:cNvPr>
          <p:cNvSpPr/>
          <p:nvPr/>
        </p:nvSpPr>
        <p:spPr>
          <a:xfrm>
            <a:off x="3348228" y="2133600"/>
            <a:ext cx="2519172" cy="2519172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" name="Google Shape;84;p4">
            <a:extLst>
              <a:ext uri="{FF2B5EF4-FFF2-40B4-BE49-F238E27FC236}">
                <a16:creationId xmlns:a16="http://schemas.microsoft.com/office/drawing/2014/main" id="{682B899D-0E58-225A-392C-A98926D0710D}"/>
              </a:ext>
            </a:extLst>
          </p:cNvPr>
          <p:cNvSpPr/>
          <p:nvPr/>
        </p:nvSpPr>
        <p:spPr>
          <a:xfrm>
            <a:off x="5868161" y="3070098"/>
            <a:ext cx="515620" cy="576580"/>
          </a:xfrm>
          <a:custGeom>
            <a:avLst/>
            <a:gdLst/>
            <a:ahLst/>
            <a:cxnLst/>
            <a:rect l="l" t="t" r="r" b="b"/>
            <a:pathLst>
              <a:path w="515620" h="576579" extrusionOk="0">
                <a:moveTo>
                  <a:pt x="0" y="168021"/>
                </a:moveTo>
                <a:lnTo>
                  <a:pt x="168021" y="168021"/>
                </a:lnTo>
                <a:lnTo>
                  <a:pt x="168021" y="0"/>
                </a:lnTo>
                <a:lnTo>
                  <a:pt x="347090" y="0"/>
                </a:lnTo>
                <a:lnTo>
                  <a:pt x="347090" y="168021"/>
                </a:lnTo>
                <a:lnTo>
                  <a:pt x="515112" y="168021"/>
                </a:lnTo>
                <a:lnTo>
                  <a:pt x="515112" y="408050"/>
                </a:lnTo>
                <a:lnTo>
                  <a:pt x="347090" y="408050"/>
                </a:lnTo>
                <a:lnTo>
                  <a:pt x="347090" y="576071"/>
                </a:lnTo>
                <a:lnTo>
                  <a:pt x="168021" y="576071"/>
                </a:lnTo>
                <a:lnTo>
                  <a:pt x="168021" y="408050"/>
                </a:lnTo>
                <a:lnTo>
                  <a:pt x="0" y="408050"/>
                </a:lnTo>
                <a:lnTo>
                  <a:pt x="0" y="168021"/>
                </a:lnTo>
                <a:close/>
              </a:path>
            </a:pathLst>
          </a:custGeom>
          <a:noFill/>
          <a:ln w="28950" cap="flat" cmpd="sng">
            <a:solidFill>
              <a:srgbClr val="6C6E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" name="Google Shape;80;p4">
            <a:extLst>
              <a:ext uri="{FF2B5EF4-FFF2-40B4-BE49-F238E27FC236}">
                <a16:creationId xmlns:a16="http://schemas.microsoft.com/office/drawing/2014/main" id="{05464F08-0C00-5C23-1D16-0E8751C7FECE}"/>
              </a:ext>
            </a:extLst>
          </p:cNvPr>
          <p:cNvSpPr/>
          <p:nvPr/>
        </p:nvSpPr>
        <p:spPr>
          <a:xfrm>
            <a:off x="6382511" y="2133600"/>
            <a:ext cx="2438399" cy="24384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13049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6DB76-B044-3EE2-B423-4317357BF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Layers of Web Design</a:t>
            </a:r>
            <a:endParaRPr lang="x-none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6ACBE9-C786-99B9-3C63-5D56A97710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4723525"/>
              </p:ext>
            </p:extLst>
          </p:nvPr>
        </p:nvGraphicFramePr>
        <p:xfrm>
          <a:off x="677863" y="2160588"/>
          <a:ext cx="8596311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135948769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806766800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8649153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Structure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Style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Behavior</a:t>
                      </a:r>
                      <a:endParaRPr lang="x-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575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HTML markup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CSS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JavaScript</a:t>
                      </a:r>
                      <a:endParaRPr lang="x-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8875342"/>
                  </a:ext>
                </a:extLst>
              </a:tr>
            </a:tbl>
          </a:graphicData>
        </a:graphic>
      </p:graphicFrame>
      <p:sp>
        <p:nvSpPr>
          <p:cNvPr id="5" name="Google Shape;100;p5">
            <a:extLst>
              <a:ext uri="{FF2B5EF4-FFF2-40B4-BE49-F238E27FC236}">
                <a16:creationId xmlns:a16="http://schemas.microsoft.com/office/drawing/2014/main" id="{0D8C6B5E-165E-413D-4679-690D7625BED6}"/>
              </a:ext>
            </a:extLst>
          </p:cNvPr>
          <p:cNvSpPr/>
          <p:nvPr/>
        </p:nvSpPr>
        <p:spPr>
          <a:xfrm>
            <a:off x="552696" y="3319729"/>
            <a:ext cx="2910840" cy="2081783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6" name="Google Shape;102;p5">
            <a:extLst>
              <a:ext uri="{FF2B5EF4-FFF2-40B4-BE49-F238E27FC236}">
                <a16:creationId xmlns:a16="http://schemas.microsoft.com/office/drawing/2014/main" id="{75A5E951-98E2-2B46-38C0-137CED8C787D}"/>
              </a:ext>
            </a:extLst>
          </p:cNvPr>
          <p:cNvSpPr/>
          <p:nvPr/>
        </p:nvSpPr>
        <p:spPr>
          <a:xfrm>
            <a:off x="3603408" y="3313632"/>
            <a:ext cx="2705100" cy="208788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7" name="Google Shape;104;p5">
            <a:extLst>
              <a:ext uri="{FF2B5EF4-FFF2-40B4-BE49-F238E27FC236}">
                <a16:creationId xmlns:a16="http://schemas.microsoft.com/office/drawing/2014/main" id="{2395092A-4BDE-B4C0-FEDC-A50452DC242F}"/>
              </a:ext>
            </a:extLst>
          </p:cNvPr>
          <p:cNvSpPr/>
          <p:nvPr/>
        </p:nvSpPr>
        <p:spPr>
          <a:xfrm>
            <a:off x="6588252" y="3313632"/>
            <a:ext cx="2296668" cy="2071116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75895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4778D-6B20-D5B1-490A-4A868BBE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Tags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13D9A-10D2-F767-A2F1-134055732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Tags are enclosed in &lt;angle brackets&gt;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The closing tag has the forward slash &lt;/tag&gt;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Tags can be upper or lower case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Historically lower case is used and is generally recommended</a:t>
            </a:r>
          </a:p>
        </p:txBody>
      </p:sp>
    </p:spTree>
    <p:extLst>
      <p:ext uri="{BB962C8B-B14F-4D97-AF65-F5344CB8AC3E}">
        <p14:creationId xmlns:p14="http://schemas.microsoft.com/office/powerpoint/2010/main" val="2356989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0307-C04B-A3E3-23EF-72BA6D1E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Attributed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2E45C-2942-31A7-C792-7F60D7E7E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Attributes add discretionary properties to tags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They are added to the opening tag within the &lt;&gt; brackets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For example </a:t>
            </a:r>
            <a:r>
              <a:rPr lang="en-US" sz="1800" b="1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&lt;html lang=“us-</a:t>
            </a:r>
            <a:r>
              <a:rPr lang="en-US" sz="1800" b="1" dirty="0" err="1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en</a:t>
            </a:r>
            <a:r>
              <a:rPr lang="en-US" sz="1800" b="1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”&gt; </a:t>
            </a:r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adds a language attribute to the &lt;html&gt; tag which is  useful for search engines and assistive devices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Attributes can use single or double quotes – or no quotes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Best practice suggests always quote attributes – and stay consistent with style</a:t>
            </a:r>
          </a:p>
          <a:p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5550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6A43-368C-2557-B081-57340AD0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HTML Template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2782BB-FCC9-4B45-9926-2049BE1C6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710" y="1891162"/>
            <a:ext cx="3545555" cy="3880773"/>
          </a:xfrm>
        </p:spPr>
        <p:txBody>
          <a:bodyPr>
            <a:normAutofit fontScale="92500" lnSpcReduction="20000"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AF151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&lt;html&gt;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&lt;head&gt;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&lt;title&gt; HTML Template &lt;/title&gt;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&lt;/head&gt;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&lt;body&gt;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&lt;h1&gt; Main Heading Here &lt;/h1&gt;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&lt;p&gt; Paragraph here. &lt;/p&gt;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&lt;/body&gt;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AF1512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&lt;/html&gt;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>
              <a:buNone/>
            </a:pPr>
            <a:endParaRPr lang="x-non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54EE-C52B-DF63-48CA-25DC43BFD3D2}"/>
              </a:ext>
            </a:extLst>
          </p:cNvPr>
          <p:cNvSpPr txBox="1">
            <a:spLocks/>
          </p:cNvSpPr>
          <p:nvPr/>
        </p:nvSpPr>
        <p:spPr>
          <a:xfrm>
            <a:off x="5767957" y="1891163"/>
            <a:ext cx="3545555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Copy this code into any text editor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Save it as first.html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(or give it any other name.html)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Double click the file to open it in your browser</a:t>
            </a:r>
          </a:p>
        </p:txBody>
      </p:sp>
    </p:spTree>
    <p:extLst>
      <p:ext uri="{BB962C8B-B14F-4D97-AF65-F5344CB8AC3E}">
        <p14:creationId xmlns:p14="http://schemas.microsoft.com/office/powerpoint/2010/main" val="357080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EDB20-0F46-2588-428C-2721D970B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5DC4F-75D6-F195-FD90-2C1A6B05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World!!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9118D-7D92-C898-052D-970B74B57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710" y="1891162"/>
            <a:ext cx="3545555" cy="3880773"/>
          </a:xfrm>
        </p:spPr>
        <p:txBody>
          <a:bodyPr>
            <a:normAutofit fontScale="92500" lnSpcReduction="20000"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&lt;html 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lang=“us-</a:t>
            </a:r>
            <a:r>
              <a:rPr lang="en-US" sz="1800" b="1" dirty="0" err="1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en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”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&lt;head&gt;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&lt;title&gt; Hello, World! &lt;/title&gt;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&lt;/head&gt;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&lt;body&gt;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&lt;h1&gt; Hello, World! &lt;/h1&gt;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&lt;p&gt; My first HTML web page.&lt;/p&gt;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&lt;/body&gt;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&lt;/html&gt;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indent="0">
              <a:buNone/>
            </a:pPr>
            <a:endParaRPr lang="x-non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5B9A8B-B63B-862F-F48A-B9477E9392AA}"/>
              </a:ext>
            </a:extLst>
          </p:cNvPr>
          <p:cNvSpPr txBox="1">
            <a:spLocks/>
          </p:cNvSpPr>
          <p:nvPr/>
        </p:nvSpPr>
        <p:spPr>
          <a:xfrm>
            <a:off x="5767957" y="1891163"/>
            <a:ext cx="3545555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Change  the title and body text from the previous code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 Add the language attribute</a:t>
            </a:r>
          </a:p>
          <a:p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Add additional paragraph</a:t>
            </a:r>
          </a:p>
          <a:p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Save it with different file name filename.html</a:t>
            </a:r>
          </a:p>
        </p:txBody>
      </p:sp>
    </p:spTree>
    <p:extLst>
      <p:ext uri="{BB962C8B-B14F-4D97-AF65-F5344CB8AC3E}">
        <p14:creationId xmlns:p14="http://schemas.microsoft.com/office/powerpoint/2010/main" val="3075271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5D74A-334E-3608-8918-8E43FCD1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33DC-206C-03BD-EA24-64166E6C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Headings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6D28A-FE2C-20D9-41C0-C30EFC833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710" y="1891162"/>
            <a:ext cx="3545555" cy="3880773"/>
          </a:xfrm>
        </p:spPr>
        <p:txBody>
          <a:bodyPr>
            <a:normAutofit fontScale="85000" lnSpcReduction="10000"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&lt;body&gt;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&lt;h1&gt; This is Heading 1 &lt;/h1&gt;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&lt;h2&gt; This is Heading 2 &lt;/h2&gt;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&lt;h3&gt; This is Heading 3 &lt;/h3&gt;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&lt;h4&gt; This is Heading 4 &lt;/h4&gt;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&lt;h5&gt; This is Heading 5 &lt;/h5&gt;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&lt;h6&gt; This is Heading 6 &lt;/h6&gt;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&lt;/body&gt;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E0190A4-1186-F016-F413-D9702830389E}"/>
              </a:ext>
            </a:extLst>
          </p:cNvPr>
          <p:cNvSpPr txBox="1">
            <a:spLocks/>
          </p:cNvSpPr>
          <p:nvPr/>
        </p:nvSpPr>
        <p:spPr>
          <a:xfrm>
            <a:off x="5767957" y="1891163"/>
            <a:ext cx="3545555" cy="38807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There are six heading levels &lt;h1&gt; to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&lt;h6&gt; each with a smaller font size</a:t>
            </a:r>
          </a:p>
          <a:p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levels represent a semantic </a:t>
            </a:r>
            <a:r>
              <a:rPr lang="en-US" sz="1800" dirty="0">
                <a:solidFill>
                  <a:schemeClr val="dk1"/>
                </a:solidFill>
              </a:rPr>
              <a:t>hierarchy indicating the relative importance of each heading</a:t>
            </a:r>
          </a:p>
          <a:p>
            <a:r>
              <a:rPr lang="en-US" sz="1800" dirty="0">
                <a:solidFill>
                  <a:schemeClr val="dk1"/>
                </a:solidFill>
              </a:rPr>
              <a:t>&lt;h1&gt; to &lt;h3&gt; are most common</a:t>
            </a:r>
          </a:p>
          <a:p>
            <a:r>
              <a:rPr lang="en-US" sz="1800" dirty="0">
                <a:solidFill>
                  <a:schemeClr val="dk1"/>
                </a:solidFill>
              </a:rPr>
              <a:t>Formatting is the domain of CSS</a:t>
            </a:r>
          </a:p>
          <a:p>
            <a:r>
              <a:rPr lang="en-US" sz="1800" dirty="0">
                <a:solidFill>
                  <a:schemeClr val="dk1"/>
                </a:solidFill>
              </a:rPr>
              <a:t>Create a page with different heading  levels to see the difference</a:t>
            </a:r>
          </a:p>
          <a:p>
            <a:endParaRPr lang="en-US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971748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89B29-A305-046A-E819-532146816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1C8B5-1FE2-ABD3-0635-25D813523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x-non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1FD35E4-04E7-3F1B-89CA-E8D0F80763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117892"/>
              </p:ext>
            </p:extLst>
          </p:nvPr>
        </p:nvGraphicFramePr>
        <p:xfrm>
          <a:off x="677334" y="1840753"/>
          <a:ext cx="8466666" cy="37138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3474">
                  <a:extLst>
                    <a:ext uri="{9D8B030D-6E8A-4147-A177-3AD203B41FA5}">
                      <a16:colId xmlns:a16="http://schemas.microsoft.com/office/drawing/2014/main" val="3908787953"/>
                    </a:ext>
                  </a:extLst>
                </a:gridCol>
                <a:gridCol w="5163192">
                  <a:extLst>
                    <a:ext uri="{9D8B030D-6E8A-4147-A177-3AD203B41FA5}">
                      <a16:colId xmlns:a16="http://schemas.microsoft.com/office/drawing/2014/main" val="3773148226"/>
                    </a:ext>
                  </a:extLst>
                </a:gridCol>
              </a:tblGrid>
              <a:tr h="4126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Tags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x-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339224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&lt;html&gt;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dk1"/>
                          </a:solidFill>
                          <a:latin typeface="+mn-lt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Tells the browser this is an HTML5 document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833427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&lt;/html&gt;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Delimits the HTML document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36581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Lang=“</a:t>
                      </a:r>
                      <a:r>
                        <a:rPr lang="en-US" dirty="0" err="1">
                          <a:latin typeface="+mn-lt"/>
                        </a:rPr>
                        <a:t>en</a:t>
                      </a:r>
                      <a:r>
                        <a:rPr lang="en-US" dirty="0">
                          <a:latin typeface="+mn-lt"/>
                        </a:rPr>
                        <a:t>-us”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Adds the language attribute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248645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&lt;head&gt; &lt;/head&gt;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Delimits an area for information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749572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&lt;title&gt; &lt;/title&gt;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Creates a title in the browser title bar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332200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&lt;body&gt;&lt;/body&gt;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Establishes the content to display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115951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&lt;h1&gt;&lt;/h1&gt;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Declares a heading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377210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&lt;p&gt; &lt;/p&gt;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Declares a paragraph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063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9861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7DB27-3489-A9CF-02EF-C39E6BA84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BBBF3-F14F-9F4C-7464-60FDDEBA4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Unordered Lists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109C3-B2AA-DC61-9A83-8F5959466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710" y="1891162"/>
            <a:ext cx="3545555" cy="3880773"/>
          </a:xfrm>
        </p:spPr>
        <p:txBody>
          <a:bodyPr>
            <a:norm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&lt;ul&gt;</a:t>
            </a:r>
          </a:p>
          <a:p>
            <a:pPr marL="3175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&lt;li&gt; </a:t>
            </a:r>
            <a:r>
              <a:rPr lang="it-IT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Item </a:t>
            </a:r>
            <a:r>
              <a:rPr lang="it-IT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&lt;/li&gt;</a:t>
            </a: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&lt;li&gt; </a:t>
            </a:r>
            <a:r>
              <a:rPr lang="it-IT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Item </a:t>
            </a:r>
            <a:r>
              <a:rPr lang="it-IT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&lt;/li&gt;</a:t>
            </a:r>
          </a:p>
          <a:p>
            <a:pPr marL="317500" indent="0">
              <a:spcBef>
                <a:spcPts val="1010"/>
              </a:spcBef>
              <a:buNone/>
            </a:pP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&lt;li&gt; 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Item </a:t>
            </a: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&lt;/li&gt;</a:t>
            </a:r>
            <a:endParaRPr lang="en-US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800" b="1" dirty="0">
              <a:solidFill>
                <a:srgbClr val="840F0D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indent="0">
              <a:spcBef>
                <a:spcPts val="0"/>
              </a:spcBef>
              <a:buNone/>
            </a:pPr>
            <a:r>
              <a:rPr lang="it-IT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&lt;/ul&gt;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90168C4-8B0E-D3D3-77EA-CF2E5149B9AE}"/>
              </a:ext>
            </a:extLst>
          </p:cNvPr>
          <p:cNvSpPr txBox="1">
            <a:spLocks/>
          </p:cNvSpPr>
          <p:nvPr/>
        </p:nvSpPr>
        <p:spPr>
          <a:xfrm>
            <a:off x="5199797" y="1891163"/>
            <a:ext cx="4113715" cy="266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</a:t>
            </a:r>
            <a:r>
              <a:rPr lang="en-US" b="1" dirty="0" err="1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ul</a:t>
            </a:r>
            <a:r>
              <a:rPr lang="en-US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&gt; </a:t>
            </a:r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tags define a </a:t>
            </a:r>
            <a:r>
              <a:rPr lang="en-US" dirty="0">
                <a:solidFill>
                  <a:schemeClr val="dk1"/>
                </a:solidFill>
              </a:rPr>
              <a:t>non-sequential bulleted list (an “unordered” list)</a:t>
            </a:r>
          </a:p>
          <a:p>
            <a:pPr marL="12700"/>
            <a:r>
              <a:rPr lang="en-US" b="1" dirty="0">
                <a:solidFill>
                  <a:srgbClr val="4A856C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&lt;li&gt; </a:t>
            </a:r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tags define a list item within </a:t>
            </a:r>
            <a:r>
              <a:rPr lang="en-US" dirty="0">
                <a:solidFill>
                  <a:schemeClr val="dk1"/>
                </a:solidFill>
              </a:rPr>
              <a:t>the unordered list</a:t>
            </a:r>
          </a:p>
          <a:p>
            <a:pPr marL="0" indent="0">
              <a:buNone/>
            </a:pPr>
            <a:endParaRPr lang="en-US"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515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4BCFD-3E69-C610-69F3-405BAD7E3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3320F-3320-0DF2-B4CF-F9B3FE4A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Lists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E14C9-B179-55C6-2065-5B9B82FDB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710" y="1891162"/>
            <a:ext cx="3545555" cy="3880773"/>
          </a:xfrm>
        </p:spPr>
        <p:txBody>
          <a:bodyPr>
            <a:norm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&lt;ol&gt;</a:t>
            </a:r>
          </a:p>
          <a:p>
            <a:pPr marL="3175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&lt;li&gt; </a:t>
            </a:r>
            <a:r>
              <a:rPr lang="it-IT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Item 1 </a:t>
            </a:r>
            <a:r>
              <a:rPr lang="it-IT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&lt;/li&gt;</a:t>
            </a: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&lt;li&gt; </a:t>
            </a:r>
            <a:r>
              <a:rPr lang="it-IT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Item 2 </a:t>
            </a:r>
            <a:r>
              <a:rPr lang="it-IT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&lt;/li&gt;</a:t>
            </a: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indent="0">
              <a:spcBef>
                <a:spcPts val="1010"/>
              </a:spcBef>
              <a:buNone/>
            </a:pP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&lt;li&gt; 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Item 3 </a:t>
            </a: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&lt;/li&gt;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800" b="1" dirty="0">
              <a:solidFill>
                <a:srgbClr val="840F0D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indent="0">
              <a:spcBef>
                <a:spcPts val="0"/>
              </a:spcBef>
              <a:buNone/>
            </a:pPr>
            <a:r>
              <a:rPr lang="it-IT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&lt;/ol&gt;</a:t>
            </a: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2E16FE-BEAA-912C-AFBA-0B7D3C5EB2FE}"/>
              </a:ext>
            </a:extLst>
          </p:cNvPr>
          <p:cNvSpPr txBox="1">
            <a:spLocks/>
          </p:cNvSpPr>
          <p:nvPr/>
        </p:nvSpPr>
        <p:spPr>
          <a:xfrm>
            <a:off x="5199797" y="1891163"/>
            <a:ext cx="4113715" cy="266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sz="1800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</a:t>
            </a:r>
            <a:r>
              <a:rPr lang="en-US" sz="1800" b="1" dirty="0" err="1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ol</a:t>
            </a:r>
            <a:r>
              <a:rPr lang="en-US" sz="1800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&gt; </a:t>
            </a:r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tags define a sequential </a:t>
            </a:r>
            <a:r>
              <a:rPr lang="en-US" sz="1800" dirty="0">
                <a:solidFill>
                  <a:schemeClr val="dk1"/>
                </a:solidFill>
              </a:rPr>
              <a:t>numbered list (an “ordered” list)</a:t>
            </a:r>
          </a:p>
          <a:p>
            <a:pPr marL="12700"/>
            <a:r>
              <a:rPr lang="en-US" sz="1800" b="1" dirty="0">
                <a:solidFill>
                  <a:srgbClr val="4A856C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&lt;li&gt; </a:t>
            </a:r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tags define a list item within </a:t>
            </a:r>
            <a:r>
              <a:rPr lang="en-US" sz="1800" dirty="0">
                <a:solidFill>
                  <a:schemeClr val="dk1"/>
                </a:solidFill>
              </a:rPr>
              <a:t>the ordered list</a:t>
            </a:r>
          </a:p>
        </p:txBody>
      </p:sp>
    </p:spTree>
    <p:extLst>
      <p:ext uri="{BB962C8B-B14F-4D97-AF65-F5344CB8AC3E}">
        <p14:creationId xmlns:p14="http://schemas.microsoft.com/office/powerpoint/2010/main" val="1251101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1E832-18A2-41DB-8D8B-4CE258E28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26FF2-0481-7D9C-4C2D-AA47BE6F3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Lists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7E7D7-3AFE-1932-2718-98D5136E6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710" y="1891162"/>
            <a:ext cx="3545555" cy="3880773"/>
          </a:xfrm>
        </p:spPr>
        <p:txBody>
          <a:bodyPr>
            <a:norm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&lt;ul&gt;</a:t>
            </a: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&lt;li&gt; Item 1 &lt;/li&gt;</a:t>
            </a: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&lt;li&gt; Item 2 &lt;/li&gt;</a:t>
            </a:r>
            <a:endParaRPr lang="it-IT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&lt;ol&gt;</a:t>
            </a:r>
            <a:endParaRPr lang="it-IT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&lt;li&gt; Sub Item 1 &lt;/li&gt;</a:t>
            </a:r>
            <a:endParaRPr lang="it-IT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&lt;li&gt; Sub Item 2 &lt;/li&gt;</a:t>
            </a:r>
            <a:endParaRPr lang="it-IT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&lt;/ol&gt;</a:t>
            </a: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&lt;li&gt; Item 3 &lt;/li&gt;</a:t>
            </a: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&lt;/ul&gt;</a:t>
            </a: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3175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endParaRPr lang="it-IT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D7C3012-D62C-366E-1BDE-5D767486AF0E}"/>
              </a:ext>
            </a:extLst>
          </p:cNvPr>
          <p:cNvSpPr txBox="1">
            <a:spLocks/>
          </p:cNvSpPr>
          <p:nvPr/>
        </p:nvSpPr>
        <p:spPr>
          <a:xfrm>
            <a:off x="4940490" y="1891163"/>
            <a:ext cx="4761887" cy="266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Nested lists create a list within a list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Copy the nested code opposite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Switch the ordered and unordered lists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Add the type attribute to each list</a:t>
            </a: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414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FDEDE-CF98-39D6-E4C2-DCB659D5F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ED14F-F168-00AF-25D9-8AAFEA9A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Tags-Hyperlinks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F115-0306-015F-1F89-5191E60B6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710" y="1891162"/>
            <a:ext cx="3545555" cy="3880773"/>
          </a:xfrm>
        </p:spPr>
        <p:txBody>
          <a:bodyPr>
            <a:norm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&lt;a </a:t>
            </a:r>
            <a:r>
              <a:rPr lang="en-US" sz="1800" b="1" dirty="0" err="1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href</a:t>
            </a: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="</a:t>
            </a:r>
            <a:r>
              <a:rPr lang="en-US" sz="1800" b="1" dirty="0" err="1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url</a:t>
            </a: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"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</a:t>
            </a:r>
            <a:r>
              <a:rPr lang="en-US" sz="18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Link Text 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&lt;/a&gt;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D98A3E1-8677-9606-83F5-DD6D6D626794}"/>
              </a:ext>
            </a:extLst>
          </p:cNvPr>
          <p:cNvSpPr txBox="1">
            <a:spLocks/>
          </p:cNvSpPr>
          <p:nvPr/>
        </p:nvSpPr>
        <p:spPr>
          <a:xfrm>
            <a:off x="4940490" y="1891163"/>
            <a:ext cx="4761887" cy="266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Links are created using the anchor </a:t>
            </a:r>
            <a:r>
              <a:rPr lang="en-US" sz="1800" b="1" dirty="0">
                <a:solidFill>
                  <a:srgbClr val="840F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&lt;a&gt;</a:t>
            </a:r>
            <a:r>
              <a:rPr lang="en-US" sz="1800" b="1" dirty="0">
                <a:solidFill>
                  <a:schemeClr val="dk1"/>
                </a:solidFill>
              </a:rPr>
              <a:t> </a:t>
            </a:r>
            <a:r>
              <a:rPr lang="en-US" sz="1800" b="1" dirty="0">
                <a:solidFill>
                  <a:srgbClr val="840F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&lt;/a&gt; </a:t>
            </a:r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tags</a:t>
            </a:r>
            <a:endParaRPr lang="en-US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link address is specified in the </a:t>
            </a:r>
            <a:r>
              <a:rPr lang="en-US" sz="1800" b="1" dirty="0" err="1">
                <a:solidFill>
                  <a:srgbClr val="4A856C"/>
                </a:solidFill>
              </a:rPr>
              <a:t>href</a:t>
            </a:r>
            <a:r>
              <a:rPr lang="en-US" sz="1800" b="1" dirty="0">
                <a:solidFill>
                  <a:srgbClr val="4A856C"/>
                </a:solidFill>
              </a:rPr>
              <a:t> </a:t>
            </a:r>
            <a:r>
              <a:rPr lang="en-US" sz="1800" dirty="0">
                <a:solidFill>
                  <a:schemeClr val="dk1"/>
                </a:solidFill>
              </a:rPr>
              <a:t>attribute</a:t>
            </a:r>
          </a:p>
          <a:p>
            <a:pPr marL="12700"/>
            <a:r>
              <a:rPr lang="en-US" sz="1800" b="1" dirty="0">
                <a:solidFill>
                  <a:srgbClr val="001F5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Link Text </a:t>
            </a:r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becomes the underlined link the  user clicks on to activate the link</a:t>
            </a:r>
          </a:p>
          <a:p>
            <a:pPr marL="12700"/>
            <a:endParaRPr lang="en-US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162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828D8-7CBB-4F04-6B29-DBB3D77EC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2C3C4-6544-5580-D778-D31FAEE9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Tags-Hyperlinks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2FF62-8936-7E18-2958-CEB475C56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960" y="1891163"/>
            <a:ext cx="5019076" cy="2871432"/>
          </a:xfrm>
        </p:spPr>
        <p:txBody>
          <a:bodyPr>
            <a:normAutofit/>
          </a:bodyPr>
          <a:lstStyle/>
          <a:p>
            <a:pPr marL="469900" marR="5080" lvl="0" indent="-4578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&lt;a </a:t>
            </a:r>
            <a:r>
              <a:rPr lang="en-US" sz="1800" b="1" u="sng" dirty="0" err="1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  <a:hlinkClick r:id="rId2"/>
              </a:rPr>
              <a:t>href</a:t>
            </a:r>
            <a:r>
              <a:rPr lang="en-US" sz="1800" b="1" u="sng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  <a:hlinkClick r:id="rId2"/>
              </a:rPr>
              <a:t>=“http://www.google.com”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 </a:t>
            </a:r>
            <a:r>
              <a:rPr lang="en-US" sz="18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Google 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&lt;/a&gt;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87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&lt;a </a:t>
            </a:r>
            <a:r>
              <a:rPr lang="en-US" sz="1800" b="1" dirty="0" err="1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href</a:t>
            </a: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=“first.html”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My First Web Page 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&lt;/a&gt;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86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&lt;a </a:t>
            </a:r>
            <a:r>
              <a:rPr lang="en-US" sz="1800" b="1" dirty="0" err="1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href</a:t>
            </a: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=“#top”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</a:t>
            </a:r>
            <a:r>
              <a:rPr lang="en-US" sz="18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Top of Pa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ge 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&lt;/a&gt;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5A2F75-5928-E79E-9C9F-99CEFAA4A8EC}"/>
              </a:ext>
            </a:extLst>
          </p:cNvPr>
          <p:cNvSpPr txBox="1">
            <a:spLocks/>
          </p:cNvSpPr>
          <p:nvPr/>
        </p:nvSpPr>
        <p:spPr>
          <a:xfrm>
            <a:off x="5363571" y="2095405"/>
            <a:ext cx="4761887" cy="266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Link to an external site</a:t>
            </a:r>
          </a:p>
          <a:p>
            <a:pPr marL="412750" lvl="1"/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Add several external links to a page</a:t>
            </a:r>
          </a:p>
          <a:p>
            <a:pPr marL="12700"/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Link to a local file</a:t>
            </a:r>
          </a:p>
          <a:p>
            <a:pPr marL="412750" lvl="1"/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Create a list of the web pages you saved and add local links (menu)</a:t>
            </a:r>
          </a:p>
          <a:p>
            <a:pPr marL="12700"/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Link to an internal page marker</a:t>
            </a:r>
          </a:p>
          <a:p>
            <a:pPr marL="12700"/>
            <a:endParaRPr lang="en-US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987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AF660-D624-7FB5-F8B0-45F0D043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67302-F606-1997-C660-0223A089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Tag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9DC09-6190-72A0-65E7-1D0C2B15D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891162"/>
            <a:ext cx="4282775" cy="2366939"/>
          </a:xfrm>
        </p:spPr>
        <p:txBody>
          <a:bodyPr>
            <a:norm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</a:t>
            </a:r>
            <a:r>
              <a:rPr lang="en-US" sz="1800" b="1" dirty="0" err="1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img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69900" marR="5080" lvl="0" indent="0" algn="l" rtl="0">
              <a:lnSpc>
                <a:spcPct val="171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src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=“image.jpg”  </a:t>
            </a: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alt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=“describe image here”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7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width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=“100” </a:t>
            </a: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height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=“100”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54BB1D-7C37-8290-9076-8C4B88461BAF}"/>
              </a:ext>
            </a:extLst>
          </p:cNvPr>
          <p:cNvSpPr txBox="1">
            <a:spLocks/>
          </p:cNvSpPr>
          <p:nvPr/>
        </p:nvSpPr>
        <p:spPr>
          <a:xfrm>
            <a:off x="4940491" y="1891164"/>
            <a:ext cx="4761888" cy="3213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</a:t>
            </a:r>
            <a:r>
              <a:rPr lang="en-US" b="1" dirty="0" err="1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img</a:t>
            </a:r>
            <a:r>
              <a:rPr lang="en-US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&gt; </a:t>
            </a:r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tags have no closing tag</a:t>
            </a:r>
          </a:p>
          <a:p>
            <a:pPr marL="12700"/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Attributes can be written as a single </a:t>
            </a:r>
            <a:r>
              <a:rPr lang="en-US" dirty="0">
                <a:solidFill>
                  <a:schemeClr val="dk1"/>
                </a:solidFill>
              </a:rPr>
              <a:t>line of text or with whitespace for added readability</a:t>
            </a:r>
          </a:p>
          <a:p>
            <a:pPr marL="12700"/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The browser ignores whitespace</a:t>
            </a:r>
          </a:p>
          <a:p>
            <a:pPr marL="12700"/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The </a:t>
            </a:r>
            <a:r>
              <a:rPr lang="en-US" b="1" dirty="0" err="1">
                <a:solidFill>
                  <a:srgbClr val="4A856C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src</a:t>
            </a:r>
            <a:r>
              <a:rPr lang="en-US" b="1" dirty="0">
                <a:solidFill>
                  <a:srgbClr val="4A856C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attribute is the image path</a:t>
            </a:r>
          </a:p>
          <a:p>
            <a:pPr marL="12700"/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The </a:t>
            </a:r>
            <a:r>
              <a:rPr lang="en-US" b="1" dirty="0">
                <a:solidFill>
                  <a:srgbClr val="4A856C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alt </a:t>
            </a:r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attribute is for </a:t>
            </a:r>
            <a:r>
              <a:rPr lang="en-US" dirty="0">
                <a:solidFill>
                  <a:schemeClr val="dk1"/>
                </a:solidFill>
              </a:rPr>
              <a:t>replacement</a:t>
            </a:r>
            <a:endParaRPr lang="en-US" dirty="0">
              <a:solidFill>
                <a:schemeClr val="dk1"/>
              </a:solidFill>
              <a:cs typeface="Arial" panose="020B0604020202020204"/>
              <a:sym typeface="Arial" panose="020B0604020202020204"/>
            </a:endParaRPr>
          </a:p>
          <a:p>
            <a:pPr marL="12700"/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Include </a:t>
            </a:r>
            <a:r>
              <a:rPr lang="en-US" b="1" dirty="0">
                <a:solidFill>
                  <a:srgbClr val="4A856C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width </a:t>
            </a:r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and </a:t>
            </a:r>
            <a:r>
              <a:rPr lang="en-US" b="1" dirty="0">
                <a:solidFill>
                  <a:srgbClr val="4A856C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height </a:t>
            </a:r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for browser</a:t>
            </a:r>
          </a:p>
          <a:p>
            <a:pPr marL="12700"/>
            <a:endParaRPr lang="en-US" sz="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50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2C01-1D28-8D70-F997-1595FE06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7340-452E-075C-D4DE-8FA0A1F9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as Links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E810F-7E99-E77C-58AD-BFFBB67C4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90" y="1891162"/>
            <a:ext cx="4763068" cy="2366939"/>
          </a:xfrm>
        </p:spPr>
        <p:txBody>
          <a:bodyPr>
            <a:norm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&lt;a </a:t>
            </a:r>
            <a:r>
              <a:rPr lang="pt-BR" sz="1800" b="1" u="sng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  <a:hlinkClick r:id="rId2"/>
              </a:rPr>
              <a:t>href="http://www.website.com"</a:t>
            </a:r>
            <a:r>
              <a:rPr lang="pt-BR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</a:t>
            </a:r>
            <a:r>
              <a:rPr lang="en-US" sz="1800" b="1" dirty="0" err="1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img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699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src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=“image.jpg”  alt=“describe image here”  width=“100” height=“100”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/&gt;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&lt;/a&gt;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F1BA1F2-1466-87F0-86B3-764B1C30F3C2}"/>
              </a:ext>
            </a:extLst>
          </p:cNvPr>
          <p:cNvSpPr txBox="1">
            <a:spLocks/>
          </p:cNvSpPr>
          <p:nvPr/>
        </p:nvSpPr>
        <p:spPr>
          <a:xfrm>
            <a:off x="5419603" y="1891164"/>
            <a:ext cx="4282776" cy="3213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Create a clickable image</a:t>
            </a:r>
          </a:p>
          <a:p>
            <a:pPr marL="12700"/>
            <a:r>
              <a:rPr lang="de-DE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Wrap an </a:t>
            </a:r>
            <a:r>
              <a:rPr lang="de-DE" sz="1800" b="1" dirty="0">
                <a:solidFill>
                  <a:srgbClr val="4A856C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&lt;img&gt; </a:t>
            </a:r>
            <a:r>
              <a:rPr lang="de-DE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 inside an anchor </a:t>
            </a:r>
            <a:r>
              <a:rPr lang="de-DE" sz="1800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&lt;a&gt; </a:t>
            </a:r>
            <a:r>
              <a:rPr lang="de-DE" sz="1800" dirty="0">
                <a:solidFill>
                  <a:schemeClr val="dk1"/>
                </a:solidFill>
              </a:rPr>
              <a:t>tag</a:t>
            </a:r>
            <a:endParaRPr lang="de-DE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202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2"/>
          <p:cNvSpPr txBox="1">
            <a:spLocks noGrp="1"/>
          </p:cNvSpPr>
          <p:nvPr>
            <p:ph type="title"/>
          </p:nvPr>
        </p:nvSpPr>
        <p:spPr>
          <a:xfrm>
            <a:off x="1056053" y="540971"/>
            <a:ext cx="2930175" cy="5668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spcBef>
                <a:spcPts val="0"/>
              </a:spcBef>
            </a:pPr>
            <a:r>
              <a:rPr lang="en-US" dirty="0"/>
              <a:t>Tables</a:t>
            </a:r>
          </a:p>
        </p:txBody>
      </p:sp>
      <p:sp>
        <p:nvSpPr>
          <p:cNvPr id="429" name="Google Shape;429;p42"/>
          <p:cNvSpPr txBox="1"/>
          <p:nvPr/>
        </p:nvSpPr>
        <p:spPr>
          <a:xfrm>
            <a:off x="1029033" y="2003625"/>
            <a:ext cx="1447468" cy="73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5" rIns="0" bIns="0" anchor="t" anchorCtr="0">
            <a:spAutoFit/>
          </a:bodyPr>
          <a:lstStyle/>
          <a:p>
            <a:pPr marL="12700"/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&lt;table&gt;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47040">
              <a:spcBef>
                <a:spcPts val="540"/>
              </a:spcBef>
            </a:pPr>
            <a:r>
              <a:rPr lang="en-US" sz="19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&lt;tr&gt;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graphicFrame>
        <p:nvGraphicFramePr>
          <p:cNvPr id="430" name="Google Shape;430;p42"/>
          <p:cNvGraphicFramePr/>
          <p:nvPr>
            <p:extLst>
              <p:ext uri="{D42A27DB-BD31-4B8C-83A1-F6EECF244321}">
                <p14:modId xmlns:p14="http://schemas.microsoft.com/office/powerpoint/2010/main" val="3853367994"/>
              </p:ext>
            </p:extLst>
          </p:nvPr>
        </p:nvGraphicFramePr>
        <p:xfrm>
          <a:off x="1456728" y="2807536"/>
          <a:ext cx="3168205" cy="1765518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665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80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8880">
                <a:tc>
                  <a:txBody>
                    <a:bodyPr/>
                    <a:lstStyle/>
                    <a:p>
                      <a:pPr marL="0" marR="32385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rgbClr val="001F5F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&lt;td&gt;</a:t>
                      </a:r>
                      <a:endParaRPr sz="19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Row</a:t>
                      </a:r>
                      <a:endParaRPr sz="19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9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Col</a:t>
                      </a:r>
                      <a:endParaRPr sz="19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7112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9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4064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rgbClr val="001F5F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&lt;/td&gt;</a:t>
                      </a:r>
                      <a:endParaRPr sz="19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319">
                <a:tc>
                  <a:txBody>
                    <a:bodyPr/>
                    <a:lstStyle/>
                    <a:p>
                      <a:pPr marL="0" marR="323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rgbClr val="001F5F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&lt;td&gt;</a:t>
                      </a:r>
                      <a:endParaRPr sz="19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Row</a:t>
                      </a:r>
                      <a:endParaRPr sz="19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9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Col</a:t>
                      </a:r>
                      <a:endParaRPr sz="19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tc>
                  <a:txBody>
                    <a:bodyPr/>
                    <a:lstStyle/>
                    <a:p>
                      <a:pPr marL="711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9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tc>
                  <a:txBody>
                    <a:bodyPr/>
                    <a:lstStyle/>
                    <a:p>
                      <a:pPr marL="406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rgbClr val="001F5F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&lt;/td&gt;</a:t>
                      </a:r>
                      <a:endParaRPr sz="19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319">
                <a:tc>
                  <a:txBody>
                    <a:bodyPr/>
                    <a:lstStyle/>
                    <a:p>
                      <a:pPr marL="0" marR="323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ln>
                            <a:noFill/>
                          </a:ln>
                          <a:solidFill>
                            <a:srgbClr val="001F5F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&lt;td&gt;</a:t>
                      </a:r>
                      <a:endParaRPr sz="19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Row</a:t>
                      </a:r>
                      <a:endParaRPr sz="19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900" u="none" strike="noStrike" cap="none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tc>
                  <a:txBody>
                    <a:bodyPr/>
                    <a:lstStyle/>
                    <a:p>
                      <a:pPr marL="717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Col</a:t>
                      </a:r>
                      <a:endParaRPr sz="19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tc>
                  <a:txBody>
                    <a:bodyPr/>
                    <a:lstStyle/>
                    <a:p>
                      <a:pPr marL="711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9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tc>
                  <a:txBody>
                    <a:bodyPr/>
                    <a:lstStyle/>
                    <a:p>
                      <a:pPr marL="4064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n>
                            <a:noFill/>
                          </a:ln>
                          <a:solidFill>
                            <a:srgbClr val="001F5F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&lt;/td&gt;</a:t>
                      </a:r>
                      <a:endParaRPr sz="1900" u="none" strike="noStrike" cap="none" dirty="0">
                        <a:ln>
                          <a:noFill/>
                        </a:ln>
                        <a:solidFill>
                          <a:schemeClr val="tx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32" name="Google Shape;432;p42"/>
          <p:cNvSpPr txBox="1"/>
          <p:nvPr/>
        </p:nvSpPr>
        <p:spPr>
          <a:xfrm>
            <a:off x="1456728" y="4691209"/>
            <a:ext cx="3115418" cy="304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/>
            <a:r>
              <a:rPr lang="en-US" sz="19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&lt;td&gt; </a:t>
            </a:r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Row 1 Col 4</a:t>
            </a:r>
            <a:r>
              <a:rPr lang="en-US" sz="19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&lt;/td&gt;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33" name="Google Shape;433;p42"/>
          <p:cNvSpPr txBox="1"/>
          <p:nvPr/>
        </p:nvSpPr>
        <p:spPr>
          <a:xfrm>
            <a:off x="475622" y="4996447"/>
            <a:ext cx="4373548" cy="1100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5" rIns="0" bIns="0" anchor="t" anchorCtr="0">
            <a:spAutoFit/>
          </a:bodyPr>
          <a:lstStyle/>
          <a:p>
            <a:pPr marL="881380"/>
            <a:r>
              <a:rPr lang="en-US" sz="19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&lt;td&gt; </a:t>
            </a:r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Row 1 Col 5 </a:t>
            </a:r>
            <a:r>
              <a:rPr lang="en-US" sz="1900" b="1" dirty="0">
                <a:solidFill>
                  <a:srgbClr val="001F5F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&lt;/td&gt;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47040">
              <a:spcBef>
                <a:spcPts val="540"/>
              </a:spcBef>
            </a:pPr>
            <a:r>
              <a:rPr lang="en-US" sz="1900" b="1" dirty="0">
                <a:solidFill>
                  <a:srgbClr val="4A856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&lt;/tr&gt;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>
              <a:spcBef>
                <a:spcPts val="550"/>
              </a:spcBef>
            </a:pP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  &lt;/table&gt;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07175" y="1175639"/>
            <a:ext cx="7435516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/>
            <a:r>
              <a:rPr lang="en-US" dirty="0">
                <a:solidFill>
                  <a:srgbClr val="AF1512"/>
                </a:solidFill>
                <a:latin typeface="Courier New" pitchFamily="49" charset="0"/>
                <a:ea typeface="Noto Sans Symbols"/>
                <a:cs typeface="Courier New" pitchFamily="49" charset="0"/>
                <a:sym typeface="Noto Sans Symbols"/>
              </a:rPr>
              <a:t>►</a:t>
            </a:r>
            <a:r>
              <a:rPr lang="en-US" b="1" dirty="0">
                <a:solidFill>
                  <a:srgbClr val="570A09"/>
                </a:solidFill>
                <a:latin typeface="Courier New" pitchFamily="49" charset="0"/>
                <a:cs typeface="Courier New" pitchFamily="49" charset="0"/>
              </a:rPr>
              <a:t>&lt;table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tags define a data table</a:t>
            </a:r>
          </a:p>
          <a:p>
            <a:pPr marL="12700">
              <a:spcBef>
                <a:spcPts val="555"/>
              </a:spcBef>
            </a:pPr>
            <a:r>
              <a:rPr lang="en-US" dirty="0">
                <a:solidFill>
                  <a:srgbClr val="AF1512"/>
                </a:solidFill>
                <a:latin typeface="Courier New" pitchFamily="49" charset="0"/>
                <a:ea typeface="Noto Sans Symbols"/>
                <a:cs typeface="Courier New" pitchFamily="49" charset="0"/>
                <a:sym typeface="Noto Sans Symbols"/>
              </a:rPr>
              <a:t>►</a:t>
            </a:r>
            <a:r>
              <a:rPr lang="en-US" b="1" dirty="0">
                <a:solidFill>
                  <a:srgbClr val="4A856C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b="1" dirty="0" err="1">
                <a:solidFill>
                  <a:srgbClr val="4A856C"/>
                </a:solidFill>
                <a:latin typeface="Courier New" pitchFamily="49" charset="0"/>
                <a:cs typeface="Courier New" pitchFamily="49" charset="0"/>
              </a:rPr>
              <a:t>tr</a:t>
            </a:r>
            <a:r>
              <a:rPr lang="en-US" b="1" dirty="0">
                <a:solidFill>
                  <a:srgbClr val="4A856C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tags define a row with line breaks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92EC34C-45F7-2002-6B17-7055F440AEE2}"/>
              </a:ext>
            </a:extLst>
          </p:cNvPr>
          <p:cNvSpPr txBox="1">
            <a:spLocks/>
          </p:cNvSpPr>
          <p:nvPr/>
        </p:nvSpPr>
        <p:spPr>
          <a:xfrm>
            <a:off x="6030007" y="2369107"/>
            <a:ext cx="4082983" cy="2940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sz="1800" b="1" dirty="0">
                <a:solidFill>
                  <a:srgbClr val="001F5F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&lt;td&gt; </a:t>
            </a:r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tags define a data cell, and </a:t>
            </a:r>
            <a:r>
              <a:rPr lang="en-US" sz="1800" dirty="0">
                <a:solidFill>
                  <a:schemeClr val="dk1"/>
                </a:solidFill>
              </a:rPr>
              <a:t>display inline, horizontally, in a row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Copy this code to create a table </a:t>
            </a:r>
            <a:r>
              <a:rPr lang="en-US" sz="1800" dirty="0">
                <a:solidFill>
                  <a:schemeClr val="dk1"/>
                </a:solidFill>
              </a:rPr>
              <a:t>with 2 rows with 3 columns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Add additional rows and columns</a:t>
            </a:r>
          </a:p>
          <a:p>
            <a:pPr marL="12700"/>
            <a:endParaRPr lang="en-US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3"/>
          <p:cNvSpPr txBox="1">
            <a:spLocks noGrp="1"/>
          </p:cNvSpPr>
          <p:nvPr>
            <p:ph type="title"/>
          </p:nvPr>
        </p:nvSpPr>
        <p:spPr>
          <a:xfrm>
            <a:off x="838201" y="357005"/>
            <a:ext cx="7721866" cy="5668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spcBef>
                <a:spcPts val="0"/>
              </a:spcBef>
            </a:pPr>
            <a:r>
              <a:rPr lang="en-US" dirty="0"/>
              <a:t>Table Headings</a:t>
            </a:r>
          </a:p>
        </p:txBody>
      </p:sp>
      <p:sp>
        <p:nvSpPr>
          <p:cNvPr id="444" name="Google Shape;444;p43"/>
          <p:cNvSpPr txBox="1"/>
          <p:nvPr/>
        </p:nvSpPr>
        <p:spPr>
          <a:xfrm>
            <a:off x="838201" y="998903"/>
            <a:ext cx="4716438" cy="2539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1275" rIns="0" bIns="0" anchor="t" anchorCtr="0">
            <a:spAutoFit/>
          </a:bodyPr>
          <a:lstStyle/>
          <a:p>
            <a:pPr marL="12700"/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&lt;table&gt;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47040">
              <a:spcBef>
                <a:spcPts val="540"/>
              </a:spcBef>
            </a:pPr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&lt;tr&gt;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881380">
              <a:spcBef>
                <a:spcPts val="550"/>
              </a:spcBef>
            </a:pP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</a:t>
            </a:r>
            <a:r>
              <a:rPr lang="en-US" sz="1900" b="1" dirty="0" err="1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th</a:t>
            </a: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</a:t>
            </a:r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Col 1 Heading </a:t>
            </a: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</a:t>
            </a:r>
            <a:r>
              <a:rPr lang="en-US" sz="1900" b="1" dirty="0" err="1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th</a:t>
            </a: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881380">
              <a:spcBef>
                <a:spcPts val="545"/>
              </a:spcBef>
            </a:pP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</a:t>
            </a:r>
            <a:r>
              <a:rPr lang="en-US" sz="1900" b="1" dirty="0" err="1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th</a:t>
            </a: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</a:t>
            </a:r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Col 2 Heading </a:t>
            </a: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</a:t>
            </a:r>
            <a:r>
              <a:rPr lang="en-US" sz="1900" b="1" dirty="0" err="1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th</a:t>
            </a: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881380">
              <a:spcBef>
                <a:spcPts val="540"/>
              </a:spcBef>
            </a:pP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</a:t>
            </a:r>
            <a:r>
              <a:rPr lang="en-US" sz="1900" b="1" dirty="0" err="1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th</a:t>
            </a: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</a:t>
            </a:r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Col 3 Heading </a:t>
            </a: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</a:t>
            </a:r>
            <a:r>
              <a:rPr lang="en-US" sz="1900" b="1" dirty="0" err="1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th</a:t>
            </a:r>
            <a:r>
              <a:rPr lang="en-US" sz="19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47040">
              <a:spcBef>
                <a:spcPts val="550"/>
              </a:spcBef>
            </a:pPr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&lt;/tr&gt;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47040">
              <a:spcBef>
                <a:spcPts val="540"/>
              </a:spcBef>
            </a:pPr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&lt;tr&gt;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45" name="Google Shape;445;p43"/>
          <p:cNvSpPr txBox="1"/>
          <p:nvPr/>
        </p:nvSpPr>
        <p:spPr>
          <a:xfrm>
            <a:off x="838201" y="4872193"/>
            <a:ext cx="1503145" cy="745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50" rIns="0" bIns="0" anchor="t" anchorCtr="0">
            <a:spAutoFit/>
          </a:bodyPr>
          <a:lstStyle/>
          <a:p>
            <a:pPr marL="447040"/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&lt;/tr&gt;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>
              <a:spcBef>
                <a:spcPts val="550"/>
              </a:spcBef>
            </a:pPr>
            <a:r>
              <a:rPr lang="en-US" sz="19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&lt;/table&gt;</a:t>
            </a:r>
            <a:endParaRPr sz="19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graphicFrame>
        <p:nvGraphicFramePr>
          <p:cNvPr id="450" name="Google Shape;450;p43"/>
          <p:cNvGraphicFramePr/>
          <p:nvPr>
            <p:extLst>
              <p:ext uri="{D42A27DB-BD31-4B8C-83A1-F6EECF244321}">
                <p14:modId xmlns:p14="http://schemas.microsoft.com/office/powerpoint/2010/main" val="2815957793"/>
              </p:ext>
            </p:extLst>
          </p:nvPr>
        </p:nvGraphicFramePr>
        <p:xfrm>
          <a:off x="1282367" y="3613131"/>
          <a:ext cx="4042610" cy="155652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30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2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6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44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3834">
                <a:tc>
                  <a:txBody>
                    <a:bodyPr/>
                    <a:lstStyle/>
                    <a:p>
                      <a:pPr marL="0" marR="64135" lvl="0" indent="0" algn="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&lt;td&gt;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Row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120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Col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75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755" marR="0" lvl="0" indent="0" algn="l" rtl="0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&lt;/td&gt;</a:t>
                      </a:r>
                      <a:endParaRPr sz="1900" b="1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00">
                <a:tc>
                  <a:txBody>
                    <a:bodyPr/>
                    <a:lstStyle/>
                    <a:p>
                      <a:pPr marL="0" marR="6413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&lt;td&gt;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255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Row</a:t>
                      </a:r>
                      <a:endParaRPr sz="1900" u="none" strike="noStrike" cap="none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255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900" u="none" strike="noStrike" cap="none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255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1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Col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255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7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2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255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75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&lt;/td&gt;</a:t>
                      </a:r>
                    </a:p>
                    <a:p>
                      <a:pPr marL="717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255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50">
                <a:tc>
                  <a:txBody>
                    <a:bodyPr/>
                    <a:lstStyle/>
                    <a:p>
                      <a:pPr marL="0" marR="64135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&lt;td&gt;</a:t>
                      </a:r>
                      <a:endParaRPr sz="1900" u="none" strike="noStrike" cap="none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Row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239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1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1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Col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7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3</a:t>
                      </a:r>
                      <a:endParaRPr sz="1900" u="none" strike="noStrike" cap="none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7175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900" b="1" u="none" strike="noStrike" cap="none" dirty="0"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&lt;/td&gt;</a:t>
                      </a:r>
                    </a:p>
                    <a:p>
                      <a:pPr marL="71755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900" u="none" strike="noStrike" cap="none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 marL="0" marR="0" marT="1900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CB234-2A62-1669-4963-BE4DCB3C5B8E}"/>
              </a:ext>
            </a:extLst>
          </p:cNvPr>
          <p:cNvSpPr txBox="1">
            <a:spLocks/>
          </p:cNvSpPr>
          <p:nvPr/>
        </p:nvSpPr>
        <p:spPr>
          <a:xfrm>
            <a:off x="5844732" y="1918344"/>
            <a:ext cx="4082983" cy="2940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sz="1800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</a:t>
            </a:r>
            <a:r>
              <a:rPr lang="en-US" sz="1800" b="1" dirty="0" err="1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</a:t>
            </a:r>
            <a:r>
              <a:rPr lang="en-US" sz="1800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&gt; </a:t>
            </a:r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tags are inline elements that can </a:t>
            </a:r>
            <a:r>
              <a:rPr lang="en-US" sz="1800" dirty="0">
                <a:solidFill>
                  <a:schemeClr val="dk1"/>
                </a:solidFill>
              </a:rPr>
              <a:t>be used to define column headings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</a:t>
            </a:r>
            <a:r>
              <a:rPr lang="en-US" sz="1800" dirty="0" err="1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</a:t>
            </a:r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&gt; tags replace &lt;td&gt; tags in the top </a:t>
            </a:r>
            <a:r>
              <a:rPr lang="en-US" sz="1800" dirty="0">
                <a:solidFill>
                  <a:schemeClr val="dk1"/>
                </a:solidFill>
              </a:rPr>
              <a:t>row for column headings</a:t>
            </a:r>
          </a:p>
          <a:p>
            <a:pPr marL="12700"/>
            <a:r>
              <a:rPr lang="en-US" dirty="0">
                <a:solidFill>
                  <a:schemeClr val="dk1"/>
                </a:solidFill>
                <a:ea typeface="Noto Sans Symbols"/>
              </a:rPr>
              <a:t>T</a:t>
            </a:r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he first &lt;td&gt; tag of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en-US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create row labels</a:t>
            </a: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  <a:p>
            <a:pPr marL="12700"/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  <a:p>
            <a:pPr marL="12700"/>
            <a:endParaRPr lang="en-US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98FC6-D477-28CA-D156-F76ECBAA2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A301-F044-5557-0F01-60B6E2231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Caption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22F8B-C442-3484-7454-B0291FA75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1162"/>
            <a:ext cx="4590702" cy="2871432"/>
          </a:xfrm>
        </p:spPr>
        <p:txBody>
          <a:bodyPr>
            <a:norm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&lt;table&gt;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651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&lt;caption&gt;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&lt;p&gt; Title Goes Here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&lt;p&gt; This table shows . . .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651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&lt;/caption&gt;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4699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...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&lt;/table&gt;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0AA7684-1A25-ED5C-CC86-A1708E255D82}"/>
              </a:ext>
            </a:extLst>
          </p:cNvPr>
          <p:cNvSpPr txBox="1">
            <a:spLocks/>
          </p:cNvSpPr>
          <p:nvPr/>
        </p:nvSpPr>
        <p:spPr>
          <a:xfrm>
            <a:off x="5363571" y="2095405"/>
            <a:ext cx="4761887" cy="266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The </a:t>
            </a:r>
            <a:r>
              <a:rPr lang="en-US" sz="1800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&lt;caption&gt; </a:t>
            </a:r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 is a container for a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table title and/or description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The </a:t>
            </a:r>
            <a:r>
              <a:rPr lang="en-US" sz="1800" b="1" dirty="0">
                <a:solidFill>
                  <a:srgbClr val="840F0D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&lt;caption&gt; </a:t>
            </a:r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tag must directly follow  the &lt;table&gt; tag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Long captions can also be done with</a:t>
            </a:r>
            <a:r>
              <a:rPr lang="en-US" sz="1800" dirty="0">
                <a:solidFill>
                  <a:schemeClr val="dk1"/>
                </a:solidFill>
              </a:rPr>
              <a:t> </a:t>
            </a:r>
            <a:r>
              <a:rPr lang="en-US" sz="18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standard html tags placed before </a:t>
            </a:r>
            <a:r>
              <a:rPr lang="en-US" sz="1800" dirty="0">
                <a:solidFill>
                  <a:schemeClr val="dk1"/>
                </a:solidFill>
              </a:rPr>
              <a:t>the table tag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529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1BA03-B58F-C055-2189-F8968F6A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DCB80-93BA-F57D-DB38-30CCA4DFD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x-non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FE63DDB-10CB-1D55-FF29-F7E484E66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028470"/>
              </p:ext>
            </p:extLst>
          </p:nvPr>
        </p:nvGraphicFramePr>
        <p:xfrm>
          <a:off x="677334" y="1840753"/>
          <a:ext cx="8466666" cy="37560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3474">
                  <a:extLst>
                    <a:ext uri="{9D8B030D-6E8A-4147-A177-3AD203B41FA5}">
                      <a16:colId xmlns:a16="http://schemas.microsoft.com/office/drawing/2014/main" val="3908787953"/>
                    </a:ext>
                  </a:extLst>
                </a:gridCol>
                <a:gridCol w="5163192">
                  <a:extLst>
                    <a:ext uri="{9D8B030D-6E8A-4147-A177-3AD203B41FA5}">
                      <a16:colId xmlns:a16="http://schemas.microsoft.com/office/drawing/2014/main" val="3773148226"/>
                    </a:ext>
                  </a:extLst>
                </a:gridCol>
              </a:tblGrid>
              <a:tr h="4126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Tags</a:t>
                      </a:r>
                      <a:endParaRPr lang="x-non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x-non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339224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&lt;table&gt; &lt;/table&gt;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&lt;table&gt; </a:t>
                      </a:r>
                      <a:r>
                        <a:rPr lang="en-US" sz="1800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tag defines a table container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833427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9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&lt;tr&gt; &lt;/tr&gt;</a:t>
                      </a:r>
                      <a:endParaRPr lang="en-US" sz="1800" dirty="0">
                        <a:solidFill>
                          <a:schemeClr val="dk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&lt;tr&gt; </a:t>
                      </a:r>
                      <a:r>
                        <a:rPr lang="en-US" sz="1800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tags define a table 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336581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&lt;td&gt; &lt;/td&gt;</a:t>
                      </a:r>
                      <a:endParaRPr lang="en-US" sz="1800" dirty="0">
                        <a:solidFill>
                          <a:schemeClr val="dk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9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&lt;td&gt; </a:t>
                      </a:r>
                      <a:r>
                        <a:rPr lang="en-US" sz="1800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tags define a cell for table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248645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</a:t>
                      </a:r>
                      <a:r>
                        <a:rPr lang="en-US" sz="1800" b="1" dirty="0" err="1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th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&gt; &lt;/</a:t>
                      </a:r>
                      <a:r>
                        <a:rPr lang="en-US" sz="1800" b="1" dirty="0" err="1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th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&gt; 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&lt;</a:t>
                      </a:r>
                      <a:r>
                        <a:rPr lang="en-US" sz="1800" b="1" dirty="0" err="1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th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&gt; </a:t>
                      </a:r>
                      <a:r>
                        <a:rPr lang="en-US" sz="1800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tags define a table heading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749572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marL="12700" marR="1378585" lvl="0" indent="0" algn="l" rtl="0">
                        <a:lnSpc>
                          <a:spcPct val="14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colspan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=“2”</a:t>
                      </a:r>
                      <a:endParaRPr lang="en-US" sz="1800" dirty="0">
                        <a:solidFill>
                          <a:schemeClr val="dk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colspan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attribute defines the number of columns a cell should span.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332200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10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 err="1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rowspan</a:t>
                      </a: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=“2”</a:t>
                      </a:r>
                      <a:endParaRPr lang="en-US" sz="1800" dirty="0">
                        <a:solidFill>
                          <a:schemeClr val="dk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row</a:t>
                      </a:r>
                      <a:r>
                        <a:rPr lang="en-US" dirty="0" err="1"/>
                        <a:t>span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attribute defines the number of rows a cell should span.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3115951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marL="12700" marR="0" lvl="0" indent="0" algn="l" rtl="0">
                        <a:lnSpc>
                          <a:spcPct val="100000"/>
                        </a:lnSpc>
                        <a:spcBef>
                          <a:spcPts val="99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  <a:sym typeface="Courier New" panose="02070309020205020404"/>
                        </a:rPr>
                        <a:t>&lt;caption&gt; &lt;/caption&gt;</a:t>
                      </a:r>
                      <a:endParaRPr lang="en-US" sz="1800" dirty="0">
                        <a:solidFill>
                          <a:schemeClr val="dk1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  <a:sym typeface="Courier New" panose="020703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&lt;caption&gt; </a:t>
                      </a:r>
                      <a:r>
                        <a:rPr lang="en-US" sz="1800" dirty="0">
                          <a:solidFill>
                            <a:schemeClr val="dk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provide for a title and brief description</a:t>
                      </a:r>
                      <a:endParaRPr lang="x-none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377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4785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8A367-ED6A-610A-2022-A4206F16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AA617-AB71-2783-AE23-4E969F64E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Quotations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747D2-8974-BB6E-8688-39B354B3B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1162"/>
            <a:ext cx="4590702" cy="2871432"/>
          </a:xfrm>
        </p:spPr>
        <p:txBody>
          <a:bodyPr>
            <a:norm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&lt;blockquote&gt;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	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Four score and seven years ago  our fathers brought forth, upon  this continent, a new nation,  conceived in liberty, and dedicated to the proposition that all men are created equal.</a:t>
            </a:r>
            <a:endParaRPr lang="en-US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&lt;/blockquote&gt;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508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82E263-319C-1F29-CAEB-0F4034C7EAB6}"/>
              </a:ext>
            </a:extLst>
          </p:cNvPr>
          <p:cNvSpPr txBox="1">
            <a:spLocks/>
          </p:cNvSpPr>
          <p:nvPr/>
        </p:nvSpPr>
        <p:spPr>
          <a:xfrm>
            <a:off x="5363571" y="2095405"/>
            <a:ext cx="4761887" cy="266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&lt;q&gt; </a:t>
            </a:r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tags are used for short inline </a:t>
            </a:r>
            <a:r>
              <a:rPr lang="en-US" sz="1800" dirty="0">
                <a:solidFill>
                  <a:schemeClr val="dk1"/>
                </a:solidFill>
              </a:rPr>
              <a:t>quotes with quotation marks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He said, </a:t>
            </a: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&lt;q&gt; </a:t>
            </a:r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 will return </a:t>
            </a: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&lt;/q&gt;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</a:t>
            </a:r>
            <a:r>
              <a:rPr lang="en-US" sz="1800" b="1" dirty="0">
                <a:solidFill>
                  <a:srgbClr val="840F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&lt;blockquote&gt; </a:t>
            </a:r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tag is a block level  element used for longer passages and  displays with indented text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0116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8ED3E-C3D1-F7EC-AEC0-7BBA0734A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86D0D-ABD9-53D0-F3B7-1FC3EFDA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 Break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67588-C54D-673A-05AE-5EAE0ED2F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1162"/>
            <a:ext cx="4590702" cy="2871432"/>
          </a:xfrm>
        </p:spPr>
        <p:txBody>
          <a:bodyPr>
            <a:norm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&lt;p&gt;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470535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Without line break tags 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</a:t>
            </a:r>
            <a:r>
              <a:rPr lang="en-US" sz="1800" b="1" dirty="0" err="1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br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  </a:t>
            </a: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the browser would display 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</a:t>
            </a:r>
            <a:r>
              <a:rPr lang="en-US" sz="1800" b="1" dirty="0" err="1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br</a:t>
            </a:r>
            <a:r>
              <a:rPr lang="en-US" sz="1800" b="1" dirty="0">
                <a:solidFill>
                  <a:srgbClr val="840F0D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this as one continuous paragraph.</a:t>
            </a:r>
          </a:p>
          <a:p>
            <a:pPr marL="12700" indent="0">
              <a:spcBef>
                <a:spcPts val="0"/>
              </a:spcBef>
              <a:buNone/>
            </a:pPr>
            <a:r>
              <a:rPr lang="en-US" sz="18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&lt;/p&gt;</a:t>
            </a: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77C6490-C6D7-1007-FC1A-887FC83587F4}"/>
              </a:ext>
            </a:extLst>
          </p:cNvPr>
          <p:cNvSpPr txBox="1">
            <a:spLocks/>
          </p:cNvSpPr>
          <p:nvPr/>
        </p:nvSpPr>
        <p:spPr>
          <a:xfrm>
            <a:off x="5363571" y="2095405"/>
            <a:ext cx="4761887" cy="266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Web browsers ignore whitespace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</a:t>
            </a:r>
            <a:r>
              <a:rPr lang="en-US" sz="1800" b="1" dirty="0">
                <a:solidFill>
                  <a:srgbClr val="840F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</a:t>
            </a:r>
            <a:r>
              <a:rPr lang="en-US" sz="1800" b="1" dirty="0" err="1">
                <a:solidFill>
                  <a:srgbClr val="840F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br</a:t>
            </a:r>
            <a:r>
              <a:rPr lang="en-US" sz="1800" b="1" dirty="0">
                <a:solidFill>
                  <a:srgbClr val="840F0D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&gt; </a:t>
            </a:r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tag can be used to force a </a:t>
            </a:r>
            <a:r>
              <a:rPr lang="en-US" sz="1800" dirty="0">
                <a:solidFill>
                  <a:schemeClr val="dk1"/>
                </a:solidFill>
              </a:rPr>
              <a:t>line break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8955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1A87F-AFAD-3465-E91F-3EE1A8539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8A62-32C8-DA67-0FC8-E9739E7C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 and Horizontal Rule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E8D84-C4A1-0072-4DFD-A98D8F2A0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1162"/>
            <a:ext cx="4590702" cy="2871432"/>
          </a:xfrm>
        </p:spPr>
        <p:txBody>
          <a:bodyPr>
            <a:norm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&lt;!-- comment --&gt;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indent="0"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&lt;</a:t>
            </a:r>
            <a:r>
              <a:rPr lang="en-US" sz="2400" b="1" dirty="0" err="1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hr</a:t>
            </a:r>
            <a:r>
              <a:rPr lang="en-US" sz="2400" b="1" dirty="0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&gt;</a:t>
            </a:r>
            <a:endParaRPr lang="en-US" sz="24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Courier New" panose="02070309020205020404"/>
              <a:ea typeface="Courier New" panose="02070309020205020404"/>
              <a:cs typeface="Courier New" panose="02070309020205020404"/>
              <a:sym typeface="Courier New" panose="02070309020205020404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8D2338-6AE3-4562-3044-FA64DF2FA0D8}"/>
              </a:ext>
            </a:extLst>
          </p:cNvPr>
          <p:cNvSpPr txBox="1">
            <a:spLocks/>
          </p:cNvSpPr>
          <p:nvPr/>
        </p:nvSpPr>
        <p:spPr>
          <a:xfrm>
            <a:off x="5363571" y="2095405"/>
            <a:ext cx="4761887" cy="2667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/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Add comments to html code </a:t>
            </a:r>
            <a:r>
              <a:rPr lang="en-US" sz="1800" dirty="0">
                <a:solidFill>
                  <a:schemeClr val="dk1"/>
                </a:solidFill>
              </a:rPr>
              <a:t>where needed</a:t>
            </a:r>
          </a:p>
          <a:p>
            <a:pPr marL="12700"/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</a:t>
            </a: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&lt;</a:t>
            </a:r>
            <a:r>
              <a:rPr lang="en-US" sz="1800" b="1" dirty="0" err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hr</a:t>
            </a:r>
            <a:r>
              <a:rPr lang="en-US" sz="1800" b="1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&gt; </a:t>
            </a:r>
            <a:r>
              <a:rPr lang="en-US" sz="1800" dirty="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tag adds a horizontal rule </a:t>
            </a:r>
            <a:r>
              <a:rPr lang="en-US" sz="1800" dirty="0">
                <a:solidFill>
                  <a:schemeClr val="dk1"/>
                </a:solidFill>
              </a:rPr>
              <a:t>as separator line across the screen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101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995"/>
              </a:spcBef>
              <a:spcAft>
                <a:spcPts val="0"/>
              </a:spcAft>
              <a:buNone/>
            </a:pPr>
            <a:endParaRPr lang="en-US" sz="1800" dirty="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12700"/>
            <a:endParaRPr lang="en-US" sz="18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34857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78F6F-8EEE-5B02-64CE-DB48A05F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46D1D-13F8-6491-5A5C-E9857D3F8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Forms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6C87E-1C0E-A672-7F0B-5E7306BC9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3016"/>
            <a:ext cx="8297838" cy="42990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&lt;h2&gt;HTML Forms&lt;/h2&gt;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&lt;form action=“#top"&gt;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&lt;label for="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"&gt;First name:&lt;/label&gt;&lt;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&lt;input type="text" id="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value="John"&gt;&lt;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&lt;label for="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"&gt;Last name:&lt;/label&gt;&lt;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&lt;input type="text" id="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name="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lname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 value="Doe"&gt;&lt;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&gt;&lt;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&lt;input type="submit" value="Submit"&gt;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&lt;/form&gt; </a:t>
            </a:r>
          </a:p>
          <a:p>
            <a:pPr marL="0" indent="0">
              <a:buNone/>
            </a:pP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&lt;p&gt;If you click the "Submit" button, the form-data will be sent to a page called "/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action_page.php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".&lt;/p&gt;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FE0506-BCB5-CCDE-3C16-FC283642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0230" y="1125941"/>
            <a:ext cx="3098857" cy="4450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036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527B8-32D1-0933-766B-4F4FDE199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DE49B-FB0D-47FE-531F-336C4DEF3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DA1D5-5982-0F97-E2DA-13F6F1A9F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33016"/>
            <a:ext cx="6323967" cy="429904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/>
              <a:t>&lt;h2&gt;The select Element&lt;/h2&gt;</a:t>
            </a:r>
          </a:p>
          <a:p>
            <a:pPr marL="0" indent="0">
              <a:buNone/>
            </a:pPr>
            <a:r>
              <a:rPr lang="en-US" sz="1600" dirty="0"/>
              <a:t>&lt;p&gt;The select element defines a drop-down list:&lt;/p&gt;</a:t>
            </a:r>
          </a:p>
          <a:p>
            <a:pPr marL="0" indent="0">
              <a:buNone/>
            </a:pPr>
            <a:r>
              <a:rPr lang="en-US" sz="1600" dirty="0"/>
              <a:t>&lt;form action="/</a:t>
            </a:r>
            <a:r>
              <a:rPr lang="en-US" sz="1600" dirty="0" err="1"/>
              <a:t>action_page.php</a:t>
            </a:r>
            <a:r>
              <a:rPr lang="en-US" sz="1600" dirty="0"/>
              <a:t>"&gt;</a:t>
            </a:r>
          </a:p>
          <a:p>
            <a:pPr marL="0" indent="0">
              <a:buNone/>
            </a:pPr>
            <a:r>
              <a:rPr lang="en-US" sz="1600" dirty="0"/>
              <a:t>	&lt;label for="cars"&gt;Choose a car:&lt;/label&gt;</a:t>
            </a:r>
          </a:p>
          <a:p>
            <a:pPr marL="0" indent="0">
              <a:buNone/>
            </a:pPr>
            <a:r>
              <a:rPr lang="en-US" sz="1600" dirty="0"/>
              <a:t>	&lt;select id="cars" name="cars"&gt;</a:t>
            </a:r>
          </a:p>
          <a:p>
            <a:pPr marL="0" indent="0">
              <a:buNone/>
            </a:pPr>
            <a:r>
              <a:rPr lang="en-US" sz="1600" dirty="0"/>
              <a:t>		&lt;option value="</a:t>
            </a:r>
            <a:r>
              <a:rPr lang="en-US" sz="1600" dirty="0" err="1"/>
              <a:t>volvo</a:t>
            </a:r>
            <a:r>
              <a:rPr lang="en-US" sz="1600" dirty="0"/>
              <a:t>"&gt;Volvo&lt;/option&gt;</a:t>
            </a:r>
          </a:p>
          <a:p>
            <a:pPr marL="0" indent="0">
              <a:buNone/>
            </a:pPr>
            <a:r>
              <a:rPr lang="en-US" sz="1600" dirty="0"/>
              <a:t>		&lt;option value="</a:t>
            </a:r>
            <a:r>
              <a:rPr lang="en-US" sz="1600" dirty="0" err="1"/>
              <a:t>saab</a:t>
            </a:r>
            <a:r>
              <a:rPr lang="en-US" sz="1600" dirty="0"/>
              <a:t>"&gt;Saab&lt;/option&gt;</a:t>
            </a:r>
          </a:p>
          <a:p>
            <a:pPr marL="0" indent="0">
              <a:buNone/>
            </a:pPr>
            <a:r>
              <a:rPr lang="en-US" sz="1600" dirty="0"/>
              <a:t>		&lt;option value="fiat"&gt;Fiat&lt;/option&gt;</a:t>
            </a:r>
          </a:p>
          <a:p>
            <a:pPr marL="0" indent="0">
              <a:buNone/>
            </a:pPr>
            <a:r>
              <a:rPr lang="en-US" sz="1600" dirty="0"/>
              <a:t>		&lt;option value="</a:t>
            </a:r>
            <a:r>
              <a:rPr lang="en-US" sz="1600" dirty="0" err="1"/>
              <a:t>audi</a:t>
            </a:r>
            <a:r>
              <a:rPr lang="en-US" sz="1600" dirty="0"/>
              <a:t>"&gt;Audi&lt;/option&gt;</a:t>
            </a:r>
          </a:p>
          <a:p>
            <a:pPr marL="0" indent="0">
              <a:buNone/>
            </a:pPr>
            <a:r>
              <a:rPr lang="en-US" sz="1600" dirty="0"/>
              <a:t>	&lt;/select&gt;</a:t>
            </a:r>
          </a:p>
          <a:p>
            <a:pPr marL="0" indent="0">
              <a:buNone/>
            </a:pPr>
            <a:r>
              <a:rPr lang="en-US" sz="1600" dirty="0"/>
              <a:t>	&lt;input type="submit"&gt;</a:t>
            </a:r>
          </a:p>
          <a:p>
            <a:pPr marL="0" indent="0">
              <a:buNone/>
            </a:pPr>
            <a:r>
              <a:rPr lang="en-US" sz="1600" dirty="0"/>
              <a:t>&lt;/form&gt;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C91B5-A229-A963-3EC1-976A7A795B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180" b="14456"/>
          <a:stretch/>
        </p:blipFill>
        <p:spPr>
          <a:xfrm>
            <a:off x="7665588" y="2651077"/>
            <a:ext cx="3216828" cy="1555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7897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2EB19-FF0C-25C1-13ED-15E45CBC4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31905-42EF-DF60-3567-40A231AE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2054"/>
            <a:ext cx="8596668" cy="741528"/>
          </a:xfrm>
        </p:spPr>
        <p:txBody>
          <a:bodyPr/>
          <a:lstStyle/>
          <a:p>
            <a:r>
              <a:rPr lang="en-US" dirty="0"/>
              <a:t>HTML Tags</a:t>
            </a:r>
            <a:endParaRPr lang="x-non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B00AD43-386A-B147-8F18-8EF86D81F1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484826"/>
              </p:ext>
            </p:extLst>
          </p:nvPr>
        </p:nvGraphicFramePr>
        <p:xfrm>
          <a:off x="893676" y="1501254"/>
          <a:ext cx="8100199" cy="4951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940">
                  <a:extLst>
                    <a:ext uri="{9D8B030D-6E8A-4147-A177-3AD203B41FA5}">
                      <a16:colId xmlns:a16="http://schemas.microsoft.com/office/drawing/2014/main" val="3908787953"/>
                    </a:ext>
                  </a:extLst>
                </a:gridCol>
                <a:gridCol w="5291259">
                  <a:extLst>
                    <a:ext uri="{9D8B030D-6E8A-4147-A177-3AD203B41FA5}">
                      <a16:colId xmlns:a16="http://schemas.microsoft.com/office/drawing/2014/main" val="3773148226"/>
                    </a:ext>
                  </a:extLst>
                </a:gridCol>
              </a:tblGrid>
              <a:tr h="4126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339224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&lt;html&gt;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Defines an HTML document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3801833427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&lt;title&gt;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Defines a title for the document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3959336581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&lt;body&gt;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Defines the document's body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3341248645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&lt;h1&gt; to &lt;h6&gt;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Defines HTML headings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2532749572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&lt;p&gt;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Defines a paragraph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3198332200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&lt;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+mn-lt"/>
                        </a:rPr>
                        <a:t>br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Inserts a single line break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2513115951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&lt;a&gt;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Defines a hyperlink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633377210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&lt;!--...--&gt;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Defines a comment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345567958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&lt;strong&gt;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Defines important text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934594826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img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</a:rPr>
                        <a:t>Defines an image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3374665873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&lt;form&gt;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Defines an HTML form for user input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3571041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961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3FEB3-D758-625B-B65C-FA6BB7A4F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C73D-CA5A-5BD2-041B-2B7B56F69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82054"/>
            <a:ext cx="8596668" cy="741528"/>
          </a:xfrm>
        </p:spPr>
        <p:txBody>
          <a:bodyPr/>
          <a:lstStyle/>
          <a:p>
            <a:r>
              <a:rPr lang="en-US" dirty="0"/>
              <a:t>HTML Tags</a:t>
            </a:r>
            <a:endParaRPr lang="x-none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F9F666E-EDD7-CF69-397E-6FEA9507E0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61020"/>
              </p:ext>
            </p:extLst>
          </p:nvPr>
        </p:nvGraphicFramePr>
        <p:xfrm>
          <a:off x="677334" y="1572057"/>
          <a:ext cx="7620505" cy="39222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436">
                  <a:extLst>
                    <a:ext uri="{9D8B030D-6E8A-4147-A177-3AD203B41FA5}">
                      <a16:colId xmlns:a16="http://schemas.microsoft.com/office/drawing/2014/main" val="3908787953"/>
                    </a:ext>
                  </a:extLst>
                </a:gridCol>
                <a:gridCol w="4763069">
                  <a:extLst>
                    <a:ext uri="{9D8B030D-6E8A-4147-A177-3AD203B41FA5}">
                      <a16:colId xmlns:a16="http://schemas.microsoft.com/office/drawing/2014/main" val="3773148226"/>
                    </a:ext>
                  </a:extLst>
                </a:gridCol>
              </a:tblGrid>
              <a:tr h="41265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7339224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&lt;input&gt;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Defines an input control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2000675073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&lt;textarea&gt;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Defines a multiline input control (text area)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2529336933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&lt;button&gt;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Defines a clickable button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2524134705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&lt;select&gt;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Defines a drop-down list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4225087195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&lt;optgroup&gt;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Defines a group of related options in a drop-down list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1154391008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&lt;option&gt;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Defines an option in a drop-down list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3049929902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&lt;label&gt;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Defines a label for an &lt;input&gt; element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830817688"/>
                  </a:ext>
                </a:extLst>
              </a:tr>
              <a:tr h="412654"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&lt;fieldset&gt;</a:t>
                      </a:r>
                    </a:p>
                  </a:txBody>
                  <a:tcPr marL="47625" marR="47625" marT="66675" marB="66675"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Groups related elements in a form</a:t>
                      </a:r>
                    </a:p>
                  </a:txBody>
                  <a:tcPr marL="47625" marR="47625" marT="66675" marB="66675"/>
                </a:tc>
                <a:extLst>
                  <a:ext uri="{0D108BD9-81ED-4DB2-BD59-A6C34878D82A}">
                    <a16:rowId xmlns:a16="http://schemas.microsoft.com/office/drawing/2014/main" val="4284312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61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/>
          <p:cNvSpPr txBox="1">
            <a:spLocks noGrp="1"/>
          </p:cNvSpPr>
          <p:nvPr>
            <p:ph type="title"/>
          </p:nvPr>
        </p:nvSpPr>
        <p:spPr>
          <a:xfrm>
            <a:off x="929186" y="644871"/>
            <a:ext cx="4940523" cy="5668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spcBef>
                <a:spcPts val="0"/>
              </a:spcBef>
            </a:pPr>
            <a:r>
              <a:rPr lang="en-US"/>
              <a:t>Text Formatting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9BD515A-F6E9-C946-70EE-C3C8A4A36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186" y="1725640"/>
            <a:ext cx="8596668" cy="4731177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CSS is the preferred way to change the browser’s display style</a:t>
            </a:r>
          </a:p>
          <a:p>
            <a:r>
              <a:rPr lang="en-US" sz="20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The separation of style and markup is a recommended best practice</a:t>
            </a:r>
          </a:p>
          <a:p>
            <a:r>
              <a:rPr lang="en-US" sz="20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However, there are some basic text formatting tags that can be used in HTML</a:t>
            </a:r>
          </a:p>
          <a:p>
            <a:r>
              <a:rPr lang="en-US" sz="2000" dirty="0">
                <a:solidFill>
                  <a:schemeClr val="dk1"/>
                </a:solidFill>
                <a:ea typeface="Arial" panose="020B0604020202020204"/>
                <a:cs typeface="Arial" panose="020B0604020202020204"/>
                <a:sym typeface="Arial" panose="020B0604020202020204"/>
              </a:rPr>
              <a:t>These are inline tags used to mark text within the flow of another tag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2D4CCC94-21D8-D5C3-31F2-3C72782F3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>
            <a:extLst>
              <a:ext uri="{FF2B5EF4-FFF2-40B4-BE49-F238E27FC236}">
                <a16:creationId xmlns:a16="http://schemas.microsoft.com/office/drawing/2014/main" id="{E9D95EDB-72B0-96B2-EDB4-61DF9C8E2C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186" y="644871"/>
            <a:ext cx="4940523" cy="5668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spcBef>
                <a:spcPts val="0"/>
              </a:spcBef>
            </a:pPr>
            <a:r>
              <a:rPr lang="en-US" dirty="0"/>
              <a:t>CSS Linking Styles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FA90F6A-6AB8-D074-015C-60AB9C343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8" y="1364776"/>
            <a:ext cx="9840036" cy="5092041"/>
          </a:xfrm>
        </p:spPr>
        <p:txBody>
          <a:bodyPr>
            <a:normAutofit fontScale="47500" lnSpcReduction="20000"/>
          </a:bodyPr>
          <a:lstStyle/>
          <a:p>
            <a:r>
              <a:rPr lang="en-US" sz="3100" dirty="0">
                <a:solidFill>
                  <a:srgbClr val="C00000"/>
                </a:solidFill>
                <a:cs typeface="Courier New" panose="02070309020205020404" pitchFamily="49" charset="0"/>
              </a:rPr>
              <a:t>Inline</a:t>
            </a:r>
            <a:r>
              <a:rPr lang="en-US" sz="3100" dirty="0">
                <a:solidFill>
                  <a:schemeClr val="tx1"/>
                </a:solidFill>
                <a:cs typeface="Courier New" panose="02070309020205020404" pitchFamily="49" charset="0"/>
              </a:rPr>
              <a:t> - by using the style attribute inside HTML elements</a:t>
            </a:r>
          </a:p>
          <a:p>
            <a:pPr marL="457200" lvl="1" indent="0">
              <a:buNone/>
            </a:pPr>
            <a:r>
              <a:rPr lang="en-US" sz="2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&lt;h1 style=“</a:t>
            </a:r>
            <a:r>
              <a:rPr lang="en-US" sz="29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color:blue</a:t>
            </a:r>
            <a:r>
              <a:rPr lang="en-US" sz="29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;”&gt; This is Heading &lt;/h1</a:t>
            </a:r>
          </a:p>
          <a:p>
            <a:pPr marL="0" indent="0">
              <a:buNone/>
            </a:pPr>
            <a:r>
              <a:rPr lang="en-US" sz="3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&lt;p style=“</a:t>
            </a:r>
            <a:r>
              <a:rPr lang="en-US" sz="31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color:red</a:t>
            </a:r>
            <a:r>
              <a:rPr lang="en-US" sz="31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;”&gt; write a paragraph&lt;/p&gt;</a:t>
            </a:r>
          </a:p>
          <a:p>
            <a:r>
              <a:rPr lang="en-US" sz="3100" dirty="0">
                <a:solidFill>
                  <a:srgbClr val="AF1512"/>
                </a:solidFill>
                <a:ea typeface="Noto Sans Symbols"/>
                <a:cs typeface="Courier New" panose="02070309020205020404" pitchFamily="49" charset="0"/>
                <a:sym typeface="Noto Sans Symbols"/>
              </a:rPr>
              <a:t>Internal - </a:t>
            </a:r>
            <a:r>
              <a:rPr lang="en-US" sz="3100" dirty="0">
                <a:solidFill>
                  <a:schemeClr val="tx1"/>
                </a:solidFill>
                <a:ea typeface="Noto Sans Symbols"/>
                <a:cs typeface="Courier New" panose="02070309020205020404" pitchFamily="49" charset="0"/>
                <a:sym typeface="Noto Sans Symbols"/>
              </a:rPr>
              <a:t>by using a &lt;style&gt; element in the html file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&lt;html&gt;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&lt;head&gt;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&lt;style&gt;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	body {background-color: </a:t>
            </a:r>
            <a:r>
              <a:rPr lang="en-US" sz="2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powderblue</a:t>
            </a: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;}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	h1   {color: blue;}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	p    {color: red;}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&lt;/style&gt;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&lt;/head&gt;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&lt;body&gt;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	&lt;h1&gt;This is a heading&lt;/h1&gt;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	&lt;p&gt;This is a paragraph.&lt;/p&gt;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	&lt;/body&gt;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Noto Sans Symbols"/>
              </a:rPr>
              <a:t>	&lt;/html&gt;</a:t>
            </a:r>
            <a:endParaRPr lang="en-US" sz="2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079648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FEE23B4F-FA7B-555C-5CA6-C42D8AF2B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>
            <a:extLst>
              <a:ext uri="{FF2B5EF4-FFF2-40B4-BE49-F238E27FC236}">
                <a16:creationId xmlns:a16="http://schemas.microsoft.com/office/drawing/2014/main" id="{04C5CE8F-815A-C4F5-34D2-B98FAF79A6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186" y="644871"/>
            <a:ext cx="4940523" cy="5668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spcBef>
                <a:spcPts val="0"/>
              </a:spcBef>
            </a:pPr>
            <a:r>
              <a:rPr lang="en-US" dirty="0"/>
              <a:t>CSS Linking Styles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FF65060-662D-F39C-23A6-7821B866A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8" y="1364776"/>
            <a:ext cx="9840036" cy="509204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CSS Linking styles</a:t>
            </a:r>
          </a:p>
          <a:p>
            <a:r>
              <a:rPr lang="en-US" sz="2000" dirty="0">
                <a:solidFill>
                  <a:srgbClr val="C00000"/>
                </a:solidFill>
                <a:latin typeface="+mn-lt"/>
              </a:rPr>
              <a:t>External 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- by using a &lt;link&gt; element to link to an external CSS file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sym typeface="Noto Sans Symbols"/>
              </a:rPr>
              <a:t>	</a:t>
            </a: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&lt;html&gt;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		&lt;head&gt;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			&lt;link </a:t>
            </a:r>
            <a:r>
              <a:rPr lang="en-US" sz="2000" dirty="0" err="1">
                <a:solidFill>
                  <a:schemeClr val="tx1"/>
                </a:solidFill>
                <a:latin typeface="Noto Sans Symbols"/>
                <a:sym typeface="Noto Sans Symbols"/>
              </a:rPr>
              <a:t>rel</a:t>
            </a: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= “stylesheet” </a:t>
            </a:r>
            <a:r>
              <a:rPr lang="en-US" sz="2000" dirty="0" err="1">
                <a:solidFill>
                  <a:schemeClr val="tx1"/>
                </a:solidFill>
                <a:latin typeface="Noto Sans Symbols"/>
                <a:sym typeface="Noto Sans Symbols"/>
              </a:rPr>
              <a:t>href</a:t>
            </a: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=“file.css”&gt;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		&lt;/head&gt;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		&lt;body&gt;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			&lt;h1&gt;This is a heading &lt;/h1&gt;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			&lt;p&gt;This is a paragraph. &lt;/p&gt;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		&lt;/body&gt;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/>
                </a:solidFill>
                <a:latin typeface="Noto Sans Symbols"/>
                <a:sym typeface="Noto Sans Symbols"/>
              </a:rPr>
              <a:t>	&lt;/html&gt;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9118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0D8D1229-3B3E-890D-18EF-BD5A2AFB1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>
            <a:extLst>
              <a:ext uri="{FF2B5EF4-FFF2-40B4-BE49-F238E27FC236}">
                <a16:creationId xmlns:a16="http://schemas.microsoft.com/office/drawing/2014/main" id="{13A6F865-5485-2D86-22A1-2FAE25E6B4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186" y="644871"/>
            <a:ext cx="7940494" cy="5668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spcBef>
                <a:spcPts val="0"/>
              </a:spcBef>
            </a:pPr>
            <a:r>
              <a:rPr lang="en-US" dirty="0"/>
              <a:t>Some Examples of solving </a:t>
            </a:r>
            <a:r>
              <a:rPr lang="en-US" dirty="0" err="1"/>
              <a:t>HTMl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8BCDC0-B51B-4F08-D4E5-A2F60FB81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84" y="1281431"/>
            <a:ext cx="8055297" cy="32030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561222-FCAD-BD08-E45D-5598F44F87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8889"/>
          <a:stretch/>
        </p:blipFill>
        <p:spPr>
          <a:xfrm>
            <a:off x="871784" y="4554220"/>
            <a:ext cx="8473336" cy="1355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62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355D1023-2371-1BFF-098B-1419A660E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70854B-3F43-ACC9-FBCD-469ABB63C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85" y="265736"/>
            <a:ext cx="6568553" cy="14745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6542E7-D34C-CD3C-8605-48AA2F77F1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930"/>
          <a:stretch/>
        </p:blipFill>
        <p:spPr>
          <a:xfrm>
            <a:off x="678409" y="1794240"/>
            <a:ext cx="6473018" cy="30689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DBDC5F-1F2C-DFA3-7C3A-93D94551CC9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5373"/>
          <a:stretch/>
        </p:blipFill>
        <p:spPr>
          <a:xfrm>
            <a:off x="814885" y="4863142"/>
            <a:ext cx="3334034" cy="181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8700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3181E4EA-01D0-32B0-48EA-BF2511E77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>
            <a:extLst>
              <a:ext uri="{FF2B5EF4-FFF2-40B4-BE49-F238E27FC236}">
                <a16:creationId xmlns:a16="http://schemas.microsoft.com/office/drawing/2014/main" id="{A1AEDD5E-D85F-3BAA-D0D7-0E842E27B9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186" y="299632"/>
            <a:ext cx="7940494" cy="5668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spcBef>
                <a:spcPts val="0"/>
              </a:spcBef>
            </a:pPr>
            <a:r>
              <a:rPr lang="en-US" dirty="0"/>
              <a:t>Some Examples of solving </a:t>
            </a:r>
            <a:r>
              <a:rPr lang="en-US" dirty="0" err="1"/>
              <a:t>HTMl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71EBA-2614-80E0-2256-E0032D25D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" y="1305560"/>
            <a:ext cx="8362950" cy="28003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5243AB-D680-DAD6-A62B-792338982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0" y="2911478"/>
            <a:ext cx="8886825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35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>
          <a:extLst>
            <a:ext uri="{FF2B5EF4-FFF2-40B4-BE49-F238E27FC236}">
              <a16:creationId xmlns:a16="http://schemas.microsoft.com/office/drawing/2014/main" id="{142116D4-B4E4-E41C-CF7E-FC62E1C0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">
            <a:extLst>
              <a:ext uri="{FF2B5EF4-FFF2-40B4-BE49-F238E27FC236}">
                <a16:creationId xmlns:a16="http://schemas.microsoft.com/office/drawing/2014/main" id="{30C0F096-336A-95DD-482C-86D3A428F9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9186" y="644871"/>
            <a:ext cx="4940523" cy="56682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2700" rIns="0" bIns="0" rtlCol="0" anchor="t" anchorCtr="0">
            <a:spAutoFit/>
          </a:bodyPr>
          <a:lstStyle/>
          <a:p>
            <a:pPr marL="12700">
              <a:spcBef>
                <a:spcPts val="0"/>
              </a:spcBef>
            </a:pPr>
            <a:r>
              <a:rPr lang="en-US" dirty="0"/>
              <a:t>Link Of Udemy Course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CD59530-954D-28E6-E845-AB7222DC6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8" y="1364776"/>
            <a:ext cx="9840036" cy="5092041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You are required to cover first three sections of this course</a:t>
            </a:r>
          </a:p>
          <a:p>
            <a:r>
              <a:rPr lang="en-US" sz="2000" dirty="0">
                <a:solidFill>
                  <a:schemeClr val="tx1"/>
                </a:solidFill>
              </a:rPr>
              <a:t>You have to implement all the content covered in the videos </a:t>
            </a:r>
          </a:p>
          <a:p>
            <a:r>
              <a:rPr lang="en-US" sz="2000" dirty="0">
                <a:solidFill>
                  <a:schemeClr val="tx1"/>
                </a:solidFill>
                <a:latin typeface="+mn-lt"/>
              </a:rPr>
              <a:t>Deadline</a:t>
            </a:r>
            <a:r>
              <a:rPr lang="en-US" sz="2000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 Sunday </a:t>
            </a:r>
            <a:r>
              <a:rPr lang="en-US" sz="200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11:59pm  </a:t>
            </a:r>
            <a:endParaRPr lang="en-US" sz="2000" dirty="0">
              <a:solidFill>
                <a:schemeClr val="tx1"/>
              </a:solidFill>
              <a:latin typeface="+mn-lt"/>
              <a:sym typeface="Wingdings" panose="05000000000000000000" pitchFamily="2" charset="2"/>
            </a:endParaRPr>
          </a:p>
          <a:p>
            <a:r>
              <a:rPr lang="en-US" sz="2000" dirty="0">
                <a:solidFill>
                  <a:schemeClr val="tx1"/>
                </a:solidFill>
                <a:sym typeface="Wingdings" panose="05000000000000000000" pitchFamily="2" charset="2"/>
              </a:rPr>
              <a:t>Note that Viva will also be conducted</a:t>
            </a:r>
          </a:p>
          <a:p>
            <a:r>
              <a:rPr lang="en-US" sz="2000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Link: </a:t>
            </a:r>
            <a:r>
              <a:rPr lang="en-US" sz="2000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  <a:hlinkClick r:id="rId3"/>
              </a:rPr>
              <a:t>https://www.udemy.com/course/design-and-develop-a-killer-website-with-html5-and-css3/?couponCode=ST8MT101424</a:t>
            </a:r>
            <a:endParaRPr lang="en-US" sz="2000" dirty="0">
              <a:solidFill>
                <a:schemeClr val="tx1"/>
              </a:solidFill>
              <a:latin typeface="+mn-lt"/>
              <a:sym typeface="Wingdings" panose="05000000000000000000" pitchFamily="2" charset="2"/>
            </a:endParaRPr>
          </a:p>
          <a:p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618777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283</TotalTime>
  <Words>2340</Words>
  <Application>Microsoft Office PowerPoint</Application>
  <PresentationFormat>Widescreen</PresentationFormat>
  <Paragraphs>417</Paragraphs>
  <Slides>35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Arial</vt:lpstr>
      <vt:lpstr>Calibri</vt:lpstr>
      <vt:lpstr>Courier New</vt:lpstr>
      <vt:lpstr>Noto Sans Symbols</vt:lpstr>
      <vt:lpstr>Tahoma</vt:lpstr>
      <vt:lpstr>Times New Roman</vt:lpstr>
      <vt:lpstr>Trebuchet MS</vt:lpstr>
      <vt:lpstr>Wingdings</vt:lpstr>
      <vt:lpstr>Wingdings 3</vt:lpstr>
      <vt:lpstr>Facet</vt:lpstr>
      <vt:lpstr>Lecture 8 Web Development</vt:lpstr>
      <vt:lpstr>Objectives</vt:lpstr>
      <vt:lpstr>Front End</vt:lpstr>
      <vt:lpstr>Three Layers of Web Design</vt:lpstr>
      <vt:lpstr>Tags</vt:lpstr>
      <vt:lpstr>Attributed</vt:lpstr>
      <vt:lpstr>Basic HTML Template</vt:lpstr>
      <vt:lpstr>Hello World!!</vt:lpstr>
      <vt:lpstr>Headings</vt:lpstr>
      <vt:lpstr>Summary</vt:lpstr>
      <vt:lpstr>Unordered Lists</vt:lpstr>
      <vt:lpstr>Ordered Lists</vt:lpstr>
      <vt:lpstr>Nested Lists</vt:lpstr>
      <vt:lpstr>Anchor Tags-Hyperlinks</vt:lpstr>
      <vt:lpstr>Anchor Tags-Hyperlinks</vt:lpstr>
      <vt:lpstr>Image Tag</vt:lpstr>
      <vt:lpstr>Image as Links</vt:lpstr>
      <vt:lpstr>Tables</vt:lpstr>
      <vt:lpstr>Table Headings</vt:lpstr>
      <vt:lpstr>Caption</vt:lpstr>
      <vt:lpstr>Summary</vt:lpstr>
      <vt:lpstr>Quotations</vt:lpstr>
      <vt:lpstr>Line Break</vt:lpstr>
      <vt:lpstr>Comments and Horizontal Rule</vt:lpstr>
      <vt:lpstr>Forms</vt:lpstr>
      <vt:lpstr>Select</vt:lpstr>
      <vt:lpstr>HTML Tags</vt:lpstr>
      <vt:lpstr>HTML Tags</vt:lpstr>
      <vt:lpstr>Text Formatting</vt:lpstr>
      <vt:lpstr>CSS Linking Styles</vt:lpstr>
      <vt:lpstr>CSS Linking Styles</vt:lpstr>
      <vt:lpstr>Some Examples of solving HTMl</vt:lpstr>
      <vt:lpstr>PowerPoint Presentation</vt:lpstr>
      <vt:lpstr>Some Examples of solving HTMl</vt:lpstr>
      <vt:lpstr>Link Of Udemy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 Web Development</dc:title>
  <dc:creator>03-134162-024</dc:creator>
  <cp:lastModifiedBy>Marwa Khan</cp:lastModifiedBy>
  <cp:revision>5</cp:revision>
  <dcterms:created xsi:type="dcterms:W3CDTF">2024-10-15T16:24:35Z</dcterms:created>
  <dcterms:modified xsi:type="dcterms:W3CDTF">2024-10-16T07:34:40Z</dcterms:modified>
</cp:coreProperties>
</file>