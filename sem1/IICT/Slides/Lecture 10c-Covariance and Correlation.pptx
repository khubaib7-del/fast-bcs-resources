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Gill Sans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kgWTptMjv/8gn8ey/Y/c48xQS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A4AE84-1D30-4D9D-93CE-24A43FB36BDC}">
  <a:tblStyle styleId="{5BA4AE84-1D30-4D9D-93CE-24A43FB36B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CF0"/>
          </a:solidFill>
        </a:fill>
      </a:tcStyle>
    </a:wholeTbl>
    <a:band1H>
      <a:tcTxStyle/>
      <a:tcStyle>
        <a:tcBdr/>
        <a:fill>
          <a:solidFill>
            <a:srgbClr val="D4D6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D6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42099E1-25EC-44E6-87D1-C2D1EA25995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442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  <a:defRPr sz="2400"/>
            </a:lvl1pPr>
            <a:lvl2pPr marL="914400" lvl="1" indent="-3251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  <a:defRPr sz="2000"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Font typeface="Gill Sans"/>
              <a:buChar char=""/>
              <a:defRPr sz="1800"/>
            </a:lvl3pPr>
            <a:lvl4pPr marL="1828800" lvl="3" indent="-2997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Font typeface="Gill Sans"/>
              <a:buChar char="◻"/>
              <a:defRPr sz="1600"/>
            </a:lvl4pPr>
            <a:lvl5pPr marL="2286000" lvl="4" indent="-29082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Font typeface="Gill Sans"/>
              <a:buChar char="◻"/>
              <a:defRPr sz="1400"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tx">
  <p:cSld name="TITLE_AND_BODY">
    <p:bg>
      <p:bgPr>
        <a:solidFill>
          <a:srgbClr val="464653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7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3200"/>
              <a:buFont typeface="Bookman Old Style"/>
              <a:buNone/>
              <a:defRPr>
                <a:solidFill>
                  <a:srgbClr val="DDE9E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1pPr>
            <a:lvl2pPr marL="914400" lvl="1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2pPr>
            <a:lvl3pPr marL="1371600" lvl="2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3pPr>
            <a:lvl4pPr marL="1828800" lvl="3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4pPr>
            <a:lvl5pPr marL="2286000" lvl="4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sldNum" idx="12"/>
          </p:nvPr>
        </p:nvSpPr>
        <p:spPr>
          <a:xfrm>
            <a:off x="1069847" y="6355079"/>
            <a:ext cx="301909" cy="307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7"/>
          <p:cNvSpPr/>
          <p:nvPr/>
        </p:nvSpPr>
        <p:spPr>
          <a:xfrm>
            <a:off x="914400" y="2819399"/>
            <a:ext cx="7315200" cy="1280162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7"/>
          <p:cNvSpPr/>
          <p:nvPr/>
        </p:nvSpPr>
        <p:spPr>
          <a:xfrm>
            <a:off x="914400" y="2819399"/>
            <a:ext cx="228600" cy="1280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>
  <p:cSld name="Content with Ca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2000"/>
              <a:buFont typeface="Gill Sans"/>
              <a:buNone/>
              <a:defRPr sz="2000" b="1"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body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2pPr>
            <a:lvl3pPr marL="1371600" lvl="2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3pPr>
            <a:lvl4pPr marL="1828800" lvl="3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4pPr>
            <a:lvl5pPr marL="2286000" lvl="4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30"/>
          <p:cNvCxnSpPr/>
          <p:nvPr/>
        </p:nvCxnSpPr>
        <p:spPr>
          <a:xfrm>
            <a:off x="457200" y="6353175"/>
            <a:ext cx="8229601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6" name="Google Shape;36;p30"/>
          <p:cNvCxnSpPr/>
          <p:nvPr/>
        </p:nvCxnSpPr>
        <p:spPr>
          <a:xfrm flipH="1">
            <a:off x="6178800" y="307339"/>
            <a:ext cx="1" cy="603504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7" name="Google Shape;37;p30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bg>
      <p:bgPr>
        <a:solidFill>
          <a:srgbClr val="464653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ookman Old Style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>
            <a:spLocks noGrp="1"/>
          </p:cNvSpPr>
          <p:nvPr>
            <p:ph type="pic" idx="2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3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ill Sans"/>
              <a:buNone/>
              <a:defRPr sz="1400">
                <a:solidFill>
                  <a:srgbClr val="FFFFFF"/>
                </a:solidFill>
              </a:defRPr>
            </a:lvl1pPr>
            <a:lvl2pPr marL="914400" lvl="1" indent="-2961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Gill Sans"/>
              <a:buChar char=""/>
              <a:defRPr sz="1400">
                <a:solidFill>
                  <a:srgbClr val="FFFFFF"/>
                </a:solidFill>
              </a:defRPr>
            </a:lvl2pPr>
            <a:lvl3pPr marL="1371600" lvl="2" indent="-2961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Gill Sans"/>
              <a:buChar char=""/>
              <a:defRPr sz="1400">
                <a:solidFill>
                  <a:srgbClr val="FFFFFF"/>
                </a:solidFill>
              </a:defRPr>
            </a:lvl3pPr>
            <a:lvl4pPr marL="1828800" lvl="3" indent="-29083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Gill Sans"/>
              <a:buChar char="◻"/>
              <a:defRPr sz="1400">
                <a:solidFill>
                  <a:srgbClr val="FFFFFF"/>
                </a:solidFill>
              </a:defRPr>
            </a:lvl4pPr>
            <a:lvl5pPr marL="2286000" lvl="4" indent="-29082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Gill Sans"/>
              <a:buChar char="◻"/>
              <a:defRPr sz="1400">
                <a:solidFill>
                  <a:srgbClr val="FFFFFF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31"/>
          <p:cNvCxnSpPr/>
          <p:nvPr/>
        </p:nvCxnSpPr>
        <p:spPr>
          <a:xfrm>
            <a:off x="457200" y="6353175"/>
            <a:ext cx="8229601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4" name="Google Shape;44;p31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31"/>
          <p:cNvSpPr/>
          <p:nvPr/>
        </p:nvSpPr>
        <p:spPr>
          <a:xfrm>
            <a:off x="457199" y="500856"/>
            <a:ext cx="182882" cy="68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25"/>
          <p:cNvCxnSpPr/>
          <p:nvPr/>
        </p:nvCxnSpPr>
        <p:spPr>
          <a:xfrm>
            <a:off x="457200" y="6353175"/>
            <a:ext cx="8229601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" name="Google Shape;7;p25"/>
          <p:cNvCxnSpPr/>
          <p:nvPr/>
        </p:nvCxnSpPr>
        <p:spPr>
          <a:xfrm>
            <a:off x="457200" y="1143000"/>
            <a:ext cx="8229601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" name="Google Shape;8;p25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2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407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5407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54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416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Gill Sans"/>
              <a:buChar char="◻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41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Gill Sans"/>
              <a:buChar char="◻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hyperlink" Target="https://www.investopedia.com/ask/answers/032515/what-does-it-mean-if-correlation-coefficient-positive-negative-or-zero.asp" TargetMode="External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tistics.laerd.com/statistical-guides/pearson-correlation-coefficient-statistical-guide.php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/>
          <p:nvPr/>
        </p:nvSpPr>
        <p:spPr>
          <a:xfrm>
            <a:off x="912813" y="995363"/>
            <a:ext cx="7315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ctr" anchorCtr="0">
            <a:noAutofit/>
          </a:bodyPr>
          <a:lstStyle/>
          <a:p>
            <a:pPr marL="4000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Bookman Old Style"/>
              <a:buNone/>
            </a:pPr>
            <a:br>
              <a:rPr lang="en-US" sz="3200" b="1">
                <a:solidFill>
                  <a:schemeClr val="accent5"/>
                </a:solidFill>
              </a:rPr>
            </a:br>
            <a:r>
              <a:rPr lang="en-US" sz="3200" b="1">
                <a:solidFill>
                  <a:schemeClr val="accent5"/>
                </a:solidFill>
              </a:rPr>
              <a:t>Data Science</a:t>
            </a:r>
            <a:endParaRPr sz="3200" b="1">
              <a:solidFill>
                <a:schemeClr val="accent5"/>
              </a:solidFill>
            </a:endParaRP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rmAutofit/>
          </a:bodyPr>
          <a:lstStyle/>
          <a:p>
            <a:pPr marL="4000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None/>
            </a:pPr>
            <a:endParaRPr sz="2400"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sz="2400"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sz="2400" dirty="0">
              <a:solidFill>
                <a:srgbClr val="3333CC"/>
              </a:solidFill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 descr="Image result for mobile applications"/>
          <p:cNvSpPr/>
          <p:nvPr/>
        </p:nvSpPr>
        <p:spPr>
          <a:xfrm>
            <a:off x="176213" y="-1825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 descr="Image result for mobile applications"/>
          <p:cNvSpPr/>
          <p:nvPr/>
        </p:nvSpPr>
        <p:spPr>
          <a:xfrm>
            <a:off x="328613" y="-301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 descr="Image result for mobile applications"/>
          <p:cNvSpPr/>
          <p:nvPr/>
        </p:nvSpPr>
        <p:spPr>
          <a:xfrm>
            <a:off x="481013" y="1222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/>
          <p:nvPr/>
        </p:nvSpPr>
        <p:spPr>
          <a:xfrm>
            <a:off x="633413" y="2746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1568450" y="3072527"/>
            <a:ext cx="600392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Correlation</a:t>
            </a:r>
            <a:r>
              <a:rPr lang="en-US" sz="2800" b="0" i="0" u="none" strike="noStrike" cap="none" dirty="0">
                <a:solidFill>
                  <a:srgbClr val="D3B4A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 dirty="0">
              <a:solidFill>
                <a:srgbClr val="D3B4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Lecture No. 3c</a:t>
            </a:r>
            <a:endParaRPr sz="28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Correlation</a:t>
            </a:r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27432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 </a:t>
            </a:r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3031958" y="5342021"/>
            <a:ext cx="4742046" cy="52322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Gill Sans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What if correlation is 0?</a:t>
            </a:r>
            <a:endParaRPr sz="2800" b="1" i="0" u="none" strike="noStrike" cap="non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Correlation Between Two Variables</a:t>
            </a:r>
            <a:endParaRPr/>
          </a:p>
        </p:txBody>
      </p:sp>
      <p:pic>
        <p:nvPicPr>
          <p:cNvPr id="74" name="Google Shape;74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0531" y="3553264"/>
            <a:ext cx="1817061" cy="176817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62242" y="2337604"/>
            <a:ext cx="2380994" cy="2983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7886" y="3553264"/>
            <a:ext cx="2318914" cy="17681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7"/>
          <p:cNvGrpSpPr/>
          <p:nvPr/>
        </p:nvGrpSpPr>
        <p:grpSpPr>
          <a:xfrm>
            <a:off x="120531" y="2578345"/>
            <a:ext cx="1978269" cy="1251081"/>
            <a:chOff x="160708" y="2294793"/>
            <a:chExt cx="2637692" cy="1668108"/>
          </a:xfrm>
        </p:grpSpPr>
        <p:sp>
          <p:nvSpPr>
            <p:cNvPr id="79" name="Google Shape;79;p7"/>
            <p:cNvSpPr txBox="1"/>
            <p:nvPr/>
          </p:nvSpPr>
          <p:spPr>
            <a:xfrm>
              <a:off x="160708" y="2294793"/>
              <a:ext cx="2637692" cy="954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r>
                <a:rPr lang="en-US" sz="1350" b="0" i="0" u="none" strike="noStrike" cap="non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Weak relationship have small </a:t>
              </a:r>
              <a:r>
                <a:rPr lang="en-US" sz="1350" b="1" i="0" u="none" strike="noStrike" cap="non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correlation value…</a:t>
              </a:r>
              <a:endParaRPr sz="135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80" name="Google Shape;80;p7"/>
            <p:cNvCxnSpPr>
              <a:stCxn id="79" idx="2"/>
            </p:cNvCxnSpPr>
            <p:nvPr/>
          </p:nvCxnSpPr>
          <p:spPr>
            <a:xfrm>
              <a:off x="1479554" y="3248901"/>
              <a:ext cx="15000" cy="714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81" name="Google Shape;81;p7"/>
          <p:cNvGrpSpPr/>
          <p:nvPr/>
        </p:nvGrpSpPr>
        <p:grpSpPr>
          <a:xfrm>
            <a:off x="6747905" y="2679148"/>
            <a:ext cx="1978269" cy="1251081"/>
            <a:chOff x="160708" y="2294793"/>
            <a:chExt cx="2637692" cy="1668108"/>
          </a:xfrm>
        </p:grpSpPr>
        <p:sp>
          <p:nvSpPr>
            <p:cNvPr id="82" name="Google Shape;82;p7"/>
            <p:cNvSpPr txBox="1"/>
            <p:nvPr/>
          </p:nvSpPr>
          <p:spPr>
            <a:xfrm>
              <a:off x="160708" y="2294793"/>
              <a:ext cx="2637692" cy="954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r>
                <a:rPr lang="en-US" sz="1350" b="0" i="0" u="none" strike="noStrike" cap="non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Strong relationship have large </a:t>
              </a:r>
              <a:r>
                <a:rPr lang="en-US" sz="1350" b="1" i="0" u="none" strike="noStrike" cap="non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correlation value…</a:t>
              </a:r>
              <a:endParaRPr sz="135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83" name="Google Shape;83;p7"/>
            <p:cNvCxnSpPr>
              <a:stCxn id="82" idx="2"/>
            </p:cNvCxnSpPr>
            <p:nvPr/>
          </p:nvCxnSpPr>
          <p:spPr>
            <a:xfrm>
              <a:off x="1479554" y="3248901"/>
              <a:ext cx="15000" cy="714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84" name="Google Shape;84;p7"/>
          <p:cNvSpPr txBox="1"/>
          <p:nvPr/>
        </p:nvSpPr>
        <p:spPr>
          <a:xfrm>
            <a:off x="6367886" y="1288036"/>
            <a:ext cx="2251958" cy="113107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350"/>
              <a:buFont typeface="Gill Sans"/>
              <a:buNone/>
            </a:pPr>
            <a:r>
              <a:rPr lang="en-US" sz="1350" b="1" i="0" u="none" strike="noStrike" cap="non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Correlation is 1 if a straight line with positive slope can be drawn from the center of all data points</a:t>
            </a:r>
            <a:endParaRPr sz="1350" b="1" i="0" u="none" strike="noStrike" cap="none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Correlation Between Two Variables</a:t>
            </a:r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80" y="2371118"/>
            <a:ext cx="2770401" cy="290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8217" y="2444383"/>
            <a:ext cx="2927491" cy="2828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2832" y="3392327"/>
            <a:ext cx="2596428" cy="1880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Correlation Between Two Variables</a:t>
            </a: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8227" y="1909943"/>
            <a:ext cx="6136106" cy="2372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Correlation Between Two Variables</a:t>
            </a:r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2306434" y="4548910"/>
            <a:ext cx="4531133" cy="101566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Gill Sans"/>
              <a:buNone/>
            </a:pPr>
            <a:r>
              <a:rPr lang="en-US" sz="3000" b="1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But … How to Compute Correlation?</a:t>
            </a:r>
            <a:endParaRPr sz="3000" b="1" i="0" u="none" strike="noStrike" cap="non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6453" y="2149003"/>
            <a:ext cx="5751095" cy="2060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Computing Correlation</a:t>
            </a:r>
            <a:endParaRPr/>
          </a:p>
        </p:txBody>
      </p:sp>
      <p:graphicFrame>
        <p:nvGraphicFramePr>
          <p:cNvPr id="114" name="Google Shape;114;p11"/>
          <p:cNvGraphicFramePr/>
          <p:nvPr/>
        </p:nvGraphicFramePr>
        <p:xfrm>
          <a:off x="437711" y="1915029"/>
          <a:ext cx="1367050" cy="1946875"/>
        </p:xfrm>
        <a:graphic>
          <a:graphicData uri="http://schemas.openxmlformats.org/drawingml/2006/table">
            <a:tbl>
              <a:tblPr firstRow="1" bandRow="1">
                <a:noFill/>
                <a:tableStyleId>{5BA4AE84-1D30-4D9D-93CE-24A43FB36BDC}</a:tableStyleId>
              </a:tblPr>
              <a:tblGrid>
                <a:gridCol w="68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1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3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9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5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5" name="Google Shape;115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1913021" y="2719139"/>
            <a:ext cx="433137" cy="48126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53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endParaRPr sz="135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17" name="Google Shape;117;p11"/>
          <p:cNvGraphicFramePr/>
          <p:nvPr/>
        </p:nvGraphicFramePr>
        <p:xfrm>
          <a:off x="2836017" y="1915029"/>
          <a:ext cx="5081375" cy="2228835"/>
        </p:xfrm>
        <a:graphic>
          <a:graphicData uri="http://schemas.openxmlformats.org/drawingml/2006/table">
            <a:tbl>
              <a:tblPr firstRow="1" bandRow="1">
                <a:noFill/>
                <a:tableStyleId>{5BA4AE84-1D30-4D9D-93CE-24A43FB36BDC}</a:tableStyleId>
              </a:tblPr>
              <a:tblGrid>
                <a:gridCol w="101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4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4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1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3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9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5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Computing Correlation</a:t>
            </a:r>
            <a:endParaRPr/>
          </a:p>
        </p:txBody>
      </p:sp>
      <p:graphicFrame>
        <p:nvGraphicFramePr>
          <p:cNvPr id="123" name="Google Shape;123;p12"/>
          <p:cNvGraphicFramePr/>
          <p:nvPr/>
        </p:nvGraphicFramePr>
        <p:xfrm>
          <a:off x="437711" y="1915029"/>
          <a:ext cx="1367050" cy="1946875"/>
        </p:xfrm>
        <a:graphic>
          <a:graphicData uri="http://schemas.openxmlformats.org/drawingml/2006/table">
            <a:tbl>
              <a:tblPr firstRow="1" bandRow="1">
                <a:noFill/>
                <a:tableStyleId>{5BA4AE84-1D30-4D9D-93CE-24A43FB36BDC}</a:tableStyleId>
              </a:tblPr>
              <a:tblGrid>
                <a:gridCol w="68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1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3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9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5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4" name="Google Shape;124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1913021" y="2719139"/>
            <a:ext cx="433137" cy="48126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53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endParaRPr sz="135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26" name="Google Shape;126;p12"/>
          <p:cNvGraphicFramePr/>
          <p:nvPr/>
        </p:nvGraphicFramePr>
        <p:xfrm>
          <a:off x="2836017" y="1915029"/>
          <a:ext cx="5081375" cy="2228835"/>
        </p:xfrm>
        <a:graphic>
          <a:graphicData uri="http://schemas.openxmlformats.org/drawingml/2006/table">
            <a:tbl>
              <a:tblPr firstRow="1" bandRow="1">
                <a:noFill/>
                <a:tableStyleId>{5BA4AE84-1D30-4D9D-93CE-24A43FB36BDC}</a:tableStyleId>
              </a:tblPr>
              <a:tblGrid>
                <a:gridCol w="101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4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4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1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8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3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21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9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36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5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60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84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Computing Correlation</a:t>
            </a:r>
            <a:endParaRPr/>
          </a:p>
        </p:txBody>
      </p:sp>
      <p:graphicFrame>
        <p:nvGraphicFramePr>
          <p:cNvPr id="132" name="Google Shape;132;p13"/>
          <p:cNvGraphicFramePr/>
          <p:nvPr/>
        </p:nvGraphicFramePr>
        <p:xfrm>
          <a:off x="437711" y="1915029"/>
          <a:ext cx="1367050" cy="1946875"/>
        </p:xfrm>
        <a:graphic>
          <a:graphicData uri="http://schemas.openxmlformats.org/drawingml/2006/table">
            <a:tbl>
              <a:tblPr firstRow="1" bandRow="1">
                <a:noFill/>
                <a:tableStyleId>{5BA4AE84-1D30-4D9D-93CE-24A43FB36BDC}</a:tableStyleId>
              </a:tblPr>
              <a:tblGrid>
                <a:gridCol w="68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1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3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9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5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3" name="Google Shape;133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913021" y="2719139"/>
            <a:ext cx="433137" cy="48126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53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endParaRPr sz="135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35" name="Google Shape;135;p13"/>
          <p:cNvGraphicFramePr/>
          <p:nvPr/>
        </p:nvGraphicFramePr>
        <p:xfrm>
          <a:off x="2836017" y="1915029"/>
          <a:ext cx="5081375" cy="2228835"/>
        </p:xfrm>
        <a:graphic>
          <a:graphicData uri="http://schemas.openxmlformats.org/drawingml/2006/table">
            <a:tbl>
              <a:tblPr firstRow="1" bandRow="1">
                <a:noFill/>
                <a:tableStyleId>{5BA4AE84-1D30-4D9D-93CE-24A43FB36BDC}</a:tableStyleId>
              </a:tblPr>
              <a:tblGrid>
                <a:gridCol w="101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4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4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1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1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8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3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21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9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49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9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36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16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81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5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60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25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144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84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36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196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6" name="Google Shape;136;p13"/>
          <p:cNvSpPr txBox="1"/>
          <p:nvPr/>
        </p:nvSpPr>
        <p:spPr>
          <a:xfrm>
            <a:off x="3164305" y="3820829"/>
            <a:ext cx="612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21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4141269" y="3829733"/>
            <a:ext cx="612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48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5142295" y="3826607"/>
            <a:ext cx="5727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211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6143322" y="3823480"/>
            <a:ext cx="5727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91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7144348" y="3820353"/>
            <a:ext cx="5727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490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41" name="Google Shape;141;p13"/>
          <p:cNvGrpSpPr/>
          <p:nvPr/>
        </p:nvGrpSpPr>
        <p:grpSpPr>
          <a:xfrm>
            <a:off x="3104148" y="4234549"/>
            <a:ext cx="493295" cy="1091125"/>
            <a:chOff x="4138864" y="4503064"/>
            <a:chExt cx="657726" cy="1454833"/>
          </a:xfrm>
        </p:grpSpPr>
        <p:sp>
          <p:nvSpPr>
            <p:cNvPr id="142" name="Google Shape;142;p13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4" name="Google Shape;144;p13"/>
          <p:cNvGrpSpPr/>
          <p:nvPr/>
        </p:nvGrpSpPr>
        <p:grpSpPr>
          <a:xfrm>
            <a:off x="4186989" y="4199065"/>
            <a:ext cx="493295" cy="1091125"/>
            <a:chOff x="4138864" y="4503064"/>
            <a:chExt cx="657726" cy="1454833"/>
          </a:xfrm>
        </p:grpSpPr>
        <p:sp>
          <p:nvSpPr>
            <p:cNvPr id="145" name="Google Shape;145;p13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7" name="Google Shape;147;p13"/>
          <p:cNvGrpSpPr/>
          <p:nvPr/>
        </p:nvGrpSpPr>
        <p:grpSpPr>
          <a:xfrm>
            <a:off x="5182000" y="4234549"/>
            <a:ext cx="493295" cy="1091125"/>
            <a:chOff x="4138864" y="4503064"/>
            <a:chExt cx="657726" cy="1454833"/>
          </a:xfrm>
        </p:grpSpPr>
        <p:sp>
          <p:nvSpPr>
            <p:cNvPr id="148" name="Google Shape;148;p13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50" name="Google Shape;150;p13"/>
          <p:cNvGrpSpPr/>
          <p:nvPr/>
        </p:nvGrpSpPr>
        <p:grpSpPr>
          <a:xfrm>
            <a:off x="6183027" y="4234548"/>
            <a:ext cx="493295" cy="1091125"/>
            <a:chOff x="4138864" y="4503064"/>
            <a:chExt cx="657726" cy="1454833"/>
          </a:xfrm>
        </p:grpSpPr>
        <p:sp>
          <p:nvSpPr>
            <p:cNvPr id="151" name="Google Shape;151;p13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53" name="Google Shape;153;p13"/>
          <p:cNvGrpSpPr/>
          <p:nvPr/>
        </p:nvGrpSpPr>
        <p:grpSpPr>
          <a:xfrm>
            <a:off x="7244211" y="4253501"/>
            <a:ext cx="493295" cy="1091125"/>
            <a:chOff x="4138864" y="4503064"/>
            <a:chExt cx="657726" cy="1454833"/>
          </a:xfrm>
        </p:grpSpPr>
        <p:sp>
          <p:nvSpPr>
            <p:cNvPr id="154" name="Google Shape;154;p13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Computing Correlation</a:t>
            </a:r>
            <a:endParaRPr/>
          </a:p>
        </p:txBody>
      </p:sp>
      <p:graphicFrame>
        <p:nvGraphicFramePr>
          <p:cNvPr id="161" name="Google Shape;161;p14"/>
          <p:cNvGraphicFramePr/>
          <p:nvPr/>
        </p:nvGraphicFramePr>
        <p:xfrm>
          <a:off x="437711" y="1915029"/>
          <a:ext cx="1367050" cy="1946875"/>
        </p:xfrm>
        <a:graphic>
          <a:graphicData uri="http://schemas.openxmlformats.org/drawingml/2006/table">
            <a:tbl>
              <a:tblPr firstRow="1" bandRow="1">
                <a:noFill/>
                <a:tableStyleId>{5BA4AE84-1D30-4D9D-93CE-24A43FB36BDC}</a:tableStyleId>
              </a:tblPr>
              <a:tblGrid>
                <a:gridCol w="68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X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/>
                        <a:t>Y</a:t>
                      </a:r>
                      <a:endParaRPr sz="11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1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3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4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9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5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B0F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00B0F0"/>
                        </a:solidFill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2" name="Google Shape;162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3164305" y="3820829"/>
            <a:ext cx="5486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21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4141269" y="3829733"/>
            <a:ext cx="4812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48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5142295" y="3826607"/>
            <a:ext cx="5727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211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6143322" y="3823480"/>
            <a:ext cx="5727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91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7144348" y="3820353"/>
            <a:ext cx="5727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490</a:t>
            </a:r>
            <a:endParaRPr sz="18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8" name="Google Shape;168;p14"/>
          <p:cNvGrpSpPr/>
          <p:nvPr/>
        </p:nvGrpSpPr>
        <p:grpSpPr>
          <a:xfrm>
            <a:off x="3104148" y="4234549"/>
            <a:ext cx="493295" cy="1091125"/>
            <a:chOff x="4138864" y="4503064"/>
            <a:chExt cx="657726" cy="1454833"/>
          </a:xfrm>
        </p:grpSpPr>
        <p:sp>
          <p:nvSpPr>
            <p:cNvPr id="169" name="Google Shape;169;p14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71" name="Google Shape;171;p14"/>
          <p:cNvGrpSpPr/>
          <p:nvPr/>
        </p:nvGrpSpPr>
        <p:grpSpPr>
          <a:xfrm>
            <a:off x="4069080" y="4234549"/>
            <a:ext cx="493295" cy="1091125"/>
            <a:chOff x="4138864" y="4503064"/>
            <a:chExt cx="657726" cy="1454833"/>
          </a:xfrm>
        </p:grpSpPr>
        <p:sp>
          <p:nvSpPr>
            <p:cNvPr id="172" name="Google Shape;172;p14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74" name="Google Shape;174;p14"/>
          <p:cNvGrpSpPr/>
          <p:nvPr/>
        </p:nvGrpSpPr>
        <p:grpSpPr>
          <a:xfrm>
            <a:off x="5182000" y="4234549"/>
            <a:ext cx="493295" cy="1091125"/>
            <a:chOff x="4138864" y="4503064"/>
            <a:chExt cx="657726" cy="1454833"/>
          </a:xfrm>
        </p:grpSpPr>
        <p:sp>
          <p:nvSpPr>
            <p:cNvPr id="175" name="Google Shape;175;p14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77" name="Google Shape;177;p14"/>
          <p:cNvGrpSpPr/>
          <p:nvPr/>
        </p:nvGrpSpPr>
        <p:grpSpPr>
          <a:xfrm>
            <a:off x="6183027" y="4234548"/>
            <a:ext cx="493295" cy="1091125"/>
            <a:chOff x="4138864" y="4503064"/>
            <a:chExt cx="657726" cy="1454833"/>
          </a:xfrm>
        </p:grpSpPr>
        <p:sp>
          <p:nvSpPr>
            <p:cNvPr id="178" name="Google Shape;178;p14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80" name="Google Shape;180;p14"/>
          <p:cNvGrpSpPr/>
          <p:nvPr/>
        </p:nvGrpSpPr>
        <p:grpSpPr>
          <a:xfrm>
            <a:off x="7244211" y="4253501"/>
            <a:ext cx="493295" cy="1091125"/>
            <a:chOff x="4138864" y="4503064"/>
            <a:chExt cx="657726" cy="1454833"/>
          </a:xfrm>
        </p:grpSpPr>
        <p:sp>
          <p:nvSpPr>
            <p:cNvPr id="181" name="Google Shape;181;p14"/>
            <p:cNvSpPr txBox="1"/>
            <p:nvPr/>
          </p:nvSpPr>
          <p:spPr>
            <a:xfrm>
              <a:off x="4235116" y="5164005"/>
              <a:ext cx="561474" cy="79389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Gill Sans"/>
                <a:buNone/>
              </a:pPr>
              <a:r>
                <a:rPr lang="en-US" sz="1800" b="0" i="0" u="none" strike="noStrike" cap="none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 rot="-5400000">
              <a:off x="4170948" y="4470980"/>
              <a:ext cx="577516" cy="6416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rgbClr val="535A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83" name="Google Shape;183;p14"/>
          <p:cNvSpPr txBox="1"/>
          <p:nvPr/>
        </p:nvSpPr>
        <p:spPr>
          <a:xfrm>
            <a:off x="2576046" y="2639597"/>
            <a:ext cx="4152754" cy="5699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18" t="-873" r="-112" b="-743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lang="en-US" sz="1800" b="0" i="0" u="none" strike="noStrike" cap="non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2581981" y="3315569"/>
            <a:ext cx="6381545" cy="5741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80" t="-925" r="-71" b="-826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lang="en-US" sz="1800" b="0" i="0" u="none" strike="noStrike" cap="non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pic>
        <p:nvPicPr>
          <p:cNvPr id="185" name="Google Shape;185;p1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87200" y="1605040"/>
            <a:ext cx="5029200" cy="87153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 txBox="1"/>
          <p:nvPr/>
        </p:nvSpPr>
        <p:spPr>
          <a:xfrm>
            <a:off x="125291" y="5702089"/>
            <a:ext cx="809112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Gill San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More Details: </a:t>
            </a:r>
            <a:r>
              <a:rPr lang="en-US" sz="1050" b="0" i="0" u="sng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https://www.investopedia.com/ask/answers/032515/what-does-it-mean-if-correlation-coefficient-positive-negative-or-zero.asp</a:t>
            </a:r>
            <a:r>
              <a:rPr lang="en-US" sz="105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05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125290" y="4709786"/>
            <a:ext cx="2548976" cy="9233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Gill Sans"/>
              <a:buNone/>
            </a:pPr>
            <a:r>
              <a:rPr lang="en-US" sz="1800" b="1" i="0" u="none" strike="noStrike" cap="non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This is “Pearson’s Correlation Coefficient”</a:t>
            </a:r>
            <a:endParaRPr sz="1800" b="1" i="0" u="none" strike="noStrike" cap="none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Correlation Interpretation</a:t>
            </a:r>
            <a:endParaRPr/>
          </a:p>
        </p:txBody>
      </p:sp>
      <p:pic>
        <p:nvPicPr>
          <p:cNvPr id="193" name="Google Shape;193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80010" y="2463083"/>
            <a:ext cx="5229225" cy="227885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79131" y="5702089"/>
            <a:ext cx="802517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More Details: </a:t>
            </a:r>
            <a:r>
              <a:rPr lang="en-US" sz="1350" b="0" i="0" u="sng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https://statistics.laerd.com/statistical-guides/pearson-correlation-coefficient-statistical-guide.php</a:t>
            </a:r>
            <a:r>
              <a:rPr lang="en-US" sz="135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35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Correlation does NOT imply causality…</a:t>
            </a:r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27432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if A and B are correlated, </a:t>
            </a:r>
            <a:r>
              <a:rPr lang="en-US" b="1" i="1">
                <a:solidFill>
                  <a:srgbClr val="FF0000"/>
                </a:solidFill>
              </a:rPr>
              <a:t>this does not necessarily imply that A causes B or that B causes A. </a:t>
            </a:r>
            <a:endParaRPr b="1" i="1">
              <a:solidFill>
                <a:srgbClr val="FF0000"/>
              </a:solidFill>
            </a:endParaRPr>
          </a:p>
          <a:p>
            <a:pPr marL="274320" lvl="0" indent="-2743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For example, in analyzing a </a:t>
            </a:r>
            <a:r>
              <a:rPr lang="en-US" b="1" i="1">
                <a:solidFill>
                  <a:srgbClr val="FF00FF"/>
                </a:solidFill>
              </a:rPr>
              <a:t>demographic database</a:t>
            </a:r>
            <a:r>
              <a:rPr lang="en-US"/>
              <a:t>, we may ﬁnd that attributes representing the </a:t>
            </a:r>
            <a:r>
              <a:rPr lang="en-US" b="1" i="1">
                <a:solidFill>
                  <a:srgbClr val="FF00FF"/>
                </a:solidFill>
              </a:rPr>
              <a:t>number of hospitals </a:t>
            </a:r>
            <a:r>
              <a:rPr lang="en-US"/>
              <a:t>and </a:t>
            </a:r>
            <a:r>
              <a:rPr lang="en-US" b="1" i="1">
                <a:solidFill>
                  <a:srgbClr val="FF00FF"/>
                </a:solidFill>
              </a:rPr>
              <a:t>the number of car thefts </a:t>
            </a:r>
            <a:r>
              <a:rPr lang="en-US"/>
              <a:t>in a region are </a:t>
            </a:r>
            <a:r>
              <a:rPr lang="en-US" b="1" i="1">
                <a:solidFill>
                  <a:srgbClr val="00B050"/>
                </a:solidFill>
              </a:rPr>
              <a:t>correlated</a:t>
            </a:r>
            <a:r>
              <a:rPr lang="en-US"/>
              <a:t>. </a:t>
            </a:r>
            <a:endParaRPr/>
          </a:p>
          <a:p>
            <a:pPr marL="274320" lvl="0" indent="-2743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 b="1" i="1">
                <a:solidFill>
                  <a:srgbClr val="FF0000"/>
                </a:solidFill>
              </a:rPr>
              <a:t>This does not mean that one causes the other. </a:t>
            </a:r>
            <a:endParaRPr b="1" i="1">
              <a:solidFill>
                <a:srgbClr val="FF0000"/>
              </a:solidFill>
            </a:endParaRPr>
          </a:p>
          <a:p>
            <a:pPr marL="274320" lvl="0" indent="-2743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Both are actually causally linked to a third attribute, namely, </a:t>
            </a:r>
            <a:r>
              <a:rPr lang="en-US" b="1" i="1">
                <a:solidFill>
                  <a:srgbClr val="FF00FF"/>
                </a:solidFill>
              </a:rPr>
              <a:t>population</a:t>
            </a:r>
            <a:r>
              <a:rPr lang="en-US"/>
              <a:t>.</a:t>
            </a:r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Activity </a:t>
            </a:r>
            <a:endParaRPr/>
          </a:p>
        </p:txBody>
      </p:sp>
      <p:sp>
        <p:nvSpPr>
          <p:cNvPr id="216" name="Google Shape;216;p2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27432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Calculate Correlation between these two variables X, Y</a:t>
            </a:r>
            <a:endParaRPr/>
          </a:p>
          <a:p>
            <a:pPr marL="274320" lvl="0" indent="-15849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endParaRPr/>
          </a:p>
        </p:txBody>
      </p:sp>
      <p:graphicFrame>
        <p:nvGraphicFramePr>
          <p:cNvPr id="217" name="Google Shape;217;p23"/>
          <p:cNvGraphicFramePr/>
          <p:nvPr/>
        </p:nvGraphicFramePr>
        <p:xfrm>
          <a:off x="764583" y="2094424"/>
          <a:ext cx="1870150" cy="3903450"/>
        </p:xfrm>
        <a:graphic>
          <a:graphicData uri="http://schemas.openxmlformats.org/drawingml/2006/table">
            <a:tbl>
              <a:tblPr firstRow="1" bandRow="1">
                <a:noFill/>
                <a:tableStyleId>{E42099E1-25EC-44E6-87D1-C2D1EA259954}</a:tableStyleId>
              </a:tblPr>
              <a:tblGrid>
                <a:gridCol w="9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X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Y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2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10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4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9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6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8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8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7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10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6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Activity </a:t>
            </a:r>
            <a:endParaRPr/>
          </a:p>
        </p:txBody>
      </p:sp>
      <p:sp>
        <p:nvSpPr>
          <p:cNvPr id="223" name="Google Shape;223;p2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27432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Calculate Covariance of the following two variables X, Y</a:t>
            </a:r>
            <a:endParaRPr/>
          </a:p>
          <a:p>
            <a:pPr marL="274320" lvl="0" indent="-15849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endParaRPr/>
          </a:p>
        </p:txBody>
      </p:sp>
      <p:graphicFrame>
        <p:nvGraphicFramePr>
          <p:cNvPr id="224" name="Google Shape;224;p24"/>
          <p:cNvGraphicFramePr/>
          <p:nvPr/>
        </p:nvGraphicFramePr>
        <p:xfrm>
          <a:off x="764583" y="2094424"/>
          <a:ext cx="1870150" cy="3252875"/>
        </p:xfrm>
        <a:graphic>
          <a:graphicData uri="http://schemas.openxmlformats.org/drawingml/2006/table">
            <a:tbl>
              <a:tblPr firstRow="1" bandRow="1">
                <a:noFill/>
                <a:tableStyleId>{E42099E1-25EC-44E6-87D1-C2D1EA259954}</a:tableStyleId>
              </a:tblPr>
              <a:tblGrid>
                <a:gridCol w="9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X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Y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2.1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8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2.5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10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3.6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12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4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14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412</Words>
  <Application>Microsoft Office PowerPoint</Application>
  <PresentationFormat>On-screen Show (4:3)</PresentationFormat>
  <Paragraphs>216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Bookman Old Style</vt:lpstr>
      <vt:lpstr>Arial</vt:lpstr>
      <vt:lpstr>Calibri</vt:lpstr>
      <vt:lpstr>Gill Sans</vt:lpstr>
      <vt:lpstr>Origin</vt:lpstr>
      <vt:lpstr> Data Science</vt:lpstr>
      <vt:lpstr>Correlation</vt:lpstr>
      <vt:lpstr>Correlation Between Two Variables</vt:lpstr>
      <vt:lpstr>Correlation Between Two Variables</vt:lpstr>
      <vt:lpstr>Correlation Between Two Variables</vt:lpstr>
      <vt:lpstr>Correlation Between Two Variables</vt:lpstr>
      <vt:lpstr>Computing Correlation</vt:lpstr>
      <vt:lpstr>Computing Correlation</vt:lpstr>
      <vt:lpstr>Computing Correlation</vt:lpstr>
      <vt:lpstr>Computing Correlation</vt:lpstr>
      <vt:lpstr>Correlation Interpretation</vt:lpstr>
      <vt:lpstr>Correlation does NOT imply causality…</vt:lpstr>
      <vt:lpstr>Activity </vt:lpstr>
      <vt:lpstr>Activity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03-134162-024</cp:lastModifiedBy>
  <cp:revision>3</cp:revision>
  <dcterms:created xsi:type="dcterms:W3CDTF">2024-10-27T17:04:28Z</dcterms:created>
  <dcterms:modified xsi:type="dcterms:W3CDTF">2024-11-19T09:30:02Z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B71F6ACF0BF64F51BB909BCCA6550AF3_12</vt:lpwstr>
  </property>
  <property fmtid="{D5CDD505-2E9C-101B-9397-08002B2CF9AE}" pid="3" name="KSOProductBuildVer">
    <vt:lpwstr>1033-12.2.0.18607</vt:lpwstr>
  </property>
</Properties>
</file>