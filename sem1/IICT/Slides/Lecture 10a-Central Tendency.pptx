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Tahoma"/>
      <p:regular r:id="rId19"/>
      <p:bold r:id="rId20"/>
    </p:embeddedFont>
    <p:embeddedFont>
      <p:font typeface="Gill San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TB0Vi0xit+vo75lAJQ3xTIr9w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6C0CED-B9F5-4465-8A9C-1C54BC31C0C4}">
  <a:tblStyle styleId="{586C0CED-B9F5-4465-8A9C-1C54BC31C0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11" Type="http://schemas.openxmlformats.org/officeDocument/2006/relationships/slide" Target="slides/slide6.xml"/><Relationship Id="rId22" Type="http://schemas.openxmlformats.org/officeDocument/2006/relationships/font" Target="fonts/GillSans-bold.fntdata"/><Relationship Id="rId10" Type="http://schemas.openxmlformats.org/officeDocument/2006/relationships/slide" Target="slides/slide5.xml"/><Relationship Id="rId21" Type="http://schemas.openxmlformats.org/officeDocument/2006/relationships/font" Target="fonts/GillSans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4424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  <a:defRPr sz="2400"/>
            </a:lvl1pPr>
            <a:lvl2pPr indent="-3251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  <a:defRPr sz="2000"/>
            </a:lvl2pPr>
            <a:lvl3pPr indent="-31546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Font typeface="Gill Sans"/>
              <a:buChar char=""/>
              <a:defRPr sz="1800"/>
            </a:lvl3pPr>
            <a:lvl4pPr indent="-2997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Gill Sans"/>
              <a:buChar char="◻"/>
              <a:defRPr sz="1600"/>
            </a:lvl4pPr>
            <a:lvl5pPr indent="-29082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80"/>
              <a:buFont typeface="Gill Sans"/>
              <a:buChar char="◻"/>
              <a:defRPr sz="1400"/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 dir="ou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type="title"/>
          </p:nvPr>
        </p:nvSpPr>
        <p:spPr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3048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indent="-315468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indent="-31546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indent="-30861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2" type="body"/>
          </p:nvPr>
        </p:nvSpPr>
        <p:spPr>
          <a:xfrm>
            <a:off x="4572000" y="1295400"/>
            <a:ext cx="4114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indent="-315468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indent="-31546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indent="-30861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 dir="ou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tx">
  <p:cSld name="TITLE_AND_BODY">
    <p:bg>
      <p:bgPr>
        <a:solidFill>
          <a:srgbClr val="46465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3200"/>
              <a:buFont typeface="Bookman Old Style"/>
              <a:buNone/>
              <a:defRPr>
                <a:solidFill>
                  <a:srgbClr val="DDE9E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2pPr>
            <a:lvl3pPr indent="-228600" lvl="2" marL="1371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3pPr>
            <a:lvl4pPr indent="-228600" lvl="3" marL="18288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4pPr>
            <a:lvl5pPr indent="-228600" lvl="4" marL="22860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  <a:defRPr sz="2000">
                <a:solidFill>
                  <a:srgbClr val="FFFFFF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1069847" y="6355079"/>
            <a:ext cx="301909" cy="307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4"/>
          <p:cNvSpPr/>
          <p:nvPr/>
        </p:nvSpPr>
        <p:spPr>
          <a:xfrm>
            <a:off x="914400" y="2819399"/>
            <a:ext cx="7315200" cy="1280162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24"/>
          <p:cNvSpPr/>
          <p:nvPr/>
        </p:nvSpPr>
        <p:spPr>
          <a:xfrm>
            <a:off x="914400" y="2819399"/>
            <a:ext cx="228600" cy="1280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indent="-315468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indent="-31546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indent="-30861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b="1" sz="2400">
                <a:solidFill>
                  <a:schemeClr val="accen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b="1" sz="2400">
                <a:solidFill>
                  <a:schemeClr val="accen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b="1" sz="2400">
                <a:solidFill>
                  <a:schemeClr val="accen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Gill Sans"/>
              <a:buNone/>
              <a:defRPr b="1" sz="2400">
                <a:solidFill>
                  <a:schemeClr val="accent2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1pPr>
            <a:lvl2pPr indent="-315468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2pPr>
            <a:lvl3pPr indent="-31546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"/>
              <a:defRPr/>
            </a:lvl3pPr>
            <a:lvl4pPr indent="-30861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>
  <p:cSld name="Content with Ca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2000"/>
              <a:buFont typeface="Gill Sans"/>
              <a:buNone/>
              <a:defRPr b="1" sz="2000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1pPr>
            <a:lvl2pPr indent="-228600" lvl="1" marL="9144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2pPr>
            <a:lvl3pPr indent="-228600" lvl="2" marL="13716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3pPr>
            <a:lvl4pPr indent="-228600" lvl="3" marL="18288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4pPr>
            <a:lvl5pPr indent="-228600" lvl="4" marL="2286000" algn="l">
              <a:lnSpc>
                <a:spcPct val="137500"/>
              </a:lnSpc>
              <a:spcBef>
                <a:spcPts val="1000"/>
              </a:spcBef>
              <a:spcAft>
                <a:spcPts val="0"/>
              </a:spcAft>
              <a:buClr>
                <a:srgbClr val="464653"/>
              </a:buClr>
              <a:buSzPts val="1600"/>
              <a:buFont typeface="Gill Sans"/>
              <a:buNone/>
              <a:defRPr sz="1600">
                <a:solidFill>
                  <a:srgbClr val="464653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27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" name="Google Shape;41;p27"/>
          <p:cNvCxnSpPr/>
          <p:nvPr/>
        </p:nvCxnSpPr>
        <p:spPr>
          <a:xfrm flipH="1">
            <a:off x="6178800" y="307339"/>
            <a:ext cx="1" cy="603504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" name="Google Shape;42;p27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bg>
      <p:bgPr>
        <a:solidFill>
          <a:srgbClr val="46465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ookman Old Style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28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ill Sans"/>
              <a:buNone/>
              <a:defRPr sz="1400">
                <a:solidFill>
                  <a:srgbClr val="FFFFFF"/>
                </a:solidFill>
              </a:defRPr>
            </a:lvl1pPr>
            <a:lvl2pPr indent="-296164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Gill Sans"/>
              <a:buChar char=""/>
              <a:defRPr sz="1400">
                <a:solidFill>
                  <a:srgbClr val="FFFFFF"/>
                </a:solidFill>
              </a:defRPr>
            </a:lvl2pPr>
            <a:lvl3pPr indent="-296164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64"/>
              <a:buFont typeface="Gill Sans"/>
              <a:buChar char=""/>
              <a:defRPr sz="1400">
                <a:solidFill>
                  <a:srgbClr val="FFFFFF"/>
                </a:solidFill>
              </a:defRPr>
            </a:lvl3pPr>
            <a:lvl4pPr indent="-29083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Gill Sans"/>
              <a:buChar char="◻"/>
              <a:defRPr sz="1400">
                <a:solidFill>
                  <a:srgbClr val="FFFFFF"/>
                </a:solidFill>
              </a:defRPr>
            </a:lvl4pPr>
            <a:lvl5pPr indent="-29082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Gill Sans"/>
              <a:buChar char="◻"/>
              <a:defRPr sz="1400">
                <a:solidFill>
                  <a:srgbClr val="FFFFFF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6pPr>
            <a:lvl7pPr indent="-31432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7pPr>
            <a:lvl8pPr indent="-31432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8pPr>
            <a:lvl9pPr indent="-314325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50"/>
              <a:buChar char="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28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9" name="Google Shape;49;p28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" name="Google Shape;50;p28"/>
          <p:cNvSpPr/>
          <p:nvPr/>
        </p:nvSpPr>
        <p:spPr>
          <a:xfrm>
            <a:off x="457199" y="500856"/>
            <a:ext cx="182882" cy="68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21"/>
          <p:cNvCxnSpPr/>
          <p:nvPr/>
        </p:nvCxnSpPr>
        <p:spPr>
          <a:xfrm>
            <a:off x="457200" y="6353175"/>
            <a:ext cx="8229601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" name="Google Shape;7;p21"/>
          <p:cNvCxnSpPr/>
          <p:nvPr/>
        </p:nvCxnSpPr>
        <p:spPr>
          <a:xfrm>
            <a:off x="457200" y="1143000"/>
            <a:ext cx="8229601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" name="Google Shape;8;p21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4076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407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Gill Sans"/>
              <a:buChar char="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416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417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Gill Sans"/>
              <a:buChar char="◻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242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242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242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242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Gill Sans"/>
              <a:buChar char=""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40625" wrap="square" tIns="0">
            <a:noAutofit/>
          </a:bodyPr>
          <a:lstStyle/>
          <a:p>
            <a:pPr indent="0" lvl="0" marL="4000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Bookman Old Style"/>
              <a:buNone/>
            </a:pPr>
            <a:br>
              <a:rPr b="1" lang="en-US" sz="3200">
                <a:solidFill>
                  <a:schemeClr val="accent5"/>
                </a:solidFill>
              </a:rPr>
            </a:br>
            <a:r>
              <a:rPr b="1" lang="en-US" sz="3200">
                <a:solidFill>
                  <a:schemeClr val="accent5"/>
                </a:solidFill>
              </a:rPr>
              <a:t>Data Science</a:t>
            </a:r>
            <a:endParaRPr b="1" sz="3200">
              <a:solidFill>
                <a:schemeClr val="accent5"/>
              </a:solidFill>
            </a:endParaRPr>
          </a:p>
        </p:txBody>
      </p:sp>
      <p:sp>
        <p:nvSpPr>
          <p:cNvPr id="58" name="Google Shape;58;p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0625" wrap="square" tIns="0">
            <a:normAutofit/>
          </a:bodyPr>
          <a:lstStyle/>
          <a:p>
            <a:pPr indent="0" lvl="0" marL="400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368"/>
              <a:buFont typeface="Gill Sans"/>
              <a:buNone/>
            </a:pPr>
            <a:r>
              <a:rPr lang="en-US" sz="1800">
                <a:solidFill>
                  <a:srgbClr val="0070C0"/>
                </a:solidFill>
              </a:rPr>
              <a:t>Instructor:Maham Naeem </a:t>
            </a:r>
            <a:endParaRPr sz="1800">
              <a:solidFill>
                <a:srgbClr val="0070C0"/>
              </a:solidFill>
            </a:endParaRPr>
          </a:p>
          <a:p>
            <a:pPr indent="-227075" lvl="0" marL="3829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sz="2400">
              <a:solidFill>
                <a:srgbClr val="3333CC"/>
              </a:solidFill>
            </a:endParaRPr>
          </a:p>
          <a:p>
            <a:pPr indent="0" lvl="0" marL="40005" rtl="0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16"/>
              <a:buFont typeface="Gill Sans"/>
              <a:buNone/>
            </a:pPr>
            <a:r>
              <a:rPr lang="en-US" sz="1600">
                <a:solidFill>
                  <a:srgbClr val="3333CC"/>
                </a:solidFill>
              </a:rPr>
              <a:t>September 4, 2024</a:t>
            </a:r>
            <a:endParaRPr sz="1600">
              <a:solidFill>
                <a:srgbClr val="3333CC"/>
              </a:solidFill>
            </a:endParaRPr>
          </a:p>
        </p:txBody>
      </p:sp>
      <p:sp>
        <p:nvSpPr>
          <p:cNvPr id="59" name="Google Shape;59;p1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fld id="{00000000-1234-1234-1234-123412341234}" type="slidenum"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>
            <p:ph idx="11" type="ftr"/>
          </p:nvPr>
        </p:nvSpPr>
        <p:spPr>
          <a:xfrm>
            <a:off x="1241425" y="5707697"/>
            <a:ext cx="6986588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National University of Computer and Emerging Sciences, Lahore</a:t>
            </a:r>
            <a:endParaRPr b="0" i="0" sz="2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mobile applications" id="61" name="Google Shape;61;p1"/>
          <p:cNvSpPr/>
          <p:nvPr/>
        </p:nvSpPr>
        <p:spPr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mobile applications" id="62" name="Google Shape;62;p1"/>
          <p:cNvSpPr/>
          <p:nvPr/>
        </p:nvSpPr>
        <p:spPr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mobile applications" id="63" name="Google Shape;63;p1"/>
          <p:cNvSpPr/>
          <p:nvPr/>
        </p:nvSpPr>
        <p:spPr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 id="64" name="Google Shape;64;p1"/>
          <p:cNvSpPr/>
          <p:nvPr/>
        </p:nvSpPr>
        <p:spPr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1482725" y="2474913"/>
            <a:ext cx="6003925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Central Tendency</a:t>
            </a:r>
            <a:r>
              <a:rPr b="0" i="0" lang="en-US" sz="2800" u="none" cap="none" strike="noStrike">
                <a:solidFill>
                  <a:srgbClr val="D3B4A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solidFill>
                <a:srgbClr val="D3B4A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Lecture No. 3a</a:t>
            </a:r>
            <a:endParaRPr b="0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Measuring the Central Tendency</a:t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 </a:t>
            </a:r>
            <a:endParaRPr/>
          </a:p>
        </p:txBody>
      </p:sp>
      <p:sp>
        <p:nvSpPr>
          <p:cNvPr id="72" name="Google Shape;72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406" y="2125642"/>
            <a:ext cx="2621756" cy="85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9260" y="4303360"/>
            <a:ext cx="3250406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5335153" y="4680840"/>
            <a:ext cx="2963027" cy="55399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Gill Sans"/>
              <a:buNone/>
            </a:pPr>
            <a:r>
              <a:rPr b="1" i="0" lang="en-US" sz="1500" u="none" cap="none" strike="noStrik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Weighted Arithmetic Mean (or Weighted Average)</a:t>
            </a:r>
            <a:endParaRPr b="1" i="0" sz="1500" u="none" cap="none" strike="noStrik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594861" y="1890184"/>
            <a:ext cx="2963027" cy="7386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Gill Sans"/>
              <a:buNone/>
            </a:pPr>
            <a:r>
              <a:rPr b="1" i="0" lang="en-US" sz="21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Mean is sensitive to extreme values!</a:t>
            </a:r>
            <a:endParaRPr b="1" i="0" sz="21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7" name="Google Shape;77;p2"/>
          <p:cNvGrpSpPr/>
          <p:nvPr/>
        </p:nvGrpSpPr>
        <p:grpSpPr>
          <a:xfrm>
            <a:off x="1347211" y="2935685"/>
            <a:ext cx="5732045" cy="495803"/>
            <a:chOff x="1796281" y="2771246"/>
            <a:chExt cx="7642726" cy="661071"/>
          </a:xfrm>
        </p:grpSpPr>
        <p:pic>
          <p:nvPicPr>
            <p:cNvPr id="78" name="Google Shape;78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96281" y="2870342"/>
              <a:ext cx="6305550" cy="561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62657" y="2771246"/>
              <a:ext cx="1276350" cy="628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" name="Google Shape;80;p2"/>
          <p:cNvSpPr txBox="1"/>
          <p:nvPr/>
        </p:nvSpPr>
        <p:spPr>
          <a:xfrm>
            <a:off x="299604" y="2979940"/>
            <a:ext cx="1024797" cy="41549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045" l="-483" r="-453" t="-1194"/>
            </a:stretch>
          </a:blip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b="0" i="0" lang="en-US" sz="1800" u="none" cap="none" strike="noStrik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Measuring the Central Tendency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b="1" lang="en-US"/>
              <a:t>Median</a:t>
            </a:r>
            <a:endParaRPr b="1"/>
          </a:p>
          <a:p>
            <a:pPr indent="-309880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>
                <a:solidFill>
                  <a:srgbClr val="FF00FF"/>
                </a:solidFill>
              </a:rPr>
              <a:t>The middlemost value </a:t>
            </a:r>
            <a:r>
              <a:rPr lang="en-US"/>
              <a:t>of the data (</a:t>
            </a:r>
            <a:r>
              <a:rPr lang="en-US">
                <a:solidFill>
                  <a:srgbClr val="FF00FF"/>
                </a:solidFill>
              </a:rPr>
              <a:t>if number of data points are odd</a:t>
            </a:r>
            <a:r>
              <a:rPr lang="en-US"/>
              <a:t>)</a:t>
            </a:r>
            <a:endParaRPr/>
          </a:p>
          <a:p>
            <a:pPr indent="-309880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>
                <a:solidFill>
                  <a:srgbClr val="FF00FF"/>
                </a:solidFill>
              </a:rPr>
              <a:t>Average of two middlemost </a:t>
            </a:r>
            <a:r>
              <a:rPr lang="en-US"/>
              <a:t>values of the data (</a:t>
            </a:r>
            <a:r>
              <a:rPr lang="en-US">
                <a:solidFill>
                  <a:srgbClr val="FF00FF"/>
                </a:solidFill>
              </a:rPr>
              <a:t>if number of data points are even</a:t>
            </a:r>
            <a:r>
              <a:rPr lang="en-US"/>
              <a:t>)</a:t>
            </a:r>
            <a:endParaRPr/>
          </a:p>
        </p:txBody>
      </p:sp>
      <p:sp>
        <p:nvSpPr>
          <p:cNvPr id="87" name="Google Shape;87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5967" y="2822345"/>
            <a:ext cx="4818989" cy="284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093" y="3429000"/>
            <a:ext cx="2385815" cy="499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Measuring the Central Tendency</a:t>
            </a:r>
            <a:endParaRPr/>
          </a:p>
        </p:txBody>
      </p:sp>
      <p:sp>
        <p:nvSpPr>
          <p:cNvPr id="95" name="Google Shape;95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b="1" lang="en-US"/>
              <a:t>Mode</a:t>
            </a:r>
            <a:endParaRPr b="1"/>
          </a:p>
          <a:p>
            <a:pPr indent="-309880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>
                <a:solidFill>
                  <a:srgbClr val="FF00FF"/>
                </a:solidFill>
              </a:rPr>
              <a:t>The most frequently occurring value </a:t>
            </a:r>
            <a:r>
              <a:rPr lang="en-US"/>
              <a:t>of the data</a:t>
            </a:r>
            <a:endParaRPr/>
          </a:p>
          <a:p>
            <a:pPr indent="-213359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None/>
            </a:pPr>
            <a:r>
              <a:t/>
            </a:r>
            <a:endParaRPr/>
          </a:p>
          <a:p>
            <a:pPr indent="-213359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None/>
            </a:pPr>
            <a:r>
              <a:t/>
            </a:r>
            <a:endParaRPr/>
          </a:p>
          <a:p>
            <a:pPr indent="-213359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None/>
            </a:pPr>
            <a:r>
              <a:t/>
            </a:r>
            <a:endParaRPr/>
          </a:p>
          <a:p>
            <a:pPr indent="-213359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None/>
            </a:pPr>
            <a:r>
              <a:t/>
            </a:r>
            <a:endParaRPr/>
          </a:p>
          <a:p>
            <a:pPr indent="-309880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/>
              <a:t>Datasets with one, two, or three modes are called </a:t>
            </a:r>
            <a:r>
              <a:rPr b="1" lang="en-US">
                <a:solidFill>
                  <a:srgbClr val="FF00FF"/>
                </a:solidFill>
              </a:rPr>
              <a:t>unimodal</a:t>
            </a:r>
            <a:r>
              <a:rPr b="1" lang="en-US"/>
              <a:t>, </a:t>
            </a:r>
            <a:r>
              <a:rPr b="1" lang="en-US">
                <a:solidFill>
                  <a:srgbClr val="FF00FF"/>
                </a:solidFill>
              </a:rPr>
              <a:t>bimodal</a:t>
            </a:r>
            <a:r>
              <a:rPr b="1" lang="en-US"/>
              <a:t>, </a:t>
            </a:r>
            <a:r>
              <a:rPr lang="en-US"/>
              <a:t>or</a:t>
            </a:r>
            <a:r>
              <a:rPr b="1" lang="en-US"/>
              <a:t> </a:t>
            </a:r>
            <a:r>
              <a:rPr b="1" lang="en-US">
                <a:solidFill>
                  <a:srgbClr val="FF00FF"/>
                </a:solidFill>
              </a:rPr>
              <a:t>trimodal</a:t>
            </a:r>
            <a:r>
              <a:rPr lang="en-US"/>
              <a:t> respectively </a:t>
            </a:r>
            <a:endParaRPr/>
          </a:p>
        </p:txBody>
      </p:sp>
      <p:sp>
        <p:nvSpPr>
          <p:cNvPr id="96" name="Google Shape;96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5967" y="2822345"/>
            <a:ext cx="4818989" cy="284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6"/>
          <p:cNvGrpSpPr/>
          <p:nvPr/>
        </p:nvGrpSpPr>
        <p:grpSpPr>
          <a:xfrm>
            <a:off x="3592723" y="2822344"/>
            <a:ext cx="2784014" cy="284811"/>
            <a:chOff x="4790297" y="2620125"/>
            <a:chExt cx="3712019" cy="379748"/>
          </a:xfrm>
        </p:grpSpPr>
        <p:sp>
          <p:nvSpPr>
            <p:cNvPr id="99" name="Google Shape;99;p6"/>
            <p:cNvSpPr/>
            <p:nvPr/>
          </p:nvSpPr>
          <p:spPr>
            <a:xfrm>
              <a:off x="7459579" y="2620126"/>
              <a:ext cx="1042737" cy="379747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4790297" y="2620125"/>
              <a:ext cx="1042737" cy="379747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Symmetric VS Skewed Data</a:t>
            </a:r>
            <a:endParaRPr/>
          </a:p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185152"/>
            <a:ext cx="2663081" cy="233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537" y="3185152"/>
            <a:ext cx="2663081" cy="2333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0832" y="3262230"/>
            <a:ext cx="2618180" cy="225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7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39066" y="1796612"/>
            <a:ext cx="1756574" cy="1570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Five Number Summary of Dataset</a:t>
            </a:r>
            <a:endParaRPr/>
          </a:p>
        </p:txBody>
      </p:sp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Minimum Value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Lower Quartile (Q1)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Median (Q2)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Upper Quartile (Q3)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Maximum Value</a:t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2490537" y="3997492"/>
            <a:ext cx="4162926" cy="7386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Gill Sans"/>
              <a:buNone/>
            </a:pPr>
            <a:r>
              <a:rPr b="1" i="0" lang="en-US" sz="21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How to compute 5-number summary?</a:t>
            </a:r>
            <a:endParaRPr b="1" i="0" sz="21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Five Number Summary of Dataset</a:t>
            </a:r>
            <a:endParaRPr/>
          </a:p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Sort the data, if not done already.</a:t>
            </a:r>
            <a:endParaRPr/>
          </a:p>
        </p:txBody>
      </p:sp>
      <p:sp>
        <p:nvSpPr>
          <p:cNvPr id="125" name="Google Shape;125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039" y="2759107"/>
            <a:ext cx="6122194" cy="29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2327" y="2322612"/>
            <a:ext cx="6107906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/>
          <p:nvPr/>
        </p:nvSpPr>
        <p:spPr>
          <a:xfrm>
            <a:off x="4295274" y="2529780"/>
            <a:ext cx="397042" cy="22932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29" name="Google Shape;129;p9"/>
          <p:cNvGraphicFramePr/>
          <p:nvPr/>
        </p:nvGraphicFramePr>
        <p:xfrm>
          <a:off x="1644316" y="36798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{586C0CED-B9F5-4465-8A9C-1C54BC31C0C4}</a:tableStyleId>
              </a:tblPr>
              <a:tblGrid>
                <a:gridCol w="3048000"/>
                <a:gridCol w="30480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Min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Q1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Median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Q3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Max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sp>
        <p:nvSpPr>
          <p:cNvPr id="130" name="Google Shape;130;p9"/>
          <p:cNvSpPr txBox="1"/>
          <p:nvPr/>
        </p:nvSpPr>
        <p:spPr>
          <a:xfrm>
            <a:off x="5474369" y="3679843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56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5488405" y="4800353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295274" y="2822674"/>
            <a:ext cx="299586" cy="229327"/>
          </a:xfrm>
          <a:prstGeom prst="rect">
            <a:avLst/>
          </a:prstGeom>
          <a:noFill/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5474368" y="4263629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76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1805439" y="3208747"/>
            <a:ext cx="5376712" cy="55399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Gill Sans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How to find median if the total number of data points is not odd?</a:t>
            </a:r>
            <a:endParaRPr b="1" i="0" sz="15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Five Number Summary of Dataset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Sort the data, if not done already.</a:t>
            </a:r>
            <a:endParaRPr/>
          </a:p>
        </p:txBody>
      </p:sp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039" y="2759107"/>
            <a:ext cx="6122194" cy="29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2327" y="2322612"/>
            <a:ext cx="6107906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/>
          <p:nvPr/>
        </p:nvSpPr>
        <p:spPr>
          <a:xfrm>
            <a:off x="4295274" y="2529780"/>
            <a:ext cx="397042" cy="22932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45" name="Google Shape;145;p10"/>
          <p:cNvGraphicFramePr/>
          <p:nvPr/>
        </p:nvGraphicFramePr>
        <p:xfrm>
          <a:off x="1644316" y="36798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{586C0CED-B9F5-4465-8A9C-1C54BC31C0C4}</a:tableStyleId>
              </a:tblPr>
              <a:tblGrid>
                <a:gridCol w="3048000"/>
                <a:gridCol w="30480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Min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Q1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Median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Q3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Max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sp>
        <p:nvSpPr>
          <p:cNvPr id="146" name="Google Shape;146;p10"/>
          <p:cNvSpPr txBox="1"/>
          <p:nvPr/>
        </p:nvSpPr>
        <p:spPr>
          <a:xfrm>
            <a:off x="5474369" y="3679843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56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5488405" y="4800353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295274" y="2822674"/>
            <a:ext cx="299586" cy="229327"/>
          </a:xfrm>
          <a:prstGeom prst="rect">
            <a:avLst/>
          </a:prstGeom>
          <a:noFill/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5474368" y="4263629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76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10"/>
          <p:cNvSpPr/>
          <p:nvPr/>
        </p:nvSpPr>
        <p:spPr>
          <a:xfrm rot="5400000">
            <a:off x="2714356" y="1848084"/>
            <a:ext cx="344652" cy="281718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D7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2587096" y="2821662"/>
            <a:ext cx="589241" cy="229327"/>
          </a:xfrm>
          <a:prstGeom prst="rect">
            <a:avLst/>
          </a:prstGeom>
          <a:noFill/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5488405" y="3990694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70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5718951" y="2791641"/>
            <a:ext cx="589241" cy="229327"/>
          </a:xfrm>
          <a:prstGeom prst="rect">
            <a:avLst/>
          </a:prstGeom>
          <a:noFill/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5474367" y="4514472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86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10"/>
          <p:cNvSpPr/>
          <p:nvPr/>
        </p:nvSpPr>
        <p:spPr>
          <a:xfrm rot="5400000">
            <a:off x="5936722" y="1770097"/>
            <a:ext cx="344652" cy="281718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D7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Five Number Summary of Dataset</a:t>
            </a:r>
            <a:endParaRPr/>
          </a:p>
        </p:txBody>
      </p:sp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Sort the data, if not done already.</a:t>
            </a:r>
            <a:endParaRPr/>
          </a:p>
        </p:txBody>
      </p:sp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039" y="2759107"/>
            <a:ext cx="6122194" cy="292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2327" y="2322612"/>
            <a:ext cx="6107906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/>
          <p:nvPr/>
        </p:nvSpPr>
        <p:spPr>
          <a:xfrm>
            <a:off x="4295274" y="2529780"/>
            <a:ext cx="397042" cy="22932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66" name="Google Shape;166;p11"/>
          <p:cNvGraphicFramePr/>
          <p:nvPr/>
        </p:nvGraphicFramePr>
        <p:xfrm>
          <a:off x="1644316" y="4161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{586C0CED-B9F5-4465-8A9C-1C54BC31C0C4}</a:tableStyleId>
              </a:tblPr>
              <a:tblGrid>
                <a:gridCol w="3048000"/>
                <a:gridCol w="30480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Min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Q1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Median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Q3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/>
                        <a:t>Max</a:t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sp>
        <p:nvSpPr>
          <p:cNvPr id="167" name="Google Shape;167;p11"/>
          <p:cNvSpPr txBox="1"/>
          <p:nvPr/>
        </p:nvSpPr>
        <p:spPr>
          <a:xfrm>
            <a:off x="5474369" y="4185166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56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5488405" y="5305676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295274" y="2822674"/>
            <a:ext cx="299586" cy="229327"/>
          </a:xfrm>
          <a:prstGeom prst="rect">
            <a:avLst/>
          </a:prstGeom>
          <a:noFill/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5474368" y="4768952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76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1"/>
          <p:cNvSpPr/>
          <p:nvPr/>
        </p:nvSpPr>
        <p:spPr>
          <a:xfrm rot="5400000">
            <a:off x="2025439" y="2537001"/>
            <a:ext cx="266666" cy="136136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D7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2587096" y="2821662"/>
            <a:ext cx="589241" cy="229327"/>
          </a:xfrm>
          <a:prstGeom prst="rect">
            <a:avLst/>
          </a:prstGeom>
          <a:noFill/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5488405" y="4496017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70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718951" y="2791641"/>
            <a:ext cx="589241" cy="229327"/>
          </a:xfrm>
          <a:prstGeom prst="rect">
            <a:avLst/>
          </a:prstGeom>
          <a:noFill/>
          <a:ln cap="flat" cmpd="sng" w="2540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474367" y="5019795"/>
            <a:ext cx="9865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86</a:t>
            </a:r>
            <a:endParaRPr b="0" i="0" sz="135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6" name="Google Shape;176;p11"/>
          <p:cNvSpPr/>
          <p:nvPr/>
        </p:nvSpPr>
        <p:spPr>
          <a:xfrm rot="5400000">
            <a:off x="3501253" y="2566195"/>
            <a:ext cx="266666" cy="136136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D7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11"/>
          <p:cNvSpPr/>
          <p:nvPr/>
        </p:nvSpPr>
        <p:spPr>
          <a:xfrm rot="5400000">
            <a:off x="5119348" y="2572056"/>
            <a:ext cx="266666" cy="136136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D7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11"/>
          <p:cNvSpPr/>
          <p:nvPr/>
        </p:nvSpPr>
        <p:spPr>
          <a:xfrm rot="5400000">
            <a:off x="6766219" y="2563803"/>
            <a:ext cx="266666" cy="136136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D7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Gill Sans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79" name="Google Shape;179;p11"/>
          <p:cNvCxnSpPr/>
          <p:nvPr/>
        </p:nvCxnSpPr>
        <p:spPr>
          <a:xfrm>
            <a:off x="2953905" y="3562992"/>
            <a:ext cx="3013757" cy="0"/>
          </a:xfrm>
          <a:prstGeom prst="straightConnector1">
            <a:avLst/>
          </a:prstGeom>
          <a:noFill/>
          <a:ln cap="flat" cmpd="sng" w="57150">
            <a:solidFill>
              <a:srgbClr val="6D78A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" name="Google Shape;180;p11"/>
          <p:cNvSpPr txBox="1"/>
          <p:nvPr/>
        </p:nvSpPr>
        <p:spPr>
          <a:xfrm>
            <a:off x="3266323" y="3650112"/>
            <a:ext cx="2357488" cy="55399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Gill Sans"/>
              <a:buNone/>
            </a:pPr>
            <a:r>
              <a:rPr b="1" i="0" lang="en-US" sz="1500" u="none" cap="none" strike="noStrik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Called Middle 50% (or IQR)</a:t>
            </a:r>
            <a:endParaRPr b="1" i="0" sz="1500" u="none" cap="none" strike="noStrik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100004" y="4155002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Font typeface="Gill Sans"/>
              <a:buNone/>
            </a:pP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Lower Extreme</a:t>
            </a:r>
            <a:endParaRPr b="1" i="0" sz="1200" u="none" cap="none" strike="noStrike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100004" y="4431012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Font typeface="Gill Sans"/>
              <a:buNone/>
            </a:pP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Lower</a:t>
            </a:r>
            <a:r>
              <a:rPr b="1" i="0" lang="en-US" sz="10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Quartile</a:t>
            </a:r>
            <a:endParaRPr b="1" i="0" sz="1200" u="none" cap="none" strike="noStrike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100004" y="4695000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Font typeface="Gill Sans"/>
              <a:buNone/>
            </a:pP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Middle</a:t>
            </a:r>
            <a:r>
              <a:rPr b="1" i="0" lang="en-US" sz="10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Quartile</a:t>
            </a:r>
            <a:endParaRPr b="1" i="0" sz="1200" u="none" cap="none" strike="noStrike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100004" y="4983047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Font typeface="Gill Sans"/>
              <a:buNone/>
            </a:pP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Upper</a:t>
            </a:r>
            <a:r>
              <a:rPr b="1" i="0" lang="en-US" sz="10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Quartile</a:t>
            </a:r>
            <a:endParaRPr b="1" i="0" sz="1200" u="none" cap="none" strike="noStrike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100004" y="5247030"/>
            <a:ext cx="1445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200"/>
              <a:buFont typeface="Gill Sans"/>
              <a:buNone/>
            </a:pPr>
            <a:r>
              <a:rPr b="1" i="0" lang="en-US" sz="12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Upper</a:t>
            </a:r>
            <a:r>
              <a:rPr b="1" i="0" lang="en-US" sz="1000" u="none" cap="none" strike="noStrike">
                <a:solidFill>
                  <a:srgbClr val="FF00FF"/>
                </a:solidFill>
                <a:latin typeface="Gill Sans"/>
                <a:ea typeface="Gill Sans"/>
                <a:cs typeface="Gill Sans"/>
                <a:sym typeface="Gill Sans"/>
              </a:rPr>
              <a:t> Extreme</a:t>
            </a:r>
            <a:endParaRPr b="1" i="0" sz="1000" u="none" cap="none" strike="noStrike">
              <a:solidFill>
                <a:srgbClr val="FF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 rot="-1559156">
            <a:off x="2928943" y="3825166"/>
            <a:ext cx="2357488" cy="1569660"/>
          </a:xfrm>
          <a:prstGeom prst="rect">
            <a:avLst/>
          </a:prstGeom>
          <a:solidFill>
            <a:srgbClr val="4A4A4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Gill Sans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Any better way to represent this summary?</a:t>
            </a:r>
            <a:endParaRPr b="1" i="0" sz="24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3200"/>
              <a:buFont typeface="Bookman Old Style"/>
              <a:buNone/>
            </a:pPr>
            <a:r>
              <a:rPr lang="en-US"/>
              <a:t>MEASURE OF DISPERSION</a:t>
            </a:r>
            <a:endParaRPr/>
          </a:p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ill Sans"/>
              <a:buNone/>
            </a:pPr>
            <a:r>
              <a:rPr lang="en-US"/>
              <a:t>                                               Variance and Standard Deviation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Variance and Standard Deviation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Data Set 1: 3, 5, 7, 10, 10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rPr lang="en-US"/>
              <a:t>	Data Set 2: 7, 7, 7, 7, 7</a:t>
            </a:r>
            <a:br>
              <a:rPr lang="en-US"/>
            </a:b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rPr lang="en-US">
                <a:solidFill>
                  <a:schemeClr val="lt2"/>
                </a:solidFill>
              </a:rPr>
              <a:t>Data Set 1: mean = 7, median = 7</a:t>
            </a:r>
            <a:endParaRPr>
              <a:solidFill>
                <a:schemeClr val="lt2"/>
              </a:solidFill>
            </a:endParaRPr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rPr lang="en-US">
                <a:solidFill>
                  <a:schemeClr val="lt2"/>
                </a:solidFill>
              </a:rPr>
              <a:t>Data Set 2: mean = 7, median = 7</a:t>
            </a:r>
            <a:br>
              <a:rPr lang="en-US">
                <a:solidFill>
                  <a:schemeClr val="lt2"/>
                </a:solidFill>
              </a:rPr>
            </a:br>
            <a:endParaRPr>
              <a:solidFill>
                <a:schemeClr val="lt2"/>
              </a:solidFill>
            </a:endParaRPr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rPr lang="en-US"/>
              <a:t>	But we know that the two data sets are not identical! The </a:t>
            </a:r>
            <a:r>
              <a:rPr b="1" lang="en-US"/>
              <a:t>variance </a:t>
            </a:r>
            <a:r>
              <a:rPr lang="en-US"/>
              <a:t>and</a:t>
            </a:r>
            <a:r>
              <a:rPr b="1" lang="en-US"/>
              <a:t> standard deviation</a:t>
            </a:r>
            <a:r>
              <a:rPr lang="en-US"/>
              <a:t> shows how they are different.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br>
              <a:rPr lang="en-US"/>
            </a:br>
            <a:endParaRPr/>
          </a:p>
        </p:txBody>
      </p:sp>
      <p:sp>
        <p:nvSpPr>
          <p:cNvPr id="199" name="Google Shape;199;p13"/>
          <p:cNvSpPr txBox="1"/>
          <p:nvPr>
            <p:ph idx="12" type="sldNum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zoom dir="out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Variance and Standard Deviation</a:t>
            </a:r>
            <a:endParaRPr/>
          </a:p>
        </p:txBody>
      </p:sp>
      <p:sp>
        <p:nvSpPr>
          <p:cNvPr id="205" name="Google Shape;205;p1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Both Indicate how spread out a data distribution is.</a:t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lang="en-US"/>
              <a:t>Square root of variance is called Standard Deviation</a:t>
            </a:r>
            <a:endParaRPr/>
          </a:p>
          <a:p>
            <a:pPr indent="-309880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/>
              <a:t>A </a:t>
            </a:r>
            <a:r>
              <a:rPr b="1" lang="en-US">
                <a:solidFill>
                  <a:srgbClr val="FF00FF"/>
                </a:solidFill>
              </a:rPr>
              <a:t>low standard deviation</a:t>
            </a:r>
            <a:r>
              <a:rPr lang="en-US">
                <a:solidFill>
                  <a:srgbClr val="FF00FF"/>
                </a:solidFill>
              </a:rPr>
              <a:t> </a:t>
            </a:r>
            <a:r>
              <a:rPr lang="en-US"/>
              <a:t>means that </a:t>
            </a:r>
            <a:r>
              <a:rPr b="1" lang="en-US">
                <a:solidFill>
                  <a:srgbClr val="FF00FF"/>
                </a:solidFill>
              </a:rPr>
              <a:t>data observations tend to be very close</a:t>
            </a:r>
            <a:endParaRPr b="1">
              <a:solidFill>
                <a:srgbClr val="FF00FF"/>
              </a:solidFill>
            </a:endParaRPr>
          </a:p>
          <a:p>
            <a:pPr indent="-309880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Char char=""/>
            </a:pPr>
            <a:r>
              <a:rPr lang="en-US"/>
              <a:t>A </a:t>
            </a:r>
            <a:r>
              <a:rPr b="1" lang="en-US">
                <a:solidFill>
                  <a:srgbClr val="FF00FF"/>
                </a:solidFill>
              </a:rPr>
              <a:t>high standard deviation</a:t>
            </a:r>
            <a:r>
              <a:rPr lang="en-US">
                <a:solidFill>
                  <a:srgbClr val="FF00FF"/>
                </a:solidFill>
              </a:rPr>
              <a:t> </a:t>
            </a:r>
            <a:r>
              <a:rPr lang="en-US"/>
              <a:t>indicates that </a:t>
            </a:r>
            <a:r>
              <a:rPr b="1" lang="en-US">
                <a:solidFill>
                  <a:srgbClr val="FF00FF"/>
                </a:solidFill>
              </a:rPr>
              <a:t>data observations are spread over a large range of values</a:t>
            </a:r>
            <a:endParaRPr b="1">
              <a:solidFill>
                <a:srgbClr val="FF00FF"/>
              </a:solidFill>
            </a:endParaRPr>
          </a:p>
          <a:p>
            <a:pPr indent="0" lvl="1" marL="15113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None/>
            </a:pPr>
            <a:r>
              <a:t/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06" name="Google Shape;206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14"/>
          <p:cNvGrpSpPr/>
          <p:nvPr/>
        </p:nvGrpSpPr>
        <p:grpSpPr>
          <a:xfrm>
            <a:off x="1329849" y="4984777"/>
            <a:ext cx="5732045" cy="495803"/>
            <a:chOff x="1796281" y="2771246"/>
            <a:chExt cx="7642726" cy="661071"/>
          </a:xfrm>
        </p:grpSpPr>
        <p:pic>
          <p:nvPicPr>
            <p:cNvPr id="208" name="Google Shape;20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96281" y="2870342"/>
              <a:ext cx="6305550" cy="561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62657" y="2771246"/>
              <a:ext cx="1276350" cy="628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14"/>
          <p:cNvSpPr txBox="1"/>
          <p:nvPr/>
        </p:nvSpPr>
        <p:spPr>
          <a:xfrm>
            <a:off x="2292892" y="4214201"/>
            <a:ext cx="2963027" cy="55399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Gill Sans"/>
              <a:buNone/>
            </a:pPr>
            <a:r>
              <a:rPr b="1" i="0" lang="en-US" sz="1500" u="none" cap="none" strike="noStrik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Recall example of Mean we computed earlier…</a:t>
            </a:r>
            <a:endParaRPr b="1" i="0" sz="1500" u="none" cap="none" strike="noStrike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lang="en-US"/>
              <a:t>Variance and Standard Deviation</a:t>
            </a:r>
            <a:endParaRPr/>
          </a:p>
        </p:txBody>
      </p:sp>
      <p:sp>
        <p:nvSpPr>
          <p:cNvPr id="216" name="Google Shape;216;p15"/>
          <p:cNvSpPr txBox="1"/>
          <p:nvPr>
            <p:ph idx="1" type="body"/>
          </p:nvPr>
        </p:nvSpPr>
        <p:spPr>
          <a:xfrm>
            <a:off x="638055" y="1377420"/>
            <a:ext cx="7543800" cy="3392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b="1" lang="en-US"/>
              <a:t>Variance</a:t>
            </a:r>
            <a:endParaRPr b="1"/>
          </a:p>
          <a:p>
            <a:pPr indent="-213359" lvl="1" marL="584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Font typeface="Gill Sans"/>
              <a:buNone/>
            </a:pPr>
            <a:r>
              <a:t/>
            </a:r>
            <a:endParaRPr b="1"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b="1"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b="1"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b="1"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b="1"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Char char=""/>
            </a:pPr>
            <a:r>
              <a:rPr b="1" lang="en-US"/>
              <a:t>Standard Deviation</a:t>
            </a:r>
            <a:endParaRPr b="1"/>
          </a:p>
          <a:p>
            <a:pPr indent="-158496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217" name="Google Shape;217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15"/>
          <p:cNvGrpSpPr/>
          <p:nvPr/>
        </p:nvGrpSpPr>
        <p:grpSpPr>
          <a:xfrm>
            <a:off x="1329849" y="4984777"/>
            <a:ext cx="5732045" cy="495803"/>
            <a:chOff x="1796281" y="2771246"/>
            <a:chExt cx="7642726" cy="661071"/>
          </a:xfrm>
        </p:grpSpPr>
        <p:pic>
          <p:nvPicPr>
            <p:cNvPr id="219" name="Google Shape;21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96281" y="2870342"/>
              <a:ext cx="6305550" cy="561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62657" y="2771246"/>
              <a:ext cx="1276350" cy="628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15"/>
          <p:cNvSpPr txBox="1"/>
          <p:nvPr/>
        </p:nvSpPr>
        <p:spPr>
          <a:xfrm>
            <a:off x="1841479" y="1991860"/>
            <a:ext cx="2568476" cy="6152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46" l="-195" r="-177" t="-803"/>
            </a:stretch>
          </a:blip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b="0" i="0" lang="en-US" sz="1800" u="none" cap="none" strike="noStrik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22" name="Google Shape;222;p15"/>
          <p:cNvSpPr txBox="1"/>
          <p:nvPr/>
        </p:nvSpPr>
        <p:spPr>
          <a:xfrm>
            <a:off x="1841479" y="2612540"/>
            <a:ext cx="2568476" cy="6152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700" l="-195" r="-177" t="-849"/>
            </a:stretch>
          </a:blip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None/>
            </a:pPr>
            <a:r>
              <a:rPr b="0" i="0" lang="en-US" sz="1800" u="none" cap="none" strike="noStrik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pic>
        <p:nvPicPr>
          <p:cNvPr id="223" name="Google Shape;2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1480" y="3398110"/>
            <a:ext cx="319325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5433" y="3885445"/>
            <a:ext cx="771525" cy="20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59105" y="4514523"/>
            <a:ext cx="1614488" cy="257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5"/>
          <p:cNvGrpSpPr/>
          <p:nvPr/>
        </p:nvGrpSpPr>
        <p:grpSpPr>
          <a:xfrm>
            <a:off x="1649644" y="4985029"/>
            <a:ext cx="3955597" cy="294035"/>
            <a:chOff x="2199525" y="5503704"/>
            <a:chExt cx="5274129" cy="392047"/>
          </a:xfrm>
        </p:grpSpPr>
        <p:sp>
          <p:nvSpPr>
            <p:cNvPr id="227" name="Google Shape;227;p15"/>
            <p:cNvSpPr/>
            <p:nvPr/>
          </p:nvSpPr>
          <p:spPr>
            <a:xfrm>
              <a:off x="2199525" y="5503704"/>
              <a:ext cx="364534" cy="379747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7109120" y="5516004"/>
              <a:ext cx="364534" cy="379747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Gill Sans"/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229" name="Google Shape;229;p15"/>
          <p:cNvCxnSpPr>
            <a:stCxn id="230" idx="2"/>
            <a:endCxn id="228" idx="0"/>
          </p:cNvCxnSpPr>
          <p:nvPr/>
        </p:nvCxnSpPr>
        <p:spPr>
          <a:xfrm flipH="1">
            <a:off x="5468626" y="4824805"/>
            <a:ext cx="553200" cy="169500"/>
          </a:xfrm>
          <a:prstGeom prst="straightConnector1">
            <a:avLst/>
          </a:prstGeom>
          <a:noFill/>
          <a:ln cap="flat" cmpd="sng" w="9525">
            <a:solidFill>
              <a:srgbClr val="6D78A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31" name="Google Shape;231;p15"/>
          <p:cNvGrpSpPr/>
          <p:nvPr/>
        </p:nvGrpSpPr>
        <p:grpSpPr>
          <a:xfrm>
            <a:off x="1786426" y="4109224"/>
            <a:ext cx="5652309" cy="875781"/>
            <a:chOff x="2121952" y="4622603"/>
            <a:chExt cx="7536412" cy="1167708"/>
          </a:xfrm>
        </p:grpSpPr>
        <p:sp>
          <p:nvSpPr>
            <p:cNvPr id="230" name="Google Shape;230;p15"/>
            <p:cNvSpPr txBox="1"/>
            <p:nvPr/>
          </p:nvSpPr>
          <p:spPr>
            <a:xfrm>
              <a:off x="5879940" y="4622603"/>
              <a:ext cx="3778423" cy="954108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50"/>
                <a:buFont typeface="Gill Sans"/>
                <a:buNone/>
              </a:pPr>
              <a:r>
                <a:rPr b="1" i="0" lang="en-US" sz="135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How many standard deviations away are these data points from mean?</a:t>
              </a:r>
              <a:endParaRPr b="1" i="0" sz="135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32" name="Google Shape;232;p15"/>
            <p:cNvCxnSpPr>
              <a:stCxn id="230" idx="2"/>
              <a:endCxn id="227" idx="0"/>
            </p:cNvCxnSpPr>
            <p:nvPr/>
          </p:nvCxnSpPr>
          <p:spPr>
            <a:xfrm flipH="1">
              <a:off x="2121952" y="5576711"/>
              <a:ext cx="5647200" cy="213600"/>
            </a:xfrm>
            <a:prstGeom prst="straightConnector1">
              <a:avLst/>
            </a:prstGeom>
            <a:noFill/>
            <a:ln cap="flat" cmpd="sng" w="9525">
              <a:solidFill>
                <a:srgbClr val="6D78A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ransition>
    <p:zoom dir="ou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2024-09-24T10:33:00Z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024984A1B4BF46FE81B7616FBEEF383F_12</vt:lpwstr>
  </property>
  <property fmtid="{D5CDD505-2E9C-101B-9397-08002B2CF9AE}" pid="3" name="KSOProductBuildVer">
    <vt:lpwstr>1033-12.2.0.18607</vt:lpwstr>
  </property>
</Properties>
</file>