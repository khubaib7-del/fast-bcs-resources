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7"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embeddedFontLst>
    <p:embeddedFont>
      <p:font typeface="Roboto" panose="02000000000000000000" pitchFamily="2" charset="0"/>
      <p:regular r:id="rId34"/>
      <p:bold r:id="rId35"/>
      <p:italic r:id="rId36"/>
      <p:boldItalic r:id="rId37"/>
    </p:embeddedFont>
    <p:embeddedFont>
      <p:font typeface="Times" panose="02020603050405020304" pitchFamily="18"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orient="horz" pos="4176">
          <p15:clr>
            <a:srgbClr val="000000"/>
          </p15:clr>
        </p15:guide>
        <p15:guide id="3" orient="horz" pos="1008">
          <p15:clr>
            <a:srgbClr val="000000"/>
          </p15:clr>
        </p15:guide>
        <p15:guide id="4" pos="2880">
          <p15:clr>
            <a:srgbClr val="000000"/>
          </p15:clr>
        </p15:guide>
        <p15:guide id="5" pos="288">
          <p15:clr>
            <a:srgbClr val="000000"/>
          </p15:clr>
        </p15:guide>
        <p15:guide id="6" pos="5472">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g2WriFVlwqjxb/PtSd9WKn5pt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1596" y="66"/>
      </p:cViewPr>
      <p:guideLst>
        <p:guide orient="horz" pos="2160"/>
        <p:guide orient="horz" pos="4176"/>
        <p:guide orient="horz" pos="1008"/>
        <p:guide pos="2880"/>
        <p:guide pos="288"/>
        <p:guide pos="54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a:buNone/>
            </a:pPr>
            <a:fld id="{00000000-1234-1234-1234-123412341234}" type="slidenum">
              <a:rPr lang="en-US" sz="1200" b="0" i="0" u="none" strike="noStrike" cap="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200"/>
                <a:buFont typeface="Times"/>
                <a:buNone/>
              </a:p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046745e4e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046745e4e5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g3046745e4e5_0_0: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a:buNone/>
            </a:pPr>
            <a:fld id="{00000000-1234-1234-1234-123412341234}" type="slidenum">
              <a:rPr lang="en-US"/>
              <a:pPr marL="0" lvl="0" indent="0" algn="r" rtl="0">
                <a:spcBef>
                  <a:spcPts val="0"/>
                </a:spcBef>
                <a:spcAft>
                  <a:spcPts val="0"/>
                </a:spcAft>
                <a:buClr>
                  <a:srgbClr val="000000"/>
                </a:buClr>
                <a:buSzPts val="1200"/>
                <a:buFont typeface="Times"/>
                <a:buNone/>
              </a:pPr>
              <a:t>1</a:t>
            </a:fld>
            <a:endParaRPr sz="1400">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 name="Google Shape;6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 name="Google Shape;77;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 name="Google Shape;159;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 name="Google Shape;167;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 name="Google Shape;217;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2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46745e4e5_2_2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g3046745e4e5_2_21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3046745e4e5_2_213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046745e4e5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046745e4e5_0_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g3046745e4e5_0_11: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a:buNone/>
            </a:pPr>
            <a:fld id="{00000000-1234-1234-1234-123412341234}" type="slidenum">
              <a:rPr lang="en-US"/>
              <a:pPr marL="0" lvl="0" indent="0" algn="r" rtl="0">
                <a:spcBef>
                  <a:spcPts val="0"/>
                </a:spcBef>
                <a:spcAft>
                  <a:spcPts val="0"/>
                </a:spcAft>
                <a:buClr>
                  <a:srgbClr val="000000"/>
                </a:buClr>
                <a:buSzPts val="1200"/>
                <a:buFont typeface="Times"/>
                <a:buNone/>
              </a:pPr>
              <a:t>22</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0" name="Google Shape;280;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9" name="Google Shape;299;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n-US" sz="2400" b="0" i="0" u="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2400"/>
                <a:buFont typeface="Arial"/>
                <a:buNone/>
              </a:pPr>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3046745e4e5_2_2083"/>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g3046745e4e5_2_2083"/>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g3046745e4e5_2_208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3046745e4e5_2_2087"/>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g3046745e4e5_2_208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g3046745e4e5_2_209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g3046745e4e5_2_209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g3046745e4e5_2_209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g3046745e4e5_2_209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g3046745e4e5_2_2094"/>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g3046745e4e5_2_2094"/>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g3046745e4e5_2_20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g3046745e4e5_2_209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g3046745e4e5_2_209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g3046745e4e5_2_2102"/>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g3046745e4e5_2_2102"/>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g3046745e4e5_2_210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3046745e4e5_2_2106"/>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8" name="Google Shape;38;g3046745e4e5_2_210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3046745e4e5_2_210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g3046745e4e5_2_210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g3046745e4e5_2_2109"/>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3046745e4e5_2_2109"/>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4" name="Google Shape;44;g3046745e4e5_2_210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g3046745e4e5_2_2115"/>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7" name="Google Shape;47;g3046745e4e5_2_211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g3046745e4e5_2_2118"/>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046745e4e5_2_2118"/>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1" name="Google Shape;51;g3046745e4e5_2_21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3046745e4e5_2_21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g3046745e4e5_2_21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56" name="Google Shape;56;g3046745e4e5_2_2124"/>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7" name="Google Shape;57;g3046745e4e5_2_21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3046745e4e5_2_21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g3046745e4e5_2_21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3046745e4e5_2_2079"/>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 name="Google Shape;11;g3046745e4e5_2_2079"/>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2" name="Google Shape;12;g3046745e4e5_2_207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g3046745e4e5_0_0"/>
          <p:cNvSpPr txBox="1">
            <a:spLocks noGrp="1"/>
          </p:cNvSpPr>
          <p:nvPr>
            <p:ph type="title"/>
          </p:nvPr>
        </p:nvSpPr>
        <p:spPr>
          <a:xfrm>
            <a:off x="457200" y="2286012"/>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IICT-Lecture 5</a:t>
            </a:r>
            <a:endParaRPr/>
          </a:p>
          <a:p>
            <a:pPr marL="0" lvl="0" indent="0" algn="ctr" rtl="0">
              <a:spcBef>
                <a:spcPts val="0"/>
              </a:spcBef>
              <a:spcAft>
                <a:spcPts val="0"/>
              </a:spcAft>
              <a:buNone/>
            </a:pPr>
            <a:r>
              <a:rPr lang="en-US"/>
              <a:t>Operating System</a:t>
            </a:r>
            <a:endParaRPr/>
          </a:p>
        </p:txBody>
      </p:sp>
      <p:sp>
        <p:nvSpPr>
          <p:cNvPr id="66" name="Google Shape;66;g3046745e4e5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1200"/>
              <a:buFont typeface="Arial"/>
              <a:buNone/>
            </a:pPr>
            <a:fld id="{00000000-1234-1234-1234-123412341234}" type="slidenum">
              <a:rPr lang="en-US"/>
              <a:pPr marL="0" lvl="0" indent="0" algn="r" rtl="0">
                <a:spcBef>
                  <a:spcPts val="0"/>
                </a:spcBef>
                <a:spcAft>
                  <a:spcPts val="0"/>
                </a:spcAft>
                <a:buClr>
                  <a:srgbClr val="898989"/>
                </a:buClr>
                <a:buSzPts val="1200"/>
                <a:buFont typeface="Arial"/>
                <a:buNone/>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dirty="0">
                <a:latin typeface="Calibri" pitchFamily="34" charset="0"/>
                <a:ea typeface="Calibri" pitchFamily="34" charset="0"/>
                <a:cs typeface="Calibri" pitchFamily="34" charset="0"/>
              </a:rPr>
              <a:t>Lecture</a:t>
            </a:r>
            <a:r>
              <a:rPr lang="en-US" sz="4400" b="0" i="0" u="none" dirty="0">
                <a:solidFill>
                  <a:schemeClr val="dk1"/>
                </a:solidFill>
                <a:latin typeface="Calibri" pitchFamily="34" charset="0"/>
                <a:ea typeface="Calibri" pitchFamily="34" charset="0"/>
                <a:cs typeface="Calibri" pitchFamily="34" charset="0"/>
                <a:sym typeface="Calibri"/>
              </a:rPr>
              <a:t> Goals</a:t>
            </a:r>
            <a:endParaRPr sz="4400">
              <a:latin typeface="Calibri" pitchFamily="34" charset="0"/>
              <a:ea typeface="Calibri" pitchFamily="34" charset="0"/>
              <a:cs typeface="Calibri" pitchFamily="34" charset="0"/>
            </a:endParaRPr>
          </a:p>
        </p:txBody>
      </p:sp>
      <p:sp>
        <p:nvSpPr>
          <p:cNvPr id="73" name="Google Shape;73;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Describe the two main </a:t>
            </a:r>
            <a:r>
              <a:rPr lang="en-US" sz="2800" b="0" i="0" u="none" strike="noStrike" cap="none" dirty="0">
                <a:solidFill>
                  <a:srgbClr val="FF6600"/>
                </a:solidFill>
                <a:latin typeface="Calibri"/>
                <a:ea typeface="Calibri"/>
                <a:cs typeface="Calibri"/>
                <a:sym typeface="Calibri"/>
              </a:rPr>
              <a:t>responsibilities </a:t>
            </a:r>
            <a:r>
              <a:rPr lang="en-US" sz="2800" b="0" i="0" u="none" strike="noStrike" cap="none" dirty="0">
                <a:solidFill>
                  <a:schemeClr val="dk1"/>
                </a:solidFill>
                <a:latin typeface="Calibri"/>
                <a:ea typeface="Calibri"/>
                <a:cs typeface="Calibri"/>
                <a:sym typeface="Calibri"/>
              </a:rPr>
              <a:t>of an operating system</a:t>
            </a:r>
            <a:endParaRPr/>
          </a:p>
          <a:p>
            <a:pPr marL="342900" marR="0" lvl="0" indent="-342900" algn="l" rtl="0">
              <a:lnSpc>
                <a:spcPct val="9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Define </a:t>
            </a:r>
            <a:r>
              <a:rPr lang="en-US" sz="2800" b="0" i="0" u="none" strike="noStrike" cap="none" dirty="0">
                <a:solidFill>
                  <a:srgbClr val="FF6600"/>
                </a:solidFill>
                <a:latin typeface="Calibri"/>
                <a:ea typeface="Calibri"/>
                <a:cs typeface="Calibri"/>
                <a:sym typeface="Calibri"/>
              </a:rPr>
              <a:t>memory </a:t>
            </a:r>
            <a:r>
              <a:rPr lang="en-US" sz="2800" b="0" i="0" u="none" strike="noStrike" cap="none" dirty="0">
                <a:solidFill>
                  <a:schemeClr val="dk1"/>
                </a:solidFill>
                <a:latin typeface="Calibri"/>
                <a:ea typeface="Calibri"/>
                <a:cs typeface="Calibri"/>
                <a:sym typeface="Calibri"/>
              </a:rPr>
              <a:t>and </a:t>
            </a:r>
            <a:r>
              <a:rPr lang="en-US" sz="2800" b="0" i="0" u="none" strike="noStrike" cap="none" dirty="0">
                <a:solidFill>
                  <a:srgbClr val="FF6600"/>
                </a:solidFill>
                <a:latin typeface="Calibri"/>
                <a:ea typeface="Calibri"/>
                <a:cs typeface="Calibri"/>
                <a:sym typeface="Calibri"/>
              </a:rPr>
              <a:t>process </a:t>
            </a:r>
            <a:r>
              <a:rPr lang="en-US" sz="2800" b="0" i="0" u="none" strike="noStrike" cap="none" dirty="0">
                <a:solidFill>
                  <a:schemeClr val="dk1"/>
                </a:solidFill>
                <a:latin typeface="Calibri"/>
                <a:ea typeface="Calibri"/>
                <a:cs typeface="Calibri"/>
                <a:sym typeface="Calibri"/>
              </a:rPr>
              <a:t>management</a:t>
            </a:r>
            <a:endParaRPr/>
          </a:p>
          <a:p>
            <a:pPr marL="342900" lvl="0" indent="-406400" algn="l" rtl="0">
              <a:spcBef>
                <a:spcPts val="0"/>
              </a:spcBef>
              <a:spcAft>
                <a:spcPts val="0"/>
              </a:spcAft>
              <a:buSzPts val="2800"/>
              <a:buChar char="•"/>
            </a:pPr>
            <a:r>
              <a:rPr lang="en-US" sz="2800" dirty="0"/>
              <a:t>Distinguish between </a:t>
            </a:r>
            <a:r>
              <a:rPr lang="en-US" sz="2800" dirty="0">
                <a:solidFill>
                  <a:srgbClr val="FF6600"/>
                </a:solidFill>
              </a:rPr>
              <a:t>fixed </a:t>
            </a:r>
            <a:r>
              <a:rPr lang="en-US" sz="2800" dirty="0"/>
              <a:t>and </a:t>
            </a:r>
            <a:r>
              <a:rPr lang="en-US" sz="2800" dirty="0">
                <a:solidFill>
                  <a:srgbClr val="FF6600"/>
                </a:solidFill>
              </a:rPr>
              <a:t>dynamic</a:t>
            </a:r>
            <a:r>
              <a:rPr lang="en-US" sz="2800" dirty="0">
                <a:solidFill>
                  <a:schemeClr val="hlink"/>
                </a:solidFill>
              </a:rPr>
              <a:t> </a:t>
            </a:r>
            <a:r>
              <a:rPr lang="en-US" sz="2800" dirty="0">
                <a:solidFill>
                  <a:srgbClr val="FF6600"/>
                </a:solidFill>
              </a:rPr>
              <a:t>partitions</a:t>
            </a:r>
            <a:endParaRPr/>
          </a:p>
          <a:p>
            <a:pPr marL="342900" lvl="0" indent="-406400" algn="l" rtl="0">
              <a:spcBef>
                <a:spcPts val="560"/>
              </a:spcBef>
              <a:spcAft>
                <a:spcPts val="0"/>
              </a:spcAft>
              <a:buSzPts val="2800"/>
              <a:buChar char="•"/>
            </a:pPr>
            <a:r>
              <a:rPr lang="en-US" sz="2800" dirty="0"/>
              <a:t>Explain the stages and transitions of the </a:t>
            </a:r>
            <a:r>
              <a:rPr lang="en-US" sz="2800" dirty="0">
                <a:solidFill>
                  <a:srgbClr val="FF6600"/>
                </a:solidFill>
              </a:rPr>
              <a:t>process</a:t>
            </a:r>
            <a:r>
              <a:rPr lang="en-US" sz="2800" dirty="0">
                <a:solidFill>
                  <a:schemeClr val="hlink"/>
                </a:solidFill>
              </a:rPr>
              <a:t> </a:t>
            </a:r>
            <a:r>
              <a:rPr lang="en-US" sz="2800" dirty="0">
                <a:solidFill>
                  <a:srgbClr val="FF6600"/>
                </a:solidFill>
              </a:rPr>
              <a:t>life</a:t>
            </a:r>
            <a:r>
              <a:rPr lang="en-US" sz="2800" dirty="0">
                <a:solidFill>
                  <a:schemeClr val="hlink"/>
                </a:solidFill>
              </a:rPr>
              <a:t> </a:t>
            </a:r>
            <a:r>
              <a:rPr lang="en-US" sz="2800" dirty="0">
                <a:solidFill>
                  <a:srgbClr val="FF6600"/>
                </a:solidFill>
              </a:rPr>
              <a:t>cycle</a:t>
            </a:r>
            <a:endParaRPr/>
          </a:p>
          <a:p>
            <a:pPr marL="342900" lvl="0" indent="-406400" algn="l" rtl="0">
              <a:spcBef>
                <a:spcPts val="560"/>
              </a:spcBef>
              <a:spcAft>
                <a:spcPts val="0"/>
              </a:spcAft>
              <a:buSzPts val="2800"/>
              <a:buChar char="•"/>
            </a:pPr>
            <a:r>
              <a:rPr lang="en-US" sz="2800" dirty="0"/>
              <a:t>Explain the processing of various CPU </a:t>
            </a:r>
            <a:r>
              <a:rPr lang="en-US" sz="2800" dirty="0">
                <a:solidFill>
                  <a:srgbClr val="FF6600"/>
                </a:solidFill>
              </a:rPr>
              <a:t>scheduling</a:t>
            </a:r>
            <a:r>
              <a:rPr lang="en-US" sz="2800" dirty="0">
                <a:solidFill>
                  <a:schemeClr val="hlink"/>
                </a:solidFill>
              </a:rPr>
              <a:t> </a:t>
            </a:r>
            <a:r>
              <a:rPr lang="en-US" sz="2800" dirty="0"/>
              <a:t>algorithms</a:t>
            </a:r>
            <a:endParaRPr sz="2800">
              <a:solidFill>
                <a:srgbClr val="FF6600"/>
              </a:solidFill>
            </a:endParaRPr>
          </a:p>
        </p:txBody>
      </p:sp>
      <p:sp>
        <p:nvSpPr>
          <p:cNvPr id="74" name="Google Shape;74;p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Software Categories</a:t>
            </a:r>
            <a:endParaRPr/>
          </a:p>
        </p:txBody>
      </p:sp>
      <p:sp>
        <p:nvSpPr>
          <p:cNvPr id="81" name="Google Shape;81;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63500" marR="0" lvl="0" indent="0" algn="l" rtl="0">
              <a:lnSpc>
                <a:spcPct val="100000"/>
              </a:lnSpc>
              <a:spcBef>
                <a:spcPts val="0"/>
              </a:spcBef>
              <a:spcAft>
                <a:spcPts val="0"/>
              </a:spcAft>
              <a:buClr>
                <a:srgbClr val="FF6600"/>
              </a:buClr>
              <a:buSzPts val="3200"/>
              <a:buFont typeface="Arial"/>
              <a:buNone/>
            </a:pPr>
            <a:r>
              <a:rPr lang="en-US" sz="3200" b="1" i="0" u="none" strike="noStrike" cap="none">
                <a:solidFill>
                  <a:srgbClr val="FF6600"/>
                </a:solidFill>
                <a:latin typeface="Calibri"/>
                <a:ea typeface="Calibri"/>
                <a:cs typeface="Calibri"/>
                <a:sym typeface="Calibri"/>
              </a:rPr>
              <a:t>Application software</a:t>
            </a:r>
            <a:r>
              <a:rPr lang="en-US" sz="3200" b="0" i="0" u="none" strike="noStrike" cap="none">
                <a:solidFill>
                  <a:srgbClr val="FF6600"/>
                </a:solidFill>
                <a:latin typeface="Calibri"/>
                <a:ea typeface="Calibri"/>
                <a:cs typeface="Calibri"/>
                <a:sym typeface="Calibri"/>
              </a:rPr>
              <a:t>   </a:t>
            </a:r>
            <a:endParaRPr/>
          </a:p>
          <a:p>
            <a:pPr marL="63500" marR="0" lvl="0" indent="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Software written to address specific needs—to solve problems in the real world</a:t>
            </a:r>
            <a:endParaRPr/>
          </a:p>
          <a:p>
            <a:pPr marL="63500" marR="0" lvl="0" indent="0" algn="l" rtl="0">
              <a:lnSpc>
                <a:spcPct val="100000"/>
              </a:lnSpc>
              <a:spcBef>
                <a:spcPts val="640"/>
              </a:spcBef>
              <a:spcAft>
                <a:spcPts val="0"/>
              </a:spcAft>
              <a:buClr>
                <a:srgbClr val="FF6600"/>
              </a:buClr>
              <a:buSzPts val="3200"/>
              <a:buFont typeface="Arial"/>
              <a:buNone/>
            </a:pPr>
            <a:r>
              <a:rPr lang="en-US" sz="3200" b="1" i="0" u="none" strike="noStrike" cap="none">
                <a:solidFill>
                  <a:srgbClr val="FF6600"/>
                </a:solidFill>
                <a:latin typeface="Calibri"/>
                <a:ea typeface="Calibri"/>
                <a:cs typeface="Calibri"/>
                <a:sym typeface="Calibri"/>
              </a:rPr>
              <a:t>System software</a:t>
            </a:r>
            <a:r>
              <a:rPr lang="en-US" sz="3200" b="0" i="0" u="none" strike="noStrike" cap="none">
                <a:solidFill>
                  <a:srgbClr val="FF6600"/>
                </a:solidFill>
                <a:latin typeface="Calibri"/>
                <a:ea typeface="Calibri"/>
                <a:cs typeface="Calibri"/>
                <a:sym typeface="Calibri"/>
              </a:rPr>
              <a:t>  </a:t>
            </a:r>
            <a:endParaRPr/>
          </a:p>
          <a:p>
            <a:pPr marL="63500" marR="0" lvl="0" indent="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Software that manages a computer system at a fundamental level</a:t>
            </a:r>
            <a:endParaRPr sz="3600" b="0" i="0" u="none" strike="noStrike" cap="none">
              <a:solidFill>
                <a:schemeClr val="dk1"/>
              </a:solidFill>
              <a:latin typeface="Calibri"/>
              <a:ea typeface="Calibri"/>
              <a:cs typeface="Calibri"/>
              <a:sym typeface="Calibri"/>
            </a:endParaRPr>
          </a:p>
          <a:p>
            <a:pPr marL="742950" marR="0" lvl="1" indent="-285750" algn="l" rtl="0">
              <a:lnSpc>
                <a:spcPct val="100000"/>
              </a:lnSpc>
              <a:spcBef>
                <a:spcPts val="560"/>
              </a:spcBef>
              <a:spcAft>
                <a:spcPts val="0"/>
              </a:spcAft>
              <a:buClr>
                <a:schemeClr val="dk1"/>
              </a:buClr>
              <a:buSzPts val="2800"/>
              <a:buFont typeface="Arial"/>
              <a:buNone/>
            </a:pPr>
            <a:r>
              <a:rPr lang="en-US" sz="2800" b="0" i="0" u="none" strike="noStrike" cap="none">
                <a:solidFill>
                  <a:schemeClr val="dk1"/>
                </a:solidFill>
                <a:latin typeface="Calibri"/>
                <a:ea typeface="Calibri"/>
                <a:cs typeface="Calibri"/>
                <a:sym typeface="Calibri"/>
              </a:rPr>
              <a:t>	</a:t>
            </a:r>
            <a:endParaRPr/>
          </a:p>
        </p:txBody>
      </p:sp>
      <p:sp>
        <p:nvSpPr>
          <p:cNvPr id="82" name="Google Shape;82;p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Roles of an Operating System</a:t>
            </a:r>
            <a:endParaRPr/>
          </a:p>
        </p:txBody>
      </p:sp>
      <p:sp>
        <p:nvSpPr>
          <p:cNvPr id="89" name="Google Shape;89;p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6600"/>
              </a:buClr>
              <a:buSzPts val="3200"/>
              <a:buFont typeface="Arial"/>
              <a:buNone/>
            </a:pPr>
            <a:r>
              <a:rPr lang="en-US" sz="3200" b="1" i="0" u="none" strike="noStrike" cap="none">
                <a:solidFill>
                  <a:srgbClr val="FF6600"/>
                </a:solidFill>
                <a:latin typeface="Calibri"/>
                <a:ea typeface="Calibri"/>
                <a:cs typeface="Calibri"/>
                <a:sym typeface="Calibri"/>
              </a:rPr>
              <a:t>Operating system</a:t>
            </a:r>
            <a:r>
              <a:rPr lang="en-US" sz="3200" b="0" i="0" u="none" strike="noStrike" cap="none">
                <a:solidFill>
                  <a:srgbClr val="FF6600"/>
                </a:solidFill>
                <a:latin typeface="Calibri"/>
                <a:ea typeface="Calibri"/>
                <a:cs typeface="Calibri"/>
                <a:sym typeface="Calibri"/>
              </a:rPr>
              <a:t>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System software that</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1" i="0" u="none" strike="noStrike" cap="none">
                <a:solidFill>
                  <a:schemeClr val="dk1"/>
                </a:solidFill>
                <a:latin typeface="Calibri"/>
                <a:ea typeface="Calibri"/>
                <a:cs typeface="Calibri"/>
                <a:sym typeface="Calibri"/>
              </a:rPr>
              <a:t>manages</a:t>
            </a:r>
            <a:r>
              <a:rPr lang="en-US" sz="2800" b="0" i="0" u="none" strike="noStrike" cap="none">
                <a:solidFill>
                  <a:schemeClr val="dk1"/>
                </a:solidFill>
                <a:latin typeface="Calibri"/>
                <a:ea typeface="Calibri"/>
                <a:cs typeface="Calibri"/>
                <a:sym typeface="Calibri"/>
              </a:rPr>
              <a:t> computer resources, such as CPU, memory and input/output devices</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1" i="0" u="none" strike="noStrike" cap="none">
                <a:solidFill>
                  <a:schemeClr val="dk1"/>
                </a:solidFill>
                <a:latin typeface="Calibri"/>
                <a:ea typeface="Calibri"/>
                <a:cs typeface="Calibri"/>
                <a:sym typeface="Calibri"/>
              </a:rPr>
              <a:t>provides</a:t>
            </a:r>
            <a:r>
              <a:rPr lang="en-US" sz="2800" b="0" i="0" u="none" strike="noStrike" cap="none">
                <a:solidFill>
                  <a:schemeClr val="dk1"/>
                </a:solidFill>
                <a:latin typeface="Calibri"/>
                <a:ea typeface="Calibri"/>
                <a:cs typeface="Calibri"/>
                <a:sym typeface="Calibri"/>
              </a:rPr>
              <a:t> an interface through which a human can interact with the computer</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1" i="0" u="none" strike="noStrike" cap="none">
                <a:solidFill>
                  <a:schemeClr val="dk1"/>
                </a:solidFill>
                <a:latin typeface="Calibri"/>
                <a:ea typeface="Calibri"/>
                <a:cs typeface="Calibri"/>
                <a:sym typeface="Calibri"/>
              </a:rPr>
              <a:t>allows</a:t>
            </a:r>
            <a:r>
              <a:rPr lang="en-US" sz="2800" b="0" i="0" u="none" strike="noStrike" cap="none">
                <a:solidFill>
                  <a:schemeClr val="dk1"/>
                </a:solidFill>
                <a:latin typeface="Calibri"/>
                <a:ea typeface="Calibri"/>
                <a:cs typeface="Calibri"/>
                <a:sym typeface="Calibri"/>
              </a:rPr>
              <a:t> an application program to interact with these other system resources</a:t>
            </a:r>
            <a:endParaRPr/>
          </a:p>
        </p:txBody>
      </p:sp>
      <p:sp>
        <p:nvSpPr>
          <p:cNvPr id="90" name="Google Shape;90;p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752475" y="152400"/>
            <a:ext cx="7543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Roles of an Operating System</a:t>
            </a:r>
            <a:endParaRPr/>
          </a:p>
        </p:txBody>
      </p:sp>
      <p:sp>
        <p:nvSpPr>
          <p:cNvPr id="97" name="Google Shape;97;p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5</a:t>
            </a:fld>
            <a:endParaRPr/>
          </a:p>
        </p:txBody>
      </p:sp>
      <p:sp>
        <p:nvSpPr>
          <p:cNvPr id="98" name="Google Shape;98;p5"/>
          <p:cNvSpPr txBox="1"/>
          <p:nvPr/>
        </p:nvSpPr>
        <p:spPr>
          <a:xfrm>
            <a:off x="4800600" y="2743200"/>
            <a:ext cx="2362200" cy="1371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0" i="1" u="none" strike="noStrike" cap="none">
                <a:solidFill>
                  <a:schemeClr val="dk1"/>
                </a:solidFill>
                <a:latin typeface="Arial"/>
                <a:ea typeface="Arial"/>
                <a:cs typeface="Arial"/>
                <a:sym typeface="Arial"/>
              </a:rPr>
              <a:t>What operating</a:t>
            </a:r>
            <a:endParaRPr/>
          </a:p>
          <a:p>
            <a:pPr marL="0" marR="0" lvl="0" indent="0" algn="ctr" rtl="0">
              <a:lnSpc>
                <a:spcPct val="100000"/>
              </a:lnSpc>
              <a:spcBef>
                <a:spcPts val="0"/>
              </a:spcBef>
              <a:spcAft>
                <a:spcPts val="0"/>
              </a:spcAft>
              <a:buClr>
                <a:schemeClr val="dk1"/>
              </a:buClr>
              <a:buSzPts val="2400"/>
              <a:buFont typeface="Arial"/>
              <a:buNone/>
            </a:pPr>
            <a:r>
              <a:rPr lang="en-US" sz="2400" b="0" i="1" u="none" strike="noStrike" cap="none">
                <a:solidFill>
                  <a:schemeClr val="dk1"/>
                </a:solidFill>
                <a:latin typeface="Arial"/>
                <a:ea typeface="Arial"/>
                <a:cs typeface="Arial"/>
                <a:sym typeface="Arial"/>
              </a:rPr>
              <a:t>systems have </a:t>
            </a:r>
            <a:endParaRPr/>
          </a:p>
          <a:p>
            <a:pPr marL="0" marR="0" lvl="0" indent="0" algn="ctr" rtl="0">
              <a:lnSpc>
                <a:spcPct val="100000"/>
              </a:lnSpc>
              <a:spcBef>
                <a:spcPts val="0"/>
              </a:spcBef>
              <a:spcAft>
                <a:spcPts val="0"/>
              </a:spcAft>
              <a:buClr>
                <a:schemeClr val="dk1"/>
              </a:buClr>
              <a:buSzPts val="2400"/>
              <a:buFont typeface="Arial"/>
              <a:buNone/>
            </a:pPr>
            <a:r>
              <a:rPr lang="en-US" sz="2400" b="0" i="1" u="none" strike="noStrike" cap="none">
                <a:solidFill>
                  <a:schemeClr val="dk1"/>
                </a:solidFill>
                <a:latin typeface="Arial"/>
                <a:ea typeface="Arial"/>
                <a:cs typeface="Arial"/>
                <a:sym typeface="Arial"/>
              </a:rPr>
              <a:t>you used?</a:t>
            </a:r>
            <a:endParaRPr/>
          </a:p>
        </p:txBody>
      </p:sp>
      <p:pic>
        <p:nvPicPr>
          <p:cNvPr id="99" name="Google Shape;99;p5"/>
          <p:cNvPicPr preferRelativeResize="0"/>
          <p:nvPr/>
        </p:nvPicPr>
        <p:blipFill rotWithShape="1">
          <a:blip r:embed="rId3">
            <a:alphaModFix/>
          </a:blip>
          <a:srcRect/>
          <a:stretch/>
        </p:blipFill>
        <p:spPr>
          <a:xfrm>
            <a:off x="1219200" y="1219200"/>
            <a:ext cx="2924175" cy="5019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Roles of an Operating System</a:t>
            </a:r>
            <a:endParaRPr/>
          </a:p>
        </p:txBody>
      </p:sp>
      <p:sp>
        <p:nvSpPr>
          <p:cNvPr id="106" name="Google Shape;106;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6600"/>
              </a:buClr>
              <a:buSzPts val="3200"/>
              <a:buFont typeface="Arial"/>
              <a:buNone/>
            </a:pPr>
            <a:r>
              <a:rPr lang="en-US" sz="3200" b="1" i="0" u="none" strike="noStrike" cap="none">
                <a:solidFill>
                  <a:srgbClr val="FF6600"/>
                </a:solidFill>
                <a:latin typeface="Calibri"/>
                <a:ea typeface="Calibri"/>
                <a:cs typeface="Calibri"/>
                <a:sym typeface="Calibri"/>
              </a:rPr>
              <a:t>Booting</a:t>
            </a:r>
            <a:endParaRPr sz="3200" b="0" i="0" u="none" strike="noStrike" cap="none">
              <a:solidFill>
                <a:srgbClr val="FF6600"/>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Hardware is wired to initially load a small set of system instructions stored in ROM</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These instructions load a larger set of instructions from hard disk</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Dual boot – Multiboot</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
        <p:nvSpPr>
          <p:cNvPr id="107" name="Google Shape;107;p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Roles of an Operating System</a:t>
            </a:r>
            <a:endParaRPr/>
          </a:p>
        </p:txBody>
      </p:sp>
      <p:sp>
        <p:nvSpPr>
          <p:cNvPr id="114" name="Google Shape;114;p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The various roles of an operating system generally revolve around the idea of “</a:t>
            </a:r>
            <a:r>
              <a:rPr lang="en-US" sz="3200" b="0" i="0" u="none">
                <a:solidFill>
                  <a:srgbClr val="FF6600"/>
                </a:solidFill>
                <a:latin typeface="Calibri"/>
                <a:ea typeface="Calibri"/>
                <a:cs typeface="Calibri"/>
                <a:sym typeface="Calibri"/>
              </a:rPr>
              <a:t>sharing nicely</a:t>
            </a:r>
            <a:r>
              <a:rPr lang="en-US" sz="3200" b="0" i="0" u="none">
                <a:solidFill>
                  <a:schemeClr val="dk1"/>
                </a:solidFill>
                <a:latin typeface="Calibri"/>
                <a:ea typeface="Calibri"/>
                <a:cs typeface="Calibri"/>
                <a:sym typeface="Calibri"/>
              </a:rPr>
              <a:t>”</a:t>
            </a:r>
            <a:endParaRPr/>
          </a:p>
          <a:p>
            <a:pPr marL="0" marR="0" lvl="0" indent="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An operating system manages resources, and these resources are often shared in one way or another, among programs that want to use them</a:t>
            </a:r>
            <a:endParaRPr/>
          </a:p>
        </p:txBody>
      </p:sp>
      <p:sp>
        <p:nvSpPr>
          <p:cNvPr id="115" name="Google Shape;115;p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Resource Management</a:t>
            </a:r>
            <a:endParaRPr/>
          </a:p>
        </p:txBody>
      </p:sp>
      <p:sp>
        <p:nvSpPr>
          <p:cNvPr id="122" name="Google Shape;122;p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Multiprogramming</a:t>
            </a:r>
            <a:r>
              <a:rPr lang="en-US" sz="2800" b="0" i="0" u="none">
                <a:solidFill>
                  <a:srgbClr val="FF6600"/>
                </a:solidFill>
                <a:latin typeface="Calibri"/>
                <a:ea typeface="Calibri"/>
                <a:cs typeface="Calibri"/>
                <a:sym typeface="Calibri"/>
              </a:rPr>
              <a:t> </a:t>
            </a:r>
            <a:r>
              <a:rPr lang="en-US" sz="2800" b="0" i="0" u="none">
                <a:solidFill>
                  <a:schemeClr val="dk1"/>
                </a:solidFill>
                <a:latin typeface="Calibri"/>
                <a:ea typeface="Calibri"/>
                <a:cs typeface="Calibri"/>
                <a:sym typeface="Calibri"/>
              </a:rPr>
              <a:t> </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  technique of keeping multiple programs that compete for access to the CPU in main memory at the same time so that they can execute</a:t>
            </a:r>
            <a:endParaRPr/>
          </a:p>
          <a:p>
            <a:pPr marL="0" marR="0" lvl="0" indent="0" algn="l" rtl="0">
              <a:lnSpc>
                <a:spcPct val="100000"/>
              </a:lnSpc>
              <a:spcBef>
                <a:spcPts val="56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Memory management  </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 process of keeping track of what programs are in memory and where in memory they reside</a:t>
            </a:r>
            <a:endParaRPr/>
          </a:p>
        </p:txBody>
      </p:sp>
      <p:sp>
        <p:nvSpPr>
          <p:cNvPr id="123" name="Google Shape;123;p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Resource Management</a:t>
            </a:r>
            <a:endParaRPr/>
          </a:p>
        </p:txBody>
      </p:sp>
      <p:sp>
        <p:nvSpPr>
          <p:cNvPr id="130" name="Google Shape;130;p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63500" marR="0" lvl="0" indent="0" algn="l" rtl="0">
              <a:lnSpc>
                <a:spcPct val="90000"/>
              </a:lnSpc>
              <a:spcBef>
                <a:spcPts val="0"/>
              </a:spcBef>
              <a:spcAft>
                <a:spcPts val="0"/>
              </a:spcAft>
              <a:buClr>
                <a:srgbClr val="FF6600"/>
              </a:buClr>
              <a:buSzPts val="2800"/>
              <a:buFont typeface="Arial"/>
              <a:buNone/>
            </a:pPr>
            <a:r>
              <a:rPr lang="en-US" sz="2800" b="1" i="0" u="none" dirty="0">
                <a:solidFill>
                  <a:srgbClr val="FF6600"/>
                </a:solidFill>
                <a:latin typeface="Calibri"/>
                <a:ea typeface="Calibri"/>
                <a:cs typeface="Calibri"/>
                <a:sym typeface="Calibri"/>
              </a:rPr>
              <a:t>Process</a:t>
            </a:r>
            <a:r>
              <a:rPr lang="en-US" sz="2800" b="0" i="0" u="none" dirty="0">
                <a:solidFill>
                  <a:srgbClr val="FF6600"/>
                </a:solidFill>
                <a:latin typeface="Calibri"/>
                <a:ea typeface="Calibri"/>
                <a:cs typeface="Calibri"/>
                <a:sym typeface="Calibri"/>
              </a:rPr>
              <a:t>   </a:t>
            </a:r>
            <a:endParaRPr/>
          </a:p>
          <a:p>
            <a:pPr marL="63500" marR="0" lvl="0" indent="0" algn="l" rtl="0">
              <a:lnSpc>
                <a:spcPct val="9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A program in execution</a:t>
            </a:r>
            <a:endParaRPr/>
          </a:p>
          <a:p>
            <a:pPr marL="63500" marR="0" lvl="0" indent="0" algn="l" rtl="0">
              <a:lnSpc>
                <a:spcPct val="90000"/>
              </a:lnSpc>
              <a:spcBef>
                <a:spcPts val="560"/>
              </a:spcBef>
              <a:spcAft>
                <a:spcPts val="0"/>
              </a:spcAft>
              <a:buClr>
                <a:srgbClr val="FF6600"/>
              </a:buClr>
              <a:buSzPts val="2800"/>
              <a:buFont typeface="Arial"/>
              <a:buNone/>
            </a:pPr>
            <a:r>
              <a:rPr lang="en-US" sz="2800" b="1" i="0" u="none" dirty="0">
                <a:solidFill>
                  <a:srgbClr val="FF6600"/>
                </a:solidFill>
                <a:latin typeface="Calibri"/>
                <a:ea typeface="Calibri"/>
                <a:cs typeface="Calibri"/>
                <a:sym typeface="Calibri"/>
              </a:rPr>
              <a:t>Process management</a:t>
            </a:r>
            <a:endParaRPr/>
          </a:p>
          <a:p>
            <a:pPr marL="63500" marR="0" lvl="0" indent="0" algn="l" rtl="0">
              <a:lnSpc>
                <a:spcPct val="9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The act of carefully tracking the progress of a process and all of its intermediate states</a:t>
            </a:r>
            <a:endParaRPr/>
          </a:p>
          <a:p>
            <a:pPr marL="63500" marR="0" lvl="0" indent="0" algn="l" rtl="0">
              <a:lnSpc>
                <a:spcPct val="90000"/>
              </a:lnSpc>
              <a:spcBef>
                <a:spcPts val="560"/>
              </a:spcBef>
              <a:spcAft>
                <a:spcPts val="0"/>
              </a:spcAft>
              <a:buClr>
                <a:srgbClr val="FF6600"/>
              </a:buClr>
              <a:buSzPts val="2800"/>
              <a:buFont typeface="Arial"/>
              <a:buNone/>
            </a:pPr>
            <a:r>
              <a:rPr lang="en-US" sz="2800" b="1" i="0" u="none" dirty="0">
                <a:solidFill>
                  <a:srgbClr val="FF6600"/>
                </a:solidFill>
                <a:latin typeface="Calibri"/>
                <a:ea typeface="Calibri"/>
                <a:cs typeface="Calibri"/>
                <a:sym typeface="Calibri"/>
              </a:rPr>
              <a:t>CPU scheduling</a:t>
            </a:r>
            <a:r>
              <a:rPr lang="en-US" sz="2800" b="0" i="0" u="none" dirty="0">
                <a:solidFill>
                  <a:srgbClr val="FF6600"/>
                </a:solidFill>
                <a:latin typeface="Calibri"/>
                <a:ea typeface="Calibri"/>
                <a:cs typeface="Calibri"/>
                <a:sym typeface="Calibri"/>
              </a:rPr>
              <a:t> </a:t>
            </a:r>
            <a:endParaRPr/>
          </a:p>
          <a:p>
            <a:pPr marL="63500" marR="0" lvl="0" indent="0" algn="l" rtl="0">
              <a:lnSpc>
                <a:spcPct val="9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Determining which process in memory is executed by the CPU at any given point</a:t>
            </a:r>
            <a:endParaRPr/>
          </a:p>
        </p:txBody>
      </p:sp>
      <p:sp>
        <p:nvSpPr>
          <p:cNvPr id="131" name="Google Shape;131;p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Batch Processing</a:t>
            </a:r>
            <a:endParaRPr/>
          </a:p>
        </p:txBody>
      </p:sp>
      <p:sp>
        <p:nvSpPr>
          <p:cNvPr id="138" name="Google Shape;138;p1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The first operating system was a </a:t>
            </a:r>
            <a:r>
              <a:rPr lang="en-US" sz="2400" b="0" i="0" u="none">
                <a:solidFill>
                  <a:srgbClr val="FF6600"/>
                </a:solidFill>
                <a:latin typeface="Calibri"/>
                <a:ea typeface="Calibri"/>
                <a:cs typeface="Calibri"/>
                <a:sym typeface="Calibri"/>
              </a:rPr>
              <a:t>human operator</a:t>
            </a:r>
            <a:r>
              <a:rPr lang="en-US" sz="2400" b="0" i="0" u="none">
                <a:solidFill>
                  <a:schemeClr val="dk1"/>
                </a:solidFill>
                <a:latin typeface="Calibri"/>
                <a:ea typeface="Calibri"/>
                <a:cs typeface="Calibri"/>
                <a:sym typeface="Calibri"/>
              </a:rPr>
              <a:t>, who</a:t>
            </a:r>
            <a:r>
              <a:rPr lang="en-US" sz="2400" b="0" i="0" u="none">
                <a:solidFill>
                  <a:srgbClr val="0000FF"/>
                </a:solidFill>
                <a:latin typeface="Calibri"/>
                <a:ea typeface="Calibri"/>
                <a:cs typeface="Calibri"/>
                <a:sym typeface="Calibri"/>
              </a:rPr>
              <a:t> </a:t>
            </a:r>
            <a:r>
              <a:rPr lang="en-US" sz="2400" b="0" i="0" u="none">
                <a:solidFill>
                  <a:schemeClr val="dk1"/>
                </a:solidFill>
                <a:latin typeface="Calibri"/>
                <a:ea typeface="Calibri"/>
                <a:cs typeface="Calibri"/>
                <a:sym typeface="Calibri"/>
              </a:rPr>
              <a:t>organized various jobs from multiple users into </a:t>
            </a:r>
            <a:r>
              <a:rPr lang="en-US" sz="2400" b="0" i="1" u="none">
                <a:solidFill>
                  <a:schemeClr val="dk1"/>
                </a:solidFill>
                <a:latin typeface="Calibri"/>
                <a:ea typeface="Calibri"/>
                <a:cs typeface="Calibri"/>
                <a:sym typeface="Calibri"/>
              </a:rPr>
              <a:t>batches</a:t>
            </a:r>
            <a:r>
              <a:rPr lang="en-US" sz="2400" b="0" i="0" u="none">
                <a:solidFill>
                  <a:schemeClr val="dk1"/>
                </a:solidFill>
                <a:latin typeface="Calibri"/>
                <a:ea typeface="Calibri"/>
                <a:cs typeface="Calibri"/>
                <a:sym typeface="Calibri"/>
              </a:rPr>
              <a:t> of jobs that needed the same resources </a:t>
            </a:r>
            <a:r>
              <a:rPr lang="en-US" sz="3200" b="0" i="0" u="none">
                <a:solidFill>
                  <a:schemeClr val="dk1"/>
                </a:solidFill>
                <a:latin typeface="Calibri"/>
                <a:ea typeface="Calibri"/>
                <a:cs typeface="Calibri"/>
                <a:sym typeface="Calibri"/>
              </a:rPr>
              <a:t>	</a:t>
            </a:r>
            <a:endParaRPr/>
          </a:p>
        </p:txBody>
      </p:sp>
      <p:sp>
        <p:nvSpPr>
          <p:cNvPr id="139" name="Google Shape;139;p1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10</a:t>
            </a:fld>
            <a:endParaRPr/>
          </a:p>
        </p:txBody>
      </p:sp>
      <p:pic>
        <p:nvPicPr>
          <p:cNvPr id="140" name="Google Shape;140;p10"/>
          <p:cNvPicPr preferRelativeResize="0"/>
          <p:nvPr/>
        </p:nvPicPr>
        <p:blipFill rotWithShape="1">
          <a:blip r:embed="rId3">
            <a:alphaModFix/>
          </a:blip>
          <a:srcRect/>
          <a:stretch/>
        </p:blipFill>
        <p:spPr>
          <a:xfrm>
            <a:off x="1824037" y="3048000"/>
            <a:ext cx="5495925" cy="3276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a:latin typeface="Calibri"/>
                <a:ea typeface="Calibri"/>
                <a:cs typeface="Calibri"/>
                <a:sym typeface="Calibri"/>
              </a:rPr>
              <a:t>Realtime and Timesharing</a:t>
            </a:r>
            <a:endParaRPr/>
          </a:p>
        </p:txBody>
      </p:sp>
      <p:sp>
        <p:nvSpPr>
          <p:cNvPr id="147" name="Google Shape;147;p1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Real-time System </a:t>
            </a:r>
            <a:endParaRPr/>
          </a:p>
          <a:p>
            <a:pPr marL="0" marR="0" lvl="0" indent="0" algn="l" rtl="0">
              <a:lnSpc>
                <a:spcPct val="9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A system in which response time is crucial given the nature of the application</a:t>
            </a:r>
            <a:endParaRPr sz="2800" b="0" i="0" u="none">
              <a:solidFill>
                <a:schemeClr val="dk1"/>
              </a:solidFill>
              <a:latin typeface="Calibri"/>
              <a:ea typeface="Calibri"/>
              <a:cs typeface="Calibri"/>
              <a:sym typeface="Calibri"/>
            </a:endParaRPr>
          </a:p>
          <a:p>
            <a:pPr marL="0" lvl="0" indent="0" algn="l" rtl="0">
              <a:lnSpc>
                <a:spcPct val="100000"/>
              </a:lnSpc>
              <a:spcBef>
                <a:spcPts val="0"/>
              </a:spcBef>
              <a:spcAft>
                <a:spcPts val="0"/>
              </a:spcAft>
              <a:buClr>
                <a:srgbClr val="FF6600"/>
              </a:buClr>
              <a:buSzPts val="2800"/>
              <a:buFont typeface="Arial"/>
              <a:buNone/>
            </a:pPr>
            <a:r>
              <a:rPr lang="en-US" sz="2800" b="1">
                <a:solidFill>
                  <a:srgbClr val="FF6600"/>
                </a:solidFill>
                <a:latin typeface="Calibri"/>
                <a:ea typeface="Calibri"/>
                <a:cs typeface="Calibri"/>
                <a:sym typeface="Calibri"/>
              </a:rPr>
              <a:t>Timesharing system</a:t>
            </a:r>
            <a:r>
              <a:rPr lang="en-US" sz="2800">
                <a:solidFill>
                  <a:srgbClr val="FF6600"/>
                </a:solidFill>
                <a:latin typeface="Calibri"/>
                <a:ea typeface="Calibri"/>
                <a:cs typeface="Calibri"/>
                <a:sym typeface="Calibri"/>
              </a:rPr>
              <a:t>  </a:t>
            </a:r>
            <a:endParaRPr/>
          </a:p>
          <a:p>
            <a:pPr marL="0" lvl="0" indent="0" algn="l" rtl="0">
              <a:lnSpc>
                <a:spcPct val="100000"/>
              </a:lnSpc>
              <a:spcBef>
                <a:spcPts val="560"/>
              </a:spcBef>
              <a:spcAft>
                <a:spcPts val="0"/>
              </a:spcAft>
              <a:buClr>
                <a:schemeClr val="dk1"/>
              </a:buClr>
              <a:buSzPts val="2800"/>
              <a:buFont typeface="Arial"/>
              <a:buNone/>
            </a:pPr>
            <a:r>
              <a:rPr lang="en-US" sz="2800">
                <a:solidFill>
                  <a:schemeClr val="dk1"/>
                </a:solidFill>
                <a:latin typeface="Calibri"/>
                <a:ea typeface="Calibri"/>
                <a:cs typeface="Calibri"/>
                <a:sym typeface="Calibri"/>
              </a:rPr>
              <a:t>A system that allows multiple users to interact with a computer at the same time</a:t>
            </a:r>
            <a:endParaRPr sz="2800">
              <a:solidFill>
                <a:schemeClr val="dk1"/>
              </a:solidFill>
              <a:latin typeface="Calibri"/>
              <a:ea typeface="Calibri"/>
              <a:cs typeface="Calibri"/>
              <a:sym typeface="Calibri"/>
            </a:endParaRPr>
          </a:p>
          <a:p>
            <a:pPr marL="0" marR="0" lvl="0" indent="0" algn="l" rtl="0">
              <a:lnSpc>
                <a:spcPct val="90000"/>
              </a:lnSpc>
              <a:spcBef>
                <a:spcPts val="560"/>
              </a:spcBef>
              <a:spcAft>
                <a:spcPts val="0"/>
              </a:spcAft>
              <a:buClr>
                <a:schemeClr val="dk1"/>
              </a:buClr>
              <a:buSzPts val="2800"/>
              <a:buFont typeface="Arial"/>
              <a:buNone/>
            </a:pPr>
            <a:endParaRPr/>
          </a:p>
          <a:p>
            <a:pPr marL="0" marR="0" lvl="0" indent="0" algn="l" rtl="0">
              <a:lnSpc>
                <a:spcPct val="90000"/>
              </a:lnSpc>
              <a:spcBef>
                <a:spcPts val="560"/>
              </a:spcBef>
              <a:spcAft>
                <a:spcPts val="0"/>
              </a:spcAft>
              <a:buClr>
                <a:schemeClr val="dk1"/>
              </a:buClr>
              <a:buSzPts val="2800"/>
              <a:buFont typeface="Arial"/>
              <a:buNone/>
            </a:pPr>
            <a:endParaRPr/>
          </a:p>
        </p:txBody>
      </p:sp>
      <p:sp>
        <p:nvSpPr>
          <p:cNvPr id="148" name="Google Shape;148;p1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Memory Management</a:t>
            </a:r>
            <a:endParaRPr/>
          </a:p>
        </p:txBody>
      </p:sp>
      <p:sp>
        <p:nvSpPr>
          <p:cNvPr id="155" name="Google Shape;155;p1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Operating systems must employ techniques to</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Track where and how a program resides in memory</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Convert </a:t>
            </a:r>
            <a:r>
              <a:rPr lang="en-US" sz="2400" b="1" i="0" u="none" strike="noStrike" cap="none">
                <a:solidFill>
                  <a:schemeClr val="dk1"/>
                </a:solidFill>
                <a:latin typeface="Calibri"/>
                <a:ea typeface="Calibri"/>
                <a:cs typeface="Calibri"/>
                <a:sym typeface="Calibri"/>
              </a:rPr>
              <a:t>logical addresses</a:t>
            </a:r>
            <a:r>
              <a:rPr lang="en-US" sz="2400" b="0" i="0" u="none" strike="noStrike" cap="none">
                <a:solidFill>
                  <a:schemeClr val="dk1"/>
                </a:solidFill>
                <a:latin typeface="Calibri"/>
                <a:ea typeface="Calibri"/>
                <a:cs typeface="Calibri"/>
                <a:sym typeface="Calibri"/>
              </a:rPr>
              <a:t> into actual </a:t>
            </a:r>
            <a:r>
              <a:rPr lang="en-US" sz="2400" b="1" i="0" u="none" strike="noStrike" cap="none">
                <a:solidFill>
                  <a:schemeClr val="dk1"/>
                </a:solidFill>
                <a:latin typeface="Calibri"/>
                <a:ea typeface="Calibri"/>
                <a:cs typeface="Calibri"/>
                <a:sym typeface="Calibri"/>
              </a:rPr>
              <a:t>addresses</a:t>
            </a: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56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Logical address</a:t>
            </a:r>
            <a:r>
              <a:rPr lang="en-US" sz="2800" b="0" i="0" u="none">
                <a:solidFill>
                  <a:srgbClr val="FF6600"/>
                </a:solidFill>
                <a:latin typeface="Calibri"/>
                <a:ea typeface="Calibri"/>
                <a:cs typeface="Calibri"/>
                <a:sym typeface="Calibri"/>
              </a:rPr>
              <a:t> </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Reference to a stored value relative to the program making the reference </a:t>
            </a:r>
            <a:endParaRPr/>
          </a:p>
          <a:p>
            <a:pPr marL="0" marR="0" lvl="0" indent="0" algn="l" rtl="0">
              <a:lnSpc>
                <a:spcPct val="100000"/>
              </a:lnSpc>
              <a:spcBef>
                <a:spcPts val="56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Physical address</a:t>
            </a:r>
            <a:r>
              <a:rPr lang="en-US" sz="2800" b="0" i="0" u="none">
                <a:solidFill>
                  <a:srgbClr val="FF6600"/>
                </a:solidFill>
                <a:latin typeface="Calibri"/>
                <a:ea typeface="Calibri"/>
                <a:cs typeface="Calibri"/>
                <a:sym typeface="Calibri"/>
              </a:rPr>
              <a:t>  </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Actual address in main memory</a:t>
            </a:r>
            <a:endParaRPr/>
          </a:p>
        </p:txBody>
      </p:sp>
      <p:sp>
        <p:nvSpPr>
          <p:cNvPr id="156" name="Google Shape;156;p1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685800" y="152400"/>
            <a:ext cx="7924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Partition Memory Management</a:t>
            </a:r>
            <a:endParaRPr/>
          </a:p>
        </p:txBody>
      </p:sp>
      <p:sp>
        <p:nvSpPr>
          <p:cNvPr id="163" name="Google Shape;163;p1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6600"/>
              </a:buClr>
              <a:buSzPts val="2800"/>
              <a:buFont typeface="Arial"/>
              <a:buNone/>
            </a:pPr>
            <a:r>
              <a:rPr lang="en-US" sz="2800">
                <a:solidFill>
                  <a:srgbClr val="FF6600"/>
                </a:solidFill>
                <a:latin typeface="Calibri"/>
                <a:ea typeface="Calibri"/>
                <a:cs typeface="Calibri"/>
                <a:sym typeface="Calibri"/>
              </a:rPr>
              <a:t>Non-Contagious MM: </a:t>
            </a:r>
            <a:r>
              <a:rPr lang="en-US" sz="2800">
                <a:solidFill>
                  <a:schemeClr val="dk1"/>
                </a:solidFill>
                <a:latin typeface="Calibri"/>
                <a:ea typeface="Calibri"/>
                <a:cs typeface="Calibri"/>
                <a:sym typeface="Calibri"/>
              </a:rPr>
              <a:t> process is divided into </a:t>
            </a:r>
            <a:r>
              <a:rPr lang="en-US" sz="2800" b="1">
                <a:solidFill>
                  <a:schemeClr val="dk1"/>
                </a:solidFill>
                <a:latin typeface="Calibri"/>
                <a:ea typeface="Calibri"/>
                <a:cs typeface="Calibri"/>
                <a:sym typeface="Calibri"/>
              </a:rPr>
              <a:t>multiple smaller blocks</a:t>
            </a:r>
            <a:r>
              <a:rPr lang="en-US" sz="2800">
                <a:solidFill>
                  <a:schemeClr val="dk1"/>
                </a:solidFill>
                <a:latin typeface="Calibri"/>
                <a:ea typeface="Calibri"/>
                <a:cs typeface="Calibri"/>
                <a:sym typeface="Calibri"/>
              </a:rPr>
              <a:t>, and these blocks can be placed in different (non-adjacent) areas of memory.</a:t>
            </a:r>
            <a:endParaRPr sz="2800">
              <a:latin typeface="Calibri"/>
              <a:ea typeface="Calibri"/>
              <a:cs typeface="Calibri"/>
              <a:sym typeface="Calibri"/>
            </a:endParaRPr>
          </a:p>
          <a:p>
            <a:pPr marL="0" marR="0" lvl="0" indent="0" algn="l" rtl="0">
              <a:lnSpc>
                <a:spcPct val="90000"/>
              </a:lnSpc>
              <a:spcBef>
                <a:spcPts val="560"/>
              </a:spcBef>
              <a:spcAft>
                <a:spcPts val="0"/>
              </a:spcAft>
              <a:buClr>
                <a:srgbClr val="FF6600"/>
              </a:buClr>
              <a:buSzPts val="2800"/>
              <a:buFont typeface="Arial"/>
              <a:buNone/>
            </a:pPr>
            <a:r>
              <a:rPr lang="en-US" sz="2800">
                <a:solidFill>
                  <a:srgbClr val="FF6600"/>
                </a:solidFill>
                <a:latin typeface="Calibri"/>
                <a:ea typeface="Calibri"/>
                <a:cs typeface="Calibri"/>
                <a:sym typeface="Calibri"/>
              </a:rPr>
              <a:t>Contagious </a:t>
            </a:r>
            <a:r>
              <a:rPr lang="en-US" sz="2800" i="0" u="none">
                <a:solidFill>
                  <a:srgbClr val="FF6600"/>
                </a:solidFill>
                <a:latin typeface="Calibri"/>
                <a:ea typeface="Calibri"/>
                <a:cs typeface="Calibri"/>
                <a:sym typeface="Calibri"/>
              </a:rPr>
              <a:t>Partition</a:t>
            </a:r>
            <a:r>
              <a:rPr lang="en-US" sz="2800">
                <a:solidFill>
                  <a:srgbClr val="FF6600"/>
                </a:solidFill>
                <a:latin typeface="Calibri"/>
                <a:ea typeface="Calibri"/>
                <a:cs typeface="Calibri"/>
                <a:sym typeface="Calibri"/>
              </a:rPr>
              <a:t>:</a:t>
            </a:r>
            <a:r>
              <a:rPr lang="en-US" sz="2800">
                <a:solidFill>
                  <a:schemeClr val="dk1"/>
                </a:solidFill>
                <a:latin typeface="Calibri"/>
                <a:ea typeface="Calibri"/>
                <a:cs typeface="Calibri"/>
                <a:sym typeface="Calibri"/>
              </a:rPr>
              <a:t> In </a:t>
            </a:r>
            <a:r>
              <a:rPr lang="en-US" sz="2800" b="1">
                <a:solidFill>
                  <a:schemeClr val="dk1"/>
                </a:solidFill>
                <a:latin typeface="Calibri"/>
                <a:ea typeface="Calibri"/>
                <a:cs typeface="Calibri"/>
                <a:sym typeface="Calibri"/>
              </a:rPr>
              <a:t>contiguous memory allocation</a:t>
            </a:r>
            <a:r>
              <a:rPr lang="en-US" sz="2800">
                <a:solidFill>
                  <a:schemeClr val="dk1"/>
                </a:solidFill>
                <a:latin typeface="Calibri"/>
                <a:ea typeface="Calibri"/>
                <a:cs typeface="Calibri"/>
                <a:sym typeface="Calibri"/>
              </a:rPr>
              <a:t>, each process is assigned a </a:t>
            </a:r>
            <a:r>
              <a:rPr lang="en-US" sz="2800" b="1">
                <a:solidFill>
                  <a:schemeClr val="dk1"/>
                </a:solidFill>
                <a:latin typeface="Calibri"/>
                <a:ea typeface="Calibri"/>
                <a:cs typeface="Calibri"/>
                <a:sym typeface="Calibri"/>
              </a:rPr>
              <a:t>single continuous block</a:t>
            </a:r>
            <a:r>
              <a:rPr lang="en-US" sz="2800">
                <a:solidFill>
                  <a:schemeClr val="dk1"/>
                </a:solidFill>
                <a:latin typeface="Calibri"/>
                <a:ea typeface="Calibri"/>
                <a:cs typeface="Calibri"/>
                <a:sym typeface="Calibri"/>
              </a:rPr>
              <a:t> of memory.</a:t>
            </a:r>
            <a:endParaRPr sz="2800">
              <a:latin typeface="Calibri"/>
              <a:ea typeface="Calibri"/>
              <a:cs typeface="Calibri"/>
              <a:sym typeface="Calibri"/>
            </a:endParaRPr>
          </a:p>
          <a:p>
            <a:pPr marL="0" marR="0" lvl="0" indent="0" algn="l" rtl="0">
              <a:lnSpc>
                <a:spcPct val="9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There are two schemes for dividing up memory for programs:</a:t>
            </a:r>
            <a:endParaRPr/>
          </a:p>
          <a:p>
            <a:pPr marL="742950" marR="0" lvl="1" indent="-285750" algn="l" rtl="0">
              <a:lnSpc>
                <a:spcPct val="90000"/>
              </a:lnSpc>
              <a:spcBef>
                <a:spcPts val="480"/>
              </a:spcBef>
              <a:spcAft>
                <a:spcPts val="0"/>
              </a:spcAft>
              <a:buClr>
                <a:srgbClr val="FF6600"/>
              </a:buClr>
              <a:buSzPts val="2400"/>
              <a:buFont typeface="Arial"/>
              <a:buChar char="–"/>
            </a:pPr>
            <a:r>
              <a:rPr lang="en-US" sz="2400" b="1" i="0" u="none" strike="noStrike" cap="none">
                <a:solidFill>
                  <a:srgbClr val="FF6600"/>
                </a:solidFill>
                <a:latin typeface="Calibri"/>
                <a:ea typeface="Calibri"/>
                <a:cs typeface="Calibri"/>
                <a:sym typeface="Calibri"/>
              </a:rPr>
              <a:t>Fixed partitions </a:t>
            </a:r>
            <a:r>
              <a:rPr lang="en-US" sz="2400" b="0" i="0" u="none" strike="noStrike" cap="none">
                <a:solidFill>
                  <a:srgbClr val="FF6600"/>
                </a:solidFill>
                <a:latin typeface="Calibri"/>
                <a:ea typeface="Calibri"/>
                <a:cs typeface="Calibri"/>
                <a:sym typeface="Calibri"/>
              </a:rPr>
              <a:t> </a:t>
            </a:r>
            <a:r>
              <a:rPr lang="en-US" sz="2400" b="0" i="0" u="none" strike="noStrike" cap="none">
                <a:solidFill>
                  <a:schemeClr val="dk1"/>
                </a:solidFill>
                <a:latin typeface="Calibri"/>
                <a:ea typeface="Calibri"/>
                <a:cs typeface="Calibri"/>
                <a:sym typeface="Calibri"/>
              </a:rPr>
              <a:t>Main memory is divided into a fixed number of partitions into which programs can be loaded</a:t>
            </a:r>
            <a:endParaRPr/>
          </a:p>
          <a:p>
            <a:pPr marL="742950" marR="0" lvl="1" indent="-285750" algn="l" rtl="0">
              <a:lnSpc>
                <a:spcPct val="90000"/>
              </a:lnSpc>
              <a:spcBef>
                <a:spcPts val="480"/>
              </a:spcBef>
              <a:spcAft>
                <a:spcPts val="0"/>
              </a:spcAft>
              <a:buClr>
                <a:srgbClr val="FF6600"/>
              </a:buClr>
              <a:buSzPts val="2400"/>
              <a:buFont typeface="Arial"/>
              <a:buChar char="–"/>
            </a:pPr>
            <a:r>
              <a:rPr lang="en-US" sz="2400" b="1" i="0" u="none" strike="noStrike" cap="none">
                <a:solidFill>
                  <a:srgbClr val="FF6600"/>
                </a:solidFill>
                <a:latin typeface="Calibri"/>
                <a:ea typeface="Calibri"/>
                <a:cs typeface="Calibri"/>
                <a:sym typeface="Calibri"/>
              </a:rPr>
              <a:t>Dynamic partitions </a:t>
            </a:r>
            <a:r>
              <a:rPr lang="en-US" sz="2400" b="0" i="0" u="none" strike="noStrike" cap="none">
                <a:solidFill>
                  <a:srgbClr val="FF6600"/>
                </a:solidFill>
                <a:latin typeface="Calibri"/>
                <a:ea typeface="Calibri"/>
                <a:cs typeface="Calibri"/>
                <a:sym typeface="Calibri"/>
              </a:rPr>
              <a:t> </a:t>
            </a:r>
            <a:r>
              <a:rPr lang="en-US" sz="2400" b="0" i="0" u="none" strike="noStrike" cap="none">
                <a:solidFill>
                  <a:schemeClr val="dk1"/>
                </a:solidFill>
                <a:latin typeface="Calibri"/>
                <a:ea typeface="Calibri"/>
                <a:cs typeface="Calibri"/>
                <a:sym typeface="Calibri"/>
              </a:rPr>
              <a:t>Partitions are created as needed to fit the programs waiting to be loaded</a:t>
            </a:r>
            <a:endParaRPr/>
          </a:p>
        </p:txBody>
      </p:sp>
      <p:sp>
        <p:nvSpPr>
          <p:cNvPr id="164" name="Google Shape;164;p1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Partition Selection Algorithms</a:t>
            </a:r>
            <a:endParaRPr/>
          </a:p>
        </p:txBody>
      </p:sp>
      <p:sp>
        <p:nvSpPr>
          <p:cNvPr id="171" name="Google Shape;171;p1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2800"/>
              <a:buFont typeface="Arial"/>
              <a:buNone/>
            </a:pPr>
            <a:r>
              <a:rPr lang="en-US" sz="2800" b="0" i="1" u="none">
                <a:solidFill>
                  <a:schemeClr val="dk1"/>
                </a:solidFill>
                <a:latin typeface="Calibri"/>
                <a:ea typeface="Calibri"/>
                <a:cs typeface="Calibri"/>
                <a:sym typeface="Calibri"/>
              </a:rPr>
              <a:t>Which partition should we allocate to a new program?</a:t>
            </a:r>
            <a:endParaRPr sz="2800" b="1" i="0" u="none">
              <a:solidFill>
                <a:schemeClr val="dk1"/>
              </a:solidFill>
              <a:latin typeface="Calibri"/>
              <a:ea typeface="Calibri"/>
              <a:cs typeface="Calibri"/>
              <a:sym typeface="Calibri"/>
            </a:endParaRPr>
          </a:p>
          <a:p>
            <a:pPr marL="342900" marR="0" lvl="0" indent="-342900" algn="l" rtl="0">
              <a:lnSpc>
                <a:spcPct val="80000"/>
              </a:lnSpc>
              <a:spcBef>
                <a:spcPts val="560"/>
              </a:spcBef>
              <a:spcAft>
                <a:spcPts val="0"/>
              </a:spcAft>
              <a:buClr>
                <a:srgbClr val="FF6600"/>
              </a:buClr>
              <a:buSzPts val="2800"/>
              <a:buFont typeface="Arial"/>
              <a:buChar char="•"/>
            </a:pPr>
            <a:r>
              <a:rPr lang="en-US" sz="2800" b="1" i="0" u="none">
                <a:solidFill>
                  <a:srgbClr val="FF6600"/>
                </a:solidFill>
                <a:latin typeface="Calibri"/>
                <a:ea typeface="Calibri"/>
                <a:cs typeface="Calibri"/>
                <a:sym typeface="Calibri"/>
              </a:rPr>
              <a:t>First fit</a:t>
            </a:r>
            <a:r>
              <a:rPr lang="en-US" sz="2800" b="0" i="0" u="none">
                <a:solidFill>
                  <a:srgbClr val="FF6600"/>
                </a:solidFill>
                <a:latin typeface="Calibri"/>
                <a:ea typeface="Calibri"/>
                <a:cs typeface="Calibri"/>
                <a:sym typeface="Calibri"/>
              </a:rPr>
              <a:t>   </a:t>
            </a:r>
            <a:r>
              <a:rPr lang="en-US" sz="2800" b="0" i="0" u="none">
                <a:solidFill>
                  <a:schemeClr val="dk1"/>
                </a:solidFill>
                <a:latin typeface="Calibri"/>
                <a:ea typeface="Calibri"/>
                <a:cs typeface="Calibri"/>
                <a:sym typeface="Calibri"/>
              </a:rPr>
              <a:t>Allocate program to the first partition big enough to hold it</a:t>
            </a:r>
            <a:endParaRPr/>
          </a:p>
          <a:p>
            <a:pPr marL="342900" marR="0" lvl="0" indent="-342900" algn="l" rtl="0">
              <a:lnSpc>
                <a:spcPct val="80000"/>
              </a:lnSpc>
              <a:spcBef>
                <a:spcPts val="560"/>
              </a:spcBef>
              <a:spcAft>
                <a:spcPts val="0"/>
              </a:spcAft>
              <a:buClr>
                <a:srgbClr val="FF6600"/>
              </a:buClr>
              <a:buSzPts val="2800"/>
              <a:buFont typeface="Arial"/>
              <a:buChar char="•"/>
            </a:pPr>
            <a:r>
              <a:rPr lang="en-US" sz="2800" b="1" i="0" u="none">
                <a:solidFill>
                  <a:srgbClr val="FF6600"/>
                </a:solidFill>
                <a:latin typeface="Calibri"/>
                <a:ea typeface="Calibri"/>
                <a:cs typeface="Calibri"/>
                <a:sym typeface="Calibri"/>
              </a:rPr>
              <a:t>Best fit</a:t>
            </a:r>
            <a:r>
              <a:rPr lang="en-US" sz="2800" b="0" i="1" u="none">
                <a:solidFill>
                  <a:srgbClr val="FF6600"/>
                </a:solidFill>
                <a:latin typeface="Calibri"/>
                <a:ea typeface="Calibri"/>
                <a:cs typeface="Calibri"/>
                <a:sym typeface="Calibri"/>
              </a:rPr>
              <a:t>   </a:t>
            </a:r>
            <a:r>
              <a:rPr lang="en-US" sz="2800" b="0" i="0" u="none">
                <a:solidFill>
                  <a:schemeClr val="dk1"/>
                </a:solidFill>
                <a:latin typeface="Calibri"/>
                <a:ea typeface="Calibri"/>
                <a:cs typeface="Calibri"/>
                <a:sym typeface="Calibri"/>
              </a:rPr>
              <a:t>Allocated program to the smallest partition big enough to hold it</a:t>
            </a:r>
            <a:endParaRPr sz="3200" b="0" i="0" u="none">
              <a:solidFill>
                <a:schemeClr val="dk1"/>
              </a:solidFill>
              <a:latin typeface="Calibri"/>
              <a:ea typeface="Calibri"/>
              <a:cs typeface="Calibri"/>
              <a:sym typeface="Calibri"/>
            </a:endParaRPr>
          </a:p>
          <a:p>
            <a:pPr marL="342900" marR="0" lvl="0" indent="-342900" algn="l" rtl="0">
              <a:lnSpc>
                <a:spcPct val="80000"/>
              </a:lnSpc>
              <a:spcBef>
                <a:spcPts val="560"/>
              </a:spcBef>
              <a:spcAft>
                <a:spcPts val="0"/>
              </a:spcAft>
              <a:buClr>
                <a:srgbClr val="FF6600"/>
              </a:buClr>
              <a:buSzPts val="2800"/>
              <a:buFont typeface="Arial"/>
              <a:buChar char="•"/>
            </a:pPr>
            <a:r>
              <a:rPr lang="en-US" sz="2800" b="1" i="0" u="none">
                <a:solidFill>
                  <a:srgbClr val="FF6600"/>
                </a:solidFill>
                <a:latin typeface="Calibri"/>
                <a:ea typeface="Calibri"/>
                <a:cs typeface="Calibri"/>
                <a:sym typeface="Calibri"/>
              </a:rPr>
              <a:t>Worst fit</a:t>
            </a:r>
            <a:r>
              <a:rPr lang="en-US" sz="2800" b="0" i="1" u="none">
                <a:solidFill>
                  <a:srgbClr val="FF6600"/>
                </a:solidFill>
                <a:latin typeface="Calibri"/>
                <a:ea typeface="Calibri"/>
                <a:cs typeface="Calibri"/>
                <a:sym typeface="Calibri"/>
              </a:rPr>
              <a:t>  </a:t>
            </a:r>
            <a:r>
              <a:rPr lang="en-US" sz="2800" b="0" i="0" u="none">
                <a:solidFill>
                  <a:schemeClr val="dk1"/>
                </a:solidFill>
                <a:latin typeface="Calibri"/>
                <a:ea typeface="Calibri"/>
                <a:cs typeface="Calibri"/>
                <a:sym typeface="Calibri"/>
              </a:rPr>
              <a:t>Allocate program to the largest partition big enough to hold it</a:t>
            </a:r>
            <a:endParaRPr/>
          </a:p>
        </p:txBody>
      </p:sp>
      <p:sp>
        <p:nvSpPr>
          <p:cNvPr id="172" name="Google Shape;172;p1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Partition Selection Algorithms</a:t>
            </a:r>
            <a:endParaRPr/>
          </a:p>
        </p:txBody>
      </p:sp>
      <p:sp>
        <p:nvSpPr>
          <p:cNvPr id="179" name="Google Shape;179;p1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15</a:t>
            </a:fld>
            <a:endParaRPr/>
          </a:p>
        </p:txBody>
      </p:sp>
      <p:sp>
        <p:nvSpPr>
          <p:cNvPr id="180" name="Google Shape;180;p16"/>
          <p:cNvSpPr txBox="1"/>
          <p:nvPr/>
        </p:nvSpPr>
        <p:spPr>
          <a:xfrm>
            <a:off x="1219200" y="1981200"/>
            <a:ext cx="1447800" cy="4038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 1000</a:t>
            </a:r>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B: 700</a:t>
            </a:r>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C: 750</a:t>
            </a:r>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D: 1500</a:t>
            </a:r>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E: 300</a:t>
            </a:r>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 350</a:t>
            </a:r>
            <a:endParaRPr/>
          </a:p>
        </p:txBody>
      </p:sp>
      <p:cxnSp>
        <p:nvCxnSpPr>
          <p:cNvPr id="181" name="Google Shape;181;p16"/>
          <p:cNvCxnSpPr/>
          <p:nvPr/>
        </p:nvCxnSpPr>
        <p:spPr>
          <a:xfrm>
            <a:off x="1219200" y="2590800"/>
            <a:ext cx="1447800" cy="0"/>
          </a:xfrm>
          <a:prstGeom prst="straightConnector1">
            <a:avLst/>
          </a:prstGeom>
          <a:noFill/>
          <a:ln w="9525" cap="flat" cmpd="sng">
            <a:solidFill>
              <a:schemeClr val="dk1"/>
            </a:solidFill>
            <a:prstDash val="solid"/>
            <a:miter lim="800000"/>
            <a:headEnd type="none" w="med" len="med"/>
            <a:tailEnd type="none" w="med" len="med"/>
          </a:ln>
        </p:spPr>
      </p:cxnSp>
      <p:cxnSp>
        <p:nvCxnSpPr>
          <p:cNvPr id="182" name="Google Shape;182;p16"/>
          <p:cNvCxnSpPr/>
          <p:nvPr/>
        </p:nvCxnSpPr>
        <p:spPr>
          <a:xfrm>
            <a:off x="1219200" y="3276600"/>
            <a:ext cx="1447800" cy="0"/>
          </a:xfrm>
          <a:prstGeom prst="straightConnector1">
            <a:avLst/>
          </a:prstGeom>
          <a:noFill/>
          <a:ln w="9525" cap="flat" cmpd="sng">
            <a:solidFill>
              <a:schemeClr val="dk1"/>
            </a:solidFill>
            <a:prstDash val="solid"/>
            <a:miter lim="800000"/>
            <a:headEnd type="none" w="med" len="med"/>
            <a:tailEnd type="none" w="med" len="med"/>
          </a:ln>
        </p:spPr>
      </p:cxnSp>
      <p:cxnSp>
        <p:nvCxnSpPr>
          <p:cNvPr id="183" name="Google Shape;183;p16"/>
          <p:cNvCxnSpPr/>
          <p:nvPr/>
        </p:nvCxnSpPr>
        <p:spPr>
          <a:xfrm>
            <a:off x="1219200" y="4038600"/>
            <a:ext cx="1447800" cy="0"/>
          </a:xfrm>
          <a:prstGeom prst="straightConnector1">
            <a:avLst/>
          </a:prstGeom>
          <a:noFill/>
          <a:ln w="9525" cap="flat" cmpd="sng">
            <a:solidFill>
              <a:schemeClr val="dk1"/>
            </a:solidFill>
            <a:prstDash val="solid"/>
            <a:miter lim="800000"/>
            <a:headEnd type="none" w="med" len="med"/>
            <a:tailEnd type="none" w="med" len="med"/>
          </a:ln>
        </p:spPr>
      </p:cxnSp>
      <p:cxnSp>
        <p:nvCxnSpPr>
          <p:cNvPr id="184" name="Google Shape;184;p16"/>
          <p:cNvCxnSpPr/>
          <p:nvPr/>
        </p:nvCxnSpPr>
        <p:spPr>
          <a:xfrm>
            <a:off x="1219200" y="5029200"/>
            <a:ext cx="1447800" cy="0"/>
          </a:xfrm>
          <a:prstGeom prst="straightConnector1">
            <a:avLst/>
          </a:prstGeom>
          <a:noFill/>
          <a:ln w="9525" cap="flat" cmpd="sng">
            <a:solidFill>
              <a:schemeClr val="dk1"/>
            </a:solidFill>
            <a:prstDash val="solid"/>
            <a:miter lim="800000"/>
            <a:headEnd type="none" w="med" len="med"/>
            <a:tailEnd type="none" w="med" len="med"/>
          </a:ln>
        </p:spPr>
      </p:cxnSp>
      <p:cxnSp>
        <p:nvCxnSpPr>
          <p:cNvPr id="185" name="Google Shape;185;p16"/>
          <p:cNvCxnSpPr/>
          <p:nvPr/>
        </p:nvCxnSpPr>
        <p:spPr>
          <a:xfrm>
            <a:off x="1219200" y="5562600"/>
            <a:ext cx="1447800" cy="0"/>
          </a:xfrm>
          <a:prstGeom prst="straightConnector1">
            <a:avLst/>
          </a:prstGeom>
          <a:noFill/>
          <a:ln w="9525" cap="flat" cmpd="sng">
            <a:solidFill>
              <a:schemeClr val="dk1"/>
            </a:solidFill>
            <a:prstDash val="solid"/>
            <a:miter lim="800000"/>
            <a:headEnd type="none" w="med" len="med"/>
            <a:tailEnd type="none" w="med" len="med"/>
          </a:ln>
        </p:spPr>
      </p:cxnSp>
      <p:sp>
        <p:nvSpPr>
          <p:cNvPr id="186" name="Google Shape;186;p16"/>
          <p:cNvSpPr txBox="1"/>
          <p:nvPr/>
        </p:nvSpPr>
        <p:spPr>
          <a:xfrm>
            <a:off x="4495800" y="1905000"/>
            <a:ext cx="3352800" cy="106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Requests come in for blocks of</a:t>
            </a:r>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the following sizes:</a:t>
            </a:r>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1000, 25, 780, 1600, and 325</a:t>
            </a:r>
            <a:endParaRPr/>
          </a:p>
        </p:txBody>
      </p:sp>
      <p:sp>
        <p:nvSpPr>
          <p:cNvPr id="187" name="Google Shape;187;p16"/>
          <p:cNvSpPr txBox="1"/>
          <p:nvPr/>
        </p:nvSpPr>
        <p:spPr>
          <a:xfrm>
            <a:off x="4495800" y="3505200"/>
            <a:ext cx="3505200" cy="2133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What block will be assigned </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to each request if the</a:t>
            </a:r>
            <a:endParaRPr/>
          </a:p>
          <a:p>
            <a:pPr marL="0" marR="0" lvl="0" indent="-127000" algn="l" rtl="0">
              <a:lnSpc>
                <a:spcPct val="100000"/>
              </a:lnSpc>
              <a:spcBef>
                <a:spcPts val="0"/>
              </a:spcBef>
              <a:spcAft>
                <a:spcPts val="0"/>
              </a:spcAft>
              <a:buClr>
                <a:schemeClr val="dk1"/>
              </a:buClr>
              <a:buSzPts val="2000"/>
              <a:buFont typeface="Arial"/>
              <a:buChar char="•"/>
            </a:pPr>
            <a:r>
              <a:rPr lang="en-US" sz="2000" b="0" i="1" u="none" strike="noStrike" cap="none">
                <a:solidFill>
                  <a:schemeClr val="dk1"/>
                </a:solidFill>
                <a:latin typeface="Arial"/>
                <a:ea typeface="Arial"/>
                <a:cs typeface="Arial"/>
                <a:sym typeface="Arial"/>
              </a:rPr>
              <a:t>  first-fit algorithm is used?</a:t>
            </a:r>
            <a:endParaRPr/>
          </a:p>
          <a:p>
            <a:pPr marL="0" marR="0" lvl="0" indent="-127000" algn="l" rtl="0">
              <a:lnSpc>
                <a:spcPct val="100000"/>
              </a:lnSpc>
              <a:spcBef>
                <a:spcPts val="0"/>
              </a:spcBef>
              <a:spcAft>
                <a:spcPts val="0"/>
              </a:spcAft>
              <a:buClr>
                <a:schemeClr val="dk1"/>
              </a:buClr>
              <a:buSzPts val="2000"/>
              <a:buFont typeface="Arial"/>
              <a:buChar char="•"/>
            </a:pPr>
            <a:r>
              <a:rPr lang="en-US" sz="2000" b="0" i="1" u="none" strike="noStrike" cap="none">
                <a:solidFill>
                  <a:schemeClr val="dk1"/>
                </a:solidFill>
                <a:latin typeface="Arial"/>
                <a:ea typeface="Arial"/>
                <a:cs typeface="Arial"/>
                <a:sym typeface="Arial"/>
              </a:rPr>
              <a:t>  best-fit algorithm is used?</a:t>
            </a:r>
            <a:endParaRPr/>
          </a:p>
          <a:p>
            <a:pPr marL="0" marR="0" lvl="0" indent="-127000" algn="l" rtl="0">
              <a:lnSpc>
                <a:spcPct val="100000"/>
              </a:lnSpc>
              <a:spcBef>
                <a:spcPts val="0"/>
              </a:spcBef>
              <a:spcAft>
                <a:spcPts val="0"/>
              </a:spcAft>
              <a:buClr>
                <a:schemeClr val="dk1"/>
              </a:buClr>
              <a:buSzPts val="2000"/>
              <a:buFont typeface="Arial"/>
              <a:buChar char="•"/>
            </a:pPr>
            <a:r>
              <a:rPr lang="en-US" sz="2000" b="0" i="1" u="none" strike="noStrike" cap="none">
                <a:solidFill>
                  <a:schemeClr val="dk1"/>
                </a:solidFill>
                <a:latin typeface="Arial"/>
                <a:ea typeface="Arial"/>
                <a:cs typeface="Arial"/>
                <a:sym typeface="Arial"/>
              </a:rPr>
              <a:t>  worst-fit algorithm is used?</a:t>
            </a:r>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(Treat each request as an</a:t>
            </a:r>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independent event</a:t>
            </a:r>
            <a:r>
              <a:rPr lang="en-US" sz="1800" b="0" i="1" u="none" strike="noStrike" cap="none">
                <a:solidFill>
                  <a:schemeClr val="dk1"/>
                </a:solidFill>
                <a:latin typeface="Arial"/>
                <a:ea typeface="Arial"/>
                <a:cs typeface="Arial"/>
                <a:sym typeface="Arial"/>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Process Management</a:t>
            </a:r>
            <a:endParaRPr/>
          </a:p>
        </p:txBody>
      </p:sp>
      <p:sp>
        <p:nvSpPr>
          <p:cNvPr id="194" name="Google Shape;194;p17"/>
          <p:cNvSpPr txBox="1">
            <a:spLocks noGrp="1"/>
          </p:cNvSpPr>
          <p:nvPr>
            <p:ph type="body" idx="1"/>
          </p:nvPr>
        </p:nvSpPr>
        <p:spPr>
          <a:xfrm>
            <a:off x="457200" y="1676400"/>
            <a:ext cx="8305800" cy="4419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6600"/>
              </a:buClr>
              <a:buSzPts val="3200"/>
              <a:buFont typeface="Arial"/>
              <a:buNone/>
            </a:pPr>
            <a:r>
              <a:rPr lang="en-US" sz="3200" b="1" i="0" u="none">
                <a:solidFill>
                  <a:srgbClr val="FF6600"/>
                </a:solidFill>
                <a:latin typeface="Calibri"/>
                <a:ea typeface="Calibri"/>
                <a:cs typeface="Calibri"/>
                <a:sym typeface="Calibri"/>
              </a:rPr>
              <a:t>Process management</a:t>
            </a:r>
            <a:endParaRPr sz="3200" b="0" i="0" u="none">
              <a:solidFill>
                <a:srgbClr val="FF6600"/>
              </a:solidFill>
              <a:latin typeface="Calibri"/>
              <a:ea typeface="Calibri"/>
              <a:cs typeface="Calibri"/>
              <a:sym typeface="Calibri"/>
            </a:endParaRPr>
          </a:p>
          <a:p>
            <a:pPr marL="0" marR="0" lvl="0" indent="0" algn="l" rtl="0">
              <a:lnSpc>
                <a:spcPct val="9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The act of managing the use of the CPU by individual processes</a:t>
            </a:r>
            <a:endParaRPr/>
          </a:p>
          <a:p>
            <a:pPr marL="0" marR="0" lvl="0" indent="0" algn="l" rtl="0">
              <a:lnSpc>
                <a:spcPct val="9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Recall that a process is a program in execution</a:t>
            </a:r>
            <a:endParaRPr/>
          </a:p>
          <a:p>
            <a:pPr marL="0" marR="0" lvl="0" indent="0" algn="l" rtl="0">
              <a:lnSpc>
                <a:spcPct val="9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a:t>
            </a:r>
            <a:endParaRPr/>
          </a:p>
        </p:txBody>
      </p:sp>
      <p:sp>
        <p:nvSpPr>
          <p:cNvPr id="195" name="Google Shape;195;p1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16</a:t>
            </a:fld>
            <a:endParaRPr/>
          </a:p>
        </p:txBody>
      </p:sp>
      <p:sp>
        <p:nvSpPr>
          <p:cNvPr id="196" name="Google Shape;196;p17"/>
          <p:cNvSpPr txBox="1"/>
          <p:nvPr/>
        </p:nvSpPr>
        <p:spPr>
          <a:xfrm>
            <a:off x="1905000" y="5181600"/>
            <a:ext cx="6172200" cy="430212"/>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1"/>
              </a:buClr>
              <a:buSzPts val="2400"/>
              <a:buFont typeface="Arial"/>
              <a:buNone/>
            </a:pPr>
            <a:r>
              <a:rPr lang="en-US" sz="2400" b="0" i="1" u="none" strike="noStrike" cap="none">
                <a:solidFill>
                  <a:schemeClr val="dk1"/>
                </a:solidFill>
                <a:latin typeface="Arial"/>
                <a:ea typeface="Arial"/>
                <a:cs typeface="Arial"/>
                <a:sym typeface="Arial"/>
              </a:rPr>
              <a:t>What stages does a process go through?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latin typeface="Calibri" pitchFamily="34" charset="0"/>
                <a:ea typeface="Calibri" pitchFamily="34" charset="0"/>
                <a:cs typeface="Calibri" pitchFamily="34" charset="0"/>
              </a:rPr>
              <a:t>Process Management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sz="1000">
              <a:solidFill>
                <a:schemeClr val="dk2"/>
              </a:solidFill>
            </a:endParaRPr>
          </a:p>
        </p:txBody>
      </p:sp>
      <p:pic>
        <p:nvPicPr>
          <p:cNvPr id="5" name="Picture 4" descr="Process-State-Diagram.png"/>
          <p:cNvPicPr>
            <a:picLocks noChangeAspect="1"/>
          </p:cNvPicPr>
          <p:nvPr/>
        </p:nvPicPr>
        <p:blipFill>
          <a:blip r:embed="rId2"/>
          <a:stretch>
            <a:fillRect/>
          </a:stretch>
        </p:blipFill>
        <p:spPr>
          <a:xfrm>
            <a:off x="770081" y="1894321"/>
            <a:ext cx="5824993" cy="2833543"/>
          </a:xfrm>
          <a:prstGeom prst="rect">
            <a:avLst/>
          </a:prstGeom>
        </p:spPr>
      </p:pic>
      <p:sp>
        <p:nvSpPr>
          <p:cNvPr id="6" name="Google Shape;205;p18"/>
          <p:cNvSpPr txBox="1"/>
          <p:nvPr/>
        </p:nvSpPr>
        <p:spPr>
          <a:xfrm>
            <a:off x="7162800" y="2362200"/>
            <a:ext cx="1447800" cy="2362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What can</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cause a</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process to</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move to </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the</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Waiting </a:t>
            </a:r>
            <a:endParaRPr/>
          </a:p>
          <a:p>
            <a:pPr marL="0" marR="0" lvl="0" indent="0" algn="l"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state?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Process Management</a:t>
            </a:r>
            <a:endParaRPr/>
          </a:p>
        </p:txBody>
      </p:sp>
      <p:sp>
        <p:nvSpPr>
          <p:cNvPr id="213" name="Google Shape;213;p1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Process control block (PCB)</a:t>
            </a:r>
            <a:endParaRPr sz="2800" b="0" i="0" u="none">
              <a:solidFill>
                <a:srgbClr val="FF6600"/>
              </a:solidFill>
              <a:latin typeface="Calibri"/>
              <a:ea typeface="Calibri"/>
              <a:cs typeface="Calibri"/>
              <a:sym typeface="Calibri"/>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A </a:t>
            </a:r>
            <a:r>
              <a:rPr lang="en-US" sz="2800" b="0" i="1" u="none">
                <a:solidFill>
                  <a:schemeClr val="dk1"/>
                </a:solidFill>
                <a:latin typeface="Calibri"/>
                <a:ea typeface="Calibri"/>
                <a:cs typeface="Calibri"/>
                <a:sym typeface="Calibri"/>
              </a:rPr>
              <a:t>data structure</a:t>
            </a:r>
            <a:r>
              <a:rPr lang="en-US" sz="2800" b="0" i="0" u="none">
                <a:solidFill>
                  <a:schemeClr val="dk1"/>
                </a:solidFill>
                <a:latin typeface="Calibri"/>
                <a:ea typeface="Calibri"/>
                <a:cs typeface="Calibri"/>
                <a:sym typeface="Calibri"/>
              </a:rPr>
              <a:t> used by the OS to manage information about a process, including</a:t>
            </a:r>
            <a:endParaRPr/>
          </a:p>
          <a:p>
            <a:pPr marL="8064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current value of the program counter</a:t>
            </a:r>
            <a:endParaRPr/>
          </a:p>
          <a:p>
            <a:pPr marL="8064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values of all CPU registers for the process</a:t>
            </a:r>
            <a:endParaRPr/>
          </a:p>
          <a:p>
            <a:pPr marL="8064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base and bound register values accounting information</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Each </a:t>
            </a:r>
            <a:r>
              <a:rPr lang="en-US" sz="2800" b="0" i="1" u="none">
                <a:solidFill>
                  <a:schemeClr val="dk1"/>
                </a:solidFill>
                <a:latin typeface="Calibri"/>
                <a:ea typeface="Calibri"/>
                <a:cs typeface="Calibri"/>
                <a:sym typeface="Calibri"/>
              </a:rPr>
              <a:t>state</a:t>
            </a:r>
            <a:r>
              <a:rPr lang="en-US" sz="2800" b="0" i="0" u="none">
                <a:solidFill>
                  <a:schemeClr val="dk1"/>
                </a:solidFill>
                <a:latin typeface="Calibri"/>
                <a:ea typeface="Calibri"/>
                <a:cs typeface="Calibri"/>
                <a:sym typeface="Calibri"/>
              </a:rPr>
              <a:t> is represented by a list of PCBs, one for each process in that state</a:t>
            </a:r>
            <a:endParaRPr/>
          </a:p>
        </p:txBody>
      </p:sp>
      <p:sp>
        <p:nvSpPr>
          <p:cNvPr id="214" name="Google Shape;214;p1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CPU Scheduling</a:t>
            </a:r>
            <a:endParaRPr/>
          </a:p>
        </p:txBody>
      </p:sp>
      <p:sp>
        <p:nvSpPr>
          <p:cNvPr id="221" name="Google Shape;221;p2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6600"/>
              </a:buClr>
              <a:buSzPts val="2800"/>
              <a:buFont typeface="Arial"/>
              <a:buNone/>
            </a:pPr>
            <a:r>
              <a:rPr lang="en-US" sz="2800" b="1" i="0" u="none">
                <a:solidFill>
                  <a:srgbClr val="FF6600"/>
                </a:solidFill>
                <a:latin typeface="Calibri"/>
                <a:ea typeface="Calibri"/>
                <a:cs typeface="Calibri"/>
                <a:sym typeface="Calibri"/>
              </a:rPr>
              <a:t>CPU Scheduling</a:t>
            </a:r>
            <a:r>
              <a:rPr lang="en-US" sz="2800" b="0" i="0" u="none">
                <a:solidFill>
                  <a:srgbClr val="FF6600"/>
                </a:solidFill>
                <a:latin typeface="Calibri"/>
                <a:ea typeface="Calibri"/>
                <a:cs typeface="Calibri"/>
                <a:sym typeface="Calibri"/>
              </a:rPr>
              <a:t>  </a:t>
            </a:r>
            <a:endParaRPr/>
          </a:p>
          <a:p>
            <a:pPr marL="0" marR="0" lvl="0" indent="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 act of determining which process in the </a:t>
            </a:r>
            <a:r>
              <a:rPr lang="en-US" sz="2800" b="0" i="1" u="none">
                <a:solidFill>
                  <a:schemeClr val="dk1"/>
                </a:solidFill>
                <a:latin typeface="Calibri"/>
                <a:ea typeface="Calibri"/>
                <a:cs typeface="Calibri"/>
                <a:sym typeface="Calibri"/>
              </a:rPr>
              <a:t>ready</a:t>
            </a:r>
            <a:r>
              <a:rPr lang="en-US" sz="2800" b="0" i="0" u="none">
                <a:solidFill>
                  <a:schemeClr val="dk1"/>
                </a:solidFill>
                <a:latin typeface="Calibri"/>
                <a:ea typeface="Calibri"/>
                <a:cs typeface="Calibri"/>
                <a:sym typeface="Calibri"/>
              </a:rPr>
              <a:t> state should be moved to the </a:t>
            </a:r>
            <a:r>
              <a:rPr lang="en-US" sz="2800" b="0" i="1" u="none">
                <a:solidFill>
                  <a:schemeClr val="dk1"/>
                </a:solidFill>
                <a:latin typeface="Calibri"/>
                <a:ea typeface="Calibri"/>
                <a:cs typeface="Calibri"/>
                <a:sym typeface="Calibri"/>
              </a:rPr>
              <a:t>running</a:t>
            </a:r>
            <a:r>
              <a:rPr lang="en-US" sz="2800" b="0" i="0" u="none">
                <a:solidFill>
                  <a:schemeClr val="dk1"/>
                </a:solidFill>
                <a:latin typeface="Calibri"/>
                <a:ea typeface="Calibri"/>
                <a:cs typeface="Calibri"/>
                <a:sym typeface="Calibri"/>
              </a:rPr>
              <a:t> state</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Many processes may be in the ready state</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Only one process can be in the running state, making progress at any one time</a:t>
            </a:r>
            <a:endParaRPr/>
          </a:p>
          <a:p>
            <a:pPr marL="0" marR="0" lvl="0" indent="0" algn="l" rtl="0">
              <a:lnSpc>
                <a:spcPct val="100000"/>
              </a:lnSpc>
              <a:spcBef>
                <a:spcPts val="560"/>
              </a:spcBef>
              <a:spcAft>
                <a:spcPts val="0"/>
              </a:spcAft>
              <a:buClr>
                <a:schemeClr val="dk1"/>
              </a:buClr>
              <a:buSzPts val="2800"/>
              <a:buFont typeface="Arial"/>
              <a:buNone/>
            </a:pPr>
            <a:r>
              <a:rPr lang="en-US" sz="2800" b="0" i="1" u="none">
                <a:solidFill>
                  <a:schemeClr val="dk1"/>
                </a:solidFill>
                <a:latin typeface="Calibri"/>
                <a:ea typeface="Calibri"/>
                <a:cs typeface="Calibri"/>
                <a:sym typeface="Calibri"/>
              </a:rPr>
              <a:t>	</a:t>
            </a:r>
            <a:endParaRPr/>
          </a:p>
        </p:txBody>
      </p:sp>
      <p:sp>
        <p:nvSpPr>
          <p:cNvPr id="222" name="Google Shape;222;p2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19</a:t>
            </a:fld>
            <a:endParaRPr/>
          </a:p>
        </p:txBody>
      </p:sp>
      <p:sp>
        <p:nvSpPr>
          <p:cNvPr id="223" name="Google Shape;223;p20"/>
          <p:cNvSpPr txBox="1"/>
          <p:nvPr/>
        </p:nvSpPr>
        <p:spPr>
          <a:xfrm flipH="1">
            <a:off x="1295400" y="5181600"/>
            <a:ext cx="6781800" cy="461962"/>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1" u="none" strike="noStrike" cap="none">
                <a:solidFill>
                  <a:schemeClr val="dk1"/>
                </a:solidFill>
                <a:latin typeface="Arial"/>
                <a:ea typeface="Arial"/>
                <a:cs typeface="Arial"/>
                <a:sym typeface="Arial"/>
              </a:rPr>
              <a:t>Which one gets to move from ready to running?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CPU Scheduling</a:t>
            </a:r>
            <a:endParaRPr/>
          </a:p>
        </p:txBody>
      </p:sp>
      <p:sp>
        <p:nvSpPr>
          <p:cNvPr id="230" name="Google Shape;230;p2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6600"/>
              </a:buClr>
              <a:buSzPts val="2400"/>
              <a:buFont typeface="Arial"/>
              <a:buNone/>
            </a:pPr>
            <a:r>
              <a:rPr lang="en-US" sz="2400" b="1" i="0" u="none">
                <a:solidFill>
                  <a:srgbClr val="FF6600"/>
                </a:solidFill>
                <a:latin typeface="Calibri"/>
                <a:ea typeface="Calibri"/>
                <a:cs typeface="Calibri"/>
                <a:sym typeface="Calibri"/>
              </a:rPr>
              <a:t>Nonpreemptive scheduling </a:t>
            </a:r>
            <a:r>
              <a:rPr lang="en-US" sz="2400" b="0" i="0" u="none">
                <a:solidFill>
                  <a:srgbClr val="FF6600"/>
                </a:solidFill>
                <a:latin typeface="Calibri"/>
                <a:ea typeface="Calibri"/>
                <a:cs typeface="Calibri"/>
                <a:sym typeface="Calibri"/>
              </a:rPr>
              <a:t> </a:t>
            </a:r>
            <a:endParaRPr/>
          </a:p>
          <a:p>
            <a:pPr marL="0" marR="0" lvl="0" indent="0" algn="l" rtl="0">
              <a:lnSpc>
                <a:spcPct val="90000"/>
              </a:lnSpc>
              <a:spcBef>
                <a:spcPts val="16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The currently executing process gives up the CPU voluntarily</a:t>
            </a:r>
            <a:endParaRPr/>
          </a:p>
          <a:p>
            <a:pPr marL="0" marR="0" lvl="0" indent="0" algn="l" rtl="0">
              <a:lnSpc>
                <a:spcPct val="90000"/>
              </a:lnSpc>
              <a:spcBef>
                <a:spcPts val="1680"/>
              </a:spcBef>
              <a:spcAft>
                <a:spcPts val="0"/>
              </a:spcAft>
              <a:buClr>
                <a:srgbClr val="FF6600"/>
              </a:buClr>
              <a:buSzPts val="2400"/>
              <a:buFont typeface="Arial"/>
              <a:buNone/>
            </a:pPr>
            <a:r>
              <a:rPr lang="en-US" sz="2400" b="1" i="0" u="none">
                <a:solidFill>
                  <a:srgbClr val="FF6600"/>
                </a:solidFill>
                <a:latin typeface="Calibri"/>
                <a:ea typeface="Calibri"/>
                <a:cs typeface="Calibri"/>
                <a:sym typeface="Calibri"/>
              </a:rPr>
              <a:t>Preemptive scheduling</a:t>
            </a:r>
            <a:r>
              <a:rPr lang="en-US" sz="2400" b="0" i="0" u="none">
                <a:solidFill>
                  <a:srgbClr val="FF6600"/>
                </a:solidFill>
                <a:latin typeface="Calibri"/>
                <a:ea typeface="Calibri"/>
                <a:cs typeface="Calibri"/>
                <a:sym typeface="Calibri"/>
              </a:rPr>
              <a:t>   </a:t>
            </a:r>
            <a:endParaRPr/>
          </a:p>
          <a:p>
            <a:pPr marL="0" marR="0" lvl="0" indent="0" algn="l" rtl="0">
              <a:lnSpc>
                <a:spcPct val="90000"/>
              </a:lnSpc>
              <a:spcBef>
                <a:spcPts val="16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The operating system decides to favor another process, preempting the currently executing process</a:t>
            </a:r>
            <a:endParaRPr/>
          </a:p>
        </p:txBody>
      </p:sp>
      <p:sp>
        <p:nvSpPr>
          <p:cNvPr id="231" name="Google Shape;231;p2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046745e4e5_2_213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CPU Scheduling</a:t>
            </a:r>
            <a:endParaRPr/>
          </a:p>
        </p:txBody>
      </p:sp>
      <p:sp>
        <p:nvSpPr>
          <p:cNvPr id="238" name="Google Shape;238;g3046745e4e5_2_2130"/>
          <p:cNvSpPr txBox="1">
            <a:spLocks noGrp="1"/>
          </p:cNvSpPr>
          <p:nvPr>
            <p:ph type="body" idx="1"/>
          </p:nvPr>
        </p:nvSpPr>
        <p:spPr>
          <a:xfrm>
            <a:off x="457200" y="1600200"/>
            <a:ext cx="8229600" cy="4629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680"/>
              </a:spcBef>
              <a:spcAft>
                <a:spcPts val="0"/>
              </a:spcAft>
              <a:buClr>
                <a:schemeClr val="dk1"/>
              </a:buClr>
              <a:buSzPts val="2400"/>
              <a:buFont typeface="Arial"/>
              <a:buNone/>
            </a:pPr>
            <a:r>
              <a:rPr lang="en-US" sz="2400" b="1">
                <a:solidFill>
                  <a:srgbClr val="FF6600"/>
                </a:solidFill>
                <a:latin typeface="Calibri"/>
                <a:ea typeface="Calibri"/>
                <a:cs typeface="Calibri"/>
                <a:sym typeface="Calibri"/>
              </a:rPr>
              <a:t>Arrival time</a:t>
            </a:r>
            <a:endParaRPr sz="2100" b="1">
              <a:solidFill>
                <a:srgbClr val="333333"/>
              </a:solidFill>
              <a:highlight>
                <a:srgbClr val="FFFFFF"/>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US" sz="2400">
                <a:solidFill>
                  <a:srgbClr val="333333"/>
                </a:solidFill>
                <a:highlight>
                  <a:srgbClr val="FFFFFF"/>
                </a:highlight>
                <a:latin typeface="Calibri"/>
                <a:ea typeface="Calibri"/>
                <a:cs typeface="Calibri"/>
                <a:sym typeface="Calibri"/>
              </a:rPr>
              <a:t>Arrival time is the time when a process enters into the ready state and is ready for its execution.</a:t>
            </a:r>
            <a:endParaRPr sz="2400" b="1">
              <a:solidFill>
                <a:srgbClr val="FF6600"/>
              </a:solidFill>
              <a:latin typeface="Calibri"/>
              <a:ea typeface="Calibri"/>
              <a:cs typeface="Calibri"/>
              <a:sym typeface="Calibri"/>
            </a:endParaRPr>
          </a:p>
          <a:p>
            <a:pPr marL="0" lvl="0" indent="0" algn="l" rtl="0">
              <a:lnSpc>
                <a:spcPct val="90000"/>
              </a:lnSpc>
              <a:spcBef>
                <a:spcPts val="2300"/>
              </a:spcBef>
              <a:spcAft>
                <a:spcPts val="0"/>
              </a:spcAft>
              <a:buClr>
                <a:schemeClr val="dk1"/>
              </a:buClr>
              <a:buSzPts val="1100"/>
              <a:buFont typeface="Arial"/>
              <a:buNone/>
            </a:pPr>
            <a:r>
              <a:rPr lang="en-US" sz="2400" b="1">
                <a:solidFill>
                  <a:srgbClr val="FF6600"/>
                </a:solidFill>
                <a:latin typeface="Calibri"/>
                <a:ea typeface="Calibri"/>
                <a:cs typeface="Calibri"/>
                <a:sym typeface="Calibri"/>
              </a:rPr>
              <a:t>Response time </a:t>
            </a:r>
            <a:endParaRPr sz="2400" b="1">
              <a:solidFill>
                <a:srgbClr val="FF6600"/>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2400">
                <a:solidFill>
                  <a:srgbClr val="333333"/>
                </a:solidFill>
                <a:highlight>
                  <a:srgbClr val="FFFFFF"/>
                </a:highlight>
                <a:latin typeface="Calibri"/>
                <a:ea typeface="Calibri"/>
                <a:cs typeface="Calibri"/>
                <a:sym typeface="Calibri"/>
              </a:rPr>
              <a:t>Response time is the time taken to start responding to the request. A scheduler must aim to minimize response time for interactive users. </a:t>
            </a:r>
            <a:endParaRPr sz="2400">
              <a:solidFill>
                <a:srgbClr val="333333"/>
              </a:solidFill>
              <a:highlight>
                <a:srgbClr val="FFFFFF"/>
              </a:highlight>
              <a:latin typeface="Calibri"/>
              <a:ea typeface="Calibri"/>
              <a:cs typeface="Calibri"/>
              <a:sym typeface="Calibri"/>
            </a:endParaRPr>
          </a:p>
          <a:p>
            <a:pPr marL="0" lvl="0" indent="0" algn="l" rtl="0">
              <a:lnSpc>
                <a:spcPct val="90000"/>
              </a:lnSpc>
              <a:spcBef>
                <a:spcPts val="2300"/>
              </a:spcBef>
              <a:spcAft>
                <a:spcPts val="0"/>
              </a:spcAft>
              <a:buClr>
                <a:schemeClr val="dk1"/>
              </a:buClr>
              <a:buSzPts val="1100"/>
              <a:buFont typeface="Arial"/>
              <a:buNone/>
            </a:pPr>
            <a:r>
              <a:rPr lang="en-US" sz="2400" b="1">
                <a:solidFill>
                  <a:srgbClr val="FF6600"/>
                </a:solidFill>
                <a:latin typeface="Calibri"/>
                <a:ea typeface="Calibri"/>
                <a:cs typeface="Calibri"/>
                <a:sym typeface="Calibri"/>
              </a:rPr>
              <a:t>Burst time </a:t>
            </a:r>
            <a:endParaRPr sz="2400" b="1">
              <a:solidFill>
                <a:srgbClr val="FF6600"/>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2400">
                <a:solidFill>
                  <a:schemeClr val="dk1"/>
                </a:solidFill>
                <a:highlight>
                  <a:srgbClr val="FFFFFF"/>
                </a:highlight>
                <a:latin typeface="Calibri"/>
                <a:ea typeface="Calibri"/>
                <a:cs typeface="Calibri"/>
                <a:sym typeface="Calibri"/>
              </a:rPr>
              <a:t>Burst time is the total time taken by the process for its execution on the CPU.</a:t>
            </a:r>
            <a:endParaRPr sz="2400">
              <a:solidFill>
                <a:schemeClr val="dk1"/>
              </a:solidFill>
              <a:highlight>
                <a:srgbClr val="FFFFFF"/>
              </a:highlight>
              <a:latin typeface="Calibri"/>
              <a:ea typeface="Calibri"/>
              <a:cs typeface="Calibri"/>
              <a:sym typeface="Calibri"/>
            </a:endParaRPr>
          </a:p>
          <a:p>
            <a:pPr marL="0" lvl="0" indent="0" algn="l" rtl="0">
              <a:lnSpc>
                <a:spcPct val="100000"/>
              </a:lnSpc>
              <a:spcBef>
                <a:spcPts val="2300"/>
              </a:spcBef>
              <a:spcAft>
                <a:spcPts val="0"/>
              </a:spcAft>
              <a:buClr>
                <a:schemeClr val="dk1"/>
              </a:buClr>
              <a:buSzPts val="1100"/>
              <a:buFont typeface="Arial"/>
              <a:buNone/>
            </a:pPr>
            <a:endParaRPr sz="2400">
              <a:solidFill>
                <a:srgbClr val="333333"/>
              </a:solidFill>
              <a:highlight>
                <a:srgbClr val="FFFFFF"/>
              </a:highlight>
              <a:latin typeface="Calibri"/>
              <a:ea typeface="Calibri"/>
              <a:cs typeface="Calibri"/>
              <a:sym typeface="Calibri"/>
            </a:endParaRPr>
          </a:p>
          <a:p>
            <a:pPr marL="0" marR="0" lvl="0" indent="0" algn="l" rtl="0">
              <a:lnSpc>
                <a:spcPct val="90000"/>
              </a:lnSpc>
              <a:spcBef>
                <a:spcPts val="2300"/>
              </a:spcBef>
              <a:spcAft>
                <a:spcPts val="0"/>
              </a:spcAft>
              <a:buClr>
                <a:schemeClr val="dk1"/>
              </a:buClr>
              <a:buSzPts val="2400"/>
              <a:buFont typeface="Arial"/>
              <a:buNone/>
            </a:pPr>
            <a:endParaRPr sz="2400" b="1">
              <a:solidFill>
                <a:srgbClr val="FF6600"/>
              </a:solidFill>
              <a:latin typeface="Calibri"/>
              <a:ea typeface="Calibri"/>
              <a:cs typeface="Calibri"/>
              <a:sym typeface="Calibri"/>
            </a:endParaRPr>
          </a:p>
        </p:txBody>
      </p:sp>
      <p:sp>
        <p:nvSpPr>
          <p:cNvPr id="239" name="Google Shape;239;g3046745e4e5_2_2130"/>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046745e4e5_0_11"/>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CPU Scheduling</a:t>
            </a:r>
            <a:endParaRPr/>
          </a:p>
        </p:txBody>
      </p:sp>
      <p:sp>
        <p:nvSpPr>
          <p:cNvPr id="246" name="Google Shape;246;g3046745e4e5_0_11"/>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lnSpc>
                <a:spcPct val="90000"/>
              </a:lnSpc>
              <a:spcBef>
                <a:spcPts val="700"/>
              </a:spcBef>
              <a:spcAft>
                <a:spcPts val="0"/>
              </a:spcAft>
              <a:buClr>
                <a:schemeClr val="dk1"/>
              </a:buClr>
              <a:buSzPts val="1100"/>
              <a:buFont typeface="Arial"/>
              <a:buNone/>
            </a:pPr>
            <a:r>
              <a:rPr lang="en-US" sz="2400" b="1">
                <a:solidFill>
                  <a:srgbClr val="FF6600"/>
                </a:solidFill>
                <a:latin typeface="Calibri"/>
                <a:ea typeface="Calibri"/>
                <a:cs typeface="Calibri"/>
                <a:sym typeface="Calibri"/>
              </a:rPr>
              <a:t>Waiting time: </a:t>
            </a:r>
            <a:r>
              <a:rPr lang="en-US" sz="2400">
                <a:solidFill>
                  <a:srgbClr val="333333"/>
                </a:solidFill>
                <a:highlight>
                  <a:srgbClr val="FFFFFF"/>
                </a:highlight>
                <a:latin typeface="Calibri"/>
                <a:ea typeface="Calibri"/>
                <a:cs typeface="Calibri"/>
                <a:sym typeface="Calibri"/>
              </a:rPr>
              <a:t>Waiting time is the total time spent by the process in the ready state waiting for CPU.</a:t>
            </a:r>
            <a:endParaRPr sz="2400">
              <a:solidFill>
                <a:srgbClr val="333333"/>
              </a:solidFill>
              <a:highlight>
                <a:srgbClr val="FFFFFF"/>
              </a:highlight>
              <a:latin typeface="Calibri"/>
              <a:ea typeface="Calibri"/>
              <a:cs typeface="Calibri"/>
              <a:sym typeface="Calibri"/>
            </a:endParaRPr>
          </a:p>
          <a:p>
            <a:pPr marL="0" lvl="0" indent="0" algn="l" rtl="0">
              <a:lnSpc>
                <a:spcPct val="90000"/>
              </a:lnSpc>
              <a:spcBef>
                <a:spcPts val="700"/>
              </a:spcBef>
              <a:spcAft>
                <a:spcPts val="0"/>
              </a:spcAft>
              <a:buClr>
                <a:schemeClr val="dk1"/>
              </a:buClr>
              <a:buSzPts val="1100"/>
              <a:buFont typeface="Arial"/>
              <a:buNone/>
            </a:pPr>
            <a:r>
              <a:rPr lang="en-US" sz="2400" b="1">
                <a:solidFill>
                  <a:srgbClr val="FF6600"/>
                </a:solidFill>
                <a:highlight>
                  <a:srgbClr val="FFFFFF"/>
                </a:highlight>
                <a:latin typeface="Calibri"/>
                <a:ea typeface="Calibri"/>
                <a:cs typeface="Calibri"/>
                <a:sym typeface="Calibri"/>
              </a:rPr>
              <a:t>Waiting time = Turnaround time - Burst time</a:t>
            </a:r>
            <a:endParaRPr sz="2400">
              <a:solidFill>
                <a:srgbClr val="FF6600"/>
              </a:solidFill>
              <a:highlight>
                <a:srgbClr val="FFFFFF"/>
              </a:highlight>
              <a:latin typeface="Calibri"/>
              <a:ea typeface="Calibri"/>
              <a:cs typeface="Calibri"/>
              <a:sym typeface="Calibri"/>
            </a:endParaRPr>
          </a:p>
          <a:p>
            <a:pPr marL="0" lvl="0" indent="0" algn="l" rtl="0">
              <a:lnSpc>
                <a:spcPct val="90000"/>
              </a:lnSpc>
              <a:spcBef>
                <a:spcPts val="1680"/>
              </a:spcBef>
              <a:spcAft>
                <a:spcPts val="0"/>
              </a:spcAft>
              <a:buNone/>
            </a:pPr>
            <a:r>
              <a:rPr lang="en-US" sz="2400" b="1">
                <a:solidFill>
                  <a:srgbClr val="FF6600"/>
                </a:solidFill>
                <a:latin typeface="Calibri"/>
                <a:ea typeface="Calibri"/>
                <a:cs typeface="Calibri"/>
                <a:sym typeface="Calibri"/>
              </a:rPr>
              <a:t>Turnaround time</a:t>
            </a:r>
            <a:r>
              <a:rPr lang="en-US" sz="2400">
                <a:solidFill>
                  <a:srgbClr val="FF6600"/>
                </a:solidFill>
                <a:latin typeface="Calibri"/>
                <a:ea typeface="Calibri"/>
                <a:cs typeface="Calibri"/>
                <a:sym typeface="Calibri"/>
              </a:rPr>
              <a:t>: </a:t>
            </a:r>
            <a:r>
              <a:rPr lang="en-US" sz="2400">
                <a:solidFill>
                  <a:schemeClr val="dk1"/>
                </a:solidFill>
                <a:latin typeface="Calibri"/>
                <a:ea typeface="Calibri"/>
                <a:cs typeface="Calibri"/>
                <a:sym typeface="Calibri"/>
              </a:rPr>
              <a:t>The amount of time between when a process arrives in the ready state the first time and when it exits the running state for the last time (the total time spent between starting the process and ending the process).</a:t>
            </a:r>
            <a:endParaRPr sz="24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2400" b="1">
                <a:solidFill>
                  <a:srgbClr val="FF6600"/>
                </a:solidFill>
                <a:highlight>
                  <a:srgbClr val="FFFFFF"/>
                </a:highlight>
                <a:latin typeface="Calibri"/>
                <a:ea typeface="Calibri"/>
                <a:cs typeface="Calibri"/>
                <a:sym typeface="Calibri"/>
              </a:rPr>
              <a:t>Turnaround time = Burst time + Waiting time</a:t>
            </a:r>
            <a:endParaRPr sz="2400" b="1">
              <a:solidFill>
                <a:srgbClr val="FF6600"/>
              </a:solidFill>
              <a:highlight>
                <a:srgbClr val="FFFFFF"/>
              </a:highlight>
              <a:latin typeface="Calibri"/>
              <a:ea typeface="Calibri"/>
              <a:cs typeface="Calibri"/>
              <a:sym typeface="Calibri"/>
            </a:endParaRPr>
          </a:p>
          <a:p>
            <a:pPr marL="0" lvl="0" indent="0" algn="l" rtl="0">
              <a:lnSpc>
                <a:spcPct val="90000"/>
              </a:lnSpc>
              <a:spcBef>
                <a:spcPts val="1680"/>
              </a:spcBef>
              <a:spcAft>
                <a:spcPts val="0"/>
              </a:spcAft>
              <a:buClr>
                <a:schemeClr val="dk1"/>
              </a:buClr>
              <a:buSzPts val="2400"/>
              <a:buFont typeface="Arial"/>
              <a:buNone/>
            </a:pPr>
            <a:endParaRPr sz="2400" b="1">
              <a:solidFill>
                <a:srgbClr val="FF6600"/>
              </a:solidFill>
              <a:latin typeface="Calibri"/>
              <a:ea typeface="Calibri"/>
              <a:cs typeface="Calibri"/>
              <a:sym typeface="Calibri"/>
            </a:endParaRPr>
          </a:p>
        </p:txBody>
      </p:sp>
      <p:sp>
        <p:nvSpPr>
          <p:cNvPr id="247" name="Google Shape;247;g3046745e4e5_0_11"/>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1200"/>
              <a:buFont typeface="Arial"/>
              <a:buNone/>
            </a:pPr>
            <a:fld id="{00000000-1234-1234-1234-123412341234}" type="slidenum">
              <a:rPr lang="en-US"/>
              <a:pPr marL="0" lvl="0" indent="0" algn="r" rtl="0">
                <a:spcBef>
                  <a:spcPts val="0"/>
                </a:spcBef>
                <a:spcAft>
                  <a:spcPts val="0"/>
                </a:spcAft>
                <a:buClr>
                  <a:srgbClr val="898989"/>
                </a:buClr>
                <a:buSzPts val="1200"/>
                <a:buFont typeface="Arial"/>
                <a:buNone/>
              </a:pPr>
              <a:t>22</a:t>
            </a:fld>
            <a:endParaRPr sz="10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CPU Scheduling Algorithms</a:t>
            </a:r>
            <a:endParaRPr/>
          </a:p>
        </p:txBody>
      </p:sp>
      <p:sp>
        <p:nvSpPr>
          <p:cNvPr id="254" name="Google Shape;254;p2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6600"/>
              </a:buClr>
              <a:buSzPts val="2400"/>
              <a:buFont typeface="Arial"/>
              <a:buNone/>
            </a:pPr>
            <a:r>
              <a:rPr lang="en-US" sz="2400" b="1" i="0" u="none">
                <a:solidFill>
                  <a:srgbClr val="FF6600"/>
                </a:solidFill>
                <a:latin typeface="Calibri"/>
                <a:ea typeface="Calibri"/>
                <a:cs typeface="Calibri"/>
                <a:sym typeface="Calibri"/>
              </a:rPr>
              <a:t>First-Come, First-Served</a:t>
            </a:r>
            <a:endParaRPr/>
          </a:p>
          <a:p>
            <a:pPr marL="0" marR="0" lvl="0" indent="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Processes are moved to the CPU in the order in which they arrive in the running state</a:t>
            </a:r>
            <a:endParaRPr/>
          </a:p>
          <a:p>
            <a:pPr marL="0" marR="0" lvl="0" indent="0" algn="l" rtl="0">
              <a:lnSpc>
                <a:spcPct val="90000"/>
              </a:lnSpc>
              <a:spcBef>
                <a:spcPts val="480"/>
              </a:spcBef>
              <a:spcAft>
                <a:spcPts val="0"/>
              </a:spcAft>
              <a:buClr>
                <a:srgbClr val="FF6600"/>
              </a:buClr>
              <a:buSzPts val="2400"/>
              <a:buFont typeface="Arial"/>
              <a:buNone/>
            </a:pPr>
            <a:r>
              <a:rPr lang="en-US" sz="2400" b="1" i="0" u="none">
                <a:solidFill>
                  <a:srgbClr val="FF6600"/>
                </a:solidFill>
                <a:latin typeface="Calibri"/>
                <a:ea typeface="Calibri"/>
                <a:cs typeface="Calibri"/>
                <a:sym typeface="Calibri"/>
              </a:rPr>
              <a:t>Shortest Job Next</a:t>
            </a:r>
            <a:endParaRPr/>
          </a:p>
          <a:p>
            <a:pPr marL="0" marR="0" lvl="0" indent="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Process with shortest estimated running time in the ready state is moved into the running state first</a:t>
            </a:r>
            <a:endParaRPr/>
          </a:p>
          <a:p>
            <a:pPr marL="0" marR="0" lvl="0" indent="0" algn="l" rtl="0">
              <a:lnSpc>
                <a:spcPct val="90000"/>
              </a:lnSpc>
              <a:spcBef>
                <a:spcPts val="480"/>
              </a:spcBef>
              <a:spcAft>
                <a:spcPts val="0"/>
              </a:spcAft>
              <a:buClr>
                <a:srgbClr val="FF6600"/>
              </a:buClr>
              <a:buSzPts val="2400"/>
              <a:buFont typeface="Arial"/>
              <a:buNone/>
            </a:pPr>
            <a:r>
              <a:rPr lang="en-US" sz="2400" b="1" i="0" u="none">
                <a:solidFill>
                  <a:srgbClr val="FF6600"/>
                </a:solidFill>
                <a:latin typeface="Calibri"/>
                <a:ea typeface="Calibri"/>
                <a:cs typeface="Calibri"/>
                <a:sym typeface="Calibri"/>
              </a:rPr>
              <a:t>Round Robin</a:t>
            </a:r>
            <a:endParaRPr/>
          </a:p>
          <a:p>
            <a:pPr marL="0" marR="0" lvl="0" indent="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Each process runs for a specified time slice and moves from the running state to the ready state to await its next turn if not finished</a:t>
            </a:r>
            <a:endParaRPr/>
          </a:p>
        </p:txBody>
      </p:sp>
      <p:sp>
        <p:nvSpPr>
          <p:cNvPr id="255" name="Google Shape;255;p2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3"/>
          <p:cNvSpPr txBox="1">
            <a:spLocks noGrp="1"/>
          </p:cNvSpPr>
          <p:nvPr>
            <p:ph type="title"/>
          </p:nvPr>
        </p:nvSpPr>
        <p:spPr>
          <a:xfrm>
            <a:off x="800100" y="152400"/>
            <a:ext cx="7543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First-Come, First-Served</a:t>
            </a:r>
            <a:endParaRPr/>
          </a:p>
        </p:txBody>
      </p:sp>
      <p:sp>
        <p:nvSpPr>
          <p:cNvPr id="262" name="Google Shape;262;p2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24</a:t>
            </a:fld>
            <a:endParaRPr/>
          </a:p>
        </p:txBody>
      </p:sp>
      <p:sp>
        <p:nvSpPr>
          <p:cNvPr id="263" name="Google Shape;263;p23"/>
          <p:cNvSpPr txBox="1"/>
          <p:nvPr/>
        </p:nvSpPr>
        <p:spPr>
          <a:xfrm>
            <a:off x="533400" y="6324600"/>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64" name="Google Shape;264;p23"/>
          <p:cNvSpPr txBox="1"/>
          <p:nvPr/>
        </p:nvSpPr>
        <p:spPr>
          <a:xfrm>
            <a:off x="5715000" y="2063750"/>
            <a:ext cx="2057400" cy="1143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What is the</a:t>
            </a:r>
            <a:endParaRPr/>
          </a:p>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average turn-</a:t>
            </a:r>
            <a:endParaRPr/>
          </a:p>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around time?</a:t>
            </a:r>
            <a:endParaRPr/>
          </a:p>
        </p:txBody>
      </p:sp>
      <p:pic>
        <p:nvPicPr>
          <p:cNvPr id="265" name="Google Shape;265;p23"/>
          <p:cNvPicPr preferRelativeResize="0"/>
          <p:nvPr/>
        </p:nvPicPr>
        <p:blipFill rotWithShape="1">
          <a:blip r:embed="rId3">
            <a:alphaModFix/>
          </a:blip>
          <a:srcRect/>
          <a:stretch/>
        </p:blipFill>
        <p:spPr>
          <a:xfrm>
            <a:off x="2057400" y="1592262"/>
            <a:ext cx="2924175" cy="2085975"/>
          </a:xfrm>
          <a:prstGeom prst="rect">
            <a:avLst/>
          </a:prstGeom>
          <a:noFill/>
          <a:ln>
            <a:noFill/>
          </a:ln>
        </p:spPr>
      </p:pic>
      <p:pic>
        <p:nvPicPr>
          <p:cNvPr id="266" name="Google Shape;266;p23"/>
          <p:cNvPicPr preferRelativeResize="0"/>
          <p:nvPr/>
        </p:nvPicPr>
        <p:blipFill rotWithShape="1">
          <a:blip r:embed="rId4">
            <a:alphaModFix/>
          </a:blip>
          <a:srcRect/>
          <a:stretch/>
        </p:blipFill>
        <p:spPr>
          <a:xfrm>
            <a:off x="1057275" y="4267200"/>
            <a:ext cx="7029450" cy="1152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Shortest Job Next</a:t>
            </a:r>
            <a:endParaRPr/>
          </a:p>
        </p:txBody>
      </p:sp>
      <p:sp>
        <p:nvSpPr>
          <p:cNvPr id="273" name="Google Shape;273;p2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25</a:t>
            </a:fld>
            <a:endParaRPr/>
          </a:p>
        </p:txBody>
      </p:sp>
      <p:sp>
        <p:nvSpPr>
          <p:cNvPr id="274" name="Google Shape;274;p24"/>
          <p:cNvSpPr txBox="1"/>
          <p:nvPr/>
        </p:nvSpPr>
        <p:spPr>
          <a:xfrm>
            <a:off x="457200" y="6324600"/>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75" name="Google Shape;275;p24"/>
          <p:cNvSpPr txBox="1"/>
          <p:nvPr/>
        </p:nvSpPr>
        <p:spPr>
          <a:xfrm>
            <a:off x="5562600" y="2514600"/>
            <a:ext cx="2057400" cy="1143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What is the</a:t>
            </a:r>
            <a:endParaRPr/>
          </a:p>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average turn-</a:t>
            </a:r>
            <a:endParaRPr/>
          </a:p>
          <a:p>
            <a:pPr marL="0" marR="0" lvl="0" indent="0" algn="l"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around time?</a:t>
            </a:r>
            <a:endParaRPr/>
          </a:p>
        </p:txBody>
      </p:sp>
      <p:pic>
        <p:nvPicPr>
          <p:cNvPr id="276" name="Google Shape;276;p24"/>
          <p:cNvPicPr preferRelativeResize="0"/>
          <p:nvPr/>
        </p:nvPicPr>
        <p:blipFill rotWithShape="1">
          <a:blip r:embed="rId3">
            <a:alphaModFix/>
          </a:blip>
          <a:srcRect/>
          <a:stretch/>
        </p:blipFill>
        <p:spPr>
          <a:xfrm>
            <a:off x="1898650" y="1571625"/>
            <a:ext cx="2924175" cy="2085975"/>
          </a:xfrm>
          <a:prstGeom prst="rect">
            <a:avLst/>
          </a:prstGeom>
          <a:noFill/>
          <a:ln>
            <a:noFill/>
          </a:ln>
        </p:spPr>
      </p:pic>
      <p:pic>
        <p:nvPicPr>
          <p:cNvPr id="277" name="Google Shape;277;p24"/>
          <p:cNvPicPr preferRelativeResize="0"/>
          <p:nvPr/>
        </p:nvPicPr>
        <p:blipFill rotWithShape="1">
          <a:blip r:embed="rId4">
            <a:alphaModFix/>
          </a:blip>
          <a:srcRect/>
          <a:stretch/>
        </p:blipFill>
        <p:spPr>
          <a:xfrm>
            <a:off x="971550" y="4419600"/>
            <a:ext cx="7200900" cy="1362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Round Robin</a:t>
            </a:r>
            <a:endParaRPr/>
          </a:p>
        </p:txBody>
      </p:sp>
      <p:sp>
        <p:nvSpPr>
          <p:cNvPr id="284" name="Google Shape;284;p2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Every process is treated the same!</a:t>
            </a:r>
            <a:endParaRPr/>
          </a:p>
          <a:p>
            <a:pPr marL="0" marR="0" lvl="0" indent="0" algn="l" rtl="0">
              <a:lnSpc>
                <a:spcPct val="100000"/>
              </a:lnSpc>
              <a:spcBef>
                <a:spcPts val="640"/>
              </a:spcBef>
              <a:spcAft>
                <a:spcPts val="0"/>
              </a:spcAft>
              <a:buClr>
                <a:srgbClr val="FF6600"/>
              </a:buClr>
              <a:buSzPts val="3200"/>
              <a:buFont typeface="Arial"/>
              <a:buNone/>
            </a:pPr>
            <a:r>
              <a:rPr lang="en-US" sz="3200" b="1" i="0" u="none">
                <a:solidFill>
                  <a:srgbClr val="FF6600"/>
                </a:solidFill>
                <a:latin typeface="Calibri"/>
                <a:ea typeface="Calibri"/>
                <a:cs typeface="Calibri"/>
                <a:sym typeface="Calibri"/>
              </a:rPr>
              <a:t>Time slice (quantum)</a:t>
            </a:r>
            <a:endParaRPr/>
          </a:p>
          <a:p>
            <a:pPr marL="0" marR="0" lvl="0" indent="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The amount of time each process receives before being preempted and returned to the ready state to allow another process its turn</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
        <p:nvSpPr>
          <p:cNvPr id="285" name="Google Shape;285;p2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Round Robin</a:t>
            </a:r>
            <a:endParaRPr/>
          </a:p>
        </p:txBody>
      </p:sp>
      <p:sp>
        <p:nvSpPr>
          <p:cNvPr id="292" name="Google Shape;292;p26"/>
          <p:cNvSpPr txBox="1">
            <a:spLocks noGrp="1"/>
          </p:cNvSpPr>
          <p:nvPr>
            <p:ph type="body" idx="1"/>
          </p:nvPr>
        </p:nvSpPr>
        <p:spPr>
          <a:xfrm>
            <a:off x="457200" y="1676400"/>
            <a:ext cx="8229600" cy="838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Suppose the time slice is 50</a:t>
            </a:r>
            <a:endParaRPr/>
          </a:p>
        </p:txBody>
      </p:sp>
      <p:sp>
        <p:nvSpPr>
          <p:cNvPr id="293" name="Google Shape;293;p2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27</a:t>
            </a:fld>
            <a:endParaRPr/>
          </a:p>
        </p:txBody>
      </p:sp>
      <p:sp>
        <p:nvSpPr>
          <p:cNvPr id="294" name="Google Shape;294;p26"/>
          <p:cNvSpPr txBox="1"/>
          <p:nvPr/>
        </p:nvSpPr>
        <p:spPr>
          <a:xfrm>
            <a:off x="457200" y="4953000"/>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95" name="Google Shape;295;p26"/>
          <p:cNvSpPr txBox="1"/>
          <p:nvPr/>
        </p:nvSpPr>
        <p:spPr>
          <a:xfrm>
            <a:off x="3810000" y="5257800"/>
            <a:ext cx="4114800" cy="990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What is the average </a:t>
            </a:r>
            <a:endParaRPr/>
          </a:p>
          <a:p>
            <a:pPr marL="0" marR="0" lvl="0" indent="0" algn="ctr" rtl="0">
              <a:lnSpc>
                <a:spcPct val="100000"/>
              </a:lnSpc>
              <a:spcBef>
                <a:spcPts val="0"/>
              </a:spcBef>
              <a:spcAft>
                <a:spcPts val="0"/>
              </a:spcAft>
              <a:buClr>
                <a:schemeClr val="dk1"/>
              </a:buClr>
              <a:buSzPts val="2400"/>
              <a:buFont typeface="Arial"/>
              <a:buNone/>
            </a:pPr>
            <a:r>
              <a:rPr lang="en-US" sz="2400" b="0" i="1" u="none">
                <a:solidFill>
                  <a:schemeClr val="dk1"/>
                </a:solidFill>
                <a:latin typeface="Arial"/>
                <a:ea typeface="Arial"/>
                <a:cs typeface="Arial"/>
                <a:sym typeface="Arial"/>
              </a:rPr>
              <a:t>turnaround time?</a:t>
            </a:r>
            <a:endParaRPr/>
          </a:p>
        </p:txBody>
      </p:sp>
      <p:pic>
        <p:nvPicPr>
          <p:cNvPr id="296" name="Google Shape;296;p26"/>
          <p:cNvPicPr preferRelativeResize="0"/>
          <p:nvPr/>
        </p:nvPicPr>
        <p:blipFill rotWithShape="1">
          <a:blip r:embed="rId3">
            <a:alphaModFix/>
          </a:blip>
          <a:srcRect/>
          <a:stretch/>
        </p:blipFill>
        <p:spPr>
          <a:xfrm>
            <a:off x="947737" y="2709862"/>
            <a:ext cx="7248525" cy="1438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CPU Scheduling Algorithms</a:t>
            </a:r>
            <a:endParaRPr/>
          </a:p>
        </p:txBody>
      </p:sp>
      <p:sp>
        <p:nvSpPr>
          <p:cNvPr id="303" name="Google Shape;303;p2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Arial"/>
              <a:buNone/>
            </a:pPr>
            <a:r>
              <a:rPr lang="en-US" sz="3200" b="0" i="1" u="none">
                <a:solidFill>
                  <a:schemeClr val="dk1"/>
                </a:solidFill>
                <a:latin typeface="Calibri"/>
                <a:ea typeface="Calibri"/>
                <a:cs typeface="Calibri"/>
                <a:sym typeface="Calibri"/>
              </a:rPr>
              <a:t>Are these scheduling algorithms preemptive or non-preemptive? </a:t>
            </a:r>
            <a:r>
              <a:rPr lang="en-US" sz="3200" b="0" i="1" u="none">
                <a:solidFill>
                  <a:srgbClr val="FF6600"/>
                </a:solidFill>
                <a:latin typeface="Calibri"/>
                <a:ea typeface="Calibri"/>
                <a:cs typeface="Calibri"/>
                <a:sym typeface="Calibri"/>
              </a:rPr>
              <a:t>Explain</a:t>
            </a:r>
            <a:endParaRPr/>
          </a:p>
          <a:p>
            <a:pPr marL="0" marR="0" lvl="0" indent="0" algn="l" rtl="0">
              <a:lnSpc>
                <a:spcPct val="90000"/>
              </a:lnSpc>
              <a:spcBef>
                <a:spcPts val="640"/>
              </a:spcBef>
              <a:spcAft>
                <a:spcPts val="0"/>
              </a:spcAft>
              <a:buClr>
                <a:schemeClr val="dk1"/>
              </a:buClr>
              <a:buSzPts val="3200"/>
              <a:buFont typeface="Arial"/>
              <a:buNone/>
            </a:pPr>
            <a:endParaRPr sz="3200" b="0" i="1" u="none">
              <a:solidFill>
                <a:schemeClr val="dk1"/>
              </a:solidFill>
              <a:latin typeface="Calibri"/>
              <a:ea typeface="Calibri"/>
              <a:cs typeface="Calibri"/>
              <a:sym typeface="Calibri"/>
            </a:endParaRPr>
          </a:p>
          <a:p>
            <a:pPr marL="0" marR="0" lvl="0" indent="0" algn="l" rtl="0">
              <a:lnSpc>
                <a:spcPct val="60000"/>
              </a:lnSpc>
              <a:spcBef>
                <a:spcPts val="560"/>
              </a:spcBef>
              <a:spcAft>
                <a:spcPts val="0"/>
              </a:spcAft>
              <a:buClr>
                <a:schemeClr val="dk1"/>
              </a:buClr>
              <a:buSzPts val="2800"/>
              <a:buFont typeface="Arial"/>
              <a:buNone/>
            </a:pPr>
            <a:r>
              <a:rPr lang="en-US" sz="2800" b="0" i="1" u="none">
                <a:solidFill>
                  <a:schemeClr val="dk1"/>
                </a:solidFill>
                <a:latin typeface="Calibri"/>
                <a:ea typeface="Calibri"/>
                <a:cs typeface="Calibri"/>
                <a:sym typeface="Calibri"/>
              </a:rPr>
              <a:t>	First-Come, First-Served?</a:t>
            </a:r>
            <a:endParaRPr/>
          </a:p>
          <a:p>
            <a:pPr marL="0" marR="0" lvl="0" indent="0" algn="l" rtl="0">
              <a:lnSpc>
                <a:spcPct val="60000"/>
              </a:lnSpc>
              <a:spcBef>
                <a:spcPts val="560"/>
              </a:spcBef>
              <a:spcAft>
                <a:spcPts val="0"/>
              </a:spcAft>
              <a:buClr>
                <a:schemeClr val="dk1"/>
              </a:buClr>
              <a:buSzPts val="2800"/>
              <a:buFont typeface="Arial"/>
              <a:buNone/>
            </a:pPr>
            <a:endParaRPr sz="2800" b="0" i="1" u="none">
              <a:solidFill>
                <a:schemeClr val="dk1"/>
              </a:solidFill>
              <a:latin typeface="Calibri"/>
              <a:ea typeface="Calibri"/>
              <a:cs typeface="Calibri"/>
              <a:sym typeface="Calibri"/>
            </a:endParaRPr>
          </a:p>
          <a:p>
            <a:pPr marL="0" marR="0" lvl="0" indent="0" algn="l" rtl="0">
              <a:lnSpc>
                <a:spcPct val="60000"/>
              </a:lnSpc>
              <a:spcBef>
                <a:spcPts val="560"/>
              </a:spcBef>
              <a:spcAft>
                <a:spcPts val="0"/>
              </a:spcAft>
              <a:buClr>
                <a:schemeClr val="dk1"/>
              </a:buClr>
              <a:buSzPts val="2800"/>
              <a:buFont typeface="Arial"/>
              <a:buNone/>
            </a:pPr>
            <a:r>
              <a:rPr lang="en-US" sz="2800" b="0" i="1" u="none">
                <a:solidFill>
                  <a:schemeClr val="dk1"/>
                </a:solidFill>
                <a:latin typeface="Calibri"/>
                <a:ea typeface="Calibri"/>
                <a:cs typeface="Calibri"/>
                <a:sym typeface="Calibri"/>
              </a:rPr>
              <a:t>	Shortest Job Next?</a:t>
            </a:r>
            <a:endParaRPr/>
          </a:p>
          <a:p>
            <a:pPr marL="0" marR="0" lvl="0" indent="0" algn="l" rtl="0">
              <a:lnSpc>
                <a:spcPct val="60000"/>
              </a:lnSpc>
              <a:spcBef>
                <a:spcPts val="560"/>
              </a:spcBef>
              <a:spcAft>
                <a:spcPts val="0"/>
              </a:spcAft>
              <a:buClr>
                <a:schemeClr val="dk1"/>
              </a:buClr>
              <a:buSzPts val="2800"/>
              <a:buFont typeface="Arial"/>
              <a:buNone/>
            </a:pPr>
            <a:endParaRPr sz="2800" b="0" i="1" u="none">
              <a:solidFill>
                <a:schemeClr val="dk1"/>
              </a:solidFill>
              <a:latin typeface="Calibri"/>
              <a:ea typeface="Calibri"/>
              <a:cs typeface="Calibri"/>
              <a:sym typeface="Calibri"/>
            </a:endParaRPr>
          </a:p>
          <a:p>
            <a:pPr marL="0" marR="0" lvl="0" indent="0" algn="l" rtl="0">
              <a:lnSpc>
                <a:spcPct val="60000"/>
              </a:lnSpc>
              <a:spcBef>
                <a:spcPts val="560"/>
              </a:spcBef>
              <a:spcAft>
                <a:spcPts val="0"/>
              </a:spcAft>
              <a:buClr>
                <a:schemeClr val="dk1"/>
              </a:buClr>
              <a:buSzPts val="2800"/>
              <a:buFont typeface="Arial"/>
              <a:buNone/>
            </a:pPr>
            <a:r>
              <a:rPr lang="en-US" sz="2800" b="0" i="1" u="none">
                <a:solidFill>
                  <a:schemeClr val="dk1"/>
                </a:solidFill>
                <a:latin typeface="Calibri"/>
                <a:ea typeface="Calibri"/>
                <a:cs typeface="Calibri"/>
                <a:sym typeface="Calibri"/>
              </a:rPr>
              <a:t>	Round Robin?</a:t>
            </a:r>
            <a:endParaRPr sz="3200" b="0" i="1"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1" u="none">
              <a:solidFill>
                <a:schemeClr val="dk1"/>
              </a:solidFill>
              <a:latin typeface="Calibri"/>
              <a:ea typeface="Calibri"/>
              <a:cs typeface="Calibri"/>
              <a:sym typeface="Calibri"/>
            </a:endParaRPr>
          </a:p>
        </p:txBody>
      </p:sp>
      <p:sp>
        <p:nvSpPr>
          <p:cNvPr id="304" name="Google Shape;304;p2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Activity 1:</a:t>
            </a:r>
            <a:endParaRPr/>
          </a:p>
        </p:txBody>
      </p:sp>
      <p:sp>
        <p:nvSpPr>
          <p:cNvPr id="310" name="Google Shape;310;p2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29</a:t>
            </a:fld>
            <a:endParaRPr/>
          </a:p>
        </p:txBody>
      </p:sp>
      <p:pic>
        <p:nvPicPr>
          <p:cNvPr id="311" name="Google Shape;311;p28"/>
          <p:cNvPicPr preferRelativeResize="0"/>
          <p:nvPr/>
        </p:nvPicPr>
        <p:blipFill rotWithShape="1">
          <a:blip r:embed="rId3">
            <a:alphaModFix/>
          </a:blip>
          <a:srcRect/>
          <a:stretch/>
        </p:blipFill>
        <p:spPr>
          <a:xfrm>
            <a:off x="533400" y="1524000"/>
            <a:ext cx="7381875" cy="2514600"/>
          </a:xfrm>
          <a:prstGeom prst="rect">
            <a:avLst/>
          </a:prstGeom>
          <a:noFill/>
          <a:ln>
            <a:noFill/>
          </a:ln>
        </p:spPr>
      </p:pic>
      <p:pic>
        <p:nvPicPr>
          <p:cNvPr id="2" name="Picture 5">
            <a:extLst>
              <a:ext uri="{FF2B5EF4-FFF2-40B4-BE49-F238E27FC236}">
                <a16:creationId xmlns:a16="http://schemas.microsoft.com/office/drawing/2014/main" id="{A5AC0A41-ED19-B5A0-BBFB-A2D77C4D9F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187" y="4038600"/>
            <a:ext cx="62103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Activity 2:</a:t>
            </a:r>
            <a:endParaRPr/>
          </a:p>
        </p:txBody>
      </p:sp>
      <p:sp>
        <p:nvSpPr>
          <p:cNvPr id="317" name="Google Shape;317;p2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30</a:t>
            </a:fld>
            <a:endParaRPr/>
          </a:p>
        </p:txBody>
      </p:sp>
      <p:pic>
        <p:nvPicPr>
          <p:cNvPr id="318" name="Google Shape;318;p29"/>
          <p:cNvPicPr preferRelativeResize="0"/>
          <p:nvPr/>
        </p:nvPicPr>
        <p:blipFill rotWithShape="1">
          <a:blip r:embed="rId3">
            <a:alphaModFix/>
          </a:blip>
          <a:srcRect/>
          <a:stretch/>
        </p:blipFill>
        <p:spPr>
          <a:xfrm>
            <a:off x="838200" y="1219200"/>
            <a:ext cx="7834312" cy="4114800"/>
          </a:xfrm>
          <a:prstGeom prst="rect">
            <a:avLst/>
          </a:prstGeom>
          <a:noFill/>
          <a:ln>
            <a:noFill/>
          </a:ln>
        </p:spPr>
      </p:pic>
      <p:pic>
        <p:nvPicPr>
          <p:cNvPr id="319" name="Google Shape;319;p29"/>
          <p:cNvPicPr preferRelativeResize="0"/>
          <p:nvPr/>
        </p:nvPicPr>
        <p:blipFill rotWithShape="1">
          <a:blip r:embed="rId4">
            <a:alphaModFix/>
          </a:blip>
          <a:srcRect/>
          <a:stretch/>
        </p:blipFill>
        <p:spPr>
          <a:xfrm>
            <a:off x="1066800" y="5562600"/>
            <a:ext cx="6296025" cy="976312"/>
          </a:xfrm>
          <a:prstGeom prst="rect">
            <a:avLst/>
          </a:prstGeom>
          <a:noFill/>
          <a:ln>
            <a:noFill/>
          </a:ln>
        </p:spPr>
      </p:pic>
      <p:graphicFrame>
        <p:nvGraphicFramePr>
          <p:cNvPr id="2" name="Table 1">
            <a:extLst>
              <a:ext uri="{FF2B5EF4-FFF2-40B4-BE49-F238E27FC236}">
                <a16:creationId xmlns:a16="http://schemas.microsoft.com/office/drawing/2014/main" id="{55FB6EFD-7B2D-582D-8D84-E3C905E6CFBB}"/>
              </a:ext>
            </a:extLst>
          </p:cNvPr>
          <p:cNvGraphicFramePr>
            <a:graphicFrameLocks noGrp="1"/>
          </p:cNvGraphicFramePr>
          <p:nvPr>
            <p:extLst>
              <p:ext uri="{D42A27DB-BD31-4B8C-83A1-F6EECF244321}">
                <p14:modId xmlns:p14="http://schemas.microsoft.com/office/powerpoint/2010/main" val="3673241077"/>
              </p:ext>
            </p:extLst>
          </p:nvPr>
        </p:nvGraphicFramePr>
        <p:xfrm>
          <a:off x="289560" y="2094800"/>
          <a:ext cx="2896487" cy="3239200"/>
        </p:xfrm>
        <a:graphic>
          <a:graphicData uri="http://schemas.openxmlformats.org/drawingml/2006/table">
            <a:tbl>
              <a:tblPr firstRow="1" firstCol="1" bandRow="1">
                <a:tableStyleId>{5C22544A-7EE6-4342-B048-85BDC9FD1C3A}</a:tableStyleId>
              </a:tblPr>
              <a:tblGrid>
                <a:gridCol w="611369">
                  <a:extLst>
                    <a:ext uri="{9D8B030D-6E8A-4147-A177-3AD203B41FA5}">
                      <a16:colId xmlns:a16="http://schemas.microsoft.com/office/drawing/2014/main" val="20000"/>
                    </a:ext>
                  </a:extLst>
                </a:gridCol>
                <a:gridCol w="984250">
                  <a:extLst>
                    <a:ext uri="{9D8B030D-6E8A-4147-A177-3AD203B41FA5}">
                      <a16:colId xmlns:a16="http://schemas.microsoft.com/office/drawing/2014/main" val="20001"/>
                    </a:ext>
                  </a:extLst>
                </a:gridCol>
                <a:gridCol w="947420">
                  <a:extLst>
                    <a:ext uri="{9D8B030D-6E8A-4147-A177-3AD203B41FA5}">
                      <a16:colId xmlns:a16="http://schemas.microsoft.com/office/drawing/2014/main" val="20002"/>
                    </a:ext>
                  </a:extLst>
                </a:gridCol>
                <a:gridCol w="353448">
                  <a:extLst>
                    <a:ext uri="{9D8B030D-6E8A-4147-A177-3AD203B41FA5}">
                      <a16:colId xmlns:a16="http://schemas.microsoft.com/office/drawing/2014/main" val="20003"/>
                    </a:ext>
                  </a:extLst>
                </a:gridCol>
              </a:tblGrid>
              <a:tr h="434422">
                <a:tc>
                  <a:txBody>
                    <a:bodyPr/>
                    <a:lstStyle/>
                    <a:p>
                      <a:pPr marL="0" marR="0">
                        <a:lnSpc>
                          <a:spcPct val="115000"/>
                        </a:lnSpc>
                        <a:spcBef>
                          <a:spcPts val="0"/>
                        </a:spcBef>
                        <a:spcAft>
                          <a:spcPts val="0"/>
                        </a:spcAft>
                      </a:pPr>
                      <a:r>
                        <a:rPr lang="en-US" sz="1100">
                          <a:effectLst/>
                        </a:rPr>
                        <a:t> </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First-Fit</a:t>
                      </a:r>
                    </a:p>
                    <a:p>
                      <a:pPr marL="0" marR="0">
                        <a:lnSpc>
                          <a:spcPct val="115000"/>
                        </a:lnSpc>
                        <a:spcBef>
                          <a:spcPts val="0"/>
                        </a:spcBef>
                        <a:spcAft>
                          <a:spcPts val="0"/>
                        </a:spcAft>
                      </a:pPr>
                      <a:r>
                        <a:rPr lang="en-US" sz="1100">
                          <a:effectLst/>
                        </a:rPr>
                        <a:t>(Job No)</a:t>
                      </a:r>
                      <a:endParaRPr lang="en-US" sz="1100">
                        <a:effectLst/>
                        <a:latin typeface="Calibri"/>
                        <a:ea typeface="Times New Roman"/>
                        <a:cs typeface="Arial"/>
                      </a:endParaRPr>
                    </a:p>
                  </a:txBody>
                  <a:tcPr marL="68580" marR="68580" marT="0" marB="0"/>
                </a:tc>
                <a:tc gridSpan="2">
                  <a:txBody>
                    <a:bodyPr/>
                    <a:lstStyle/>
                    <a:p>
                      <a:pPr marL="0" marR="0">
                        <a:lnSpc>
                          <a:spcPct val="115000"/>
                        </a:lnSpc>
                        <a:spcBef>
                          <a:spcPts val="0"/>
                        </a:spcBef>
                        <a:spcAft>
                          <a:spcPts val="0"/>
                        </a:spcAft>
                      </a:pPr>
                      <a:r>
                        <a:rPr lang="en-US" sz="1100">
                          <a:effectLst/>
                        </a:rPr>
                        <a:t>Best-Fit</a:t>
                      </a:r>
                    </a:p>
                    <a:p>
                      <a:pPr marL="0" marR="0">
                        <a:lnSpc>
                          <a:spcPct val="115000"/>
                        </a:lnSpc>
                        <a:spcBef>
                          <a:spcPts val="0"/>
                        </a:spcBef>
                        <a:spcAft>
                          <a:spcPts val="0"/>
                        </a:spcAft>
                      </a:pPr>
                      <a:r>
                        <a:rPr lang="en-US" sz="1100">
                          <a:effectLst/>
                        </a:rPr>
                        <a:t>(Job No)</a:t>
                      </a:r>
                      <a:endParaRPr lang="en-US" sz="1100">
                        <a:effectLst/>
                        <a:latin typeface="Calibri"/>
                        <a:ea typeface="Times New Roman"/>
                        <a:cs typeface="Arial"/>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210651">
                <a:tc>
                  <a:txBody>
                    <a:bodyPr/>
                    <a:lstStyle/>
                    <a:p>
                      <a:pPr marL="0" marR="0">
                        <a:lnSpc>
                          <a:spcPct val="115000"/>
                        </a:lnSpc>
                        <a:spcBef>
                          <a:spcPts val="0"/>
                        </a:spcBef>
                        <a:spcAft>
                          <a:spcPts val="0"/>
                        </a:spcAft>
                      </a:pPr>
                      <a:r>
                        <a:rPr lang="en-US" sz="1100">
                          <a:effectLst/>
                        </a:rPr>
                        <a:t>8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J1 = 4KB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J3 = 6KB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1"/>
                  </a:ext>
                </a:extLst>
              </a:tr>
              <a:tr h="210651">
                <a:tc>
                  <a:txBody>
                    <a:bodyPr/>
                    <a:lstStyle/>
                    <a:p>
                      <a:pPr marL="0" marR="0">
                        <a:lnSpc>
                          <a:spcPct val="115000"/>
                        </a:lnSpc>
                        <a:spcBef>
                          <a:spcPts val="0"/>
                        </a:spcBef>
                        <a:spcAft>
                          <a:spcPts val="0"/>
                        </a:spcAft>
                      </a:pPr>
                      <a:r>
                        <a:rPr lang="en-US" sz="1100">
                          <a:effectLst/>
                        </a:rPr>
                        <a:t>100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J2 = 30KB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J6 = 100KB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2"/>
                  </a:ext>
                </a:extLst>
              </a:tr>
              <a:tr h="210651">
                <a:tc>
                  <a:txBody>
                    <a:bodyPr/>
                    <a:lstStyle/>
                    <a:p>
                      <a:pPr marL="0" marR="0">
                        <a:lnSpc>
                          <a:spcPct val="115000"/>
                        </a:lnSpc>
                        <a:spcBef>
                          <a:spcPts val="0"/>
                        </a:spcBef>
                        <a:spcAft>
                          <a:spcPts val="0"/>
                        </a:spcAft>
                      </a:pPr>
                      <a:r>
                        <a:rPr lang="en-US" sz="1100">
                          <a:effectLst/>
                        </a:rPr>
                        <a:t>1024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J3 = 6KB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dirty="0">
                          <a:effectLst/>
                          <a:highlight>
                            <a:srgbClr val="FFFF00"/>
                          </a:highlight>
                        </a:rPr>
                        <a:t>J7 = </a:t>
                      </a:r>
                      <a:r>
                        <a:rPr lang="en-US" sz="1100" dirty="0">
                          <a:effectLst/>
                        </a:rPr>
                        <a:t>7</a:t>
                      </a:r>
                      <a:endParaRPr lang="en-US" sz="1100" dirty="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3"/>
                  </a:ext>
                </a:extLst>
              </a:tr>
              <a:tr h="210651">
                <a:tc>
                  <a:txBody>
                    <a:bodyPr/>
                    <a:lstStyle/>
                    <a:p>
                      <a:pPr marL="0" marR="0">
                        <a:lnSpc>
                          <a:spcPct val="115000"/>
                        </a:lnSpc>
                        <a:spcBef>
                          <a:spcPts val="0"/>
                        </a:spcBef>
                        <a:spcAft>
                          <a:spcPts val="0"/>
                        </a:spcAft>
                      </a:pPr>
                      <a:r>
                        <a:rPr lang="en-US" sz="1100">
                          <a:effectLst/>
                        </a:rPr>
                        <a:t>56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J4 = 9KB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J5 = 10KB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4"/>
                  </a:ext>
                </a:extLst>
              </a:tr>
              <a:tr h="210651">
                <a:tc>
                  <a:txBody>
                    <a:bodyPr/>
                    <a:lstStyle/>
                    <a:p>
                      <a:pPr marL="0" marR="0">
                        <a:lnSpc>
                          <a:spcPct val="115000"/>
                        </a:lnSpc>
                        <a:spcBef>
                          <a:spcPts val="0"/>
                        </a:spcBef>
                        <a:spcAft>
                          <a:spcPts val="0"/>
                        </a:spcAft>
                      </a:pPr>
                      <a:r>
                        <a:rPr lang="en-US" sz="1100">
                          <a:effectLst/>
                        </a:rPr>
                        <a:t>2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dirty="0">
                          <a:effectLst/>
                        </a:rPr>
                        <a:t>J8 = 2KB</a:t>
                      </a:r>
                      <a:endParaRPr lang="en-US" sz="1100" dirty="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J8=2KB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dirty="0">
                          <a:effectLst/>
                        </a:rPr>
                        <a:t> </a:t>
                      </a:r>
                      <a:endParaRPr lang="en-US" sz="1100" dirty="0">
                        <a:effectLst/>
                        <a:latin typeface="Calibri"/>
                        <a:ea typeface="Times New Roman"/>
                        <a:cs typeface="Arial"/>
                      </a:endParaRPr>
                    </a:p>
                  </a:txBody>
                  <a:tcPr marL="0" marR="0" marT="0" marB="0" anchor="ctr"/>
                </a:tc>
                <a:extLst>
                  <a:ext uri="{0D108BD9-81ED-4DB2-BD59-A6C34878D82A}">
                    <a16:rowId xmlns:a16="http://schemas.microsoft.com/office/drawing/2014/main" val="10005"/>
                  </a:ext>
                </a:extLst>
              </a:tr>
              <a:tr h="210651">
                <a:tc>
                  <a:txBody>
                    <a:bodyPr/>
                    <a:lstStyle/>
                    <a:p>
                      <a:pPr marL="0" marR="0">
                        <a:lnSpc>
                          <a:spcPct val="115000"/>
                        </a:lnSpc>
                        <a:spcBef>
                          <a:spcPts val="0"/>
                        </a:spcBef>
                        <a:spcAft>
                          <a:spcPts val="0"/>
                        </a:spcAft>
                      </a:pPr>
                      <a:r>
                        <a:rPr lang="en-US" sz="1100">
                          <a:effectLst/>
                        </a:rPr>
                        <a:t>48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J5 = 10KB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dirty="0">
                          <a:effectLst/>
                          <a:highlight>
                            <a:srgbClr val="FFFF00"/>
                          </a:highlight>
                        </a:rPr>
                        <a:t>J2 = 30KB</a:t>
                      </a:r>
                      <a:endParaRPr lang="en-US" sz="1100" dirty="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6"/>
                  </a:ext>
                </a:extLst>
              </a:tr>
              <a:tr h="210651">
                <a:tc>
                  <a:txBody>
                    <a:bodyPr/>
                    <a:lstStyle/>
                    <a:p>
                      <a:pPr marL="0" marR="0">
                        <a:lnSpc>
                          <a:spcPct val="115000"/>
                        </a:lnSpc>
                        <a:spcBef>
                          <a:spcPts val="0"/>
                        </a:spcBef>
                        <a:spcAft>
                          <a:spcPts val="0"/>
                        </a:spcAft>
                      </a:pPr>
                      <a:r>
                        <a:rPr lang="en-US" sz="1100">
                          <a:effectLst/>
                        </a:rPr>
                        <a:t>2048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J6 = 100KB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7"/>
                  </a:ext>
                </a:extLst>
              </a:tr>
              <a:tr h="210651">
                <a:tc>
                  <a:txBody>
                    <a:bodyPr/>
                    <a:lstStyle/>
                    <a:p>
                      <a:pPr marL="0" marR="0">
                        <a:lnSpc>
                          <a:spcPct val="115000"/>
                        </a:lnSpc>
                        <a:spcBef>
                          <a:spcPts val="0"/>
                        </a:spcBef>
                        <a:spcAft>
                          <a:spcPts val="0"/>
                        </a:spcAft>
                      </a:pPr>
                      <a:r>
                        <a:rPr lang="en-US" sz="1100">
                          <a:effectLst/>
                        </a:rPr>
                        <a:t>4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J10 = 1KB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J1 = 4KB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8"/>
                  </a:ext>
                </a:extLst>
              </a:tr>
              <a:tr h="210651">
                <a:tc>
                  <a:txBody>
                    <a:bodyPr/>
                    <a:lstStyle/>
                    <a:p>
                      <a:pPr marL="0" marR="0">
                        <a:lnSpc>
                          <a:spcPct val="115000"/>
                        </a:lnSpc>
                        <a:spcBef>
                          <a:spcPts val="0"/>
                        </a:spcBef>
                        <a:spcAft>
                          <a:spcPts val="0"/>
                        </a:spcAft>
                      </a:pPr>
                      <a:r>
                        <a:rPr lang="en-US" sz="1100">
                          <a:effectLst/>
                        </a:rPr>
                        <a:t>8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J9 = 5KB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J9 = 5KB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09"/>
                  </a:ext>
                </a:extLst>
              </a:tr>
              <a:tr h="210651">
                <a:tc>
                  <a:txBody>
                    <a:bodyPr/>
                    <a:lstStyle/>
                    <a:p>
                      <a:pPr marL="0" marR="0">
                        <a:lnSpc>
                          <a:spcPct val="115000"/>
                        </a:lnSpc>
                        <a:spcBef>
                          <a:spcPts val="0"/>
                        </a:spcBef>
                        <a:spcAft>
                          <a:spcPts val="0"/>
                        </a:spcAft>
                      </a:pPr>
                      <a:r>
                        <a:rPr lang="en-US" sz="1100">
                          <a:effectLst/>
                        </a:rPr>
                        <a:t>12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J4 = 9KB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a:effectLst/>
                        </a:rPr>
                        <a:t> </a:t>
                      </a:r>
                      <a:endParaRPr lang="en-US" sz="1100">
                        <a:effectLst/>
                        <a:latin typeface="Calibri"/>
                        <a:ea typeface="Times New Roman"/>
                        <a:cs typeface="Arial"/>
                      </a:endParaRPr>
                    </a:p>
                  </a:txBody>
                  <a:tcPr marL="0" marR="0" marT="0" marB="0" anchor="ctr"/>
                </a:tc>
                <a:extLst>
                  <a:ext uri="{0D108BD9-81ED-4DB2-BD59-A6C34878D82A}">
                    <a16:rowId xmlns:a16="http://schemas.microsoft.com/office/drawing/2014/main" val="10010"/>
                  </a:ext>
                </a:extLst>
              </a:tr>
              <a:tr h="210651">
                <a:tc>
                  <a:txBody>
                    <a:bodyPr/>
                    <a:lstStyle/>
                    <a:p>
                      <a:pPr marL="0" marR="0">
                        <a:lnSpc>
                          <a:spcPct val="115000"/>
                        </a:lnSpc>
                        <a:spcBef>
                          <a:spcPts val="0"/>
                        </a:spcBef>
                        <a:spcAft>
                          <a:spcPts val="0"/>
                        </a:spcAft>
                      </a:pPr>
                      <a:r>
                        <a:rPr lang="en-US" sz="1100">
                          <a:effectLst/>
                        </a:rPr>
                        <a:t>56 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0"/>
                        </a:spcAft>
                      </a:pPr>
                      <a:r>
                        <a:rPr lang="en-US" sz="1100">
                          <a:effectLst/>
                          <a:highlight>
                            <a:srgbClr val="FFFF00"/>
                          </a:highlight>
                        </a:rPr>
                        <a:t>J10 = 1KB</a:t>
                      </a:r>
                      <a:endParaRPr lang="en-US" sz="1100">
                        <a:effectLst/>
                        <a:latin typeface="Calibri"/>
                        <a:ea typeface="Times New Roman"/>
                        <a:cs typeface="Arial"/>
                      </a:endParaRPr>
                    </a:p>
                  </a:txBody>
                  <a:tcPr marL="68580" marR="68580" marT="0" marB="0"/>
                </a:tc>
                <a:tc>
                  <a:txBody>
                    <a:bodyPr/>
                    <a:lstStyle/>
                    <a:p>
                      <a:pPr marL="0" marR="0">
                        <a:lnSpc>
                          <a:spcPct val="115000"/>
                        </a:lnSpc>
                        <a:spcBef>
                          <a:spcPts val="0"/>
                        </a:spcBef>
                        <a:spcAft>
                          <a:spcPts val="1000"/>
                        </a:spcAft>
                      </a:pPr>
                      <a:r>
                        <a:rPr lang="en-US" sz="1100" dirty="0">
                          <a:effectLst/>
                        </a:rPr>
                        <a:t> </a:t>
                      </a:r>
                      <a:endParaRPr lang="en-US" sz="1100" dirty="0">
                        <a:effectLst/>
                        <a:latin typeface="Calibri"/>
                        <a:ea typeface="Times New Roman"/>
                        <a:cs typeface="Arial"/>
                      </a:endParaRPr>
                    </a:p>
                  </a:txBody>
                  <a:tcPr marL="0" marR="0" marT="0" marB="0" anchor="ctr"/>
                </a:tc>
                <a:extLst>
                  <a:ext uri="{0D108BD9-81ED-4DB2-BD59-A6C34878D82A}">
                    <a16:rowId xmlns:a16="http://schemas.microsoft.com/office/drawing/2014/main" val="1001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Activity 3:</a:t>
            </a:r>
            <a:endParaRPr/>
          </a:p>
        </p:txBody>
      </p:sp>
      <p:sp>
        <p:nvSpPr>
          <p:cNvPr id="326" name="Google Shape;326;p30"/>
          <p:cNvSpPr txBox="1">
            <a:spLocks noGrp="1"/>
          </p:cNvSpPr>
          <p:nvPr>
            <p:ph type="body" idx="1"/>
          </p:nvPr>
        </p:nvSpPr>
        <p:spPr>
          <a:xfrm>
            <a:off x="457200" y="1179512"/>
            <a:ext cx="8229600" cy="4572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dirty="0">
                <a:solidFill>
                  <a:schemeClr val="dk1"/>
                </a:solidFill>
                <a:latin typeface="Calibri"/>
                <a:ea typeface="Calibri"/>
                <a:cs typeface="Calibri"/>
                <a:sym typeface="Calibri"/>
              </a:rPr>
              <a:t>If the partitions are fixed and a new job arrives </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dirty="0">
                <a:solidFill>
                  <a:schemeClr val="dk1"/>
                </a:solidFill>
                <a:latin typeface="Calibri"/>
                <a:ea typeface="Calibri"/>
                <a:cs typeface="Calibri"/>
                <a:sym typeface="Calibri"/>
              </a:rPr>
              <a:t>     requiring 52 blocks of main memory, show memory </a:t>
            </a:r>
            <a:endParaRPr sz="2000" b="0" i="0" u="none">
              <a:solidFill>
                <a:schemeClr val="dk1"/>
              </a:solidFill>
              <a:latin typeface="Calibri"/>
              <a:ea typeface="Calibri"/>
              <a:cs typeface="Calibri"/>
              <a:sym typeface="Calibri"/>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dirty="0">
                <a:solidFill>
                  <a:schemeClr val="dk1"/>
                </a:solidFill>
                <a:latin typeface="Calibri"/>
                <a:ea typeface="Calibri"/>
                <a:cs typeface="Calibri"/>
                <a:sym typeface="Calibri"/>
              </a:rPr>
              <a:t>     after using each of the following partition selection </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dirty="0">
                <a:solidFill>
                  <a:schemeClr val="dk1"/>
                </a:solidFill>
                <a:latin typeface="Calibri"/>
                <a:ea typeface="Calibri"/>
                <a:cs typeface="Calibri"/>
                <a:sym typeface="Calibri"/>
              </a:rPr>
              <a:t>     approaches: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dirty="0">
                <a:solidFill>
                  <a:schemeClr val="dk1"/>
                </a:solidFill>
                <a:latin typeface="Calibri"/>
                <a:ea typeface="Calibri"/>
                <a:cs typeface="Calibri"/>
                <a:sym typeface="Calibri"/>
              </a:rPr>
              <a:t>a. </a:t>
            </a:r>
            <a:r>
              <a:rPr lang="en-US" sz="2000" b="0" i="0" u="none" dirty="0">
                <a:solidFill>
                  <a:schemeClr val="dk1"/>
                </a:solidFill>
                <a:latin typeface="Calibri"/>
                <a:ea typeface="Calibri"/>
                <a:cs typeface="Calibri"/>
                <a:sym typeface="Calibri"/>
              </a:rPr>
              <a:t>first fit </a:t>
            </a:r>
            <a:endParaRPr sz="2000" b="0" i="0" u="none">
              <a:solidFill>
                <a:schemeClr val="dk1"/>
              </a:solidFill>
              <a:latin typeface="Calibri"/>
              <a:ea typeface="Calibri"/>
              <a:cs typeface="Calibri"/>
              <a:sym typeface="Calibri"/>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dirty="0">
                <a:solidFill>
                  <a:schemeClr val="dk1"/>
                </a:solidFill>
                <a:latin typeface="Calibri"/>
                <a:ea typeface="Calibri"/>
                <a:cs typeface="Calibri"/>
                <a:sym typeface="Calibri"/>
              </a:rPr>
              <a:t>b. </a:t>
            </a:r>
            <a:r>
              <a:rPr lang="en-US" sz="2000" b="0" i="0" u="none" dirty="0">
                <a:solidFill>
                  <a:schemeClr val="dk1"/>
                </a:solidFill>
                <a:latin typeface="Calibri"/>
                <a:ea typeface="Calibri"/>
                <a:cs typeface="Calibri"/>
                <a:sym typeface="Calibri"/>
              </a:rPr>
              <a:t>best fit </a:t>
            </a:r>
            <a:endParaRPr sz="2000" b="0" i="0" u="none">
              <a:solidFill>
                <a:schemeClr val="dk1"/>
              </a:solidFill>
              <a:latin typeface="Calibri"/>
              <a:ea typeface="Calibri"/>
              <a:cs typeface="Calibri"/>
              <a:sym typeface="Calibri"/>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dirty="0">
                <a:solidFill>
                  <a:schemeClr val="dk1"/>
                </a:solidFill>
                <a:latin typeface="Calibri"/>
                <a:ea typeface="Calibri"/>
                <a:cs typeface="Calibri"/>
                <a:sym typeface="Calibri"/>
              </a:rPr>
              <a:t>c. </a:t>
            </a:r>
            <a:r>
              <a:rPr lang="en-US" sz="2000" b="0" i="0" u="none" dirty="0">
                <a:solidFill>
                  <a:schemeClr val="dk1"/>
                </a:solidFill>
                <a:latin typeface="Calibri"/>
                <a:ea typeface="Calibri"/>
                <a:cs typeface="Calibri"/>
                <a:sym typeface="Calibri"/>
              </a:rPr>
              <a:t>worst fit </a:t>
            </a:r>
            <a:endParaRPr/>
          </a:p>
        </p:txBody>
      </p:sp>
      <p:sp>
        <p:nvSpPr>
          <p:cNvPr id="327" name="Google Shape;327;p3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31</a:t>
            </a:fld>
            <a:endParaRPr/>
          </a:p>
        </p:txBody>
      </p:sp>
      <p:pic>
        <p:nvPicPr>
          <p:cNvPr id="328" name="Google Shape;328;p30"/>
          <p:cNvPicPr preferRelativeResize="0"/>
          <p:nvPr/>
        </p:nvPicPr>
        <p:blipFill rotWithShape="1">
          <a:blip r:embed="rId3">
            <a:alphaModFix/>
          </a:blip>
          <a:srcRect/>
          <a:stretch/>
        </p:blipFill>
        <p:spPr>
          <a:xfrm>
            <a:off x="6705600" y="817562"/>
            <a:ext cx="1619250" cy="52959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1365</Words>
  <Application>Microsoft Office PowerPoint</Application>
  <PresentationFormat>On-screen Show (4:3)</PresentationFormat>
  <Paragraphs>287</Paragraphs>
  <Slides>31</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Times</vt:lpstr>
      <vt:lpstr>Arial</vt:lpstr>
      <vt:lpstr>Calibri</vt:lpstr>
      <vt:lpstr>Roboto</vt:lpstr>
      <vt:lpstr>Simple Light</vt:lpstr>
      <vt:lpstr>IICT-Lecture 5 Operating System</vt:lpstr>
      <vt:lpstr>Lecture Goals</vt:lpstr>
      <vt:lpstr>Software Categories</vt:lpstr>
      <vt:lpstr>Roles of an Operating System</vt:lpstr>
      <vt:lpstr>Roles of an Operating System</vt:lpstr>
      <vt:lpstr>Roles of an Operating System</vt:lpstr>
      <vt:lpstr>Roles of an Operating System</vt:lpstr>
      <vt:lpstr>Resource Management</vt:lpstr>
      <vt:lpstr>Resource Management</vt:lpstr>
      <vt:lpstr>Batch Processing</vt:lpstr>
      <vt:lpstr>Realtime and Timesharing</vt:lpstr>
      <vt:lpstr>Memory Management</vt:lpstr>
      <vt:lpstr>Partition Memory Management</vt:lpstr>
      <vt:lpstr>Partition Selection Algorithms</vt:lpstr>
      <vt:lpstr>Partition Selection Algorithms</vt:lpstr>
      <vt:lpstr>Process Management</vt:lpstr>
      <vt:lpstr>Process Management</vt:lpstr>
      <vt:lpstr>Process Management</vt:lpstr>
      <vt:lpstr>CPU Scheduling</vt:lpstr>
      <vt:lpstr>CPU Scheduling</vt:lpstr>
      <vt:lpstr>CPU Scheduling</vt:lpstr>
      <vt:lpstr>CPU Scheduling</vt:lpstr>
      <vt:lpstr>CPU Scheduling Algorithms</vt:lpstr>
      <vt:lpstr>First-Come, First-Served</vt:lpstr>
      <vt:lpstr>Shortest Job Next</vt:lpstr>
      <vt:lpstr>Round Robin</vt:lpstr>
      <vt:lpstr>Round Robin</vt:lpstr>
      <vt:lpstr>CPU Scheduling Algorithms</vt:lpstr>
      <vt:lpstr>Activity 1:</vt:lpstr>
      <vt:lpstr>Activity 2:</vt:lpstr>
      <vt:lpstr>Activity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IICT-Lecture 5 Operating System</dc:title>
  <dc:creator>Jones &amp; Bartlett Publishers</dc:creator>
  <cp:lastModifiedBy>Manahil khan</cp:lastModifiedBy>
  <cp:revision>2</cp:revision>
  <dcterms:created xsi:type="dcterms:W3CDTF">2002-06-09T19:56:08Z</dcterms:created>
  <dcterms:modified xsi:type="dcterms:W3CDTF">2024-10-06T07:04:09Z</dcterms:modified>
</cp:coreProperties>
</file>