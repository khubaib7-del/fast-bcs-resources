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505" r:id="rId4"/>
    <p:sldId id="493" r:id="rId5"/>
    <p:sldId id="502" r:id="rId6"/>
    <p:sldId id="261" r:id="rId7"/>
    <p:sldId id="263" r:id="rId8"/>
    <p:sldId id="264" r:id="rId9"/>
    <p:sldId id="503" r:id="rId10"/>
    <p:sldId id="265" r:id="rId11"/>
    <p:sldId id="504" r:id="rId12"/>
    <p:sldId id="506" r:id="rId13"/>
    <p:sldId id="507" r:id="rId14"/>
    <p:sldId id="508" r:id="rId15"/>
    <p:sldId id="258" r:id="rId16"/>
    <p:sldId id="259" r:id="rId17"/>
    <p:sldId id="266" r:id="rId18"/>
    <p:sldId id="267" r:id="rId19"/>
    <p:sldId id="268" r:id="rId20"/>
    <p:sldId id="284" r:id="rId21"/>
    <p:sldId id="282" r:id="rId22"/>
    <p:sldId id="271" r:id="rId23"/>
    <p:sldId id="278" r:id="rId24"/>
    <p:sldId id="283" r:id="rId25"/>
    <p:sldId id="28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11F76-6282-422A-AE9F-13DCEE1728B2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C7841-2624-4E4B-87D2-341ED27EDE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8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Artificial Intelligence</a:t>
            </a:r>
            <a:br>
              <a:rPr lang="en-US" dirty="0"/>
            </a:br>
            <a:r>
              <a:rPr lang="en-US" sz="3600" dirty="0">
                <a:solidFill>
                  <a:schemeClr val="accent2"/>
                </a:solidFill>
              </a:rPr>
              <a:t>IICT Lecture 11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very general mental capability that involves the ability to </a:t>
            </a:r>
            <a:r>
              <a:rPr lang="en-US" dirty="0">
                <a:solidFill>
                  <a:srgbClr val="FF0000"/>
                </a:solidFill>
              </a:rPr>
              <a:t>reason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plan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solve problems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think abstractly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comprehend complex ideas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learn quickly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learn from experience</a:t>
            </a:r>
            <a:r>
              <a:rPr lang="en-US" dirty="0"/>
              <a:t>. [1]</a:t>
            </a:r>
          </a:p>
          <a:p>
            <a:r>
              <a:rPr lang="en-US" dirty="0"/>
              <a:t>Measurement of Intelligence: </a:t>
            </a:r>
          </a:p>
          <a:p>
            <a:pPr lvl="1"/>
            <a:r>
              <a:rPr lang="en-US" dirty="0"/>
              <a:t> Intelligence Quotient (IQ) </a:t>
            </a:r>
          </a:p>
          <a:p>
            <a:pPr lvl="2"/>
            <a:r>
              <a:rPr lang="en-US" dirty="0"/>
              <a:t>An intelligence quotient or IQ is a score derived from a set of standardized tests developed to measure a person's cognitive abilities ("intelligence") in relation to their age group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6396336"/>
            <a:ext cx="8915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[1] Mainstream Science on Intelligence reprinted in </a:t>
            </a:r>
            <a:r>
              <a:rPr lang="en-US" sz="1200" dirty="0" err="1"/>
              <a:t>Gottfredson</a:t>
            </a:r>
            <a:r>
              <a:rPr lang="en-US" sz="1200" dirty="0"/>
              <a:t> (1997). </a:t>
            </a:r>
            <a:r>
              <a:rPr lang="en-US" sz="1200" i="1" dirty="0"/>
              <a:t>Intelligence </a:t>
            </a:r>
            <a:r>
              <a:rPr lang="en-US" sz="1200" dirty="0"/>
              <a:t>p. 13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59998-1ED9-431C-AA40-CD013E3E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8339-9884-C90B-9288-373B93B2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8CF2-5987-4E67-57FE-2EC9D6217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i="0" u="none" strike="noStrike" dirty="0">
                <a:effectLst/>
                <a:latin typeface="AvertaStd"/>
              </a:rPr>
              <a:t>Numerical: </a:t>
            </a:r>
          </a:p>
          <a:p>
            <a:r>
              <a:rPr lang="en-US" b="0" i="0" u="none" strike="noStrike" dirty="0">
                <a:effectLst/>
                <a:latin typeface="AvertaStd"/>
              </a:rPr>
              <a:t>The term “numerical data set” refers to a collection of data that exclusively contains numbers. This type is also known as a quantitative data set.</a:t>
            </a:r>
          </a:p>
          <a:p>
            <a:r>
              <a:rPr lang="en-US" dirty="0">
                <a:latin typeface="AvertaStd"/>
              </a:rPr>
              <a:t>A</a:t>
            </a:r>
            <a:r>
              <a:rPr lang="en-US" b="0" i="0" u="none" strike="noStrike" dirty="0">
                <a:effectLst/>
                <a:latin typeface="AvertaStd"/>
              </a:rPr>
              <a:t> person’s height and weight, or interior living space measurements are all examples of numerical data sets. </a:t>
            </a:r>
            <a:r>
              <a:rPr lang="en-US" dirty="0">
                <a:latin typeface="AvertaStd"/>
              </a:rPr>
              <a:t>M</a:t>
            </a:r>
            <a:r>
              <a:rPr lang="en-US" b="0" i="0" u="none" strike="noStrike" dirty="0">
                <a:effectLst/>
                <a:latin typeface="AvertaStd"/>
              </a:rPr>
              <a:t>any financial analysis approaches rely on numerical data sets as well. </a:t>
            </a:r>
          </a:p>
          <a:p>
            <a:pPr marL="0" indent="0">
              <a:buNone/>
            </a:pPr>
            <a:r>
              <a:rPr lang="en-US" b="1" dirty="0">
                <a:latin typeface="AvertaStd"/>
              </a:rPr>
              <a:t>Categorical:</a:t>
            </a:r>
          </a:p>
          <a:p>
            <a:r>
              <a:rPr lang="en-US" b="0" i="0" u="none" strike="noStrike" dirty="0">
                <a:effectLst/>
                <a:latin typeface="AvertaStd"/>
              </a:rPr>
              <a:t>Categorical data sets contain information about the characteristics of a person or an object. This is known as qualitative data sets.</a:t>
            </a:r>
          </a:p>
          <a:p>
            <a:r>
              <a:rPr lang="en-US" b="0" i="0" u="none" strike="noStrike" dirty="0">
                <a:effectLst/>
                <a:latin typeface="AvertaStd"/>
              </a:rPr>
              <a:t>In a dichotomous data set, each variable can only have one of two values. A data set containing true or false.</a:t>
            </a:r>
          </a:p>
          <a:p>
            <a:r>
              <a:rPr lang="en-US" b="0" i="0" u="none" strike="noStrike" dirty="0">
                <a:effectLst/>
                <a:latin typeface="AvertaStd"/>
              </a:rPr>
              <a:t>In a polytomous data collection, each variable may have more than two possible values.</a:t>
            </a:r>
            <a:endParaRPr lang="en-US" dirty="0">
              <a:latin typeface="AvertaSt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87F610-9F23-E372-8788-39F090DD417D}"/>
              </a:ext>
            </a:extLst>
          </p:cNvPr>
          <p:cNvSpPr/>
          <p:nvPr/>
        </p:nvSpPr>
        <p:spPr>
          <a:xfrm>
            <a:off x="0" y="6396336"/>
            <a:ext cx="8915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[1] Mainstream Science on Intelligence reprinted in </a:t>
            </a:r>
            <a:r>
              <a:rPr lang="en-US" sz="1200" dirty="0" err="1"/>
              <a:t>Gottfredson</a:t>
            </a:r>
            <a:r>
              <a:rPr lang="en-US" sz="1200" dirty="0"/>
              <a:t> (1997). </a:t>
            </a:r>
            <a:r>
              <a:rPr lang="en-US" sz="1200" i="1" dirty="0"/>
              <a:t>Intelligence </a:t>
            </a:r>
            <a:r>
              <a:rPr lang="en-US" sz="1200" dirty="0"/>
              <a:t>p. 13 </a:t>
            </a:r>
          </a:p>
        </p:txBody>
      </p:sp>
    </p:spTree>
    <p:extLst>
      <p:ext uri="{BB962C8B-B14F-4D97-AF65-F5344CB8AC3E}">
        <p14:creationId xmlns:p14="http://schemas.microsoft.com/office/powerpoint/2010/main" val="22258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1B19-CAC6-9319-1291-77BA1B97F78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1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Machine Learning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A2A1F342-B937-7C84-AD08-36E6D59C7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 </a:t>
            </a:r>
            <a:r>
              <a:rPr lang="en-US" altLang="en-US" b="1"/>
              <a:t>Machine learning</a:t>
            </a:r>
            <a:r>
              <a:rPr lang="en-US" altLang="en-US"/>
              <a:t> focuses on the development of computer programs that can access data and use it  to learn for themselves.</a:t>
            </a:r>
          </a:p>
          <a:p>
            <a:r>
              <a:rPr lang="en-US" altLang="en-US"/>
              <a:t> Machine learning is </a:t>
            </a:r>
            <a:r>
              <a:rPr lang="en-US" altLang="en-US" b="1"/>
              <a:t>a subset of AI which allows a machine to automatically learn from past data without programming explicitly</a:t>
            </a:r>
            <a:r>
              <a:rPr lang="en-US" altLang="en-US"/>
              <a:t>. </a:t>
            </a:r>
          </a:p>
        </p:txBody>
      </p:sp>
      <p:sp>
        <p:nvSpPr>
          <p:cNvPr id="16388" name="Footer Placeholder 3">
            <a:extLst>
              <a:ext uri="{FF2B5EF4-FFF2-40B4-BE49-F238E27FC236}">
                <a16:creationId xmlns:a16="http://schemas.microsoft.com/office/drawing/2014/main" id="{3AFE72CD-63BD-BEDE-840C-1526DB4A9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FAST NUCES, Lahore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58C4F37-6D6C-A6FE-9541-05DA71E661A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Supervised Learning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40CAEB3C-91FF-5459-941B-762780234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1200"/>
            <a:ext cx="7772400" cy="4114800"/>
          </a:xfrm>
        </p:spPr>
        <p:txBody>
          <a:bodyPr/>
          <a:lstStyle/>
          <a:p>
            <a:r>
              <a:rPr lang="en-US" altLang="en-US" sz="2800"/>
              <a:t>Definition:</a:t>
            </a:r>
          </a:p>
          <a:p>
            <a:pPr lvl="1"/>
            <a:r>
              <a:rPr lang="en-US" altLang="en-US" sz="2400"/>
              <a:t>Supervised learning, also known as supervised machine learning, is a subcategory of machine learning and artificial intelligence. It is defined by its use of labeled datasets to train algorithms that to classify data or predict outcomes accurately.</a:t>
            </a:r>
          </a:p>
        </p:txBody>
      </p:sp>
      <p:pic>
        <p:nvPicPr>
          <p:cNvPr id="17412" name="Picture 1">
            <a:extLst>
              <a:ext uri="{FF2B5EF4-FFF2-40B4-BE49-F238E27FC236}">
                <a16:creationId xmlns:a16="http://schemas.microsoft.com/office/drawing/2014/main" id="{0FCFF01F-6351-2E89-FE4B-D4F65EFC4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425950"/>
            <a:ext cx="4495800" cy="189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Painting by two different painters:</a:t>
            </a:r>
            <a:br>
              <a:rPr lang="en-US" sz="4000" dirty="0"/>
            </a:br>
            <a:r>
              <a:rPr lang="en-US" sz="4000" dirty="0">
                <a:solidFill>
                  <a:srgbClr val="0070C0"/>
                </a:solidFill>
              </a:rPr>
              <a:t>Supervised Learning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00200"/>
            <a:ext cx="7372350" cy="421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467600" y="2438400"/>
            <a:ext cx="1354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Painter </a:t>
            </a:r>
            <a:r>
              <a:rPr lang="en-US" sz="24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4648200"/>
            <a:ext cx="1342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Painter </a:t>
            </a:r>
            <a:r>
              <a:rPr lang="en-US" sz="2400" b="1" dirty="0">
                <a:solidFill>
                  <a:srgbClr val="0070C0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your turn…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Who’s painting is this?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981200"/>
            <a:ext cx="4343400" cy="379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this?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905000"/>
            <a:ext cx="5468937" cy="4112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EE5FEFB-C718-E942-406F-901FEDA39B7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pPr algn="l"/>
            <a:r>
              <a:rPr lang="en-US" altLang="en-US" sz="4000">
                <a:solidFill>
                  <a:schemeClr val="bg1"/>
                </a:solidFill>
              </a:rPr>
              <a:t>Unsupervised Learning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CC434F58-2F11-BB3E-6B66-A5956849D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81200"/>
            <a:ext cx="7772400" cy="4114800"/>
          </a:xfrm>
        </p:spPr>
        <p:txBody>
          <a:bodyPr/>
          <a:lstStyle/>
          <a:p>
            <a:r>
              <a:rPr lang="en-US" altLang="en-US" sz="2800"/>
              <a:t>Definition</a:t>
            </a:r>
          </a:p>
          <a:p>
            <a:pPr lvl="1"/>
            <a:r>
              <a:rPr lang="en-US" altLang="en-US" sz="2400"/>
              <a:t>Where a program, given a dataset, can automatically find patterns and relationships within the dataset.</a:t>
            </a:r>
          </a:p>
          <a:p>
            <a:pPr lvl="1"/>
            <a:r>
              <a:rPr lang="en-US" altLang="en-US" sz="2400"/>
              <a:t>Clustering or grouping of like data.</a:t>
            </a:r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6EE69140-F0B0-8E19-FB5A-C1FE36BE3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10000"/>
            <a:ext cx="41878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odd one out: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Unsupervised Learning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676401"/>
            <a:ext cx="518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3352800"/>
            <a:ext cx="7029450" cy="30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6D4DFE3-628B-5624-D174-E8AD12590F0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Regression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D29A3AB8-327A-B68E-F3CF-D1ACD344D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Sub-category of Supervised Learning</a:t>
            </a:r>
          </a:p>
          <a:p>
            <a:r>
              <a:rPr lang="en-US" altLang="en-US"/>
              <a:t>Regression is a type of algorithm that predicts a continuous values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A0C2179F-7D2E-68B2-EB85-7E9C7EC6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FAST NUCES, Lahore </a:t>
            </a:r>
          </a:p>
        </p:txBody>
      </p:sp>
      <p:pic>
        <p:nvPicPr>
          <p:cNvPr id="19461" name="Picture 2" descr="Image result for plot prices with area regression">
            <a:extLst>
              <a:ext uri="{FF2B5EF4-FFF2-40B4-BE49-F238E27FC236}">
                <a16:creationId xmlns:a16="http://schemas.microsoft.com/office/drawing/2014/main" id="{A05D2A30-2122-852F-7692-8D8DF4A4E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>
            <a:fillRect/>
          </a:stretch>
        </p:blipFill>
        <p:spPr bwMode="auto">
          <a:xfrm>
            <a:off x="3810000" y="3810000"/>
            <a:ext cx="4675188" cy="2819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302385-492C-BA98-A544-73FD5ECEBDE8}"/>
              </a:ext>
            </a:extLst>
          </p:cNvPr>
          <p:cNvSpPr txBox="1"/>
          <p:nvPr/>
        </p:nvSpPr>
        <p:spPr>
          <a:xfrm>
            <a:off x="990600" y="4953000"/>
            <a:ext cx="26670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Plot prices with relative to increase in area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D0C0B-2212-C455-9D7E-F10AC9FE3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9EC28CAC-E3E9-5C16-50B9-07B7FCEA84E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Classification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166D0A28-ECC9-EE1C-AE3C-8F0E7D499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Classification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 supervised machine learning method where the model tries to predict the correct label of a given input data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. </a:t>
            </a:r>
          </a:p>
          <a:p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In classification, the model is fully trained using the training data, and then it is evaluated on test data before being used to perform prediction on new unseen data.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09CCED5A-FE80-0AC1-40B1-AD63B5CF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FAST NUCES, Lahore </a:t>
            </a:r>
          </a:p>
        </p:txBody>
      </p:sp>
    </p:spTree>
    <p:extLst>
      <p:ext uri="{BB962C8B-B14F-4D97-AF65-F5344CB8AC3E}">
        <p14:creationId xmlns:p14="http://schemas.microsoft.com/office/powerpoint/2010/main" val="3780066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8A35B-4A75-439D-9003-B329A1257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15D2C4C7-41E3-0A27-1E9E-1BDC2F255AC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Supervised vs Unsupervised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1F7809BC-0B00-10AC-841C-B63CB0FC9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altLang="en-US" dirty="0"/>
            </a:br>
            <a:endParaRPr lang="en-US" altLang="en-US" dirty="0"/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1938FAF2-4FA8-70BE-400B-DBCE6DF3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FAST NUCES, Lahore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894E9E-C890-0081-D8BB-63DAE44BC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076309"/>
              </p:ext>
            </p:extLst>
          </p:nvPr>
        </p:nvGraphicFramePr>
        <p:xfrm>
          <a:off x="685800" y="1728024"/>
          <a:ext cx="8001000" cy="45807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58094096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8049049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94546834"/>
                    </a:ext>
                  </a:extLst>
                </a:gridCol>
              </a:tblGrid>
              <a:tr h="3070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Parameters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53678" marB="53678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   Supervised machine learning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53678" marB="53678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Unsupervised machine learning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53678" marB="53678" anchor="b"/>
                </a:tc>
                <a:extLst>
                  <a:ext uri="{0D108BD9-81ED-4DB2-BD59-A6C34878D82A}">
                    <a16:rowId xmlns:a16="http://schemas.microsoft.com/office/drawing/2014/main" val="2488838888"/>
                  </a:ext>
                </a:extLst>
              </a:tr>
              <a:tr h="5237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Input Data  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Algorithms are trained using labeled data.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Algorithms are used against data that is not labeled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3594064021"/>
                  </a:ext>
                </a:extLst>
              </a:tr>
              <a:tr h="3716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Computational Complexity 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 Simpler method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 Computationally complex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1061168320"/>
                  </a:ext>
                </a:extLst>
              </a:tr>
              <a:tr h="3716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Accuracy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Highly accurate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Less accurate 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895818353"/>
                  </a:ext>
                </a:extLst>
              </a:tr>
              <a:tr h="3716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No. of classes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No. of classes is known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No. of classes is not known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3027974518"/>
                  </a:ext>
                </a:extLst>
              </a:tr>
              <a:tr h="3716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Data Analysis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Uses offline analysis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Uses real-time analysis of data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3786558950"/>
                  </a:ext>
                </a:extLst>
              </a:tr>
              <a:tr h="98025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Algorithms used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Linear and Logistics </a:t>
                      </a:r>
                      <a:r>
                        <a:rPr lang="en-PK" sz="1600" kern="100" dirty="0" err="1">
                          <a:effectLst/>
                        </a:rPr>
                        <a:t>regression,KNN</a:t>
                      </a:r>
                      <a:r>
                        <a:rPr lang="en-PK" sz="1600" kern="100" dirty="0">
                          <a:effectLst/>
                        </a:rPr>
                        <a:t> Random forest, multi-class classification, decision tree, Support Vector Machine, Neural Network, etc.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K-Means clustering, Hierarchical clustering, </a:t>
                      </a:r>
                      <a:r>
                        <a:rPr lang="en-PK" sz="1600" kern="100" dirty="0" err="1">
                          <a:effectLst/>
                        </a:rPr>
                        <a:t>Apriori</a:t>
                      </a:r>
                      <a:r>
                        <a:rPr lang="en-PK" sz="1600" kern="100" dirty="0">
                          <a:effectLst/>
                        </a:rPr>
                        <a:t> algorithm, etc.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3411263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310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A742-7C34-444B-9115-293913CF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904C90AF-38A6-6F59-E5E7-225A4F868FB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Supervised vs Unsupervised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A5B2AEF8-D4C0-5AF7-1D73-C3DCE3BB3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altLang="en-US" dirty="0"/>
            </a:br>
            <a:endParaRPr lang="en-US" altLang="en-US" dirty="0"/>
          </a:p>
        </p:txBody>
      </p:sp>
      <p:sp>
        <p:nvSpPr>
          <p:cNvPr id="19460" name="Footer Placeholder 3">
            <a:extLst>
              <a:ext uri="{FF2B5EF4-FFF2-40B4-BE49-F238E27FC236}">
                <a16:creationId xmlns:a16="http://schemas.microsoft.com/office/drawing/2014/main" id="{A8C9E6EE-A2AC-7737-ADB5-907817F29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FAST NUCES, Lahore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0130C4-3B86-272A-34DC-D0F38E55D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154827"/>
              </p:ext>
            </p:extLst>
          </p:nvPr>
        </p:nvGraphicFramePr>
        <p:xfrm>
          <a:off x="571500" y="2058378"/>
          <a:ext cx="8001000" cy="36096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58094096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08049049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94546834"/>
                    </a:ext>
                  </a:extLst>
                </a:gridCol>
              </a:tblGrid>
              <a:tr h="30700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 dirty="0">
                          <a:effectLst/>
                        </a:rPr>
                        <a:t>Parameters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53678" marB="53678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 dirty="0">
                          <a:effectLst/>
                        </a:rPr>
                        <a:t>   Supervised machine learning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53678" marB="53678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200" kern="100" dirty="0">
                          <a:effectLst/>
                        </a:rPr>
                        <a:t>Unsupervised machine learning</a:t>
                      </a:r>
                      <a:endParaRPr lang="en-PK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53678" marB="53678" anchor="b"/>
                </a:tc>
                <a:extLst>
                  <a:ext uri="{0D108BD9-81ED-4DB2-BD59-A6C34878D82A}">
                    <a16:rowId xmlns:a16="http://schemas.microsoft.com/office/drawing/2014/main" val="2488838888"/>
                  </a:ext>
                </a:extLst>
              </a:tr>
              <a:tr h="3716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Output 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Desired output is given.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Desired output is not given.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2927680018"/>
                  </a:ext>
                </a:extLst>
              </a:tr>
              <a:tr h="3716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Training data 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Use training data to infer model.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No training data is used.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174178399"/>
                  </a:ext>
                </a:extLst>
              </a:tr>
              <a:tr h="6759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Complex model 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It is not possible to learn larger and more complex models than with supervised learning.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It is possible to learn larger and more complex models with unsupervised learning.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3416593138"/>
                  </a:ext>
                </a:extLst>
              </a:tr>
              <a:tr h="5237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Called as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Supervised learning is also called classification.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Unsupervised learning is also called clustering.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3226088970"/>
                  </a:ext>
                </a:extLst>
              </a:tr>
              <a:tr h="52379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Example 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471" marR="21471" marT="36859" marB="36859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>
                          <a:effectLst/>
                        </a:rPr>
                        <a:t>Example: Optical character recognition.</a:t>
                      </a:r>
                      <a:endParaRPr lang="en-PK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PK" sz="1600" kern="100" dirty="0">
                          <a:effectLst/>
                        </a:rPr>
                        <a:t>Example: Find a face in an image.</a:t>
                      </a:r>
                      <a:endParaRPr lang="en-PK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3678" marR="53678" marT="75149" marB="75149" anchor="ctr"/>
                </a:tc>
                <a:extLst>
                  <a:ext uri="{0D108BD9-81ED-4DB2-BD59-A6C34878D82A}">
                    <a16:rowId xmlns:a16="http://schemas.microsoft.com/office/drawing/2014/main" val="14976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426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Planning: Knight’s Plight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</a:rPr>
              <a:t>Can we move the given knight to the </a:t>
            </a:r>
            <a:r>
              <a:rPr lang="en-US" sz="3100" dirty="0">
                <a:solidFill>
                  <a:srgbClr val="0070C0"/>
                </a:solidFill>
              </a:rPr>
              <a:t>“Target”</a:t>
            </a:r>
            <a:r>
              <a:rPr lang="en-US" sz="3100" dirty="0">
                <a:solidFill>
                  <a:srgbClr val="FF0000"/>
                </a:solidFill>
              </a:rPr>
              <a:t> location?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09800" y="1752600"/>
          <a:ext cx="5105400" cy="388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495800"/>
            <a:ext cx="827035" cy="92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4600" y="34290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Target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Planning: Knight’s Plight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</a:rPr>
              <a:t>Can we move the given knight to the </a:t>
            </a:r>
            <a:r>
              <a:rPr lang="en-US" sz="3100" dirty="0">
                <a:solidFill>
                  <a:srgbClr val="0070C0"/>
                </a:solidFill>
              </a:rPr>
              <a:t>“Target”</a:t>
            </a:r>
            <a:r>
              <a:rPr lang="en-US" sz="3100" dirty="0">
                <a:solidFill>
                  <a:srgbClr val="FF0000"/>
                </a:solidFill>
              </a:rPr>
              <a:t> location?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09800" y="1752600"/>
          <a:ext cx="5105400" cy="388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495800"/>
            <a:ext cx="827035" cy="92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4600" y="34290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Target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5400000" flipH="1" flipV="1">
            <a:off x="2971800" y="2971800"/>
            <a:ext cx="21336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6200000" flipH="1">
            <a:off x="4343400" y="3048000"/>
            <a:ext cx="2514600" cy="1447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3124200" y="3886200"/>
            <a:ext cx="2895600" cy="1143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9530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What is the next number in this series?</a:t>
            </a:r>
          </a:p>
          <a:p>
            <a:r>
              <a:rPr lang="en-US" dirty="0"/>
              <a:t>1, 1, 2, 3, 5, 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Would you cross a road when a fast car is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approaching? </a:t>
            </a:r>
            <a:br>
              <a:rPr lang="en-US" dirty="0"/>
            </a:b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2971800"/>
            <a:ext cx="3657600" cy="331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Autofit/>
          </a:bodyPr>
          <a:lstStyle/>
          <a:p>
            <a:r>
              <a:rPr lang="en-US" sz="2200" dirty="0"/>
              <a:t>Knight’s Plight</a:t>
            </a:r>
          </a:p>
          <a:p>
            <a:pPr lvl="1"/>
            <a:r>
              <a:rPr lang="en-US" sz="1800" dirty="0"/>
              <a:t>Planning</a:t>
            </a:r>
          </a:p>
          <a:p>
            <a:r>
              <a:rPr lang="en-US" sz="2200" dirty="0"/>
              <a:t>Finding the odd one out</a:t>
            </a:r>
          </a:p>
          <a:p>
            <a:pPr lvl="1"/>
            <a:r>
              <a:rPr lang="en-US" sz="1800" dirty="0"/>
              <a:t>Unsupervised Learning</a:t>
            </a:r>
          </a:p>
          <a:p>
            <a:r>
              <a:rPr lang="en-US" sz="2200" dirty="0"/>
              <a:t>Painting by two different painters</a:t>
            </a:r>
          </a:p>
          <a:p>
            <a:pPr lvl="1"/>
            <a:r>
              <a:rPr lang="en-US" sz="1800" dirty="0"/>
              <a:t>Supervised Learning</a:t>
            </a:r>
          </a:p>
          <a:p>
            <a:r>
              <a:rPr lang="en-US" sz="2200" dirty="0"/>
              <a:t>Series Completion</a:t>
            </a:r>
          </a:p>
          <a:p>
            <a:pPr lvl="1"/>
            <a:r>
              <a:rPr lang="en-US" sz="1800" dirty="0"/>
              <a:t>Prediction</a:t>
            </a:r>
          </a:p>
          <a:p>
            <a:r>
              <a:rPr lang="en-US" sz="2200" dirty="0"/>
              <a:t>Road Crossing</a:t>
            </a:r>
          </a:p>
          <a:p>
            <a:pPr lvl="1"/>
            <a:r>
              <a:rPr lang="en-US" sz="1800" dirty="0"/>
              <a:t>Rational Actions</a:t>
            </a:r>
          </a:p>
          <a:p>
            <a:r>
              <a:rPr lang="en-US" sz="2200" dirty="0"/>
              <a:t>Process of Writing this Conclusion</a:t>
            </a:r>
          </a:p>
          <a:p>
            <a:pPr lvl="1"/>
            <a:r>
              <a:rPr lang="en-US" sz="1800" dirty="0"/>
              <a:t> Summarizing, Abstraction 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2590800"/>
            <a:ext cx="1676400" cy="299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loud Callout 5"/>
          <p:cNvSpPr/>
          <p:nvPr/>
        </p:nvSpPr>
        <p:spPr>
          <a:xfrm>
            <a:off x="5638800" y="914400"/>
            <a:ext cx="2743200" cy="19050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Searching for a solution is central to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are the very characteristics of Intelligent beings!!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Computers are ______.</a:t>
            </a:r>
          </a:p>
          <a:p>
            <a:r>
              <a:rPr lang="en-US" dirty="0"/>
              <a:t>Making a machine (computer) to perform the</a:t>
            </a:r>
            <a:br>
              <a:rPr lang="en-US" dirty="0"/>
            </a:br>
            <a:r>
              <a:rPr lang="en-US" dirty="0"/>
              <a:t>same tasks which you have just done is called______.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Artificial Intelligence </a:t>
            </a:r>
          </a:p>
          <a:p>
            <a:r>
              <a:rPr lang="en-US" dirty="0"/>
              <a:t>If you learn to do these tasks using existing</a:t>
            </a:r>
            <a:br>
              <a:rPr lang="en-US" dirty="0"/>
            </a:br>
            <a:r>
              <a:rPr lang="en-US" dirty="0"/>
              <a:t>data, then this is called _____.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Machine Learning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76600" y="1752600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>
                <a:solidFill>
                  <a:srgbClr val="FF0000"/>
                </a:solidFill>
              </a:rPr>
              <a:t>Dumb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Intelligence has many subfields. For example, machine learning, natural language processing, computer vision, big data, data mining, robotics, etc.</a:t>
            </a:r>
          </a:p>
          <a:p>
            <a:endParaRPr lang="en-US" dirty="0"/>
          </a:p>
          <a:p>
            <a:r>
              <a:rPr lang="en-US" dirty="0"/>
              <a:t>Many of these subfields have a huge overlap.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USES:</a:t>
            </a:r>
          </a:p>
          <a:p>
            <a:pPr marL="514350" indent="-514350">
              <a:buAutoNum type="arabicPeriod"/>
            </a:pPr>
            <a:r>
              <a:rPr lang="en-US" dirty="0"/>
              <a:t>Preventing Comment Spam</a:t>
            </a:r>
          </a:p>
          <a:p>
            <a:pPr marL="514350" indent="-514350">
              <a:buAutoNum type="arabicPeriod"/>
            </a:pPr>
            <a:r>
              <a:rPr lang="en-US" dirty="0"/>
              <a:t>Preventing Automated Registrations</a:t>
            </a:r>
          </a:p>
          <a:p>
            <a:pPr marL="514350" indent="-514350">
              <a:buAutoNum type="arabicPeriod"/>
            </a:pPr>
            <a:r>
              <a:rPr lang="en-US" dirty="0"/>
              <a:t>Protecting online voting/polls.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Is AI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  <a:p>
            <a:pPr lvl="1"/>
            <a:r>
              <a:rPr lang="en-US" dirty="0"/>
              <a:t>Kasparov Vs. IBM Blue</a:t>
            </a:r>
            <a:br>
              <a:rPr lang="en-US" dirty="0"/>
            </a:br>
            <a:r>
              <a:rPr lang="en-US" dirty="0"/>
              <a:t>(1997)</a:t>
            </a:r>
          </a:p>
          <a:p>
            <a:r>
              <a:rPr lang="en-US" dirty="0"/>
              <a:t>Calculation</a:t>
            </a:r>
          </a:p>
          <a:p>
            <a:pPr lvl="1"/>
            <a:r>
              <a:rPr lang="en-US" dirty="0"/>
              <a:t>Symbolic Integration in</a:t>
            </a:r>
            <a:br>
              <a:rPr lang="en-US" dirty="0"/>
            </a:br>
            <a:r>
              <a:rPr lang="en-US" dirty="0" err="1"/>
              <a:t>Mathematica</a:t>
            </a:r>
            <a:endParaRPr lang="en-US" dirty="0"/>
          </a:p>
          <a:p>
            <a:pPr lvl="1"/>
            <a:r>
              <a:rPr lang="en-US" dirty="0"/>
              <a:t>Theorem </a:t>
            </a:r>
            <a:r>
              <a:rPr lang="en-US" dirty="0" err="1"/>
              <a:t>Provers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3152" y="0"/>
            <a:ext cx="4180848" cy="247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590800"/>
            <a:ext cx="4038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A branch of AI</a:t>
            </a:r>
          </a:p>
          <a:p>
            <a:r>
              <a:rPr lang="en-US" i="1" dirty="0"/>
              <a:t>The man tried to take a picture of a man with a turban.</a:t>
            </a:r>
          </a:p>
          <a:p>
            <a:pPr lvl="1"/>
            <a:r>
              <a:rPr lang="en-US" dirty="0"/>
              <a:t>Did the man try to take a picture with a turban, or</a:t>
            </a:r>
          </a:p>
          <a:p>
            <a:pPr lvl="1"/>
            <a:r>
              <a:rPr lang="en-US" dirty="0"/>
              <a:t> take a picture of a man who is wearing a turban? </a:t>
            </a:r>
          </a:p>
          <a:p>
            <a:r>
              <a:rPr lang="en-US" i="1" dirty="0"/>
              <a:t>The man saw the boy with the telescope</a:t>
            </a:r>
          </a:p>
          <a:p>
            <a:r>
              <a:rPr lang="en-US" dirty="0">
                <a:solidFill>
                  <a:srgbClr val="0070C0"/>
                </a:solidFill>
              </a:rPr>
              <a:t>Communicating in natural language assumes </a:t>
            </a:r>
            <a:r>
              <a:rPr lang="en-US" b="1" dirty="0">
                <a:solidFill>
                  <a:srgbClr val="0070C0"/>
                </a:solidFill>
              </a:rPr>
              <a:t>world knowledge </a:t>
            </a:r>
            <a:r>
              <a:rPr lang="en-US" dirty="0">
                <a:solidFill>
                  <a:srgbClr val="0070C0"/>
                </a:solidFill>
              </a:rPr>
              <a:t>and </a:t>
            </a:r>
            <a:r>
              <a:rPr lang="en-US" b="1" dirty="0">
                <a:solidFill>
                  <a:srgbClr val="0070C0"/>
                </a:solidFill>
              </a:rPr>
              <a:t>the understanding of context</a:t>
            </a:r>
            <a:r>
              <a:rPr lang="en-US" dirty="0">
                <a:solidFill>
                  <a:srgbClr val="0070C0"/>
                </a:solidFill>
              </a:rPr>
              <a:t>, both of which are required to resolve the ambiguities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Google Now, Apple’s </a:t>
            </a:r>
            <a:r>
              <a:rPr lang="en-US" dirty="0" err="1"/>
              <a:t>Siri</a:t>
            </a:r>
            <a:r>
              <a:rPr lang="en-US" dirty="0"/>
              <a:t>, Microsoft’s </a:t>
            </a:r>
            <a:r>
              <a:rPr lang="en-US" dirty="0" err="1"/>
              <a:t>Cortana</a:t>
            </a:r>
            <a:r>
              <a:rPr lang="en-US" dirty="0"/>
              <a:t>, Amazon </a:t>
            </a:r>
            <a:r>
              <a:rPr lang="en-US" dirty="0" err="1"/>
              <a:t>Alexa</a:t>
            </a:r>
            <a:r>
              <a:rPr lang="en-US" dirty="0"/>
              <a:t>, etc. are examples of natural language processing.</a:t>
            </a:r>
          </a:p>
          <a:p>
            <a:endParaRPr lang="en-US" dirty="0"/>
          </a:p>
          <a:p>
            <a:r>
              <a:rPr lang="en-US" dirty="0"/>
              <a:t>They help to find useful information when we ask for using speech.</a:t>
            </a:r>
          </a:p>
          <a:p>
            <a:endParaRPr lang="en-US" dirty="0"/>
          </a:p>
          <a:p>
            <a:r>
              <a:rPr lang="en-US" dirty="0"/>
              <a:t>They can also perform other tasks when you ask, such as setting the alarm, making a phone call, etc.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branch of AI that enables computer to understand the content of images and videos.</a:t>
            </a:r>
          </a:p>
          <a:p>
            <a:r>
              <a:rPr lang="en-US" dirty="0"/>
              <a:t>Applications:</a:t>
            </a:r>
          </a:p>
          <a:p>
            <a:pPr marL="514350" indent="-514350">
              <a:buAutoNum type="arabicPeriod"/>
            </a:pPr>
            <a:r>
              <a:rPr lang="en-US" dirty="0"/>
              <a:t>Optical character recognition (OCR)</a:t>
            </a:r>
          </a:p>
          <a:p>
            <a:pPr marL="514350" indent="-514350">
              <a:buAutoNum type="arabicPeriod"/>
            </a:pPr>
            <a:r>
              <a:rPr lang="en-US" dirty="0"/>
              <a:t>Traffic Rule Violation</a:t>
            </a:r>
          </a:p>
          <a:p>
            <a:pPr marL="514350" indent="-514350">
              <a:buAutoNum type="arabicPeriod"/>
            </a:pPr>
            <a:r>
              <a:rPr lang="en-US" dirty="0"/>
              <a:t>Object Detection </a:t>
            </a:r>
            <a:r>
              <a:rPr lang="en-US"/>
              <a:t>and Recognition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1144</Words>
  <Application>Microsoft Office PowerPoint</Application>
  <PresentationFormat>On-screen Show (4:3)</PresentationFormat>
  <Paragraphs>152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AvertaStd</vt:lpstr>
      <vt:lpstr>Calibri</vt:lpstr>
      <vt:lpstr>Google Sans</vt:lpstr>
      <vt:lpstr>Office Theme</vt:lpstr>
      <vt:lpstr>Introduction to Artificial Intelligence IICT Lecture 11</vt:lpstr>
      <vt:lpstr>Intelligence</vt:lpstr>
      <vt:lpstr>Types of Dataset</vt:lpstr>
      <vt:lpstr>Machine Learning</vt:lpstr>
      <vt:lpstr>Supervised Learning</vt:lpstr>
      <vt:lpstr>Painting by two different painters: Supervised Learning</vt:lpstr>
      <vt:lpstr>Now your turn…  Who’s painting is this?</vt:lpstr>
      <vt:lpstr>And this?</vt:lpstr>
      <vt:lpstr>Unsupervised Learning</vt:lpstr>
      <vt:lpstr>Finding the odd one out: Unsupervised Learning</vt:lpstr>
      <vt:lpstr>Regression</vt:lpstr>
      <vt:lpstr>Classification</vt:lpstr>
      <vt:lpstr>Supervised vs Unsupervised</vt:lpstr>
      <vt:lpstr>Supervised vs Unsupervised</vt:lpstr>
      <vt:lpstr>Planning: Knight’s Plight Can we move the given knight to the “Target” location?</vt:lpstr>
      <vt:lpstr>Planning: Knight’s Plight Can we move the given knight to the “Target” location?</vt:lpstr>
      <vt:lpstr>Some more…</vt:lpstr>
      <vt:lpstr>Conclusion</vt:lpstr>
      <vt:lpstr>What is Artificial Intelligence?</vt:lpstr>
      <vt:lpstr>Artificial Intelligence</vt:lpstr>
      <vt:lpstr>CAPTCHA</vt:lpstr>
      <vt:lpstr>Is AI intelligent?</vt:lpstr>
      <vt:lpstr>Natural Language Processing</vt:lpstr>
      <vt:lpstr>Natural Language Processing</vt:lpstr>
      <vt:lpstr>Computer Vision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creator>bismillahjan</dc:creator>
  <cp:lastModifiedBy>03-134162-024</cp:lastModifiedBy>
  <cp:revision>266</cp:revision>
  <dcterms:created xsi:type="dcterms:W3CDTF">2006-08-16T00:00:00Z</dcterms:created>
  <dcterms:modified xsi:type="dcterms:W3CDTF">2024-11-19T06:13:55Z</dcterms:modified>
</cp:coreProperties>
</file>