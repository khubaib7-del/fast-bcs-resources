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9" r:id="rId10"/>
    <p:sldId id="270" r:id="rId11"/>
    <p:sldId id="272" r:id="rId12"/>
    <p:sldId id="273" r:id="rId13"/>
    <p:sldId id="277" r:id="rId14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omic Sans MS" panose="030F0702030302020204" pitchFamily="66" charset="0"/>
      <p:regular r:id="rId20"/>
      <p:bold r:id="rId21"/>
      <p:italic r:id="rId22"/>
      <p:boldItalic r:id="rId23"/>
    </p:embeddedFont>
    <p:embeddedFont>
      <p:font typeface="Gill Sans" panose="020B0604020202020204" charset="0"/>
      <p:regular r:id="rId24"/>
      <p:bold r:id="rId25"/>
    </p:embeddedFont>
    <p:embeddedFont>
      <p:font typeface="Tahoma" panose="020B060403050404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gklKEePjHLZgZkB/ymqz3jcoaW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iqr &gt; show greter variblity &lt; shoe les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442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  <a:defRPr sz="2400"/>
            </a:lvl1pPr>
            <a:lvl2pPr marL="914400" lvl="1" indent="-3251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  <a:defRPr sz="2000"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Font typeface="Gill Sans"/>
              <a:buChar char=""/>
              <a:defRPr sz="1800"/>
            </a:lvl3pPr>
            <a:lvl4pPr marL="1828800" lvl="3" indent="-2997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Gill Sans"/>
              <a:buChar char="◻"/>
              <a:defRPr sz="1600"/>
            </a:lvl4pPr>
            <a:lvl5pPr marL="2286000" lvl="4" indent="-29082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Font typeface="Gill Sans"/>
              <a:buChar char="◻"/>
              <a:defRPr sz="1400"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15" name="Google Shape;15;p4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5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body" idx="2"/>
          </p:nvPr>
        </p:nvSpPr>
        <p:spPr>
          <a:xfrm>
            <a:off x="4572000" y="1295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22" name="Google Shape;22;p45"/>
          <p:cNvSpPr txBox="1">
            <a:spLocks noGrp="1"/>
          </p:cNvSpPr>
          <p:nvPr>
            <p:ph type="body" idx="3"/>
          </p:nvPr>
        </p:nvSpPr>
        <p:spPr>
          <a:xfrm>
            <a:off x="304800" y="3962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body" idx="4"/>
          </p:nvPr>
        </p:nvSpPr>
        <p:spPr>
          <a:xfrm>
            <a:off x="4572000" y="3962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6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body" idx="2"/>
          </p:nvPr>
        </p:nvSpPr>
        <p:spPr>
          <a:xfrm>
            <a:off x="45720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tx">
  <p:cSld name="TITLE_AND_BODY">
    <p:bg>
      <p:bgPr>
        <a:solidFill>
          <a:srgbClr val="464653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7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3200"/>
              <a:buFont typeface="Bookman Old Style"/>
              <a:buNone/>
              <a:defRPr>
                <a:solidFill>
                  <a:srgbClr val="DDE9E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1pPr>
            <a:lvl2pPr marL="914400" lvl="1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2pPr>
            <a:lvl3pPr marL="1371600" lvl="2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3pPr>
            <a:lvl4pPr marL="1828800" lvl="3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4pPr>
            <a:lvl5pPr marL="2286000" lvl="4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sldNum" idx="12"/>
          </p:nvPr>
        </p:nvSpPr>
        <p:spPr>
          <a:xfrm>
            <a:off x="1069847" y="6355079"/>
            <a:ext cx="301909" cy="307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7"/>
          <p:cNvSpPr/>
          <p:nvPr/>
        </p:nvSpPr>
        <p:spPr>
          <a:xfrm>
            <a:off x="914400" y="2819399"/>
            <a:ext cx="7315200" cy="1280162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47"/>
          <p:cNvSpPr/>
          <p:nvPr/>
        </p:nvSpPr>
        <p:spPr>
          <a:xfrm>
            <a:off x="914400" y="2819399"/>
            <a:ext cx="228600" cy="1280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sz="2400" b="1">
                <a:solidFill>
                  <a:schemeClr val="accent2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>
  <p:cSld name="Content with 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2000"/>
              <a:buFont typeface="Gill Sans"/>
              <a:buNone/>
              <a:defRPr sz="2000" b="1"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body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2pPr>
            <a:lvl3pPr marL="1371600" lvl="2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3pPr>
            <a:lvl4pPr marL="1828800" lvl="3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4pPr>
            <a:lvl5pPr marL="2286000" lvl="4" indent="-228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48" name="Google Shape;48;p5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9" name="Google Shape;49;p50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0" name="Google Shape;50;p50"/>
          <p:cNvCxnSpPr/>
          <p:nvPr/>
        </p:nvCxnSpPr>
        <p:spPr>
          <a:xfrm flipH="1">
            <a:off x="6178800" y="307339"/>
            <a:ext cx="1" cy="603504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1" name="Google Shape;51;p50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bg>
      <p:bgPr>
        <a:solidFill>
          <a:srgbClr val="46465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ookman Old Style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1"/>
          <p:cNvSpPr>
            <a:spLocks noGrp="1"/>
          </p:cNvSpPr>
          <p:nvPr>
            <p:ph type="pic" idx="2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ill Sans"/>
              <a:buNone/>
              <a:defRPr sz="1400">
                <a:solidFill>
                  <a:srgbClr val="FFFFFF"/>
                </a:solidFill>
              </a:defRPr>
            </a:lvl1pPr>
            <a:lvl2pPr marL="914400" lvl="1" indent="-2961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Gill Sans"/>
              <a:buChar char=""/>
              <a:defRPr sz="1400">
                <a:solidFill>
                  <a:srgbClr val="FFFFFF"/>
                </a:solidFill>
              </a:defRPr>
            </a:lvl2pPr>
            <a:lvl3pPr marL="1371600" lvl="2" indent="-2961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Gill Sans"/>
              <a:buChar char=""/>
              <a:defRPr sz="1400">
                <a:solidFill>
                  <a:srgbClr val="FFFFFF"/>
                </a:solidFill>
              </a:defRPr>
            </a:lvl3pPr>
            <a:lvl4pPr marL="1828800" lvl="3" indent="-29083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Gill Sans"/>
              <a:buChar char="◻"/>
              <a:defRPr sz="1400">
                <a:solidFill>
                  <a:srgbClr val="FFFFFF"/>
                </a:solidFill>
              </a:defRPr>
            </a:lvl4pPr>
            <a:lvl5pPr marL="2286000" lvl="4" indent="-29082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Gill Sans"/>
              <a:buChar char="◻"/>
              <a:defRPr sz="1400">
                <a:solidFill>
                  <a:srgbClr val="FFFFFF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7" name="Google Shape;57;p51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8" name="Google Shape;58;p51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" name="Google Shape;59;p51"/>
          <p:cNvSpPr/>
          <p:nvPr/>
        </p:nvSpPr>
        <p:spPr>
          <a:xfrm>
            <a:off x="457199" y="500856"/>
            <a:ext cx="182882" cy="68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2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body" idx="2"/>
          </p:nvPr>
        </p:nvSpPr>
        <p:spPr>
          <a:xfrm>
            <a:off x="4572000" y="1295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body" idx="3"/>
          </p:nvPr>
        </p:nvSpPr>
        <p:spPr>
          <a:xfrm>
            <a:off x="4572000" y="3962400"/>
            <a:ext cx="4114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3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3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marL="914400" lvl="1" indent="-31546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marL="1371600" lvl="2" indent="-31546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marL="1828800" lvl="3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marL="3200400" lvl="6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marL="3657600" lvl="7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marL="4114800" lvl="8" indent="-31432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>
            <a:endParaRPr/>
          </a:p>
        </p:txBody>
      </p:sp>
      <p:sp>
        <p:nvSpPr>
          <p:cNvPr id="69" name="Google Shape;69;p53"/>
          <p:cNvSpPr>
            <a:spLocks noGrp="1"/>
          </p:cNvSpPr>
          <p:nvPr>
            <p:ph type="chart" idx="2"/>
          </p:nvPr>
        </p:nvSpPr>
        <p:spPr>
          <a:xfrm>
            <a:off x="45720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Gill Sans"/>
              <a:buChar char="◻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Gill Sans"/>
              <a:buChar char="◻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70" name="Google Shape;70;p5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42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" name="Google Shape;7;p42"/>
          <p:cNvCxnSpPr/>
          <p:nvPr/>
        </p:nvCxnSpPr>
        <p:spPr>
          <a:xfrm>
            <a:off x="457200" y="1143000"/>
            <a:ext cx="8229601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" name="Google Shape;8;p42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4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4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sz="1400" b="0" i="0" u="none" strike="noStrike" cap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407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5407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54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416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Gill Sans"/>
              <a:buChar char="◻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41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Gill Sans"/>
              <a:buChar char="◻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sz="26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www.thoughtco.com/what-is-the-interquartile-range-rule-3126244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/>
          <p:nvPr/>
        </p:nvSpPr>
        <p:spPr>
          <a:xfrm>
            <a:off x="912813" y="995363"/>
            <a:ext cx="7315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ctr" anchorCtr="0">
            <a:noAutofit/>
          </a:bodyPr>
          <a:lstStyle/>
          <a:p>
            <a:pPr marL="4000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Bookman Old Style"/>
              <a:buNone/>
            </a:pPr>
            <a:r>
              <a:rPr lang="en-US" sz="3200" b="1">
                <a:solidFill>
                  <a:schemeClr val="accent5"/>
                </a:solidFill>
              </a:rPr>
              <a:t> </a:t>
            </a:r>
            <a:br>
              <a:rPr lang="en-US" sz="3200" b="1">
                <a:solidFill>
                  <a:schemeClr val="accent5"/>
                </a:solidFill>
              </a:rPr>
            </a:br>
            <a:r>
              <a:rPr lang="en-US" sz="3200" b="1">
                <a:solidFill>
                  <a:schemeClr val="accent5"/>
                </a:solidFill>
              </a:rPr>
              <a:t>Data Science</a:t>
            </a:r>
            <a:endParaRPr sz="3200" b="1">
              <a:solidFill>
                <a:schemeClr val="accent5"/>
              </a:solidFill>
            </a:endParaRPr>
          </a:p>
        </p:txBody>
      </p:sp>
      <p:sp>
        <p:nvSpPr>
          <p:cNvPr id="78" name="Google Shape;78;p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0625" bIns="0" anchor="t" anchorCtr="0">
            <a:normAutofit/>
          </a:bodyPr>
          <a:lstStyle/>
          <a:p>
            <a:pPr marL="4000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None/>
            </a:pPr>
            <a:endParaRPr sz="2400"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sz="2400"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sz="2400"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dirty="0">
              <a:solidFill>
                <a:srgbClr val="3333CC"/>
              </a:solidFill>
            </a:endParaRPr>
          </a:p>
          <a:p>
            <a:pPr marL="40005" lvl="0" indent="0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sz="2400" dirty="0">
              <a:solidFill>
                <a:srgbClr val="3333CC"/>
              </a:solidFill>
            </a:endParaRPr>
          </a:p>
          <a:p>
            <a:pPr marL="382905" lvl="0" indent="-227075" algn="ctr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endParaRPr sz="2400" dirty="0">
              <a:solidFill>
                <a:srgbClr val="3333CC"/>
              </a:solidFill>
            </a:endParaRPr>
          </a:p>
        </p:txBody>
      </p:sp>
      <p:sp>
        <p:nvSpPr>
          <p:cNvPr id="79" name="Google Shape;79;p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 descr="Image result for mobile applications"/>
          <p:cNvSpPr/>
          <p:nvPr/>
        </p:nvSpPr>
        <p:spPr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 descr="Image result for mobile applications"/>
          <p:cNvSpPr/>
          <p:nvPr/>
        </p:nvSpPr>
        <p:spPr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 descr="Image result for mobile applications"/>
          <p:cNvSpPr/>
          <p:nvPr/>
        </p:nvSpPr>
        <p:spPr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/>
          <p:nvPr/>
        </p:nvSpPr>
        <p:spPr>
          <a:xfrm>
            <a:off x="633413" y="2746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67519" y="2749867"/>
            <a:ext cx="8205787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Graphical Displays</a:t>
            </a:r>
            <a:endParaRPr sz="28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 Plot</a:t>
            </a:r>
            <a:b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 dirty="0">
                <a:solidFill>
                  <a:srgbClr val="D3B4A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 dirty="0">
              <a:solidFill>
                <a:srgbClr val="D3B4A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Lecture No. 3b</a:t>
            </a:r>
            <a:endParaRPr sz="28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Box and Whisker Plot (aka Boxplot)</a:t>
            </a:r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287" y="4064624"/>
            <a:ext cx="7458075" cy="77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3"/>
          <p:cNvGrpSpPr/>
          <p:nvPr/>
        </p:nvGrpSpPr>
        <p:grpSpPr>
          <a:xfrm>
            <a:off x="1317458" y="4346407"/>
            <a:ext cx="720193" cy="943795"/>
            <a:chOff x="1756611" y="4652211"/>
            <a:chExt cx="960256" cy="1258393"/>
          </a:xfrm>
        </p:grpSpPr>
        <p:cxnSp>
          <p:nvCxnSpPr>
            <p:cNvPr id="102" name="Google Shape;102;p3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3" name="Google Shape;103;p3"/>
            <p:cNvSpPr txBox="1"/>
            <p:nvPr/>
          </p:nvSpPr>
          <p:spPr>
            <a:xfrm>
              <a:off x="1756611" y="5541272"/>
              <a:ext cx="9602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200"/>
                <a:buFont typeface="Gill Sans"/>
                <a:buNone/>
              </a:pPr>
              <a:r>
                <a:rPr lang="en-US" sz="120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MIN</a:t>
              </a:r>
              <a:endParaRPr sz="120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04" name="Google Shape;104;p3"/>
          <p:cNvGrpSpPr/>
          <p:nvPr/>
        </p:nvGrpSpPr>
        <p:grpSpPr>
          <a:xfrm>
            <a:off x="3392905" y="4346407"/>
            <a:ext cx="493295" cy="966877"/>
            <a:chOff x="1756611" y="4652211"/>
            <a:chExt cx="657726" cy="1289169"/>
          </a:xfrm>
        </p:grpSpPr>
        <p:cxnSp>
          <p:nvCxnSpPr>
            <p:cNvPr id="105" name="Google Shape;105;p3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6" name="Google Shape;106;p3"/>
            <p:cNvSpPr txBox="1"/>
            <p:nvPr/>
          </p:nvSpPr>
          <p:spPr>
            <a:xfrm>
              <a:off x="1756611" y="5541271"/>
              <a:ext cx="657726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Q1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07" name="Google Shape;107;p3"/>
          <p:cNvGrpSpPr/>
          <p:nvPr/>
        </p:nvGrpSpPr>
        <p:grpSpPr>
          <a:xfrm>
            <a:off x="4157515" y="4346408"/>
            <a:ext cx="856043" cy="966878"/>
            <a:chOff x="1593786" y="4652211"/>
            <a:chExt cx="1141391" cy="1289170"/>
          </a:xfrm>
        </p:grpSpPr>
        <p:cxnSp>
          <p:nvCxnSpPr>
            <p:cNvPr id="108" name="Google Shape;108;p3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3"/>
            <p:cNvSpPr txBox="1"/>
            <p:nvPr/>
          </p:nvSpPr>
          <p:spPr>
            <a:xfrm>
              <a:off x="1593786" y="5541272"/>
              <a:ext cx="1141391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Median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10" name="Google Shape;110;p3"/>
          <p:cNvGrpSpPr/>
          <p:nvPr/>
        </p:nvGrpSpPr>
        <p:grpSpPr>
          <a:xfrm>
            <a:off x="5653644" y="4346134"/>
            <a:ext cx="737531" cy="966877"/>
            <a:chOff x="1593786" y="4652211"/>
            <a:chExt cx="983375" cy="1289169"/>
          </a:xfrm>
        </p:grpSpPr>
        <p:cxnSp>
          <p:nvCxnSpPr>
            <p:cNvPr id="111" name="Google Shape;111;p3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2" name="Google Shape;112;p3"/>
            <p:cNvSpPr txBox="1"/>
            <p:nvPr/>
          </p:nvSpPr>
          <p:spPr>
            <a:xfrm>
              <a:off x="1593786" y="5541271"/>
              <a:ext cx="983375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Q3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746429" y="4344219"/>
            <a:ext cx="737531" cy="966877"/>
            <a:chOff x="1593786" y="4652211"/>
            <a:chExt cx="983375" cy="1289169"/>
          </a:xfrm>
        </p:grpSpPr>
        <p:cxnSp>
          <p:nvCxnSpPr>
            <p:cNvPr id="114" name="Google Shape;114;p3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5" name="Google Shape;115;p3"/>
            <p:cNvSpPr txBox="1"/>
            <p:nvPr/>
          </p:nvSpPr>
          <p:spPr>
            <a:xfrm>
              <a:off x="1593786" y="5541271"/>
              <a:ext cx="983375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MAX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16" name="Google Shape;116;p3"/>
          <p:cNvGrpSpPr/>
          <p:nvPr/>
        </p:nvGrpSpPr>
        <p:grpSpPr>
          <a:xfrm>
            <a:off x="1564106" y="3110887"/>
            <a:ext cx="6527128" cy="442760"/>
            <a:chOff x="2085474" y="3004850"/>
            <a:chExt cx="8702837" cy="590346"/>
          </a:xfrm>
        </p:grpSpPr>
        <p:cxnSp>
          <p:nvCxnSpPr>
            <p:cNvPr id="117" name="Google Shape;117;p3"/>
            <p:cNvCxnSpPr/>
            <p:nvPr/>
          </p:nvCxnSpPr>
          <p:spPr>
            <a:xfrm>
              <a:off x="2085474" y="3006131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3"/>
            <p:cNvCxnSpPr/>
            <p:nvPr/>
          </p:nvCxnSpPr>
          <p:spPr>
            <a:xfrm>
              <a:off x="5991727" y="3004853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3"/>
            <p:cNvCxnSpPr/>
            <p:nvPr/>
          </p:nvCxnSpPr>
          <p:spPr>
            <a:xfrm>
              <a:off x="8037092" y="3004852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3"/>
            <p:cNvCxnSpPr/>
            <p:nvPr/>
          </p:nvCxnSpPr>
          <p:spPr>
            <a:xfrm>
              <a:off x="10788311" y="3004851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3"/>
            <p:cNvCxnSpPr/>
            <p:nvPr/>
          </p:nvCxnSpPr>
          <p:spPr>
            <a:xfrm>
              <a:off x="4892895" y="3004850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2" name="Google Shape;122;p3"/>
          <p:cNvGrpSpPr/>
          <p:nvPr/>
        </p:nvGrpSpPr>
        <p:grpSpPr>
          <a:xfrm>
            <a:off x="3645608" y="3115527"/>
            <a:ext cx="2404467" cy="432746"/>
            <a:chOff x="4860811" y="3011036"/>
            <a:chExt cx="3205956" cy="576994"/>
          </a:xfrm>
        </p:grpSpPr>
        <p:cxnSp>
          <p:nvCxnSpPr>
            <p:cNvPr id="123" name="Google Shape;123;p3"/>
            <p:cNvCxnSpPr/>
            <p:nvPr/>
          </p:nvCxnSpPr>
          <p:spPr>
            <a:xfrm rot="10800000">
              <a:off x="4860811" y="3011036"/>
              <a:ext cx="3192323" cy="25096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3"/>
            <p:cNvCxnSpPr/>
            <p:nvPr/>
          </p:nvCxnSpPr>
          <p:spPr>
            <a:xfrm rot="10800000">
              <a:off x="4874444" y="3562934"/>
              <a:ext cx="3192323" cy="25096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5" name="Google Shape;125;p3"/>
          <p:cNvSpPr/>
          <p:nvPr/>
        </p:nvSpPr>
        <p:spPr>
          <a:xfrm rot="-5400000">
            <a:off x="4619749" y="1582772"/>
            <a:ext cx="450131" cy="2410524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6D7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endParaRPr sz="135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3716301" y="2195837"/>
            <a:ext cx="235748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500"/>
              <a:buFont typeface="Gill Sans"/>
              <a:buNone/>
            </a:pPr>
            <a:r>
              <a:rPr lang="en-US" sz="150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IQR</a:t>
            </a:r>
            <a:endParaRPr sz="1500" b="1" i="0" u="none" strike="noStrike" cap="none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7" name="Google Shape;127;p3"/>
          <p:cNvGrpSpPr/>
          <p:nvPr/>
        </p:nvGrpSpPr>
        <p:grpSpPr>
          <a:xfrm>
            <a:off x="1541851" y="3294884"/>
            <a:ext cx="6525062" cy="22739"/>
            <a:chOff x="2055800" y="3250178"/>
            <a:chExt cx="8700083" cy="30319"/>
          </a:xfrm>
        </p:grpSpPr>
        <p:cxnSp>
          <p:nvCxnSpPr>
            <p:cNvPr id="128" name="Google Shape;128;p3"/>
            <p:cNvCxnSpPr/>
            <p:nvPr/>
          </p:nvCxnSpPr>
          <p:spPr>
            <a:xfrm flipH="1">
              <a:off x="2055800" y="3250178"/>
              <a:ext cx="2837095" cy="10193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3"/>
            <p:cNvCxnSpPr/>
            <p:nvPr/>
          </p:nvCxnSpPr>
          <p:spPr>
            <a:xfrm rot="10800000">
              <a:off x="8044711" y="3280497"/>
              <a:ext cx="2711172" cy="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30" name="Google Shape;130;p3"/>
          <p:cNvSpPr txBox="1"/>
          <p:nvPr/>
        </p:nvSpPr>
        <p:spPr>
          <a:xfrm>
            <a:off x="152997" y="1443110"/>
            <a:ext cx="2963027" cy="55399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500"/>
              <a:buFont typeface="Gill Sans"/>
              <a:buNone/>
            </a:pPr>
            <a:r>
              <a:rPr lang="en-US" sz="1500" b="1" i="0" u="none" strike="noStrike" cap="non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Boxplot is helpful in a lot of ways!</a:t>
            </a:r>
            <a:endParaRPr sz="1500" b="1" i="0" u="none" strike="noStrike" cap="none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152996" y="2088417"/>
            <a:ext cx="2963027" cy="32316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500"/>
              <a:buFont typeface="Gill Sans"/>
              <a:buNone/>
            </a:pPr>
            <a:r>
              <a:rPr lang="en-US" sz="1500" b="1" i="0" u="none" strike="noStrike" cap="non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Can be used to find Outliers!</a:t>
            </a:r>
            <a:endParaRPr sz="1500" b="1" i="0" u="none" strike="noStrike" cap="none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57363" y="2562968"/>
            <a:ext cx="2963027" cy="32316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Gill Sans"/>
              <a:buNone/>
            </a:pPr>
            <a:r>
              <a:rPr lang="en-US" sz="1500" b="1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What is an outlier?</a:t>
            </a:r>
            <a:endParaRPr sz="1500" b="1" i="0" u="none" strike="noStrike" cap="non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496724" y="1448345"/>
            <a:ext cx="3494279" cy="78483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500"/>
              <a:buFont typeface="Gill Sans"/>
              <a:buNone/>
            </a:pPr>
            <a:r>
              <a:rPr lang="en-US" sz="1500" b="1" i="0" u="none" strike="noStrike" cap="non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An extreme value that is at abnormal distance from other values. </a:t>
            </a:r>
            <a:endParaRPr sz="1500" b="1" i="0" u="none" strike="noStrike" cap="none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815213" y="2385436"/>
            <a:ext cx="2963027" cy="32316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Gill Sans"/>
              <a:buNone/>
            </a:pPr>
            <a:r>
              <a:rPr lang="en-US" sz="1500" b="1" i="0" u="none" strike="noStrike" cap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What distance is abnormal?</a:t>
            </a:r>
            <a:endParaRPr sz="1500" b="1" i="0" u="none" strike="noStrike" cap="non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Outlier Detection with IQR</a:t>
            </a:r>
            <a:endParaRPr/>
          </a:p>
        </p:txBody>
      </p:sp>
      <p:sp>
        <p:nvSpPr>
          <p:cNvPr id="140" name="Google Shape;140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0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287" y="4064624"/>
            <a:ext cx="7458075" cy="77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4"/>
          <p:cNvGrpSpPr/>
          <p:nvPr/>
        </p:nvGrpSpPr>
        <p:grpSpPr>
          <a:xfrm>
            <a:off x="1317458" y="4346408"/>
            <a:ext cx="598074" cy="966878"/>
            <a:chOff x="1756611" y="4652211"/>
            <a:chExt cx="797431" cy="1289170"/>
          </a:xfrm>
        </p:grpSpPr>
        <p:cxnSp>
          <p:nvCxnSpPr>
            <p:cNvPr id="143" name="Google Shape;143;p4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4" name="Google Shape;144;p4"/>
            <p:cNvSpPr txBox="1"/>
            <p:nvPr/>
          </p:nvSpPr>
          <p:spPr>
            <a:xfrm>
              <a:off x="1756611" y="5541272"/>
              <a:ext cx="797431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MIN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5" name="Google Shape;145;p4"/>
          <p:cNvGrpSpPr/>
          <p:nvPr/>
        </p:nvGrpSpPr>
        <p:grpSpPr>
          <a:xfrm>
            <a:off x="3392905" y="4346407"/>
            <a:ext cx="493295" cy="966877"/>
            <a:chOff x="1756611" y="4652211"/>
            <a:chExt cx="657726" cy="1289169"/>
          </a:xfrm>
        </p:grpSpPr>
        <p:cxnSp>
          <p:nvCxnSpPr>
            <p:cNvPr id="146" name="Google Shape;146;p4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7" name="Google Shape;147;p4"/>
            <p:cNvSpPr txBox="1"/>
            <p:nvPr/>
          </p:nvSpPr>
          <p:spPr>
            <a:xfrm>
              <a:off x="1756611" y="5541271"/>
              <a:ext cx="657726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Q1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4157515" y="4346408"/>
            <a:ext cx="856045" cy="966878"/>
            <a:chOff x="1593786" y="4652211"/>
            <a:chExt cx="1141394" cy="1289170"/>
          </a:xfrm>
        </p:grpSpPr>
        <p:cxnSp>
          <p:nvCxnSpPr>
            <p:cNvPr id="149" name="Google Shape;149;p4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0" name="Google Shape;150;p4"/>
            <p:cNvSpPr txBox="1"/>
            <p:nvPr/>
          </p:nvSpPr>
          <p:spPr>
            <a:xfrm>
              <a:off x="1593786" y="5541272"/>
              <a:ext cx="1141394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Median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51" name="Google Shape;151;p4"/>
          <p:cNvGrpSpPr/>
          <p:nvPr/>
        </p:nvGrpSpPr>
        <p:grpSpPr>
          <a:xfrm>
            <a:off x="5653644" y="4346134"/>
            <a:ext cx="737531" cy="966877"/>
            <a:chOff x="1593786" y="4652211"/>
            <a:chExt cx="983375" cy="1289169"/>
          </a:xfrm>
        </p:grpSpPr>
        <p:cxnSp>
          <p:nvCxnSpPr>
            <p:cNvPr id="152" name="Google Shape;152;p4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3" name="Google Shape;153;p4"/>
            <p:cNvSpPr txBox="1"/>
            <p:nvPr/>
          </p:nvSpPr>
          <p:spPr>
            <a:xfrm>
              <a:off x="1593786" y="5541271"/>
              <a:ext cx="983375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Q3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54" name="Google Shape;154;p4"/>
          <p:cNvGrpSpPr/>
          <p:nvPr/>
        </p:nvGrpSpPr>
        <p:grpSpPr>
          <a:xfrm>
            <a:off x="7746429" y="4344219"/>
            <a:ext cx="737531" cy="966877"/>
            <a:chOff x="1593786" y="4652211"/>
            <a:chExt cx="983375" cy="1289169"/>
          </a:xfrm>
        </p:grpSpPr>
        <p:cxnSp>
          <p:nvCxnSpPr>
            <p:cNvPr id="155" name="Google Shape;155;p4"/>
            <p:cNvCxnSpPr/>
            <p:nvPr/>
          </p:nvCxnSpPr>
          <p:spPr>
            <a:xfrm>
              <a:off x="2085474" y="4652211"/>
              <a:ext cx="0" cy="882315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6" name="Google Shape;156;p4"/>
            <p:cNvSpPr txBox="1"/>
            <p:nvPr/>
          </p:nvSpPr>
          <p:spPr>
            <a:xfrm>
              <a:off x="1593786" y="5541271"/>
              <a:ext cx="983375" cy="400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ts val="1350"/>
                <a:buFont typeface="Gill Sans"/>
                <a:buNone/>
              </a:pPr>
              <a:r>
                <a:rPr lang="en-US" sz="1350" b="1" i="0" u="none" strike="noStrike" cap="non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MAX</a:t>
              </a:r>
              <a:endParaRPr sz="135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57" name="Google Shape;157;p4"/>
          <p:cNvGrpSpPr/>
          <p:nvPr/>
        </p:nvGrpSpPr>
        <p:grpSpPr>
          <a:xfrm>
            <a:off x="1564106" y="3110887"/>
            <a:ext cx="6527128" cy="442760"/>
            <a:chOff x="2085474" y="3004850"/>
            <a:chExt cx="8702837" cy="590346"/>
          </a:xfrm>
        </p:grpSpPr>
        <p:cxnSp>
          <p:nvCxnSpPr>
            <p:cNvPr id="158" name="Google Shape;158;p4"/>
            <p:cNvCxnSpPr/>
            <p:nvPr/>
          </p:nvCxnSpPr>
          <p:spPr>
            <a:xfrm>
              <a:off x="2085474" y="3006131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9" name="Google Shape;159;p4"/>
            <p:cNvCxnSpPr/>
            <p:nvPr/>
          </p:nvCxnSpPr>
          <p:spPr>
            <a:xfrm>
              <a:off x="5991727" y="3004853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" name="Google Shape;160;p4"/>
            <p:cNvCxnSpPr/>
            <p:nvPr/>
          </p:nvCxnSpPr>
          <p:spPr>
            <a:xfrm>
              <a:off x="8037092" y="3004852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" name="Google Shape;161;p4"/>
            <p:cNvCxnSpPr/>
            <p:nvPr/>
          </p:nvCxnSpPr>
          <p:spPr>
            <a:xfrm>
              <a:off x="10788311" y="3004851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2" name="Google Shape;162;p4"/>
            <p:cNvCxnSpPr/>
            <p:nvPr/>
          </p:nvCxnSpPr>
          <p:spPr>
            <a:xfrm>
              <a:off x="4892895" y="3004850"/>
              <a:ext cx="0" cy="589065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3" name="Google Shape;163;p4"/>
          <p:cNvGrpSpPr/>
          <p:nvPr/>
        </p:nvGrpSpPr>
        <p:grpSpPr>
          <a:xfrm>
            <a:off x="3645608" y="3115527"/>
            <a:ext cx="2404467" cy="432746"/>
            <a:chOff x="4860811" y="3011036"/>
            <a:chExt cx="3205956" cy="576994"/>
          </a:xfrm>
        </p:grpSpPr>
        <p:cxnSp>
          <p:nvCxnSpPr>
            <p:cNvPr id="164" name="Google Shape;164;p4"/>
            <p:cNvCxnSpPr/>
            <p:nvPr/>
          </p:nvCxnSpPr>
          <p:spPr>
            <a:xfrm rot="10800000">
              <a:off x="4860811" y="3011036"/>
              <a:ext cx="3192323" cy="25096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4"/>
            <p:cNvCxnSpPr/>
            <p:nvPr/>
          </p:nvCxnSpPr>
          <p:spPr>
            <a:xfrm rot="10800000">
              <a:off x="4874444" y="3562934"/>
              <a:ext cx="3192323" cy="25096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6" name="Google Shape;166;p4"/>
          <p:cNvSpPr/>
          <p:nvPr/>
        </p:nvSpPr>
        <p:spPr>
          <a:xfrm rot="-5400000">
            <a:off x="4619749" y="1582772"/>
            <a:ext cx="450131" cy="2410524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6D7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endParaRPr sz="135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3716301" y="2195837"/>
            <a:ext cx="235748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500"/>
              <a:buFont typeface="Gill Sans"/>
              <a:buNone/>
            </a:pPr>
            <a:r>
              <a:rPr lang="en-US" sz="1500" b="1" i="0" u="none" strike="noStrike" cap="non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IQR</a:t>
            </a:r>
            <a:endParaRPr sz="1500" b="1" i="0" u="none" strike="noStrike" cap="none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8" name="Google Shape;168;p4"/>
          <p:cNvGrpSpPr/>
          <p:nvPr/>
        </p:nvGrpSpPr>
        <p:grpSpPr>
          <a:xfrm>
            <a:off x="1541851" y="3294884"/>
            <a:ext cx="6525062" cy="22739"/>
            <a:chOff x="2055800" y="3250178"/>
            <a:chExt cx="8700083" cy="30319"/>
          </a:xfrm>
        </p:grpSpPr>
        <p:cxnSp>
          <p:nvCxnSpPr>
            <p:cNvPr id="169" name="Google Shape;169;p4"/>
            <p:cNvCxnSpPr/>
            <p:nvPr/>
          </p:nvCxnSpPr>
          <p:spPr>
            <a:xfrm flipH="1">
              <a:off x="2055800" y="3250178"/>
              <a:ext cx="2837095" cy="10193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4"/>
            <p:cNvCxnSpPr/>
            <p:nvPr/>
          </p:nvCxnSpPr>
          <p:spPr>
            <a:xfrm rot="10800000">
              <a:off x="8044711" y="3280497"/>
              <a:ext cx="2711172" cy="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1" name="Google Shape;171;p4"/>
          <p:cNvSpPr txBox="1"/>
          <p:nvPr/>
        </p:nvSpPr>
        <p:spPr>
          <a:xfrm>
            <a:off x="157363" y="1798122"/>
            <a:ext cx="2963027" cy="3231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" t="-1510" r="-148" b="-1451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lang="en-US" sz="1800" b="0" i="0" u="none" strike="noStrike" cap="non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157363" y="2249641"/>
            <a:ext cx="2963027" cy="3231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66" t="-1520" r="-148" b="-1440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lang="en-US" sz="1800" b="0" i="0" u="none" strike="noStrike" cap="non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5653644" y="1820861"/>
            <a:ext cx="2963027" cy="3231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79" t="-1669" r="-158" b="-1292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lang="en-US" sz="1800" b="0" i="0" u="none" strike="noStrike" cap="non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5653644" y="2293627"/>
            <a:ext cx="3332989" cy="3231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59" t="-1572" r="-129" b="-1388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lang="en-US" sz="1800" b="0" i="0" u="none" strike="noStrike" cap="non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5653641" y="3611971"/>
            <a:ext cx="3435566" cy="3231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6" t="-27" r="12" b="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lang="en-US" sz="1800" b="0" i="0" u="none" strike="noStrike" cap="non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754380" y="3612898"/>
            <a:ext cx="3435566" cy="3231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t="-117" r="4" b="10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lang="en-US" sz="1800" b="0" i="0" u="none" strike="noStrike" cap="non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57363" y="5687656"/>
            <a:ext cx="745807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Useful Article: </a:t>
            </a:r>
            <a:r>
              <a:rPr lang="en-US" sz="1350" b="0" i="0" u="sng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https://www.thoughtco.com/what-is-the-interquartile-range-rule-3126244</a:t>
            </a:r>
            <a:r>
              <a:rPr lang="en-US" sz="135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 sz="1350" b="0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6"/>
          <p:cNvGrpSpPr/>
          <p:nvPr/>
        </p:nvGrpSpPr>
        <p:grpSpPr>
          <a:xfrm>
            <a:off x="1847850" y="1905000"/>
            <a:ext cx="5313363" cy="2581275"/>
            <a:chOff x="1188" y="1488"/>
            <a:chExt cx="3347" cy="1626"/>
          </a:xfrm>
        </p:grpSpPr>
        <p:grpSp>
          <p:nvGrpSpPr>
            <p:cNvPr id="191" name="Google Shape;191;p6"/>
            <p:cNvGrpSpPr/>
            <p:nvPr/>
          </p:nvGrpSpPr>
          <p:grpSpPr>
            <a:xfrm>
              <a:off x="1188" y="1512"/>
              <a:ext cx="891" cy="1602"/>
              <a:chOff x="1188" y="1776"/>
              <a:chExt cx="891" cy="1602"/>
            </a:xfrm>
          </p:grpSpPr>
          <p:grpSp>
            <p:nvGrpSpPr>
              <p:cNvPr id="192" name="Google Shape;192;p6"/>
              <p:cNvGrpSpPr/>
              <p:nvPr/>
            </p:nvGrpSpPr>
            <p:grpSpPr>
              <a:xfrm>
                <a:off x="1188" y="2067"/>
                <a:ext cx="891" cy="1311"/>
                <a:chOff x="1188" y="2067"/>
                <a:chExt cx="891" cy="1311"/>
              </a:xfrm>
            </p:grpSpPr>
            <p:cxnSp>
              <p:nvCxnSpPr>
                <p:cNvPr id="193" name="Google Shape;193;p6"/>
                <p:cNvCxnSpPr/>
                <p:nvPr/>
              </p:nvCxnSpPr>
              <p:spPr>
                <a:xfrm>
                  <a:off x="1609" y="2067"/>
                  <a:ext cx="0" cy="48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94" name="Google Shape;194;p6"/>
                <p:cNvSpPr txBox="1"/>
                <p:nvPr/>
              </p:nvSpPr>
              <p:spPr>
                <a:xfrm>
                  <a:off x="1188" y="2680"/>
                  <a:ext cx="891" cy="698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Lower Quartile = 5½ 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195" name="Google Shape;195;p6"/>
              <p:cNvSpPr txBox="1"/>
              <p:nvPr/>
            </p:nvSpPr>
            <p:spPr>
              <a:xfrm>
                <a:off x="1428" y="1776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96" name="Google Shape;196;p6"/>
            <p:cNvGrpSpPr/>
            <p:nvPr/>
          </p:nvGrpSpPr>
          <p:grpSpPr>
            <a:xfrm>
              <a:off x="3644" y="1512"/>
              <a:ext cx="891" cy="1571"/>
              <a:chOff x="3644" y="1776"/>
              <a:chExt cx="891" cy="1571"/>
            </a:xfrm>
          </p:grpSpPr>
          <p:grpSp>
            <p:nvGrpSpPr>
              <p:cNvPr id="197" name="Google Shape;197;p6"/>
              <p:cNvGrpSpPr/>
              <p:nvPr/>
            </p:nvGrpSpPr>
            <p:grpSpPr>
              <a:xfrm>
                <a:off x="3644" y="2066"/>
                <a:ext cx="891" cy="1281"/>
                <a:chOff x="3644" y="2066"/>
                <a:chExt cx="891" cy="1281"/>
              </a:xfrm>
            </p:grpSpPr>
            <p:cxnSp>
              <p:nvCxnSpPr>
                <p:cNvPr id="198" name="Google Shape;198;p6"/>
                <p:cNvCxnSpPr/>
                <p:nvPr/>
              </p:nvCxnSpPr>
              <p:spPr>
                <a:xfrm>
                  <a:off x="4053" y="2066"/>
                  <a:ext cx="0" cy="48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99" name="Google Shape;199;p6"/>
                <p:cNvSpPr txBox="1"/>
                <p:nvPr/>
              </p:nvSpPr>
              <p:spPr>
                <a:xfrm>
                  <a:off x="3644" y="2649"/>
                  <a:ext cx="891" cy="698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Upper Quartile = 9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200" name="Google Shape;200;p6"/>
              <p:cNvSpPr txBox="1"/>
              <p:nvPr/>
            </p:nvSpPr>
            <p:spPr>
              <a:xfrm>
                <a:off x="3876" y="1776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3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437" y="1488"/>
              <a:ext cx="812" cy="1485"/>
              <a:chOff x="2437" y="1752"/>
              <a:chExt cx="812" cy="1485"/>
            </a:xfrm>
          </p:grpSpPr>
          <p:grpSp>
            <p:nvGrpSpPr>
              <p:cNvPr id="202" name="Google Shape;202;p6"/>
              <p:cNvGrpSpPr/>
              <p:nvPr/>
            </p:nvGrpSpPr>
            <p:grpSpPr>
              <a:xfrm>
                <a:off x="2437" y="2068"/>
                <a:ext cx="812" cy="1169"/>
                <a:chOff x="2409" y="2060"/>
                <a:chExt cx="812" cy="1169"/>
              </a:xfrm>
            </p:grpSpPr>
            <p:cxnSp>
              <p:nvCxnSpPr>
                <p:cNvPr id="203" name="Google Shape;203;p6"/>
                <p:cNvCxnSpPr/>
                <p:nvPr/>
              </p:nvCxnSpPr>
              <p:spPr>
                <a:xfrm>
                  <a:off x="2762" y="2060"/>
                  <a:ext cx="0" cy="48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04" name="Google Shape;204;p6"/>
                <p:cNvSpPr txBox="1"/>
                <p:nvPr/>
              </p:nvSpPr>
              <p:spPr>
                <a:xfrm>
                  <a:off x="2409" y="2749"/>
                  <a:ext cx="812" cy="480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Median = 8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205" name="Google Shape;205;p6"/>
              <p:cNvSpPr txBox="1"/>
              <p:nvPr/>
            </p:nvSpPr>
            <p:spPr>
              <a:xfrm>
                <a:off x="2592" y="1752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2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grpSp>
        <p:nvGrpSpPr>
          <p:cNvPr id="206" name="Google Shape;206;p6"/>
          <p:cNvGrpSpPr/>
          <p:nvPr/>
        </p:nvGrpSpPr>
        <p:grpSpPr>
          <a:xfrm>
            <a:off x="609600" y="598488"/>
            <a:ext cx="8248650" cy="2411412"/>
            <a:chOff x="384" y="377"/>
            <a:chExt cx="5196" cy="1519"/>
          </a:xfrm>
        </p:grpSpPr>
        <p:sp>
          <p:nvSpPr>
            <p:cNvPr id="207" name="Google Shape;207;p6"/>
            <p:cNvSpPr txBox="1"/>
            <p:nvPr/>
          </p:nvSpPr>
          <p:spPr>
            <a:xfrm>
              <a:off x="456" y="1608"/>
              <a:ext cx="50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4,    4,    5,    6,    8,    8,    8,    9,     9,    9,    10,    12</a:t>
              </a:r>
              <a:endParaRPr sz="2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384" y="756"/>
              <a:ext cx="5196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200"/>
                <a:buFont typeface="Noto Sans Symbols"/>
                <a:buNone/>
              </a:pPr>
              <a:r>
                <a:rPr lang="en-US" sz="2200" b="0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Example 1</a:t>
              </a:r>
              <a:r>
                <a:rPr lang="en-US"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:  Draw a Box plot for the data below</a:t>
              </a:r>
              <a:endParaRPr sz="22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09" name="Google Shape;209;p6"/>
            <p:cNvGrpSpPr/>
            <p:nvPr/>
          </p:nvGrpSpPr>
          <p:grpSpPr>
            <a:xfrm>
              <a:off x="598" y="377"/>
              <a:ext cx="4359" cy="288"/>
              <a:chOff x="478" y="369"/>
              <a:chExt cx="4359" cy="288"/>
            </a:xfrm>
          </p:grpSpPr>
          <p:sp>
            <p:nvSpPr>
              <p:cNvPr id="210" name="Google Shape;210;p6"/>
              <p:cNvSpPr txBox="1"/>
              <p:nvPr/>
            </p:nvSpPr>
            <p:spPr>
              <a:xfrm>
                <a:off x="1569" y="369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99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FFFF99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Drawing a Box Plot. </a:t>
                </a:r>
                <a:endParaRPr sz="2400" b="0" i="0" u="none" strike="noStrike" cap="none">
                  <a:solidFill>
                    <a:srgbClr val="FFFF99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211" name="Google Shape;211;p6"/>
              <p:cNvCxnSpPr/>
              <p:nvPr/>
            </p:nvCxnSpPr>
            <p:spPr>
              <a:xfrm>
                <a:off x="3867" y="521"/>
                <a:ext cx="97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2" name="Google Shape;212;p6"/>
              <p:cNvCxnSpPr/>
              <p:nvPr/>
            </p:nvCxnSpPr>
            <p:spPr>
              <a:xfrm>
                <a:off x="4828" y="400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3" name="Google Shape;213;p6"/>
              <p:cNvCxnSpPr/>
              <p:nvPr/>
            </p:nvCxnSpPr>
            <p:spPr>
              <a:xfrm rot="10800000">
                <a:off x="480" y="516"/>
                <a:ext cx="1092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4" name="Google Shape;214;p6"/>
              <p:cNvCxnSpPr/>
              <p:nvPr/>
            </p:nvCxnSpPr>
            <p:spPr>
              <a:xfrm>
                <a:off x="478" y="382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215" name="Google Shape;215;p6"/>
          <p:cNvSpPr/>
          <p:nvPr/>
        </p:nvSpPr>
        <p:spPr>
          <a:xfrm>
            <a:off x="0" y="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0" y="666750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7"/>
          <p:cNvGrpSpPr/>
          <p:nvPr/>
        </p:nvGrpSpPr>
        <p:grpSpPr>
          <a:xfrm>
            <a:off x="1847850" y="1905000"/>
            <a:ext cx="5313363" cy="2581275"/>
            <a:chOff x="1188" y="1488"/>
            <a:chExt cx="3347" cy="1626"/>
          </a:xfrm>
        </p:grpSpPr>
        <p:grpSp>
          <p:nvGrpSpPr>
            <p:cNvPr id="224" name="Google Shape;224;p7"/>
            <p:cNvGrpSpPr/>
            <p:nvPr/>
          </p:nvGrpSpPr>
          <p:grpSpPr>
            <a:xfrm>
              <a:off x="1188" y="1512"/>
              <a:ext cx="891" cy="1602"/>
              <a:chOff x="1188" y="1776"/>
              <a:chExt cx="891" cy="1602"/>
            </a:xfrm>
          </p:grpSpPr>
          <p:grpSp>
            <p:nvGrpSpPr>
              <p:cNvPr id="225" name="Google Shape;225;p7"/>
              <p:cNvGrpSpPr/>
              <p:nvPr/>
            </p:nvGrpSpPr>
            <p:grpSpPr>
              <a:xfrm>
                <a:off x="1188" y="2067"/>
                <a:ext cx="891" cy="1311"/>
                <a:chOff x="1188" y="2067"/>
                <a:chExt cx="891" cy="1311"/>
              </a:xfrm>
            </p:grpSpPr>
            <p:cxnSp>
              <p:nvCxnSpPr>
                <p:cNvPr id="226" name="Google Shape;226;p7"/>
                <p:cNvCxnSpPr/>
                <p:nvPr/>
              </p:nvCxnSpPr>
              <p:spPr>
                <a:xfrm>
                  <a:off x="1609" y="2067"/>
                  <a:ext cx="0" cy="48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27" name="Google Shape;227;p7"/>
                <p:cNvSpPr txBox="1"/>
                <p:nvPr/>
              </p:nvSpPr>
              <p:spPr>
                <a:xfrm>
                  <a:off x="1188" y="2680"/>
                  <a:ext cx="891" cy="698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Lower Quartile = 5½ 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228" name="Google Shape;228;p7"/>
              <p:cNvSpPr txBox="1"/>
              <p:nvPr/>
            </p:nvSpPr>
            <p:spPr>
              <a:xfrm>
                <a:off x="1428" y="1776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229" name="Google Shape;229;p7"/>
            <p:cNvGrpSpPr/>
            <p:nvPr/>
          </p:nvGrpSpPr>
          <p:grpSpPr>
            <a:xfrm>
              <a:off x="3644" y="1512"/>
              <a:ext cx="891" cy="1571"/>
              <a:chOff x="3644" y="1776"/>
              <a:chExt cx="891" cy="1571"/>
            </a:xfrm>
          </p:grpSpPr>
          <p:grpSp>
            <p:nvGrpSpPr>
              <p:cNvPr id="230" name="Google Shape;230;p7"/>
              <p:cNvGrpSpPr/>
              <p:nvPr/>
            </p:nvGrpSpPr>
            <p:grpSpPr>
              <a:xfrm>
                <a:off x="3644" y="2066"/>
                <a:ext cx="891" cy="1281"/>
                <a:chOff x="3644" y="2066"/>
                <a:chExt cx="891" cy="1281"/>
              </a:xfrm>
            </p:grpSpPr>
            <p:cxnSp>
              <p:nvCxnSpPr>
                <p:cNvPr id="231" name="Google Shape;231;p7"/>
                <p:cNvCxnSpPr/>
                <p:nvPr/>
              </p:nvCxnSpPr>
              <p:spPr>
                <a:xfrm>
                  <a:off x="4053" y="2066"/>
                  <a:ext cx="0" cy="48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32" name="Google Shape;232;p7"/>
                <p:cNvSpPr txBox="1"/>
                <p:nvPr/>
              </p:nvSpPr>
              <p:spPr>
                <a:xfrm>
                  <a:off x="3644" y="2649"/>
                  <a:ext cx="891" cy="698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Upper Quartile = 9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233" name="Google Shape;233;p7"/>
              <p:cNvSpPr txBox="1"/>
              <p:nvPr/>
            </p:nvSpPr>
            <p:spPr>
              <a:xfrm>
                <a:off x="3876" y="1776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3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234" name="Google Shape;234;p7"/>
            <p:cNvGrpSpPr/>
            <p:nvPr/>
          </p:nvGrpSpPr>
          <p:grpSpPr>
            <a:xfrm>
              <a:off x="2437" y="1488"/>
              <a:ext cx="812" cy="1485"/>
              <a:chOff x="2437" y="1752"/>
              <a:chExt cx="812" cy="1485"/>
            </a:xfrm>
          </p:grpSpPr>
          <p:grpSp>
            <p:nvGrpSpPr>
              <p:cNvPr id="235" name="Google Shape;235;p7"/>
              <p:cNvGrpSpPr/>
              <p:nvPr/>
            </p:nvGrpSpPr>
            <p:grpSpPr>
              <a:xfrm>
                <a:off x="2437" y="2068"/>
                <a:ext cx="812" cy="1169"/>
                <a:chOff x="2409" y="2060"/>
                <a:chExt cx="812" cy="1169"/>
              </a:xfrm>
            </p:grpSpPr>
            <p:cxnSp>
              <p:nvCxnSpPr>
                <p:cNvPr id="236" name="Google Shape;236;p7"/>
                <p:cNvCxnSpPr/>
                <p:nvPr/>
              </p:nvCxnSpPr>
              <p:spPr>
                <a:xfrm>
                  <a:off x="2762" y="2060"/>
                  <a:ext cx="0" cy="48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37" name="Google Shape;237;p7"/>
                <p:cNvSpPr txBox="1"/>
                <p:nvPr/>
              </p:nvSpPr>
              <p:spPr>
                <a:xfrm>
                  <a:off x="2409" y="2749"/>
                  <a:ext cx="812" cy="480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Median = 8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238" name="Google Shape;238;p7"/>
              <p:cNvSpPr txBox="1"/>
              <p:nvPr/>
            </p:nvSpPr>
            <p:spPr>
              <a:xfrm>
                <a:off x="2592" y="1752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2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grpSp>
        <p:nvGrpSpPr>
          <p:cNvPr id="239" name="Google Shape;239;p7"/>
          <p:cNvGrpSpPr/>
          <p:nvPr/>
        </p:nvGrpSpPr>
        <p:grpSpPr>
          <a:xfrm>
            <a:off x="609600" y="598488"/>
            <a:ext cx="8248650" cy="2411412"/>
            <a:chOff x="384" y="377"/>
            <a:chExt cx="5196" cy="1519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456" y="1608"/>
              <a:ext cx="50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4,    4,    5,    6,    8,    8,    8,    9,     9,    9,    10,    12</a:t>
              </a:r>
              <a:endParaRPr sz="2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384" y="756"/>
              <a:ext cx="5196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200"/>
                <a:buFont typeface="Noto Sans Symbols"/>
                <a:buNone/>
              </a:pPr>
              <a:r>
                <a:rPr lang="en-US" sz="2200" b="0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Example 1</a:t>
              </a:r>
              <a:r>
                <a:rPr lang="en-US"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:  Draw a Box plot for the data below</a:t>
              </a:r>
              <a:endParaRPr sz="22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42" name="Google Shape;242;p7"/>
            <p:cNvGrpSpPr/>
            <p:nvPr/>
          </p:nvGrpSpPr>
          <p:grpSpPr>
            <a:xfrm>
              <a:off x="598" y="377"/>
              <a:ext cx="4359" cy="288"/>
              <a:chOff x="478" y="369"/>
              <a:chExt cx="4359" cy="288"/>
            </a:xfrm>
          </p:grpSpPr>
          <p:sp>
            <p:nvSpPr>
              <p:cNvPr id="243" name="Google Shape;243;p7"/>
              <p:cNvSpPr txBox="1"/>
              <p:nvPr/>
            </p:nvSpPr>
            <p:spPr>
              <a:xfrm>
                <a:off x="1569" y="369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99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FFFF99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Drawing a Box Plot. </a:t>
                </a:r>
                <a:endParaRPr sz="2400" b="0" i="0" u="none" strike="noStrike" cap="none">
                  <a:solidFill>
                    <a:srgbClr val="FFFF99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244" name="Google Shape;244;p7"/>
              <p:cNvCxnSpPr/>
              <p:nvPr/>
            </p:nvCxnSpPr>
            <p:spPr>
              <a:xfrm>
                <a:off x="3867" y="521"/>
                <a:ext cx="97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5" name="Google Shape;245;p7"/>
              <p:cNvCxnSpPr/>
              <p:nvPr/>
            </p:nvCxnSpPr>
            <p:spPr>
              <a:xfrm>
                <a:off x="4828" y="400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6" name="Google Shape;246;p7"/>
              <p:cNvCxnSpPr/>
              <p:nvPr/>
            </p:nvCxnSpPr>
            <p:spPr>
              <a:xfrm rot="10800000">
                <a:off x="480" y="516"/>
                <a:ext cx="1092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7" name="Google Shape;247;p7"/>
              <p:cNvCxnSpPr/>
              <p:nvPr/>
            </p:nvCxnSpPr>
            <p:spPr>
              <a:xfrm>
                <a:off x="478" y="382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248" name="Google Shape;248;p7"/>
          <p:cNvSpPr/>
          <p:nvPr/>
        </p:nvSpPr>
        <p:spPr>
          <a:xfrm>
            <a:off x="0" y="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0" y="666750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2" name="Google Shape;252;p7"/>
          <p:cNvGrpSpPr/>
          <p:nvPr/>
        </p:nvGrpSpPr>
        <p:grpSpPr>
          <a:xfrm>
            <a:off x="1631950" y="4803775"/>
            <a:ext cx="5394325" cy="1381125"/>
            <a:chOff x="1632030" y="4803494"/>
            <a:chExt cx="5394245" cy="1381406"/>
          </a:xfrm>
        </p:grpSpPr>
        <p:grpSp>
          <p:nvGrpSpPr>
            <p:cNvPr id="253" name="Google Shape;253;p7"/>
            <p:cNvGrpSpPr/>
            <p:nvPr/>
          </p:nvGrpSpPr>
          <p:grpSpPr>
            <a:xfrm>
              <a:off x="1992313" y="5619750"/>
              <a:ext cx="5033962" cy="565150"/>
              <a:chOff x="1267" y="3780"/>
              <a:chExt cx="3171" cy="356"/>
            </a:xfrm>
          </p:grpSpPr>
          <p:grpSp>
            <p:nvGrpSpPr>
              <p:cNvPr id="254" name="Google Shape;254;p7"/>
              <p:cNvGrpSpPr/>
              <p:nvPr/>
            </p:nvGrpSpPr>
            <p:grpSpPr>
              <a:xfrm>
                <a:off x="1387" y="3780"/>
                <a:ext cx="2805" cy="87"/>
                <a:chOff x="1248" y="3516"/>
                <a:chExt cx="1632" cy="204"/>
              </a:xfrm>
            </p:grpSpPr>
            <p:sp>
              <p:nvSpPr>
                <p:cNvPr id="255" name="Google Shape;255;p7"/>
                <p:cNvSpPr/>
                <p:nvPr/>
              </p:nvSpPr>
              <p:spPr>
                <a:xfrm>
                  <a:off x="1248" y="3516"/>
                  <a:ext cx="204" cy="2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56" name="Google Shape;256;p7"/>
                <p:cNvSpPr/>
                <p:nvPr/>
              </p:nvSpPr>
              <p:spPr>
                <a:xfrm>
                  <a:off x="1452" y="3516"/>
                  <a:ext cx="204" cy="2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57" name="Google Shape;257;p7"/>
                <p:cNvSpPr/>
                <p:nvPr/>
              </p:nvSpPr>
              <p:spPr>
                <a:xfrm>
                  <a:off x="1656" y="3516"/>
                  <a:ext cx="204" cy="2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58" name="Google Shape;258;p7"/>
                <p:cNvSpPr/>
                <p:nvPr/>
              </p:nvSpPr>
              <p:spPr>
                <a:xfrm>
                  <a:off x="1860" y="3516"/>
                  <a:ext cx="204" cy="2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2064" y="3516"/>
                  <a:ext cx="204" cy="2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60" name="Google Shape;260;p7"/>
                <p:cNvSpPr/>
                <p:nvPr/>
              </p:nvSpPr>
              <p:spPr>
                <a:xfrm>
                  <a:off x="2268" y="3516"/>
                  <a:ext cx="204" cy="2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61" name="Google Shape;261;p7"/>
                <p:cNvSpPr/>
                <p:nvPr/>
              </p:nvSpPr>
              <p:spPr>
                <a:xfrm>
                  <a:off x="2472" y="3516"/>
                  <a:ext cx="204" cy="2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2676" y="3516"/>
                  <a:ext cx="204" cy="2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263" name="Google Shape;263;p7"/>
              <p:cNvSpPr txBox="1"/>
              <p:nvPr/>
            </p:nvSpPr>
            <p:spPr>
              <a:xfrm>
                <a:off x="1267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4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1603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65" name="Google Shape;265;p7"/>
              <p:cNvSpPr txBox="1"/>
              <p:nvPr/>
            </p:nvSpPr>
            <p:spPr>
              <a:xfrm>
                <a:off x="195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66" name="Google Shape;266;p7"/>
              <p:cNvSpPr txBox="1"/>
              <p:nvPr/>
            </p:nvSpPr>
            <p:spPr>
              <a:xfrm>
                <a:off x="231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7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2670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8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68" name="Google Shape;268;p7"/>
              <p:cNvSpPr txBox="1"/>
              <p:nvPr/>
            </p:nvSpPr>
            <p:spPr>
              <a:xfrm>
                <a:off x="300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9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69" name="Google Shape;269;p7"/>
              <p:cNvSpPr txBox="1"/>
              <p:nvPr/>
            </p:nvSpPr>
            <p:spPr>
              <a:xfrm>
                <a:off x="3371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10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3697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11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71" name="Google Shape;271;p7"/>
              <p:cNvSpPr txBox="1"/>
              <p:nvPr/>
            </p:nvSpPr>
            <p:spPr>
              <a:xfrm>
                <a:off x="4053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12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cxnSp>
          <p:nvCxnSpPr>
            <p:cNvPr id="272" name="Google Shape;272;p7"/>
            <p:cNvCxnSpPr/>
            <p:nvPr/>
          </p:nvCxnSpPr>
          <p:spPr>
            <a:xfrm rot="10800000">
              <a:off x="4410075" y="5029200"/>
              <a:ext cx="0" cy="390525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3" name="Google Shape;273;p7"/>
            <p:cNvSpPr/>
            <p:nvPr/>
          </p:nvSpPr>
          <p:spPr>
            <a:xfrm>
              <a:off x="3046413" y="5029200"/>
              <a:ext cx="1919287" cy="390525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74" name="Google Shape;274;p7"/>
            <p:cNvGrpSpPr/>
            <p:nvPr/>
          </p:nvGrpSpPr>
          <p:grpSpPr>
            <a:xfrm>
              <a:off x="2189163" y="5111750"/>
              <a:ext cx="869950" cy="241300"/>
              <a:chOff x="1387" y="3460"/>
              <a:chExt cx="572" cy="152"/>
            </a:xfrm>
          </p:grpSpPr>
          <p:cxnSp>
            <p:nvCxnSpPr>
              <p:cNvPr id="275" name="Google Shape;275;p7"/>
              <p:cNvCxnSpPr/>
              <p:nvPr/>
            </p:nvCxnSpPr>
            <p:spPr>
              <a:xfrm>
                <a:off x="1387" y="3538"/>
                <a:ext cx="572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6" name="Google Shape;276;p7"/>
              <p:cNvCxnSpPr/>
              <p:nvPr/>
            </p:nvCxnSpPr>
            <p:spPr>
              <a:xfrm>
                <a:off x="1388" y="3460"/>
                <a:ext cx="0" cy="1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77" name="Google Shape;277;p7"/>
            <p:cNvGrpSpPr/>
            <p:nvPr/>
          </p:nvGrpSpPr>
          <p:grpSpPr>
            <a:xfrm>
              <a:off x="4965700" y="5092700"/>
              <a:ext cx="1651000" cy="279400"/>
              <a:chOff x="3140" y="3448"/>
              <a:chExt cx="1040" cy="176"/>
            </a:xfrm>
          </p:grpSpPr>
          <p:cxnSp>
            <p:nvCxnSpPr>
              <p:cNvPr id="278" name="Google Shape;278;p7"/>
              <p:cNvCxnSpPr/>
              <p:nvPr/>
            </p:nvCxnSpPr>
            <p:spPr>
              <a:xfrm>
                <a:off x="3140" y="3540"/>
                <a:ext cx="104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9" name="Google Shape;279;p7"/>
              <p:cNvCxnSpPr/>
              <p:nvPr/>
            </p:nvCxnSpPr>
            <p:spPr>
              <a:xfrm>
                <a:off x="4172" y="3448"/>
                <a:ext cx="0" cy="17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80" name="Google Shape;280;p7"/>
            <p:cNvSpPr txBox="1"/>
            <p:nvPr/>
          </p:nvSpPr>
          <p:spPr>
            <a:xfrm>
              <a:off x="1632030" y="4803494"/>
              <a:ext cx="1847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8"/>
          <p:cNvGrpSpPr/>
          <p:nvPr/>
        </p:nvGrpSpPr>
        <p:grpSpPr>
          <a:xfrm>
            <a:off x="1690688" y="1952625"/>
            <a:ext cx="5307012" cy="2543175"/>
            <a:chOff x="1080" y="1230"/>
            <a:chExt cx="3343" cy="1602"/>
          </a:xfrm>
        </p:grpSpPr>
        <p:grpSp>
          <p:nvGrpSpPr>
            <p:cNvPr id="286" name="Google Shape;286;p8"/>
            <p:cNvGrpSpPr/>
            <p:nvPr/>
          </p:nvGrpSpPr>
          <p:grpSpPr>
            <a:xfrm>
              <a:off x="3532" y="1236"/>
              <a:ext cx="891" cy="1559"/>
              <a:chOff x="3652" y="1908"/>
              <a:chExt cx="891" cy="1559"/>
            </a:xfrm>
          </p:grpSpPr>
          <p:grpSp>
            <p:nvGrpSpPr>
              <p:cNvPr id="287" name="Google Shape;287;p8"/>
              <p:cNvGrpSpPr/>
              <p:nvPr/>
            </p:nvGrpSpPr>
            <p:grpSpPr>
              <a:xfrm>
                <a:off x="3652" y="2202"/>
                <a:ext cx="891" cy="1265"/>
                <a:chOff x="3652" y="2202"/>
                <a:chExt cx="891" cy="1265"/>
              </a:xfrm>
            </p:grpSpPr>
            <p:sp>
              <p:nvSpPr>
                <p:cNvPr id="288" name="Google Shape;288;p8"/>
                <p:cNvSpPr/>
                <p:nvPr/>
              </p:nvSpPr>
              <p:spPr>
                <a:xfrm>
                  <a:off x="3942" y="2202"/>
                  <a:ext cx="366" cy="306"/>
                </a:xfrm>
                <a:prstGeom prst="ellipse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89" name="Google Shape;289;p8"/>
                <p:cNvSpPr txBox="1"/>
                <p:nvPr/>
              </p:nvSpPr>
              <p:spPr>
                <a:xfrm>
                  <a:off x="3652" y="2769"/>
                  <a:ext cx="891" cy="698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Upper Quartile = 10 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cxnSp>
              <p:nvCxnSpPr>
                <p:cNvPr id="290" name="Google Shape;290;p8"/>
                <p:cNvCxnSpPr/>
                <p:nvPr/>
              </p:nvCxnSpPr>
              <p:spPr>
                <a:xfrm>
                  <a:off x="4134" y="2502"/>
                  <a:ext cx="0" cy="252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291" name="Google Shape;291;p8"/>
              <p:cNvSpPr txBox="1"/>
              <p:nvPr/>
            </p:nvSpPr>
            <p:spPr>
              <a:xfrm>
                <a:off x="3920" y="1908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3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292" name="Google Shape;292;p8"/>
            <p:cNvGrpSpPr/>
            <p:nvPr/>
          </p:nvGrpSpPr>
          <p:grpSpPr>
            <a:xfrm>
              <a:off x="1080" y="1254"/>
              <a:ext cx="891" cy="1578"/>
              <a:chOff x="1200" y="1926"/>
              <a:chExt cx="891" cy="1578"/>
            </a:xfrm>
          </p:grpSpPr>
          <p:grpSp>
            <p:nvGrpSpPr>
              <p:cNvPr id="293" name="Google Shape;293;p8"/>
              <p:cNvGrpSpPr/>
              <p:nvPr/>
            </p:nvGrpSpPr>
            <p:grpSpPr>
              <a:xfrm>
                <a:off x="1200" y="2202"/>
                <a:ext cx="891" cy="1302"/>
                <a:chOff x="1200" y="2202"/>
                <a:chExt cx="891" cy="1302"/>
              </a:xfrm>
            </p:grpSpPr>
            <p:sp>
              <p:nvSpPr>
                <p:cNvPr id="294" name="Google Shape;294;p8"/>
                <p:cNvSpPr/>
                <p:nvPr/>
              </p:nvSpPr>
              <p:spPr>
                <a:xfrm>
                  <a:off x="1458" y="2202"/>
                  <a:ext cx="366" cy="306"/>
                </a:xfrm>
                <a:prstGeom prst="ellipse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95" name="Google Shape;295;p8"/>
                <p:cNvSpPr txBox="1"/>
                <p:nvPr/>
              </p:nvSpPr>
              <p:spPr>
                <a:xfrm>
                  <a:off x="1200" y="2806"/>
                  <a:ext cx="891" cy="698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Lower Quartile = 4 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cxnSp>
              <p:nvCxnSpPr>
                <p:cNvPr id="296" name="Google Shape;296;p8"/>
                <p:cNvCxnSpPr/>
                <p:nvPr/>
              </p:nvCxnSpPr>
              <p:spPr>
                <a:xfrm>
                  <a:off x="1644" y="2490"/>
                  <a:ext cx="0" cy="30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297" name="Google Shape;297;p8"/>
              <p:cNvSpPr txBox="1"/>
              <p:nvPr/>
            </p:nvSpPr>
            <p:spPr>
              <a:xfrm>
                <a:off x="1440" y="1926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298" name="Google Shape;298;p8"/>
            <p:cNvGrpSpPr/>
            <p:nvPr/>
          </p:nvGrpSpPr>
          <p:grpSpPr>
            <a:xfrm>
              <a:off x="2325" y="1230"/>
              <a:ext cx="812" cy="1579"/>
              <a:chOff x="2445" y="1902"/>
              <a:chExt cx="812" cy="1579"/>
            </a:xfrm>
          </p:grpSpPr>
          <p:grpSp>
            <p:nvGrpSpPr>
              <p:cNvPr id="299" name="Google Shape;299;p8"/>
              <p:cNvGrpSpPr/>
              <p:nvPr/>
            </p:nvGrpSpPr>
            <p:grpSpPr>
              <a:xfrm>
                <a:off x="2445" y="2196"/>
                <a:ext cx="812" cy="1285"/>
                <a:chOff x="2445" y="2196"/>
                <a:chExt cx="812" cy="1285"/>
              </a:xfrm>
            </p:grpSpPr>
            <p:sp>
              <p:nvSpPr>
                <p:cNvPr id="300" name="Google Shape;300;p8"/>
                <p:cNvSpPr/>
                <p:nvPr/>
              </p:nvSpPr>
              <p:spPr>
                <a:xfrm>
                  <a:off x="2652" y="2196"/>
                  <a:ext cx="360" cy="300"/>
                </a:xfrm>
                <a:prstGeom prst="ellipse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301" name="Google Shape;301;p8"/>
                <p:cNvCxnSpPr/>
                <p:nvPr/>
              </p:nvCxnSpPr>
              <p:spPr>
                <a:xfrm>
                  <a:off x="2834" y="2468"/>
                  <a:ext cx="0" cy="522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302" name="Google Shape;302;p8"/>
                <p:cNvSpPr txBox="1"/>
                <p:nvPr/>
              </p:nvSpPr>
              <p:spPr>
                <a:xfrm>
                  <a:off x="2445" y="3001"/>
                  <a:ext cx="812" cy="480"/>
                </a:xfrm>
                <a:prstGeom prst="rect">
                  <a:avLst/>
                </a:prstGeom>
                <a:gradFill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63C53"/>
                    </a:buClr>
                    <a:buSzPts val="2200"/>
                    <a:buFont typeface="Comic Sans MS"/>
                    <a:buNone/>
                  </a:pPr>
                  <a:r>
                    <a:rPr lang="en-US" sz="2200" b="1" i="0" u="none" strike="noStrike" cap="none">
                      <a:solidFill>
                        <a:srgbClr val="363C53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Median = 8</a:t>
                  </a:r>
                  <a:endParaRPr sz="22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sp>
            <p:nvSpPr>
              <p:cNvPr id="303" name="Google Shape;303;p8"/>
              <p:cNvSpPr txBox="1"/>
              <p:nvPr/>
            </p:nvSpPr>
            <p:spPr>
              <a:xfrm>
                <a:off x="2622" y="1902"/>
                <a:ext cx="372" cy="250"/>
              </a:xfrm>
              <a:prstGeom prst="rect">
                <a:avLst/>
              </a:prstGeom>
              <a:gradFill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63C53"/>
                  </a:buClr>
                  <a:buSzPts val="2000"/>
                  <a:buFont typeface="Comic Sans MS"/>
                  <a:buNone/>
                </a:pPr>
                <a:r>
                  <a:rPr lang="en-US" sz="2000" b="1" i="0" u="none" strike="noStrike" cap="none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Q</a:t>
                </a:r>
                <a:r>
                  <a:rPr lang="en-US" sz="2000" b="1" i="0" u="none" strike="noStrike" cap="none" baseline="-25000">
                    <a:solidFill>
                      <a:srgbClr val="363C53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2</a:t>
                </a:r>
                <a:endParaRPr sz="2000" b="1" i="0" u="none" strike="noStrike" cap="none">
                  <a:solidFill>
                    <a:srgbClr val="363C53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grpSp>
        <p:nvGrpSpPr>
          <p:cNvPr id="304" name="Google Shape;304;p8"/>
          <p:cNvGrpSpPr/>
          <p:nvPr/>
        </p:nvGrpSpPr>
        <p:grpSpPr>
          <a:xfrm>
            <a:off x="609600" y="577850"/>
            <a:ext cx="8248650" cy="2317750"/>
            <a:chOff x="384" y="364"/>
            <a:chExt cx="5196" cy="1460"/>
          </a:xfrm>
        </p:grpSpPr>
        <p:sp>
          <p:nvSpPr>
            <p:cNvPr id="305" name="Google Shape;305;p8"/>
            <p:cNvSpPr txBox="1"/>
            <p:nvPr/>
          </p:nvSpPr>
          <p:spPr>
            <a:xfrm>
              <a:off x="588" y="1536"/>
              <a:ext cx="468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3,    4,    4,    6,    8,    8,    8,    9,     10,    10,    15, </a:t>
              </a:r>
              <a:endParaRPr sz="2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384" y="756"/>
              <a:ext cx="5196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200"/>
                <a:buFont typeface="Noto Sans Symbols"/>
                <a:buNone/>
              </a:pPr>
              <a:r>
                <a:rPr lang="en-US" sz="2200" b="0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Example 2</a:t>
              </a:r>
              <a:r>
                <a:rPr lang="en-US"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:  Draw a Box plot for the data below</a:t>
              </a:r>
              <a:endParaRPr sz="22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7" name="Google Shape;307;p8"/>
            <p:cNvGrpSpPr/>
            <p:nvPr/>
          </p:nvGrpSpPr>
          <p:grpSpPr>
            <a:xfrm>
              <a:off x="612" y="364"/>
              <a:ext cx="4359" cy="288"/>
              <a:chOff x="612" y="364"/>
              <a:chExt cx="4359" cy="288"/>
            </a:xfrm>
          </p:grpSpPr>
          <p:sp>
            <p:nvSpPr>
              <p:cNvPr id="308" name="Google Shape;308;p8"/>
              <p:cNvSpPr txBox="1"/>
              <p:nvPr/>
            </p:nvSpPr>
            <p:spPr>
              <a:xfrm>
                <a:off x="1703" y="364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99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FFFF99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Drawing a Box Plot. </a:t>
                </a:r>
                <a:endParaRPr sz="2400" b="0" i="0" u="none" strike="noStrike" cap="none">
                  <a:solidFill>
                    <a:srgbClr val="FFFF99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309" name="Google Shape;309;p8"/>
              <p:cNvCxnSpPr/>
              <p:nvPr/>
            </p:nvCxnSpPr>
            <p:spPr>
              <a:xfrm>
                <a:off x="4001" y="516"/>
                <a:ext cx="97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0" name="Google Shape;310;p8"/>
              <p:cNvCxnSpPr/>
              <p:nvPr/>
            </p:nvCxnSpPr>
            <p:spPr>
              <a:xfrm>
                <a:off x="4962" y="395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1" name="Google Shape;311;p8"/>
              <p:cNvCxnSpPr/>
              <p:nvPr/>
            </p:nvCxnSpPr>
            <p:spPr>
              <a:xfrm rot="10800000">
                <a:off x="614" y="511"/>
                <a:ext cx="1092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2" name="Google Shape;312;p8"/>
              <p:cNvCxnSpPr/>
              <p:nvPr/>
            </p:nvCxnSpPr>
            <p:spPr>
              <a:xfrm>
                <a:off x="612" y="377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313" name="Google Shape;313;p8"/>
          <p:cNvGrpSpPr/>
          <p:nvPr/>
        </p:nvGrpSpPr>
        <p:grpSpPr>
          <a:xfrm>
            <a:off x="1116013" y="4953000"/>
            <a:ext cx="7218362" cy="1155700"/>
            <a:chOff x="1116013" y="4953000"/>
            <a:chExt cx="7218362" cy="1155700"/>
          </a:xfrm>
        </p:grpSpPr>
        <p:cxnSp>
          <p:nvCxnSpPr>
            <p:cNvPr id="314" name="Google Shape;314;p8"/>
            <p:cNvCxnSpPr/>
            <p:nvPr/>
          </p:nvCxnSpPr>
          <p:spPr>
            <a:xfrm rot="10800000">
              <a:off x="4086225" y="4953000"/>
              <a:ext cx="0" cy="390525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5" name="Google Shape;315;p8"/>
            <p:cNvSpPr/>
            <p:nvPr/>
          </p:nvSpPr>
          <p:spPr>
            <a:xfrm>
              <a:off x="1884363" y="4953000"/>
              <a:ext cx="3319462" cy="390525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16" name="Google Shape;316;p8"/>
            <p:cNvGrpSpPr/>
            <p:nvPr/>
          </p:nvGrpSpPr>
          <p:grpSpPr>
            <a:xfrm>
              <a:off x="1322388" y="5016500"/>
              <a:ext cx="565150" cy="241300"/>
              <a:chOff x="1387" y="3460"/>
              <a:chExt cx="572" cy="152"/>
            </a:xfrm>
          </p:grpSpPr>
          <p:cxnSp>
            <p:nvCxnSpPr>
              <p:cNvPr id="317" name="Google Shape;317;p8"/>
              <p:cNvCxnSpPr/>
              <p:nvPr/>
            </p:nvCxnSpPr>
            <p:spPr>
              <a:xfrm>
                <a:off x="1387" y="3538"/>
                <a:ext cx="572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8" name="Google Shape;318;p8"/>
              <p:cNvCxnSpPr/>
              <p:nvPr/>
            </p:nvCxnSpPr>
            <p:spPr>
              <a:xfrm>
                <a:off x="1388" y="3460"/>
                <a:ext cx="0" cy="1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19" name="Google Shape;319;p8"/>
            <p:cNvGrpSpPr/>
            <p:nvPr/>
          </p:nvGrpSpPr>
          <p:grpSpPr>
            <a:xfrm>
              <a:off x="5222875" y="5026025"/>
              <a:ext cx="2774950" cy="279400"/>
              <a:chOff x="3290" y="3166"/>
              <a:chExt cx="1748" cy="176"/>
            </a:xfrm>
          </p:grpSpPr>
          <p:cxnSp>
            <p:nvCxnSpPr>
              <p:cNvPr id="320" name="Google Shape;320;p8"/>
              <p:cNvCxnSpPr/>
              <p:nvPr/>
            </p:nvCxnSpPr>
            <p:spPr>
              <a:xfrm>
                <a:off x="3290" y="3252"/>
                <a:ext cx="174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1" name="Google Shape;321;p8"/>
              <p:cNvCxnSpPr/>
              <p:nvPr/>
            </p:nvCxnSpPr>
            <p:spPr>
              <a:xfrm>
                <a:off x="5031" y="3166"/>
                <a:ext cx="0" cy="17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22" name="Google Shape;322;p8"/>
            <p:cNvGrpSpPr/>
            <p:nvPr/>
          </p:nvGrpSpPr>
          <p:grpSpPr>
            <a:xfrm>
              <a:off x="1116013" y="5543550"/>
              <a:ext cx="7218362" cy="565150"/>
              <a:chOff x="703" y="3492"/>
              <a:chExt cx="4547" cy="356"/>
            </a:xfrm>
          </p:grpSpPr>
          <p:sp>
            <p:nvSpPr>
              <p:cNvPr id="323" name="Google Shape;323;p8"/>
              <p:cNvSpPr txBox="1"/>
              <p:nvPr/>
            </p:nvSpPr>
            <p:spPr>
              <a:xfrm>
                <a:off x="703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3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1039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4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25" name="Google Shape;325;p8"/>
              <p:cNvSpPr txBox="1"/>
              <p:nvPr/>
            </p:nvSpPr>
            <p:spPr>
              <a:xfrm>
                <a:off x="1395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26" name="Google Shape;326;p8"/>
              <p:cNvSpPr txBox="1"/>
              <p:nvPr/>
            </p:nvSpPr>
            <p:spPr>
              <a:xfrm>
                <a:off x="1755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27" name="Google Shape;327;p8"/>
              <p:cNvSpPr txBox="1"/>
              <p:nvPr/>
            </p:nvSpPr>
            <p:spPr>
              <a:xfrm>
                <a:off x="2106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7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28" name="Google Shape;328;p8"/>
              <p:cNvSpPr txBox="1"/>
              <p:nvPr/>
            </p:nvSpPr>
            <p:spPr>
              <a:xfrm>
                <a:off x="2445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8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29" name="Google Shape;329;p8"/>
              <p:cNvSpPr txBox="1"/>
              <p:nvPr/>
            </p:nvSpPr>
            <p:spPr>
              <a:xfrm>
                <a:off x="2807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9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30" name="Google Shape;330;p8"/>
              <p:cNvSpPr txBox="1"/>
              <p:nvPr/>
            </p:nvSpPr>
            <p:spPr>
              <a:xfrm>
                <a:off x="3133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10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31" name="Google Shape;331;p8"/>
              <p:cNvSpPr txBox="1"/>
              <p:nvPr/>
            </p:nvSpPr>
            <p:spPr>
              <a:xfrm>
                <a:off x="3489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11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332" name="Google Shape;332;p8"/>
              <p:cNvGrpSpPr/>
              <p:nvPr/>
            </p:nvGrpSpPr>
            <p:grpSpPr>
              <a:xfrm>
                <a:off x="823" y="3492"/>
                <a:ext cx="4211" cy="87"/>
                <a:chOff x="1375" y="3540"/>
                <a:chExt cx="4211" cy="87"/>
              </a:xfrm>
            </p:grpSpPr>
            <p:grpSp>
              <p:nvGrpSpPr>
                <p:cNvPr id="333" name="Google Shape;333;p8"/>
                <p:cNvGrpSpPr/>
                <p:nvPr/>
              </p:nvGrpSpPr>
              <p:grpSpPr>
                <a:xfrm>
                  <a:off x="1375" y="3540"/>
                  <a:ext cx="2805" cy="87"/>
                  <a:chOff x="1248" y="3516"/>
                  <a:chExt cx="1632" cy="204"/>
                </a:xfrm>
              </p:grpSpPr>
              <p:sp>
                <p:nvSpPr>
                  <p:cNvPr id="334" name="Google Shape;334;p8"/>
                  <p:cNvSpPr/>
                  <p:nvPr/>
                </p:nvSpPr>
                <p:spPr>
                  <a:xfrm>
                    <a:off x="1248" y="3516"/>
                    <a:ext cx="204" cy="20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35" name="Google Shape;335;p8"/>
                  <p:cNvSpPr/>
                  <p:nvPr/>
                </p:nvSpPr>
                <p:spPr>
                  <a:xfrm>
                    <a:off x="1452" y="3516"/>
                    <a:ext cx="204" cy="20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36" name="Google Shape;336;p8"/>
                  <p:cNvSpPr/>
                  <p:nvPr/>
                </p:nvSpPr>
                <p:spPr>
                  <a:xfrm>
                    <a:off x="1656" y="3516"/>
                    <a:ext cx="204" cy="20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37" name="Google Shape;337;p8"/>
                  <p:cNvSpPr/>
                  <p:nvPr/>
                </p:nvSpPr>
                <p:spPr>
                  <a:xfrm>
                    <a:off x="1860" y="3516"/>
                    <a:ext cx="204" cy="20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38" name="Google Shape;338;p8"/>
                  <p:cNvSpPr/>
                  <p:nvPr/>
                </p:nvSpPr>
                <p:spPr>
                  <a:xfrm>
                    <a:off x="2064" y="3516"/>
                    <a:ext cx="204" cy="20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39" name="Google Shape;339;p8"/>
                  <p:cNvSpPr/>
                  <p:nvPr/>
                </p:nvSpPr>
                <p:spPr>
                  <a:xfrm>
                    <a:off x="2268" y="3516"/>
                    <a:ext cx="204" cy="20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40" name="Google Shape;340;p8"/>
                  <p:cNvSpPr/>
                  <p:nvPr/>
                </p:nvSpPr>
                <p:spPr>
                  <a:xfrm>
                    <a:off x="2472" y="3516"/>
                    <a:ext cx="204" cy="20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341" name="Google Shape;341;p8"/>
                  <p:cNvSpPr/>
                  <p:nvPr/>
                </p:nvSpPr>
                <p:spPr>
                  <a:xfrm>
                    <a:off x="2676" y="3516"/>
                    <a:ext cx="204" cy="204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sp>
              <p:nvSpPr>
                <p:cNvPr id="342" name="Google Shape;342;p8"/>
                <p:cNvSpPr/>
                <p:nvPr/>
              </p:nvSpPr>
              <p:spPr>
                <a:xfrm>
                  <a:off x="4183" y="3540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43" name="Google Shape;343;p8"/>
                <p:cNvSpPr/>
                <p:nvPr/>
              </p:nvSpPr>
              <p:spPr>
                <a:xfrm>
                  <a:off x="4534" y="3540"/>
                  <a:ext cx="350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44" name="Google Shape;344;p8"/>
                <p:cNvSpPr/>
                <p:nvPr/>
              </p:nvSpPr>
              <p:spPr>
                <a:xfrm>
                  <a:off x="4884" y="3540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45" name="Google Shape;345;p8"/>
                <p:cNvSpPr/>
                <p:nvPr/>
              </p:nvSpPr>
              <p:spPr>
                <a:xfrm>
                  <a:off x="5235" y="3540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346" name="Google Shape;346;p8"/>
              <p:cNvSpPr txBox="1"/>
              <p:nvPr/>
            </p:nvSpPr>
            <p:spPr>
              <a:xfrm>
                <a:off x="3825" y="3573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12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47" name="Google Shape;347;p8"/>
              <p:cNvSpPr txBox="1"/>
              <p:nvPr/>
            </p:nvSpPr>
            <p:spPr>
              <a:xfrm>
                <a:off x="4167" y="3573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13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48" name="Google Shape;348;p8"/>
              <p:cNvSpPr txBox="1"/>
              <p:nvPr/>
            </p:nvSpPr>
            <p:spPr>
              <a:xfrm>
                <a:off x="4539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14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49" name="Google Shape;349;p8"/>
              <p:cNvSpPr txBox="1"/>
              <p:nvPr/>
            </p:nvSpPr>
            <p:spPr>
              <a:xfrm>
                <a:off x="4865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Noto Sans Symbols"/>
                  <a:buNone/>
                </a:pPr>
                <a:r>
                  <a:rPr lang="en-US" sz="22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15</a:t>
                </a:r>
                <a:endParaRPr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sp>
        <p:nvSpPr>
          <p:cNvPr id="350" name="Google Shape;350;p8"/>
          <p:cNvSpPr/>
          <p:nvPr/>
        </p:nvSpPr>
        <p:spPr>
          <a:xfrm>
            <a:off x="0" y="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0" y="666750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9"/>
          <p:cNvGrpSpPr/>
          <p:nvPr/>
        </p:nvGrpSpPr>
        <p:grpSpPr>
          <a:xfrm>
            <a:off x="1565275" y="1895475"/>
            <a:ext cx="5878513" cy="2570163"/>
            <a:chOff x="996" y="1194"/>
            <a:chExt cx="3703" cy="1619"/>
          </a:xfrm>
        </p:grpSpPr>
        <p:sp>
          <p:nvSpPr>
            <p:cNvPr id="359" name="Google Shape;359;p9"/>
            <p:cNvSpPr/>
            <p:nvPr/>
          </p:nvSpPr>
          <p:spPr>
            <a:xfrm>
              <a:off x="4086" y="1494"/>
              <a:ext cx="366" cy="306"/>
            </a:xfrm>
            <a:prstGeom prst="ellipse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1266" y="1482"/>
              <a:ext cx="366" cy="306"/>
            </a:xfrm>
            <a:prstGeom prst="ellipse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2700" y="1488"/>
              <a:ext cx="360" cy="300"/>
            </a:xfrm>
            <a:prstGeom prst="ellipse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p9"/>
            <p:cNvSpPr txBox="1"/>
            <p:nvPr/>
          </p:nvSpPr>
          <p:spPr>
            <a:xfrm>
              <a:off x="3808" y="2121"/>
              <a:ext cx="891" cy="691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200"/>
                <a:buFont typeface="Noto Sans Symbols"/>
                <a:buNone/>
              </a:pPr>
              <a:r>
                <a:rPr lang="en-US" sz="22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Upper Quartile = 180 </a:t>
              </a:r>
              <a:endParaRPr sz="2200" b="1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63" name="Google Shape;363;p9"/>
            <p:cNvCxnSpPr/>
            <p:nvPr/>
          </p:nvCxnSpPr>
          <p:spPr>
            <a:xfrm>
              <a:off x="4281" y="1800"/>
              <a:ext cx="0" cy="31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4" name="Google Shape;364;p9"/>
            <p:cNvSpPr txBox="1"/>
            <p:nvPr/>
          </p:nvSpPr>
          <p:spPr>
            <a:xfrm>
              <a:off x="4064" y="1200"/>
              <a:ext cx="372" cy="250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Noto Sans Symbols"/>
                <a:buNone/>
              </a:pPr>
              <a:r>
                <a:rPr lang="en-US" sz="20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</a:t>
              </a:r>
              <a:r>
                <a:rPr lang="en-US" sz="2000" b="1" i="0" u="none" strike="noStrike" cap="none" baseline="-25000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u</a:t>
              </a:r>
              <a:endParaRPr sz="2000" b="1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65" name="Google Shape;365;p9"/>
            <p:cNvSpPr txBox="1"/>
            <p:nvPr/>
          </p:nvSpPr>
          <p:spPr>
            <a:xfrm>
              <a:off x="996" y="2122"/>
              <a:ext cx="891" cy="691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200"/>
                <a:buFont typeface="Noto Sans Symbols"/>
                <a:buNone/>
              </a:pPr>
              <a:r>
                <a:rPr lang="en-US" sz="22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Lower Quartile = 158 </a:t>
              </a:r>
              <a:endParaRPr sz="2200" b="1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66" name="Google Shape;366;p9"/>
            <p:cNvCxnSpPr/>
            <p:nvPr/>
          </p:nvCxnSpPr>
          <p:spPr>
            <a:xfrm>
              <a:off x="1458" y="1788"/>
              <a:ext cx="0" cy="33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7" name="Google Shape;367;p9"/>
            <p:cNvSpPr txBox="1"/>
            <p:nvPr/>
          </p:nvSpPr>
          <p:spPr>
            <a:xfrm>
              <a:off x="1272" y="1218"/>
              <a:ext cx="372" cy="250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Noto Sans Symbols"/>
                <a:buNone/>
              </a:pPr>
              <a:r>
                <a:rPr lang="en-US" sz="20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</a:t>
              </a:r>
              <a:r>
                <a:rPr lang="en-US" sz="2000" b="1" i="0" u="none" strike="noStrike" cap="none" baseline="-25000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L</a:t>
              </a:r>
              <a:endParaRPr sz="2000" b="1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68" name="Google Shape;368;p9"/>
            <p:cNvCxnSpPr/>
            <p:nvPr/>
          </p:nvCxnSpPr>
          <p:spPr>
            <a:xfrm>
              <a:off x="2870" y="1808"/>
              <a:ext cx="0" cy="52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9" name="Google Shape;369;p9"/>
            <p:cNvSpPr txBox="1"/>
            <p:nvPr/>
          </p:nvSpPr>
          <p:spPr>
            <a:xfrm>
              <a:off x="2469" y="2329"/>
              <a:ext cx="812" cy="480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200"/>
                <a:buFont typeface="Noto Sans Symbols"/>
                <a:buNone/>
              </a:pPr>
              <a:r>
                <a:rPr lang="en-US" sz="22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Median = 171</a:t>
              </a:r>
              <a:endParaRPr sz="2200" b="1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70" name="Google Shape;370;p9"/>
            <p:cNvSpPr txBox="1"/>
            <p:nvPr/>
          </p:nvSpPr>
          <p:spPr>
            <a:xfrm>
              <a:off x="2694" y="1194"/>
              <a:ext cx="372" cy="250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Noto Sans Symbols"/>
                <a:buNone/>
              </a:pPr>
              <a:r>
                <a:rPr lang="en-US" sz="20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</a:t>
              </a:r>
              <a:r>
                <a:rPr lang="en-US" sz="2000" b="1" i="0" u="none" strike="noStrike" cap="none" baseline="-25000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2</a:t>
              </a:r>
              <a:endParaRPr sz="2000" b="1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371" name="Google Shape;371;p9"/>
          <p:cNvGrpSpPr/>
          <p:nvPr/>
        </p:nvGrpSpPr>
        <p:grpSpPr>
          <a:xfrm>
            <a:off x="241300" y="585788"/>
            <a:ext cx="8674100" cy="2230437"/>
            <a:chOff x="152" y="369"/>
            <a:chExt cx="5464" cy="1405"/>
          </a:xfrm>
        </p:grpSpPr>
        <p:sp>
          <p:nvSpPr>
            <p:cNvPr id="372" name="Google Shape;372;p9"/>
            <p:cNvSpPr txBox="1"/>
            <p:nvPr/>
          </p:nvSpPr>
          <p:spPr>
            <a:xfrm>
              <a:off x="384" y="756"/>
              <a:ext cx="5196" cy="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200"/>
                <a:buFont typeface="Noto Sans Symbols"/>
                <a:buNone/>
              </a:pPr>
              <a:r>
                <a:rPr lang="en-US" sz="22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Question</a:t>
              </a:r>
              <a:r>
                <a:rPr lang="en-US"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:  Stuart recorded the heights in cm of boys in his class as shown below. Draw a box plot for this data.</a:t>
              </a:r>
              <a:endParaRPr sz="22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73" name="Google Shape;373;p9"/>
            <p:cNvGrpSpPr/>
            <p:nvPr/>
          </p:nvGrpSpPr>
          <p:grpSpPr>
            <a:xfrm>
              <a:off x="622" y="369"/>
              <a:ext cx="4359" cy="288"/>
              <a:chOff x="622" y="369"/>
              <a:chExt cx="4359" cy="288"/>
            </a:xfrm>
          </p:grpSpPr>
          <p:sp>
            <p:nvSpPr>
              <p:cNvPr id="374" name="Google Shape;374;p9"/>
              <p:cNvSpPr txBox="1"/>
              <p:nvPr/>
            </p:nvSpPr>
            <p:spPr>
              <a:xfrm>
                <a:off x="1713" y="369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99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FFFF99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Drawing a Box Plot. </a:t>
                </a:r>
                <a:endParaRPr sz="2400" b="0" i="0" u="none" strike="noStrike" cap="none">
                  <a:solidFill>
                    <a:srgbClr val="FFFF99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375" name="Google Shape;375;p9"/>
              <p:cNvCxnSpPr/>
              <p:nvPr/>
            </p:nvCxnSpPr>
            <p:spPr>
              <a:xfrm>
                <a:off x="4011" y="521"/>
                <a:ext cx="97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6" name="Google Shape;376;p9"/>
              <p:cNvCxnSpPr/>
              <p:nvPr/>
            </p:nvCxnSpPr>
            <p:spPr>
              <a:xfrm>
                <a:off x="4972" y="400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7" name="Google Shape;377;p9"/>
              <p:cNvCxnSpPr/>
              <p:nvPr/>
            </p:nvCxnSpPr>
            <p:spPr>
              <a:xfrm rot="10800000">
                <a:off x="624" y="516"/>
                <a:ext cx="1092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8" name="Google Shape;378;p9"/>
              <p:cNvCxnSpPr/>
              <p:nvPr/>
            </p:nvCxnSpPr>
            <p:spPr>
              <a:xfrm>
                <a:off x="622" y="382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379" name="Google Shape;379;p9"/>
            <p:cNvSpPr txBox="1"/>
            <p:nvPr/>
          </p:nvSpPr>
          <p:spPr>
            <a:xfrm>
              <a:off x="152" y="1524"/>
              <a:ext cx="546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137, 148, 155, 158, 165, 166, 166, 171, 171, 173, 175, 180, 184, 186, 186</a:t>
              </a:r>
              <a:endParaRPr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cxnSp>
        <p:nvCxnSpPr>
          <p:cNvPr id="380" name="Google Shape;380;p9"/>
          <p:cNvCxnSpPr/>
          <p:nvPr/>
        </p:nvCxnSpPr>
        <p:spPr>
          <a:xfrm rot="10800000">
            <a:off x="6207125" y="5016500"/>
            <a:ext cx="0" cy="390525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1" name="Google Shape;381;p9"/>
          <p:cNvSpPr/>
          <p:nvPr/>
        </p:nvSpPr>
        <p:spPr>
          <a:xfrm>
            <a:off x="4222750" y="5016500"/>
            <a:ext cx="3186113" cy="390525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82" name="Google Shape;382;p9"/>
          <p:cNvGrpSpPr/>
          <p:nvPr/>
        </p:nvGrpSpPr>
        <p:grpSpPr>
          <a:xfrm>
            <a:off x="1219200" y="5089525"/>
            <a:ext cx="2982913" cy="241300"/>
            <a:chOff x="1387" y="3460"/>
            <a:chExt cx="572" cy="152"/>
          </a:xfrm>
        </p:grpSpPr>
        <p:cxnSp>
          <p:nvCxnSpPr>
            <p:cNvPr id="383" name="Google Shape;383;p9"/>
            <p:cNvCxnSpPr/>
            <p:nvPr/>
          </p:nvCxnSpPr>
          <p:spPr>
            <a:xfrm>
              <a:off x="1387" y="3538"/>
              <a:ext cx="572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4" name="Google Shape;384;p9"/>
            <p:cNvCxnSpPr/>
            <p:nvPr/>
          </p:nvCxnSpPr>
          <p:spPr>
            <a:xfrm>
              <a:off x="1388" y="3460"/>
              <a:ext cx="0" cy="15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85" name="Google Shape;385;p9"/>
          <p:cNvGrpSpPr/>
          <p:nvPr/>
        </p:nvGrpSpPr>
        <p:grpSpPr>
          <a:xfrm>
            <a:off x="7415213" y="5073650"/>
            <a:ext cx="842962" cy="279400"/>
            <a:chOff x="3290" y="3166"/>
            <a:chExt cx="1748" cy="176"/>
          </a:xfrm>
        </p:grpSpPr>
        <p:cxnSp>
          <p:nvCxnSpPr>
            <p:cNvPr id="386" name="Google Shape;386;p9"/>
            <p:cNvCxnSpPr/>
            <p:nvPr/>
          </p:nvCxnSpPr>
          <p:spPr>
            <a:xfrm>
              <a:off x="3290" y="3252"/>
              <a:ext cx="1748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7" name="Google Shape;387;p9"/>
            <p:cNvCxnSpPr/>
            <p:nvPr/>
          </p:nvCxnSpPr>
          <p:spPr>
            <a:xfrm>
              <a:off x="5031" y="3166"/>
              <a:ext cx="0" cy="17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8" name="Google Shape;388;p9"/>
          <p:cNvSpPr/>
          <p:nvPr/>
        </p:nvSpPr>
        <p:spPr>
          <a:xfrm>
            <a:off x="0" y="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0" y="666750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2" name="Google Shape;392;p9"/>
          <p:cNvGrpSpPr/>
          <p:nvPr/>
        </p:nvGrpSpPr>
        <p:grpSpPr>
          <a:xfrm>
            <a:off x="-60325" y="5543550"/>
            <a:ext cx="9204325" cy="474663"/>
            <a:chOff x="-38" y="3492"/>
            <a:chExt cx="5798" cy="299"/>
          </a:xfrm>
        </p:grpSpPr>
        <p:grpSp>
          <p:nvGrpSpPr>
            <p:cNvPr id="393" name="Google Shape;393;p9"/>
            <p:cNvGrpSpPr/>
            <p:nvPr/>
          </p:nvGrpSpPr>
          <p:grpSpPr>
            <a:xfrm>
              <a:off x="-38" y="3492"/>
              <a:ext cx="5798" cy="299"/>
              <a:chOff x="-38" y="3492"/>
              <a:chExt cx="5798" cy="299"/>
            </a:xfrm>
          </p:grpSpPr>
          <p:sp>
            <p:nvSpPr>
              <p:cNvPr id="394" name="Google Shape;394;p9"/>
              <p:cNvSpPr txBox="1"/>
              <p:nvPr/>
            </p:nvSpPr>
            <p:spPr>
              <a:xfrm>
                <a:off x="-38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130</a:t>
                </a:r>
                <a:endParaRPr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395" name="Google Shape;395;p9"/>
              <p:cNvGrpSpPr/>
              <p:nvPr/>
            </p:nvGrpSpPr>
            <p:grpSpPr>
              <a:xfrm>
                <a:off x="121" y="3492"/>
                <a:ext cx="5459" cy="87"/>
                <a:chOff x="121" y="3492"/>
                <a:chExt cx="4211" cy="87"/>
              </a:xfrm>
            </p:grpSpPr>
            <p:sp>
              <p:nvSpPr>
                <p:cNvPr id="396" name="Google Shape;396;p9"/>
                <p:cNvSpPr/>
                <p:nvPr/>
              </p:nvSpPr>
              <p:spPr>
                <a:xfrm>
                  <a:off x="823" y="3492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97" name="Google Shape;397;p9"/>
                <p:cNvSpPr/>
                <p:nvPr/>
              </p:nvSpPr>
              <p:spPr>
                <a:xfrm>
                  <a:off x="1174" y="3492"/>
                  <a:ext cx="350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98" name="Google Shape;398;p9"/>
                <p:cNvSpPr/>
                <p:nvPr/>
              </p:nvSpPr>
              <p:spPr>
                <a:xfrm>
                  <a:off x="1524" y="3492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399" name="Google Shape;399;p9"/>
                <p:cNvSpPr/>
                <p:nvPr/>
              </p:nvSpPr>
              <p:spPr>
                <a:xfrm>
                  <a:off x="1875" y="3492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00" name="Google Shape;400;p9"/>
                <p:cNvSpPr/>
                <p:nvPr/>
              </p:nvSpPr>
              <p:spPr>
                <a:xfrm>
                  <a:off x="2226" y="3492"/>
                  <a:ext cx="350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01" name="Google Shape;401;p9"/>
                <p:cNvSpPr/>
                <p:nvPr/>
              </p:nvSpPr>
              <p:spPr>
                <a:xfrm>
                  <a:off x="2576" y="3492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02" name="Google Shape;402;p9"/>
                <p:cNvSpPr/>
                <p:nvPr/>
              </p:nvSpPr>
              <p:spPr>
                <a:xfrm>
                  <a:off x="2927" y="3492"/>
                  <a:ext cx="350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03" name="Google Shape;403;p9"/>
                <p:cNvSpPr/>
                <p:nvPr/>
              </p:nvSpPr>
              <p:spPr>
                <a:xfrm>
                  <a:off x="3277" y="3492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04" name="Google Shape;404;p9"/>
                <p:cNvSpPr/>
                <p:nvPr/>
              </p:nvSpPr>
              <p:spPr>
                <a:xfrm>
                  <a:off x="3631" y="3492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05" name="Google Shape;405;p9"/>
                <p:cNvSpPr/>
                <p:nvPr/>
              </p:nvSpPr>
              <p:spPr>
                <a:xfrm>
                  <a:off x="3982" y="3492"/>
                  <a:ext cx="350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06" name="Google Shape;406;p9"/>
                <p:cNvSpPr/>
                <p:nvPr/>
              </p:nvSpPr>
              <p:spPr>
                <a:xfrm>
                  <a:off x="472" y="3492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07" name="Google Shape;407;p9"/>
                <p:cNvSpPr/>
                <p:nvPr/>
              </p:nvSpPr>
              <p:spPr>
                <a:xfrm>
                  <a:off x="121" y="3492"/>
                  <a:ext cx="351" cy="8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408" name="Google Shape;408;p9"/>
              <p:cNvSpPr txBox="1"/>
              <p:nvPr/>
            </p:nvSpPr>
            <p:spPr>
              <a:xfrm>
                <a:off x="841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140</a:t>
                </a:r>
                <a:endParaRPr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09" name="Google Shape;409;p9"/>
              <p:cNvSpPr txBox="1"/>
              <p:nvPr/>
            </p:nvSpPr>
            <p:spPr>
              <a:xfrm>
                <a:off x="1750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150</a:t>
                </a:r>
                <a:endParaRPr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10" name="Google Shape;410;p9"/>
              <p:cNvSpPr txBox="1"/>
              <p:nvPr/>
            </p:nvSpPr>
            <p:spPr>
              <a:xfrm>
                <a:off x="2660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160</a:t>
                </a:r>
                <a:endParaRPr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11" name="Google Shape;411;p9"/>
              <p:cNvSpPr txBox="1"/>
              <p:nvPr/>
            </p:nvSpPr>
            <p:spPr>
              <a:xfrm>
                <a:off x="3569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170</a:t>
                </a:r>
                <a:endParaRPr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12" name="Google Shape;412;p9"/>
              <p:cNvSpPr txBox="1"/>
              <p:nvPr/>
            </p:nvSpPr>
            <p:spPr>
              <a:xfrm>
                <a:off x="4477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180</a:t>
                </a:r>
                <a:endParaRPr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13" name="Google Shape;413;p9"/>
              <p:cNvSpPr txBox="1"/>
              <p:nvPr/>
            </p:nvSpPr>
            <p:spPr>
              <a:xfrm>
                <a:off x="5380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190</a:t>
                </a:r>
                <a:endParaRPr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sp>
          <p:nvSpPr>
            <p:cNvPr id="414" name="Google Shape;414;p9"/>
            <p:cNvSpPr txBox="1"/>
            <p:nvPr/>
          </p:nvSpPr>
          <p:spPr>
            <a:xfrm>
              <a:off x="4925" y="3579"/>
              <a:ext cx="455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cm</a:t>
              </a:r>
              <a:endParaRPr sz="16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10"/>
          <p:cNvGrpSpPr/>
          <p:nvPr/>
        </p:nvGrpSpPr>
        <p:grpSpPr>
          <a:xfrm>
            <a:off x="0" y="585788"/>
            <a:ext cx="9204325" cy="5989637"/>
            <a:chOff x="0" y="369"/>
            <a:chExt cx="5798" cy="3773"/>
          </a:xfrm>
        </p:grpSpPr>
        <p:sp>
          <p:nvSpPr>
            <p:cNvPr id="420" name="Google Shape;420;p10"/>
            <p:cNvSpPr txBox="1"/>
            <p:nvPr/>
          </p:nvSpPr>
          <p:spPr>
            <a:xfrm>
              <a:off x="2856" y="3257"/>
              <a:ext cx="2539" cy="231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800"/>
                <a:buFont typeface="Noto Sans Symbols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2.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boys are taller on average.</a:t>
              </a:r>
              <a:endParaRPr sz="17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21" name="Google Shape;421;p10"/>
            <p:cNvSpPr txBox="1"/>
            <p:nvPr/>
          </p:nvSpPr>
          <p:spPr>
            <a:xfrm>
              <a:off x="159" y="756"/>
              <a:ext cx="5459" cy="775"/>
            </a:xfrm>
            <a:prstGeom prst="rect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Noto Sans Symbols"/>
                <a:buNone/>
              </a:pPr>
              <a:r>
                <a:rPr lang="en-US" sz="20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Question</a:t>
              </a:r>
              <a:r>
                <a:rPr lang="en-US" sz="20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:  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Gemma recorded the heights in cm of girls in the same class and constructed a box plot from the data. The box plots for both boys and girls are shown below. Use the box plots to choose some </a:t>
              </a:r>
              <a:r>
                <a:rPr lang="en-US" sz="18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correct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statements comparing heights of boys and girls in the class. Justify your answers.</a:t>
              </a:r>
              <a:endParaRPr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422" name="Google Shape;422;p10"/>
            <p:cNvGrpSpPr/>
            <p:nvPr/>
          </p:nvGrpSpPr>
          <p:grpSpPr>
            <a:xfrm>
              <a:off x="660" y="369"/>
              <a:ext cx="4359" cy="288"/>
              <a:chOff x="622" y="369"/>
              <a:chExt cx="4359" cy="288"/>
            </a:xfrm>
          </p:grpSpPr>
          <p:sp>
            <p:nvSpPr>
              <p:cNvPr id="423" name="Google Shape;423;p10"/>
              <p:cNvSpPr txBox="1"/>
              <p:nvPr/>
            </p:nvSpPr>
            <p:spPr>
              <a:xfrm>
                <a:off x="1713" y="369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99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FFFF99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Drawing a Box Plot. </a:t>
                </a:r>
                <a:endParaRPr sz="2400" b="0" i="0" u="none" strike="noStrike" cap="none">
                  <a:solidFill>
                    <a:srgbClr val="FFFF99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424" name="Google Shape;424;p10"/>
              <p:cNvCxnSpPr/>
              <p:nvPr/>
            </p:nvCxnSpPr>
            <p:spPr>
              <a:xfrm>
                <a:off x="4011" y="521"/>
                <a:ext cx="97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5" name="Google Shape;425;p10"/>
              <p:cNvCxnSpPr/>
              <p:nvPr/>
            </p:nvCxnSpPr>
            <p:spPr>
              <a:xfrm>
                <a:off x="4972" y="400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6" name="Google Shape;426;p10"/>
              <p:cNvCxnSpPr/>
              <p:nvPr/>
            </p:nvCxnSpPr>
            <p:spPr>
              <a:xfrm rot="10800000">
                <a:off x="624" y="516"/>
                <a:ext cx="1092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7" name="Google Shape;427;p10"/>
              <p:cNvCxnSpPr/>
              <p:nvPr/>
            </p:nvCxnSpPr>
            <p:spPr>
              <a:xfrm>
                <a:off x="622" y="382"/>
                <a:ext cx="0" cy="2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28" name="Google Shape;428;p10"/>
            <p:cNvGrpSpPr/>
            <p:nvPr/>
          </p:nvGrpSpPr>
          <p:grpSpPr>
            <a:xfrm>
              <a:off x="0" y="1996"/>
              <a:ext cx="5798" cy="631"/>
              <a:chOff x="-38" y="3160"/>
              <a:chExt cx="5798" cy="631"/>
            </a:xfrm>
          </p:grpSpPr>
          <p:grpSp>
            <p:nvGrpSpPr>
              <p:cNvPr id="429" name="Google Shape;429;p10"/>
              <p:cNvGrpSpPr/>
              <p:nvPr/>
            </p:nvGrpSpPr>
            <p:grpSpPr>
              <a:xfrm>
                <a:off x="-38" y="3492"/>
                <a:ext cx="5798" cy="299"/>
                <a:chOff x="-38" y="3492"/>
                <a:chExt cx="5798" cy="299"/>
              </a:xfrm>
            </p:grpSpPr>
            <p:sp>
              <p:nvSpPr>
                <p:cNvPr id="430" name="Google Shape;430;p10"/>
                <p:cNvSpPr txBox="1"/>
                <p:nvPr/>
              </p:nvSpPr>
              <p:spPr>
                <a:xfrm>
                  <a:off x="-38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130</a:t>
                  </a:r>
                  <a:endParaRPr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grpSp>
              <p:nvGrpSpPr>
                <p:cNvPr id="431" name="Google Shape;431;p10"/>
                <p:cNvGrpSpPr/>
                <p:nvPr/>
              </p:nvGrpSpPr>
              <p:grpSpPr>
                <a:xfrm>
                  <a:off x="121" y="3492"/>
                  <a:ext cx="5459" cy="87"/>
                  <a:chOff x="121" y="3492"/>
                  <a:chExt cx="4211" cy="87"/>
                </a:xfrm>
              </p:grpSpPr>
              <p:sp>
                <p:nvSpPr>
                  <p:cNvPr id="432" name="Google Shape;432;p10"/>
                  <p:cNvSpPr/>
                  <p:nvPr/>
                </p:nvSpPr>
                <p:spPr>
                  <a:xfrm>
                    <a:off x="823" y="3492"/>
                    <a:ext cx="351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33" name="Google Shape;433;p10"/>
                  <p:cNvSpPr/>
                  <p:nvPr/>
                </p:nvSpPr>
                <p:spPr>
                  <a:xfrm>
                    <a:off x="1174" y="3492"/>
                    <a:ext cx="350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34" name="Google Shape;434;p10"/>
                  <p:cNvSpPr/>
                  <p:nvPr/>
                </p:nvSpPr>
                <p:spPr>
                  <a:xfrm>
                    <a:off x="1524" y="3492"/>
                    <a:ext cx="351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35" name="Google Shape;435;p10"/>
                  <p:cNvSpPr/>
                  <p:nvPr/>
                </p:nvSpPr>
                <p:spPr>
                  <a:xfrm>
                    <a:off x="1875" y="3492"/>
                    <a:ext cx="351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36" name="Google Shape;436;p10"/>
                  <p:cNvSpPr/>
                  <p:nvPr/>
                </p:nvSpPr>
                <p:spPr>
                  <a:xfrm>
                    <a:off x="2226" y="3492"/>
                    <a:ext cx="350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37" name="Google Shape;437;p10"/>
                  <p:cNvSpPr/>
                  <p:nvPr/>
                </p:nvSpPr>
                <p:spPr>
                  <a:xfrm>
                    <a:off x="2576" y="3492"/>
                    <a:ext cx="351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38" name="Google Shape;438;p10"/>
                  <p:cNvSpPr/>
                  <p:nvPr/>
                </p:nvSpPr>
                <p:spPr>
                  <a:xfrm>
                    <a:off x="2927" y="3492"/>
                    <a:ext cx="350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39" name="Google Shape;439;p10"/>
                  <p:cNvSpPr/>
                  <p:nvPr/>
                </p:nvSpPr>
                <p:spPr>
                  <a:xfrm>
                    <a:off x="3277" y="3492"/>
                    <a:ext cx="351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40" name="Google Shape;440;p10"/>
                  <p:cNvSpPr/>
                  <p:nvPr/>
                </p:nvSpPr>
                <p:spPr>
                  <a:xfrm>
                    <a:off x="3631" y="3492"/>
                    <a:ext cx="351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41" name="Google Shape;441;p10"/>
                  <p:cNvSpPr/>
                  <p:nvPr/>
                </p:nvSpPr>
                <p:spPr>
                  <a:xfrm>
                    <a:off x="3982" y="3492"/>
                    <a:ext cx="350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42" name="Google Shape;442;p10"/>
                  <p:cNvSpPr/>
                  <p:nvPr/>
                </p:nvSpPr>
                <p:spPr>
                  <a:xfrm>
                    <a:off x="472" y="3492"/>
                    <a:ext cx="351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443" name="Google Shape;443;p10"/>
                  <p:cNvSpPr/>
                  <p:nvPr/>
                </p:nvSpPr>
                <p:spPr>
                  <a:xfrm>
                    <a:off x="121" y="3492"/>
                    <a:ext cx="351" cy="87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endParaRPr sz="2400" b="0" i="0" u="none" strike="noStrike" cap="non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sp>
              <p:nvSpPr>
                <p:cNvPr id="444" name="Google Shape;444;p10"/>
                <p:cNvSpPr txBox="1"/>
                <p:nvPr/>
              </p:nvSpPr>
              <p:spPr>
                <a:xfrm>
                  <a:off x="841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140</a:t>
                  </a:r>
                  <a:endParaRPr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5" name="Google Shape;445;p10"/>
                <p:cNvSpPr txBox="1"/>
                <p:nvPr/>
              </p:nvSpPr>
              <p:spPr>
                <a:xfrm>
                  <a:off x="1750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150</a:t>
                  </a:r>
                  <a:endParaRPr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6" name="Google Shape;446;p10"/>
                <p:cNvSpPr txBox="1"/>
                <p:nvPr/>
              </p:nvSpPr>
              <p:spPr>
                <a:xfrm>
                  <a:off x="2660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160</a:t>
                  </a:r>
                  <a:endParaRPr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7" name="Google Shape;447;p10"/>
                <p:cNvSpPr txBox="1"/>
                <p:nvPr/>
              </p:nvSpPr>
              <p:spPr>
                <a:xfrm>
                  <a:off x="3569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170</a:t>
                  </a:r>
                  <a:endParaRPr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8" name="Google Shape;448;p10"/>
                <p:cNvSpPr txBox="1"/>
                <p:nvPr/>
              </p:nvSpPr>
              <p:spPr>
                <a:xfrm>
                  <a:off x="4477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180</a:t>
                  </a:r>
                  <a:endParaRPr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49" name="Google Shape;449;p10"/>
                <p:cNvSpPr txBox="1"/>
                <p:nvPr/>
              </p:nvSpPr>
              <p:spPr>
                <a:xfrm>
                  <a:off x="5380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190</a:t>
                  </a:r>
                  <a:endParaRPr sz="1600" b="0" i="0" u="none" strike="noStrike" cap="none">
                    <a:solidFill>
                      <a:schemeClr val="dk1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</p:grpSp>
          <p:cxnSp>
            <p:nvCxnSpPr>
              <p:cNvPr id="450" name="Google Shape;450;p10"/>
              <p:cNvCxnSpPr/>
              <p:nvPr/>
            </p:nvCxnSpPr>
            <p:spPr>
              <a:xfrm rot="10800000">
                <a:off x="3910" y="3160"/>
                <a:ext cx="0" cy="24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51" name="Google Shape;451;p10"/>
              <p:cNvSpPr/>
              <p:nvPr/>
            </p:nvSpPr>
            <p:spPr>
              <a:xfrm>
                <a:off x="2660" y="3160"/>
                <a:ext cx="2007" cy="246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52" name="Google Shape;452;p10"/>
              <p:cNvGrpSpPr/>
              <p:nvPr/>
            </p:nvGrpSpPr>
            <p:grpSpPr>
              <a:xfrm>
                <a:off x="768" y="3206"/>
                <a:ext cx="1879" cy="152"/>
                <a:chOff x="1387" y="3460"/>
                <a:chExt cx="572" cy="152"/>
              </a:xfrm>
            </p:grpSpPr>
            <p:cxnSp>
              <p:nvCxnSpPr>
                <p:cNvPr id="453" name="Google Shape;453;p10"/>
                <p:cNvCxnSpPr/>
                <p:nvPr/>
              </p:nvCxnSpPr>
              <p:spPr>
                <a:xfrm>
                  <a:off x="1387" y="3538"/>
                  <a:ext cx="572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454" name="Google Shape;454;p10"/>
                <p:cNvCxnSpPr/>
                <p:nvPr/>
              </p:nvCxnSpPr>
              <p:spPr>
                <a:xfrm>
                  <a:off x="1388" y="3460"/>
                  <a:ext cx="0" cy="152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455" name="Google Shape;455;p10"/>
              <p:cNvGrpSpPr/>
              <p:nvPr/>
            </p:nvGrpSpPr>
            <p:grpSpPr>
              <a:xfrm>
                <a:off x="4671" y="3196"/>
                <a:ext cx="531" cy="176"/>
                <a:chOff x="3290" y="3166"/>
                <a:chExt cx="1748" cy="176"/>
              </a:xfrm>
            </p:grpSpPr>
            <p:cxnSp>
              <p:nvCxnSpPr>
                <p:cNvPr id="456" name="Google Shape;456;p10"/>
                <p:cNvCxnSpPr/>
                <p:nvPr/>
              </p:nvCxnSpPr>
              <p:spPr>
                <a:xfrm>
                  <a:off x="3290" y="3252"/>
                  <a:ext cx="1748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457" name="Google Shape;457;p10"/>
                <p:cNvCxnSpPr/>
                <p:nvPr/>
              </p:nvCxnSpPr>
              <p:spPr>
                <a:xfrm>
                  <a:off x="5031" y="3166"/>
                  <a:ext cx="0" cy="17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</p:grpSp>
        <p:cxnSp>
          <p:nvCxnSpPr>
            <p:cNvPr id="458" name="Google Shape;458;p10"/>
            <p:cNvCxnSpPr/>
            <p:nvPr/>
          </p:nvCxnSpPr>
          <p:spPr>
            <a:xfrm rot="10800000">
              <a:off x="3413" y="2723"/>
              <a:ext cx="0" cy="246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59" name="Google Shape;459;p10"/>
            <p:cNvSpPr/>
            <p:nvPr/>
          </p:nvSpPr>
          <p:spPr>
            <a:xfrm>
              <a:off x="2433" y="2723"/>
              <a:ext cx="1616" cy="246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0" name="Google Shape;460;p10"/>
            <p:cNvGrpSpPr/>
            <p:nvPr/>
          </p:nvGrpSpPr>
          <p:grpSpPr>
            <a:xfrm>
              <a:off x="554" y="2769"/>
              <a:ext cx="1879" cy="152"/>
              <a:chOff x="1387" y="3460"/>
              <a:chExt cx="572" cy="152"/>
            </a:xfrm>
          </p:grpSpPr>
          <p:cxnSp>
            <p:nvCxnSpPr>
              <p:cNvPr id="461" name="Google Shape;461;p10"/>
              <p:cNvCxnSpPr/>
              <p:nvPr/>
            </p:nvCxnSpPr>
            <p:spPr>
              <a:xfrm>
                <a:off x="1387" y="3538"/>
                <a:ext cx="572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2" name="Google Shape;462;p10"/>
              <p:cNvCxnSpPr/>
              <p:nvPr/>
            </p:nvCxnSpPr>
            <p:spPr>
              <a:xfrm>
                <a:off x="1388" y="3460"/>
                <a:ext cx="0" cy="152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63" name="Google Shape;463;p10"/>
            <p:cNvGrpSpPr/>
            <p:nvPr/>
          </p:nvGrpSpPr>
          <p:grpSpPr>
            <a:xfrm>
              <a:off x="4062" y="2759"/>
              <a:ext cx="531" cy="176"/>
              <a:chOff x="3290" y="3166"/>
              <a:chExt cx="1748" cy="176"/>
            </a:xfrm>
          </p:grpSpPr>
          <p:cxnSp>
            <p:nvCxnSpPr>
              <p:cNvPr id="464" name="Google Shape;464;p10"/>
              <p:cNvCxnSpPr/>
              <p:nvPr/>
            </p:nvCxnSpPr>
            <p:spPr>
              <a:xfrm>
                <a:off x="3290" y="3252"/>
                <a:ext cx="1748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5" name="Google Shape;465;p10"/>
              <p:cNvCxnSpPr/>
              <p:nvPr/>
            </p:nvCxnSpPr>
            <p:spPr>
              <a:xfrm>
                <a:off x="5031" y="3166"/>
                <a:ext cx="0" cy="176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66" name="Google Shape;466;p10"/>
            <p:cNvSpPr txBox="1"/>
            <p:nvPr/>
          </p:nvSpPr>
          <p:spPr>
            <a:xfrm>
              <a:off x="3456" y="1658"/>
              <a:ext cx="68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Boys</a:t>
              </a:r>
              <a:endParaRPr sz="24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7" name="Google Shape;467;p10"/>
            <p:cNvSpPr txBox="1"/>
            <p:nvPr/>
          </p:nvSpPr>
          <p:spPr>
            <a:xfrm>
              <a:off x="3380" y="2969"/>
              <a:ext cx="68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Girls</a:t>
              </a:r>
              <a:endParaRPr sz="2400" b="0" i="0" u="none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8" name="Google Shape;468;p10"/>
            <p:cNvSpPr txBox="1"/>
            <p:nvPr/>
          </p:nvSpPr>
          <p:spPr>
            <a:xfrm>
              <a:off x="4936" y="2415"/>
              <a:ext cx="455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cm</a:t>
              </a:r>
              <a:endParaRPr sz="16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9" name="Google Shape;469;p10"/>
            <p:cNvSpPr txBox="1"/>
            <p:nvPr/>
          </p:nvSpPr>
          <p:spPr>
            <a:xfrm>
              <a:off x="130" y="3257"/>
              <a:ext cx="2539" cy="231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800"/>
                <a:buFont typeface="Noto Sans Symbols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1.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girls are taller on average.</a:t>
              </a:r>
              <a:endParaRPr sz="17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0" name="Google Shape;470;p10"/>
            <p:cNvSpPr txBox="1"/>
            <p:nvPr/>
          </p:nvSpPr>
          <p:spPr>
            <a:xfrm>
              <a:off x="130" y="3584"/>
              <a:ext cx="3088" cy="231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800"/>
                <a:buFont typeface="Noto Sans Symbols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3.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girls show less variability in height.</a:t>
              </a:r>
              <a:endParaRPr sz="17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1" name="Google Shape;471;p10"/>
            <p:cNvSpPr txBox="1"/>
            <p:nvPr/>
          </p:nvSpPr>
          <p:spPr>
            <a:xfrm>
              <a:off x="130" y="3911"/>
              <a:ext cx="3088" cy="231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800"/>
                <a:buFont typeface="Noto Sans Symbols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4.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boys show less variability in height.</a:t>
              </a:r>
              <a:endParaRPr sz="17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2" name="Google Shape;472;p10"/>
            <p:cNvSpPr txBox="1"/>
            <p:nvPr/>
          </p:nvSpPr>
          <p:spPr>
            <a:xfrm>
              <a:off x="3342" y="3584"/>
              <a:ext cx="2276" cy="231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800"/>
                <a:buFont typeface="Noto Sans Symbols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5.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smallest person is a girl.</a:t>
              </a:r>
              <a:endParaRPr sz="17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73" name="Google Shape;473;p10"/>
            <p:cNvSpPr txBox="1"/>
            <p:nvPr/>
          </p:nvSpPr>
          <p:spPr>
            <a:xfrm>
              <a:off x="3342" y="3911"/>
              <a:ext cx="2276" cy="231"/>
            </a:xfrm>
            <a:prstGeom prst="rect">
              <a:avLst/>
            </a:prstGeom>
            <a:gradFill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800"/>
                <a:buFont typeface="Noto Sans Symbols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6.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The tallest person is a boy.</a:t>
              </a:r>
              <a:endParaRPr sz="17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474" name="Google Shape;474;p10"/>
          <p:cNvSpPr/>
          <p:nvPr/>
        </p:nvSpPr>
        <p:spPr>
          <a:xfrm>
            <a:off x="0" y="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0" y="6667500"/>
            <a:ext cx="9144000" cy="1905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gradFill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Box Plot Example</a:t>
            </a:r>
            <a:endParaRPr/>
          </a:p>
        </p:txBody>
      </p:sp>
      <p:sp>
        <p:nvSpPr>
          <p:cNvPr id="504" name="Google Shape;504;p14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rPr lang="en-US"/>
              <a:t>18, 34, 76, 29, 15, 41, 46, 25, 54, 38, 20, 32, 43, 22</a:t>
            </a:r>
            <a:endParaRPr/>
          </a:p>
        </p:txBody>
      </p:sp>
      <p:sp>
        <p:nvSpPr>
          <p:cNvPr id="505" name="Google Shape;505;p1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15"/>
          <p:cNvGrpSpPr/>
          <p:nvPr/>
        </p:nvGrpSpPr>
        <p:grpSpPr>
          <a:xfrm>
            <a:off x="590550" y="571500"/>
            <a:ext cx="8267700" cy="4438650"/>
            <a:chOff x="372" y="360"/>
            <a:chExt cx="5208" cy="2796"/>
          </a:xfrm>
        </p:grpSpPr>
        <p:sp>
          <p:nvSpPr>
            <p:cNvPr id="511" name="Google Shape;511;p15"/>
            <p:cNvSpPr txBox="1"/>
            <p:nvPr/>
          </p:nvSpPr>
          <p:spPr>
            <a:xfrm>
              <a:off x="408" y="360"/>
              <a:ext cx="510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99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FFFF99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Finding the median, quartiles and inter-quartile range. </a:t>
              </a:r>
              <a:endParaRPr sz="2400" b="0" i="0" u="none" strike="noStrike" cap="none">
                <a:solidFill>
                  <a:srgbClr val="FFFF99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12" name="Google Shape;512;p15"/>
            <p:cNvSpPr txBox="1"/>
            <p:nvPr/>
          </p:nvSpPr>
          <p:spPr>
            <a:xfrm>
              <a:off x="492" y="1080"/>
              <a:ext cx="50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12,    6,    4,    9,    8,    4,    9,    8,     5,    9,    8,    10</a:t>
              </a:r>
              <a:endParaRPr sz="2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13" name="Google Shape;513;p15"/>
            <p:cNvSpPr txBox="1"/>
            <p:nvPr/>
          </p:nvSpPr>
          <p:spPr>
            <a:xfrm>
              <a:off x="384" y="756"/>
              <a:ext cx="5196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Noto Sans Symbols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Example 1:  Find the median and quartiles for the data below.</a:t>
              </a:r>
              <a:endParaRPr sz="22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14" name="Google Shape;514;p15"/>
            <p:cNvSpPr txBox="1"/>
            <p:nvPr/>
          </p:nvSpPr>
          <p:spPr>
            <a:xfrm>
              <a:off x="408" y="360"/>
              <a:ext cx="5100" cy="29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Finding the median, quartiles and inter-quartile range.</a:t>
              </a:r>
              <a:r>
                <a:rPr lang="en-US" sz="2400" b="0" i="0" u="none" strike="noStrike" cap="none">
                  <a:solidFill>
                    <a:srgbClr val="FFFF99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sz="2400" b="0" i="0" u="none" strike="noStrike" cap="none">
                <a:solidFill>
                  <a:srgbClr val="FFFF99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15" name="Google Shape;515;p15"/>
            <p:cNvSpPr txBox="1"/>
            <p:nvPr/>
          </p:nvSpPr>
          <p:spPr>
            <a:xfrm>
              <a:off x="396" y="2868"/>
              <a:ext cx="504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     6,    3,    9,    8,    4,    10,    8,     4,    15,    8,    10</a:t>
              </a:r>
              <a:endParaRPr sz="24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16" name="Google Shape;516;p15"/>
            <p:cNvSpPr txBox="1"/>
            <p:nvPr/>
          </p:nvSpPr>
          <p:spPr>
            <a:xfrm>
              <a:off x="372" y="2484"/>
              <a:ext cx="5196" cy="2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Noto Sans Symbols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Example 2:  Find the median and quartiles for the data below.</a:t>
              </a:r>
              <a:endParaRPr sz="22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517" name="Google Shape;517;p15"/>
          <p:cNvSpPr txBox="1">
            <a:spLocks noGrp="1"/>
          </p:cNvSpPr>
          <p:nvPr>
            <p:ph type="title" idx="4294967295"/>
          </p:nvPr>
        </p:nvSpPr>
        <p:spPr>
          <a:xfrm>
            <a:off x="400050" y="5695950"/>
            <a:ext cx="156210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ookman Old Style"/>
              <a:buNone/>
            </a:pPr>
            <a:r>
              <a:rPr lang="en-US" sz="2400">
                <a:solidFill>
                  <a:schemeClr val="lt1"/>
                </a:solidFill>
              </a:rPr>
              <a:t>Worksheet 1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518" name="Google Shape;518;p15"/>
          <p:cNvSpPr txBox="1"/>
          <p:nvPr/>
        </p:nvSpPr>
        <p:spPr>
          <a:xfrm>
            <a:off x="215900" y="201613"/>
            <a:ext cx="1741488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worksheet</a:t>
            </a:r>
            <a:endParaRPr sz="1200" b="1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4" name="Google Shape;534;p33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 sz="3200"/>
              <a:t>Positively and Negatively Correlated Data</a:t>
            </a:r>
            <a:endParaRPr sz="3200"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1"/>
          </p:nvPr>
        </p:nvSpPr>
        <p:spPr>
          <a:xfrm>
            <a:off x="4191000" y="4906963"/>
            <a:ext cx="4267200" cy="141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rmAutofit/>
          </a:bodyPr>
          <a:lstStyle/>
          <a:p>
            <a:pPr marL="274320" lvl="0" indent="-27432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368"/>
              <a:buFont typeface="Gill Sans"/>
              <a:buChar char=""/>
            </a:pPr>
            <a:r>
              <a:rPr lang="en-US" sz="1800"/>
              <a:t>The left half fragment is positively correlated</a:t>
            </a:r>
            <a:endParaRPr sz="1800"/>
          </a:p>
          <a:p>
            <a:pPr marL="274320" lvl="0" indent="-274320" algn="l" rtl="0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SzPts val="1368"/>
              <a:buFont typeface="Gill Sans"/>
              <a:buChar char=""/>
            </a:pPr>
            <a:r>
              <a:rPr lang="en-US" sz="1800"/>
              <a:t>The right half is negative correlated</a:t>
            </a:r>
            <a:endParaRPr sz="1800">
              <a:solidFill>
                <a:schemeClr val="hlink"/>
              </a:solidFill>
            </a:endParaRPr>
          </a:p>
        </p:txBody>
      </p:sp>
      <p:pic>
        <p:nvPicPr>
          <p:cNvPr id="536" name="Google Shape;536;p33" descr="ha02correl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295400"/>
            <a:ext cx="3365500" cy="27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3" descr="ha02correl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5400" y="1219200"/>
            <a:ext cx="3810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33" descr="fig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4114800"/>
            <a:ext cx="35052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3"/>
          <p:cNvSpPr/>
          <p:nvPr/>
        </p:nvSpPr>
        <p:spPr>
          <a:xfrm>
            <a:off x="4191000" y="4953000"/>
            <a:ext cx="4267200" cy="144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6" name="Google Shape;546;p34" descr="fig18-1"/>
          <p:cNvPicPr preferRelativeResize="0">
            <a:picLocks noGrp="1"/>
          </p:cNvPicPr>
          <p:nvPr>
            <p:ph type="body" idx="4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0"/>
            <a:ext cx="40386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4" descr="fig18-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3352800"/>
            <a:ext cx="4191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4" descr="fig18-3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001838"/>
            <a:ext cx="4267200" cy="36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4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 sz="3200"/>
              <a:t> Uncorrelated Data</a:t>
            </a:r>
            <a:endParaRPr sz="3200"/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79" name="Google Shape;579;p39" descr="box plo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7594" y="1789563"/>
            <a:ext cx="3166281" cy="2645959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9"/>
          <p:cNvSpPr txBox="1">
            <a:spLocks noGrp="1"/>
          </p:cNvSpPr>
          <p:nvPr>
            <p:ph type="title"/>
          </p:nvPr>
        </p:nvSpPr>
        <p:spPr>
          <a:xfrm>
            <a:off x="152400" y="304800"/>
            <a:ext cx="518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 sz="3200"/>
              <a:t> </a:t>
            </a:r>
            <a:r>
              <a:rPr lang="en-US"/>
              <a:t>Boxplot Analysis</a:t>
            </a:r>
            <a:endParaRPr/>
          </a:p>
        </p:txBody>
      </p:sp>
      <p:sp>
        <p:nvSpPr>
          <p:cNvPr id="581" name="Google Shape;581;p39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6096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274320" lvl="0" indent="-2743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 sz="2000" b="1" dirty="0"/>
              <a:t>Five-number summary</a:t>
            </a:r>
            <a:r>
              <a:rPr lang="en-US" sz="2000" dirty="0"/>
              <a:t> of a distribution</a:t>
            </a:r>
            <a:endParaRPr sz="2000" dirty="0"/>
          </a:p>
          <a:p>
            <a:pPr marL="584200" lvl="1" indent="-30988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 sz="2000" dirty="0"/>
              <a:t>Minimum, Q1, Median, Q3, Maximum</a:t>
            </a:r>
            <a:endParaRPr sz="2000" dirty="0"/>
          </a:p>
          <a:p>
            <a:pPr marL="274320" lvl="0" indent="-27432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 sz="2000" b="1" dirty="0"/>
              <a:t>Boxplot</a:t>
            </a:r>
            <a:endParaRPr sz="2000" b="1" dirty="0"/>
          </a:p>
          <a:p>
            <a:pPr marL="584200" lvl="1" indent="-30988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 sz="2000" dirty="0"/>
              <a:t>Data is represented with a box</a:t>
            </a:r>
            <a:endParaRPr sz="2000" dirty="0"/>
          </a:p>
          <a:p>
            <a:pPr marL="584200" lvl="1" indent="-30988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 sz="2000" dirty="0"/>
              <a:t>The ends of the box are at the first and third quartiles, i.e., the height of the box is IQR</a:t>
            </a:r>
            <a:endParaRPr sz="2000" dirty="0"/>
          </a:p>
          <a:p>
            <a:pPr marL="584200" lvl="1" indent="-30988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 sz="2000" dirty="0"/>
              <a:t>The median is marked by a line within the box</a:t>
            </a:r>
            <a:endParaRPr sz="2000" dirty="0"/>
          </a:p>
          <a:p>
            <a:pPr marL="584200" lvl="1" indent="-30988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 sz="2000" dirty="0"/>
              <a:t>Whiskers: two lines outside the box extended to Minimum and Maximum</a:t>
            </a:r>
            <a:endParaRPr sz="2000" dirty="0"/>
          </a:p>
        </p:txBody>
      </p:sp>
      <p:pic>
        <p:nvPicPr>
          <p:cNvPr id="582" name="Google Shape;582;p39" descr="thre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0175" y="114300"/>
            <a:ext cx="393382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On-screen Show (4:3)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Bookman Old Style</vt:lpstr>
      <vt:lpstr>Noto Sans Symbols</vt:lpstr>
      <vt:lpstr>Comic Sans MS</vt:lpstr>
      <vt:lpstr>Arial</vt:lpstr>
      <vt:lpstr>Tahoma</vt:lpstr>
      <vt:lpstr>Calibri</vt:lpstr>
      <vt:lpstr>Times New Roman</vt:lpstr>
      <vt:lpstr>Gill Sans</vt:lpstr>
      <vt:lpstr>Origin</vt:lpstr>
      <vt:lpstr>  Data Science</vt:lpstr>
      <vt:lpstr>Box and Whisker Plot (aka Boxplot)</vt:lpstr>
      <vt:lpstr>Outlier Detection with IQR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Box Plot Example</vt:lpstr>
      <vt:lpstr>Worksheet 1</vt:lpstr>
      <vt:lpstr>Positively and Negatively Correlated Data</vt:lpstr>
      <vt:lpstr> Uncorrelated Data</vt:lpstr>
      <vt:lpstr> Boxplot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03-134162-024</cp:lastModifiedBy>
  <cp:revision>1</cp:revision>
  <dcterms:created xsi:type="dcterms:W3CDTF">2024-09-22T10:12:00Z</dcterms:created>
  <dcterms:modified xsi:type="dcterms:W3CDTF">2024-11-13T07:29:36Z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E4844D665A934ADC94FDEE41999ADF53_12</vt:lpwstr>
  </property>
  <property fmtid="{D5CDD505-2E9C-101B-9397-08002B2CF9AE}" pid="3" name="KSOProductBuildVer">
    <vt:lpwstr>1033-12.2.0.18607</vt:lpwstr>
  </property>
</Properties>
</file>