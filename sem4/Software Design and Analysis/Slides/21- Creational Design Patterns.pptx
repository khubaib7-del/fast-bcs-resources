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4" r:id="rId5"/>
    <p:sldId id="280" r:id="rId6"/>
    <p:sldId id="281" r:id="rId7"/>
    <p:sldId id="282" r:id="rId8"/>
    <p:sldId id="284" r:id="rId9"/>
    <p:sldId id="283" r:id="rId10"/>
    <p:sldId id="285" r:id="rId11"/>
    <p:sldId id="286" r:id="rId12"/>
    <p:sldId id="287" r:id="rId13"/>
    <p:sldId id="288" r:id="rId14"/>
    <p:sldId id="289" r:id="rId15"/>
    <p:sldId id="295" r:id="rId16"/>
    <p:sldId id="296" r:id="rId17"/>
    <p:sldId id="297" r:id="rId18"/>
    <p:sldId id="299" r:id="rId19"/>
    <p:sldId id="298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8C720F-D4F6-4333-B195-8787C2FFD72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A6774-F624-41C7-B360-C4A23B99E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0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A6774-F624-41C7-B360-C4A23B99E3D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43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one singleton class, you can do eager initialization. If you have multiple singleton classes, you can do lazy initialization to save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A6774-F624-41C7-B360-C4A23B99E3D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875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A073EF2-94F7-D030-B3CF-436B00F66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38B21E4-DD0D-973E-C69A-2983E7274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F85B646-56AF-7199-ABD7-1ECC64884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17BB-83DC-43EF-B613-7EE944C1B8A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077C6BF-8165-4811-C277-89E8558A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D3A3ABA-CAA8-F75A-7D32-B177ECEA8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93C9-F2B0-4C6E-96AF-72C469FB0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63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797D06-55F3-99CC-3566-C4AF9A44F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DD937F3-DFE4-F823-EC74-523444DBA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4065D72-C344-6082-A55E-A6AEA487C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17BB-83DC-43EF-B613-7EE944C1B8A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D9A3730-F79C-B348-1E4C-C8438CC0D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CD279CC-6761-9DC3-170C-CC28EFD6C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93C9-F2B0-4C6E-96AF-72C469FB0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31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7507108-8B6B-0FFE-93A7-1C71A6D18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A7CDA2D-052B-C490-FAAD-8B2AF51A8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6DD7E76-F737-EDC4-0245-0660993B5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17BB-83DC-43EF-B613-7EE944C1B8A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B875837-EAAD-67A4-3278-91DE3260F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C486A6-0509-9DA2-E3A5-786F4A2D2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93C9-F2B0-4C6E-96AF-72C469FB0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54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E609FE8-738C-B910-F46C-A19C265DF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C2C1FF6-E1B4-E2D4-F300-F72C9D16F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858DD7A-FED8-4A78-AA80-3320D4A35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70E68E8-6598-4F3A-B56C-5C7B2FD1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17BB-83DC-43EF-B613-7EE944C1B8A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87F47B5-D8EB-5CE5-8DEC-1EC027662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07DC599-2C56-50CE-6FFD-02BDCBA21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93C9-F2B0-4C6E-96AF-72C469FB0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8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80A68E8-6BE0-BDFE-1183-A7E4ADB40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F263531-E11F-0F56-B230-895672C3F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BA65A00-C00D-3482-74BD-C57457D74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B2EEC4C6-54EF-1580-6288-3C829C0FE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9DC3CB5-D0A3-A704-DF1F-D5BDAA172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256A1A9-718F-3C9C-B9D2-2F20E4F13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17BB-83DC-43EF-B613-7EE944C1B8A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BE74F5EF-BD6D-8E38-09C4-4A7EE2AFC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39ED7FB9-F91F-789F-2E56-A4440E220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93C9-F2B0-4C6E-96AF-72C469FB0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72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74D04B-BAD9-AE14-9447-69F83E334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F410D57-12F7-4D1A-7C1A-FF4B10417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17BB-83DC-43EF-B613-7EE944C1B8A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1095579-DC57-0B63-E41F-A6449606A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43B2082-C5F5-A928-BE91-5D4285CC2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93C9-F2B0-4C6E-96AF-72C469FB0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41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39A2AE2-F635-B225-5ECE-F5A4E0774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17BB-83DC-43EF-B613-7EE944C1B8A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0A06035-186E-21FD-4BEE-9F3D2BFBC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C6F759B-9704-93A7-E329-E99E99269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93C9-F2B0-4C6E-96AF-72C469FB0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00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4BF5C05-9855-3BE4-1923-8809BFAF1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6D15256-5782-9FD1-9125-DB3D7583D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778A330-AFAF-47E3-DD39-09DB9FA95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53B4D0E-8328-5892-1A52-2E349744C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17BB-83DC-43EF-B613-7EE944C1B8A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93641E5-1F7E-E47E-2595-37470A200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DE6A5A6-0196-961C-1301-66C8A7A79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93C9-F2B0-4C6E-96AF-72C469FB0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76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B68DF4B-012D-749C-CED9-EB3E16E1C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D37372F9-C8B5-DD04-DE50-60F4906859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EB4D26F-6D87-1FF9-F870-D8AE03C72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F798A7E-1425-3F63-E03D-4188FB20E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17BB-83DC-43EF-B613-7EE944C1B8A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A5BAC7B-CC62-7481-DA34-D50DCECA3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09F1406-66D1-40AE-E64E-8D9DDF20D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93C9-F2B0-4C6E-96AF-72C469FB0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42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DD3492-EC32-5FED-0527-D4A5EC58A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DB9E683-FF2B-F938-2D1D-0BB48E5D5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3558227-C23F-B0DE-A398-19073556D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17BB-83DC-43EF-B613-7EE944C1B8A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2FC8946-59D6-08BC-E5C1-188BD59E5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DB2210D-B2A6-E55F-34AB-A3FC622A2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93C9-F2B0-4C6E-96AF-72C469FB0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94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6C5C5E07-4357-5D43-0A6B-B2AD0C5E5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FE393E6-1BAF-C516-7E74-C28409466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D294D46-C6A8-56DF-6CA2-81F73A764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17BB-83DC-43EF-B613-7EE944C1B8A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A518317-8D76-AFEE-F581-2AC87C95D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E9FB0D6-B0E6-9DBD-D107-6C2E875B6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93C9-F2B0-4C6E-96AF-72C469FB0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776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8A03D78D-71D7-96BC-A2C6-5A9D6FC54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8FAE6AB-33DD-39D3-0B91-0C69A3FCE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8B37665-D2C1-312B-5D5E-7F07940BD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917BB-83DC-43EF-B613-7EE944C1B8A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58E793A-7686-4FDD-FA1B-8F74407F59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612B9D3-9BAB-B8CE-805C-42A9F95B21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A93C9-F2B0-4C6E-96AF-72C469FB0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89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factory-method-for-designing-pattern/" TargetMode="External"/><Relationship Id="rId2" Type="http://schemas.openxmlformats.org/officeDocument/2006/relationships/hyperlink" Target="https://refactoring.guru/design-pattern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ourcemaking.com/design_pattern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EE925C-502C-CF37-5CF5-BAED06C7F3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Creational Design Patterns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E61D01A-A7D7-7DFB-BDE4-DC029A10C9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Instructor: </a:t>
            </a:r>
            <a:r>
              <a:rPr lang="en-US" dirty="0" smtClean="0"/>
              <a:t>Muhammad </a:t>
            </a:r>
            <a:r>
              <a:rPr lang="en-US" smtClean="0"/>
              <a:t>Zeeshan Nazar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06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9B2CE1-76A4-20BB-A915-E34EF23CF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Creational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2F6804C-B9B7-1810-81F4-6573306B7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Creational design patterns provide various </a:t>
            </a:r>
            <a:r>
              <a:rPr lang="en-US" b="1" dirty="0"/>
              <a:t>object creation </a:t>
            </a:r>
            <a:r>
              <a:rPr lang="en-US" dirty="0"/>
              <a:t>mechanisms, which increase </a:t>
            </a:r>
            <a:r>
              <a:rPr lang="en-US" b="1" dirty="0"/>
              <a:t>flexibility</a:t>
            </a:r>
            <a:r>
              <a:rPr lang="en-US" dirty="0"/>
              <a:t> and </a:t>
            </a:r>
            <a:r>
              <a:rPr lang="en-US" b="1" dirty="0"/>
              <a:t>reuse</a:t>
            </a:r>
            <a:r>
              <a:rPr lang="en-US" dirty="0"/>
              <a:t> of existing code.</a:t>
            </a:r>
          </a:p>
          <a:p>
            <a:r>
              <a:rPr lang="en-US" dirty="0"/>
              <a:t>Creational design patterns </a:t>
            </a:r>
            <a:r>
              <a:rPr lang="en-US" b="1" dirty="0"/>
              <a:t>abstract</a:t>
            </a:r>
            <a:r>
              <a:rPr lang="en-US" dirty="0"/>
              <a:t> the instantiation process. </a:t>
            </a:r>
          </a:p>
          <a:p>
            <a:r>
              <a:rPr lang="en-US" dirty="0"/>
              <a:t>They help make a system independent of how its objects are created, composed, and represented. </a:t>
            </a:r>
          </a:p>
          <a:p>
            <a:r>
              <a:rPr lang="en-US" dirty="0"/>
              <a:t>A </a:t>
            </a:r>
            <a:r>
              <a:rPr lang="en-US" b="1" dirty="0"/>
              <a:t>class creational pattern </a:t>
            </a:r>
            <a:r>
              <a:rPr lang="en-US" dirty="0"/>
              <a:t>uses inheritance to vary the class that's instantiated.</a:t>
            </a:r>
          </a:p>
          <a:p>
            <a:r>
              <a:rPr lang="en-US" dirty="0"/>
              <a:t>An </a:t>
            </a:r>
            <a:r>
              <a:rPr lang="en-US" b="1" dirty="0"/>
              <a:t>object creational pattern </a:t>
            </a:r>
            <a:r>
              <a:rPr lang="en-US" dirty="0"/>
              <a:t>will delegate instantiation to another object.</a:t>
            </a:r>
          </a:p>
        </p:txBody>
      </p:sp>
    </p:spTree>
    <p:extLst>
      <p:ext uri="{BB962C8B-B14F-4D97-AF65-F5344CB8AC3E}">
        <p14:creationId xmlns:p14="http://schemas.microsoft.com/office/powerpoint/2010/main" val="223424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9B2CE1-76A4-20BB-A915-E34EF23CF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Creational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2F6804C-B9B7-1810-81F4-6573306B7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First, they all encapsulate knowledge about which concrete classes the system uses. </a:t>
            </a:r>
          </a:p>
          <a:p>
            <a:r>
              <a:rPr lang="en-US" dirty="0"/>
              <a:t>Second, they hide how instances of these classes are created and put together.</a:t>
            </a:r>
          </a:p>
          <a:p>
            <a:r>
              <a:rPr lang="en-US" dirty="0"/>
              <a:t>Creational patterns give you a lot of flexibility in what gets created, who creates it, how it gets created, and when.</a:t>
            </a:r>
          </a:p>
        </p:txBody>
      </p:sp>
    </p:spTree>
    <p:extLst>
      <p:ext uri="{BB962C8B-B14F-4D97-AF65-F5344CB8AC3E}">
        <p14:creationId xmlns:p14="http://schemas.microsoft.com/office/powerpoint/2010/main" val="3743349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FA80C7-3931-50AD-9501-F9C9C087C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Catalog of Design Patterns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EE33509-1EB6-625F-1875-E51813F61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24" y="1550506"/>
            <a:ext cx="11649152" cy="494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5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2C7ADE8-C411-4C79-5F68-6253BA354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18683"/>
            <a:ext cx="10515600" cy="1020634"/>
          </a:xfrm>
        </p:spPr>
        <p:txBody>
          <a:bodyPr/>
          <a:lstStyle/>
          <a:p>
            <a:pPr algn="ctr"/>
            <a:r>
              <a:rPr lang="en-US" dirty="0"/>
              <a:t>Singleton Pattern</a:t>
            </a:r>
          </a:p>
        </p:txBody>
      </p:sp>
    </p:spTree>
    <p:extLst>
      <p:ext uri="{BB962C8B-B14F-4D97-AF65-F5344CB8AC3E}">
        <p14:creationId xmlns:p14="http://schemas.microsoft.com/office/powerpoint/2010/main" val="4088157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2B97F24A-32CE-4C1C-A50D-3016B394DCF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35F58C0-169F-3DEB-29E9-A468529A0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Singleton Pattern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="" xmlns:a16="http://schemas.microsoft.com/office/drawing/2014/main" id="{CD8B4F24-440B-49E9-B85D-733523DC064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DF4AEC5-4B03-BEFE-3CCE-85F9B9E8B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600" b="1" dirty="0"/>
              <a:t>Intent</a:t>
            </a:r>
          </a:p>
          <a:p>
            <a:r>
              <a:rPr lang="en-US" sz="2200" b="1" i="0" dirty="0">
                <a:effectLst/>
                <a:latin typeface="PT Sans" panose="020B0503020203020204" pitchFamily="34" charset="0"/>
              </a:rPr>
              <a:t>Singleton</a:t>
            </a:r>
            <a:r>
              <a:rPr lang="en-US" sz="2200" b="0" i="0" dirty="0">
                <a:effectLst/>
                <a:latin typeface="PT Sans" panose="020B0503020203020204" pitchFamily="34" charset="0"/>
              </a:rPr>
              <a:t> is a creational design pattern that lets you ensure that a class has only </a:t>
            </a:r>
            <a:r>
              <a:rPr lang="en-US" sz="2200" b="1" i="0" dirty="0">
                <a:effectLst/>
                <a:latin typeface="PT Sans" panose="020B0503020203020204" pitchFamily="34" charset="0"/>
              </a:rPr>
              <a:t>one instance</a:t>
            </a:r>
            <a:r>
              <a:rPr lang="en-US" sz="2200" b="0" i="0" dirty="0">
                <a:effectLst/>
                <a:latin typeface="PT Sans" panose="020B0503020203020204" pitchFamily="34" charset="0"/>
              </a:rPr>
              <a:t>, while providing a </a:t>
            </a:r>
            <a:r>
              <a:rPr lang="en-US" sz="2200" b="1" i="0" dirty="0">
                <a:effectLst/>
                <a:latin typeface="PT Sans" panose="020B0503020203020204" pitchFamily="34" charset="0"/>
              </a:rPr>
              <a:t>global access point</a:t>
            </a:r>
            <a:r>
              <a:rPr lang="en-US" sz="2200" b="0" i="0" dirty="0">
                <a:effectLst/>
                <a:latin typeface="PT Sans" panose="020B0503020203020204" pitchFamily="34" charset="0"/>
              </a:rPr>
              <a:t> to this instance.</a:t>
            </a:r>
            <a:endParaRPr lang="en-US" sz="2200" dirty="0"/>
          </a:p>
        </p:txBody>
      </p:sp>
      <p:pic>
        <p:nvPicPr>
          <p:cNvPr id="5" name="Picture 4" descr="A cartoon of a block with arms and legs and arrows&#10;&#10;Description automatically generated">
            <a:extLst>
              <a:ext uri="{FF2B5EF4-FFF2-40B4-BE49-F238E27FC236}">
                <a16:creationId xmlns="" xmlns:a16="http://schemas.microsoft.com/office/drawing/2014/main" id="{1B7B11CC-A10A-6EB1-BC72-24F9365D0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219810"/>
            <a:ext cx="6903720" cy="441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507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0773F69-AFE2-E0B2-A933-2DDF604FE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50"/>
            <a:ext cx="10515600" cy="1170037"/>
          </a:xfrm>
        </p:spPr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F93A28B-A6DF-25F3-DF70-0EE6FEF3E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7187"/>
            <a:ext cx="10515600" cy="5175580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latin typeface="PT Sans" panose="020B0503020203020204" pitchFamily="34" charset="0"/>
              </a:rPr>
              <a:t>The Singleton pattern solves two problems at the same time: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1" i="0" dirty="0">
                <a:effectLst/>
                <a:latin typeface="PT Sans" panose="020B0503020203020204" pitchFamily="34" charset="0"/>
              </a:rPr>
              <a:t>Ensure that a class has just a single instance</a:t>
            </a:r>
            <a:r>
              <a:rPr lang="en-US" b="0" i="0" dirty="0">
                <a:effectLst/>
                <a:latin typeface="PT Sans" panose="020B0503020203020204" pitchFamily="34" charset="0"/>
              </a:rPr>
              <a:t>. </a:t>
            </a:r>
          </a:p>
          <a:p>
            <a:pPr marL="457200" lvl="1" indent="0">
              <a:buNone/>
            </a:pPr>
            <a:r>
              <a:rPr lang="en-US" b="0" i="0" dirty="0">
                <a:effectLst/>
                <a:latin typeface="PT Sans" panose="020B0503020203020204" pitchFamily="34" charset="0"/>
              </a:rPr>
              <a:t>Why would anyone want to control how many instances a class has? </a:t>
            </a:r>
          </a:p>
          <a:p>
            <a:pPr marL="457200" lvl="1" indent="0">
              <a:buNone/>
            </a:pPr>
            <a:r>
              <a:rPr lang="en-US" b="0" i="0" dirty="0">
                <a:effectLst/>
                <a:latin typeface="PT Sans" panose="020B0503020203020204" pitchFamily="34" charset="0"/>
              </a:rPr>
              <a:t>The most common reason for this is to </a:t>
            </a:r>
            <a:r>
              <a:rPr lang="en-US" b="1" i="0" dirty="0">
                <a:effectLst/>
                <a:latin typeface="PT Sans" panose="020B0503020203020204" pitchFamily="34" charset="0"/>
              </a:rPr>
              <a:t>control access to some shared resource</a:t>
            </a:r>
            <a:r>
              <a:rPr lang="en-US" b="0" i="0" dirty="0">
                <a:effectLst/>
                <a:latin typeface="PT Sans" panose="020B0503020203020204" pitchFamily="34" charset="0"/>
              </a:rPr>
              <a:t>—for example, a database or a file.</a:t>
            </a:r>
          </a:p>
          <a:p>
            <a:r>
              <a:rPr lang="en-US" b="0" i="0" dirty="0">
                <a:effectLst/>
                <a:latin typeface="PT Sans" panose="020B0503020203020204" pitchFamily="34" charset="0"/>
              </a:rPr>
              <a:t>Imagine that you created an object, but after a while decided to create a new one. Instead of receiving a fresh object, you’ll get the one you already created.</a:t>
            </a:r>
          </a:p>
          <a:p>
            <a:r>
              <a:rPr lang="en-US" b="0" i="0" dirty="0">
                <a:effectLst/>
                <a:latin typeface="PT Sans" panose="020B0503020203020204" pitchFamily="34" charset="0"/>
              </a:rPr>
              <a:t>This behavior is impossible to implement with a regular constructor since a constructor call </a:t>
            </a:r>
            <a:r>
              <a:rPr lang="en-US" b="1" i="0" dirty="0">
                <a:effectLst/>
                <a:latin typeface="PT Sans" panose="020B0503020203020204" pitchFamily="34" charset="0"/>
              </a:rPr>
              <a:t>must</a:t>
            </a:r>
            <a:r>
              <a:rPr lang="en-US" b="0" i="0" dirty="0">
                <a:effectLst/>
                <a:latin typeface="PT Sans" panose="020B0503020203020204" pitchFamily="34" charset="0"/>
              </a:rPr>
              <a:t> always return a new object by design.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968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A21C037-D314-4DD4-2089-73ACF964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D3372C7-7A87-B281-1BF6-445B73D34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AutoNum type="arabicPeriod" startAt="2"/>
            </a:pPr>
            <a:r>
              <a:rPr lang="en-US" b="1" i="0" dirty="0">
                <a:effectLst/>
                <a:latin typeface="PT Sans" panose="020B0503020203020204" pitchFamily="34" charset="0"/>
              </a:rPr>
              <a:t>Provide a global access point to that instance</a:t>
            </a:r>
            <a:r>
              <a:rPr lang="en-US" b="0" i="0" dirty="0">
                <a:effectLst/>
                <a:latin typeface="PT Sans" panose="020B0503020203020204" pitchFamily="34" charset="0"/>
              </a:rPr>
              <a:t>. </a:t>
            </a:r>
          </a:p>
          <a:p>
            <a:r>
              <a:rPr lang="en-US" b="0" i="0" dirty="0">
                <a:effectLst/>
                <a:latin typeface="PT Sans" panose="020B0503020203020204" pitchFamily="34" charset="0"/>
              </a:rPr>
              <a:t>Just like a global variable, the Singleton pattern lets you access some object from anywhere in the program. </a:t>
            </a:r>
          </a:p>
          <a:p>
            <a:r>
              <a:rPr lang="en-US" b="0" i="0" dirty="0">
                <a:effectLst/>
                <a:latin typeface="PT Sans" panose="020B0503020203020204" pitchFamily="34" charset="0"/>
              </a:rPr>
              <a:t>However, it also protects that instance from being overwritten by other code.</a:t>
            </a:r>
          </a:p>
          <a:p>
            <a:r>
              <a:rPr lang="en-US" b="0" i="0" dirty="0">
                <a:effectLst/>
                <a:latin typeface="PT Sans" panose="020B0503020203020204" pitchFamily="34" charset="0"/>
              </a:rPr>
              <a:t>There’s another side to this problem: </a:t>
            </a:r>
          </a:p>
          <a:p>
            <a:pPr marL="457200" lvl="1" indent="0">
              <a:buNone/>
            </a:pPr>
            <a:r>
              <a:rPr lang="en-US" dirty="0">
                <a:latin typeface="PT Sans" panose="020B0503020203020204" pitchFamily="34" charset="0"/>
              </a:rPr>
              <a:t>Y</a:t>
            </a:r>
            <a:r>
              <a:rPr lang="en-US" b="0" i="0" dirty="0">
                <a:effectLst/>
                <a:latin typeface="PT Sans" panose="020B0503020203020204" pitchFamily="34" charset="0"/>
              </a:rPr>
              <a:t>ou don’t want the code that solves problem #1 to be scattered all over your program. It’s much better to have it within one class, especially if the rest of your code already depends on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098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Cartoon of a cartoon of a round room with doors and a person walking into it&#10;&#10;Description automatically generated">
            <a:extLst>
              <a:ext uri="{FF2B5EF4-FFF2-40B4-BE49-F238E27FC236}">
                <a16:creationId xmlns="" xmlns:a16="http://schemas.microsoft.com/office/drawing/2014/main" id="{1AFD8136-38F8-DD31-6A54-75845F62D5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33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984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E90E8F-4703-B5CD-AAFB-DBFDBC233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975B5B8-D682-DBE2-BE2F-6F0652006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 implementations of the Singleton have these two steps in common: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Make the </a:t>
            </a:r>
            <a:r>
              <a:rPr lang="en-US" b="1" dirty="0"/>
              <a:t>default constructor private</a:t>
            </a:r>
            <a:r>
              <a:rPr lang="en-US" dirty="0"/>
              <a:t>, to prevent other objects from using the new operator with the Singleton class.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 </a:t>
            </a:r>
            <a:r>
              <a:rPr lang="en-US" b="1" dirty="0"/>
              <a:t>static creation method </a:t>
            </a:r>
            <a:r>
              <a:rPr lang="en-US" dirty="0"/>
              <a:t>that acts as a constructor. Under the hood, this method calls the private constructor to create an object and saves it in a static field. All following calls to this method return the cached object.</a:t>
            </a:r>
          </a:p>
          <a:p>
            <a:r>
              <a:rPr lang="en-US" dirty="0"/>
              <a:t>If your code has access to the Singleton class, then it’s able to call the Singleton’s static method. So, whenever that method is called, the same object is always returned.</a:t>
            </a:r>
          </a:p>
        </p:txBody>
      </p:sp>
    </p:spTree>
    <p:extLst>
      <p:ext uri="{BB962C8B-B14F-4D97-AF65-F5344CB8AC3E}">
        <p14:creationId xmlns:p14="http://schemas.microsoft.com/office/powerpoint/2010/main" val="2137053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78EC1A6-A9AB-C98C-E0A4-2BC6C772A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384AB84-1E12-CE43-BEBE-B9C70D3E8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The government is an excellent example of the Singleton pattern. 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A country can have only </a:t>
            </a:r>
            <a:r>
              <a:rPr lang="en-US" b="1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one official government</a:t>
            </a:r>
            <a: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. 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Regardless of the personal identities of the individuals who form governments, the title, “The Government of X”, is a global point of access that identifies the group of people in charge.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42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EE26F6-253C-4081-48B0-70C479D69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Strcuture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795CF35-7A21-E315-0B6C-19EFEB9EA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353" y="1626714"/>
            <a:ext cx="8909294" cy="486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69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47769B2-B383-8BA7-1DBE-31723CC1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dirty="0"/>
              <a:t>Implementation (Lazy Initialization)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345D3B-1665-AD3E-6AE9-2B1649FCA1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2596" y="597160"/>
            <a:ext cx="5777204" cy="6111550"/>
          </a:xfrm>
          <a:ln w="3175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class Singleton {</a:t>
            </a:r>
          </a:p>
          <a:p>
            <a:pPr marL="0" indent="0">
              <a:buNone/>
            </a:pPr>
            <a:r>
              <a:rPr lang="en-US" sz="1600" dirty="0"/>
              <a:t>   private:</a:t>
            </a:r>
          </a:p>
          <a:p>
            <a:pPr marL="0" indent="0">
              <a:buNone/>
            </a:pPr>
            <a:r>
              <a:rPr lang="en-US" sz="1600" dirty="0"/>
              <a:t>   static Singleton *instance;</a:t>
            </a:r>
          </a:p>
          <a:p>
            <a:pPr marL="0" indent="0">
              <a:buNone/>
            </a:pPr>
            <a:r>
              <a:rPr lang="en-US" sz="1600" dirty="0"/>
              <a:t>   int data;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// Private constructor so that no objects can be created.</a:t>
            </a:r>
          </a:p>
          <a:p>
            <a:pPr marL="0" indent="0">
              <a:buNone/>
            </a:pPr>
            <a:r>
              <a:rPr lang="en-US" sz="1600" dirty="0"/>
              <a:t>   Singleton() {</a:t>
            </a:r>
          </a:p>
          <a:p>
            <a:pPr marL="0" indent="0">
              <a:buNone/>
            </a:pPr>
            <a:r>
              <a:rPr lang="en-US" sz="1600" dirty="0"/>
              <a:t>      data = 0;</a:t>
            </a:r>
          </a:p>
          <a:p>
            <a:pPr marL="0" indent="0">
              <a:buNone/>
            </a:pPr>
            <a:r>
              <a:rPr lang="en-US" sz="1600" dirty="0"/>
              <a:t>   }</a:t>
            </a:r>
          </a:p>
          <a:p>
            <a:pPr marL="0" indent="0">
              <a:buNone/>
            </a:pPr>
            <a:r>
              <a:rPr lang="en-US" sz="1600" dirty="0"/>
              <a:t>   public:</a:t>
            </a:r>
          </a:p>
          <a:p>
            <a:pPr marL="0" indent="0">
              <a:buNone/>
            </a:pPr>
            <a:r>
              <a:rPr lang="en-US" sz="1600" dirty="0"/>
              <a:t>   // Lazy Initialization</a:t>
            </a:r>
          </a:p>
          <a:p>
            <a:pPr marL="0" indent="0">
              <a:buNone/>
            </a:pPr>
            <a:r>
              <a:rPr lang="en-US" sz="1600" dirty="0"/>
              <a:t>   static Singleton *</a:t>
            </a:r>
            <a:r>
              <a:rPr lang="en-US" sz="1600" dirty="0" err="1"/>
              <a:t>getInstance</a:t>
            </a:r>
            <a:r>
              <a:rPr lang="en-US" sz="1600" dirty="0"/>
              <a:t>() {</a:t>
            </a:r>
          </a:p>
          <a:p>
            <a:pPr marL="0" indent="0">
              <a:buNone/>
            </a:pPr>
            <a:r>
              <a:rPr lang="en-US" sz="1600" dirty="0"/>
              <a:t>      if (instance == NULL) {</a:t>
            </a:r>
          </a:p>
          <a:p>
            <a:pPr marL="0" indent="0">
              <a:buNone/>
            </a:pPr>
            <a:r>
              <a:rPr lang="en-US" sz="1600" dirty="0"/>
              <a:t>      	instance = new Singleton();</a:t>
            </a:r>
          </a:p>
          <a:p>
            <a:pPr marL="0" indent="0">
              <a:buNone/>
            </a:pPr>
            <a:r>
              <a:rPr lang="en-US" sz="1600" dirty="0"/>
              <a:t>      }</a:t>
            </a:r>
          </a:p>
          <a:p>
            <a:pPr marL="0" indent="0">
              <a:buNone/>
            </a:pPr>
            <a:r>
              <a:rPr lang="en-US" sz="1600" dirty="0"/>
              <a:t>      return instance;</a:t>
            </a:r>
          </a:p>
          <a:p>
            <a:pPr marL="0" indent="0">
              <a:buNone/>
            </a:pPr>
            <a:r>
              <a:rPr lang="en-US" sz="1600" dirty="0"/>
              <a:t>   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8BEE732-658D-CFBE-0683-AF2CDC6CE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597160"/>
            <a:ext cx="5777203" cy="6111550"/>
          </a:xfrm>
          <a:ln w="3175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 int </a:t>
            </a:r>
            <a:r>
              <a:rPr lang="en-US" sz="1600" dirty="0" err="1"/>
              <a:t>getData</a:t>
            </a:r>
            <a:r>
              <a:rPr lang="en-US" sz="1600" dirty="0"/>
              <a:t>() {</a:t>
            </a:r>
          </a:p>
          <a:p>
            <a:pPr marL="0" indent="0">
              <a:buNone/>
            </a:pPr>
            <a:r>
              <a:rPr lang="en-US" sz="1600" dirty="0"/>
              <a:t>      return this -&gt; data;</a:t>
            </a:r>
          </a:p>
          <a:p>
            <a:pPr marL="0" indent="0">
              <a:buNone/>
            </a:pPr>
            <a:r>
              <a:rPr lang="en-US" sz="1600" dirty="0"/>
              <a:t>   }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void </a:t>
            </a:r>
            <a:r>
              <a:rPr lang="en-US" sz="1600" dirty="0" err="1"/>
              <a:t>setData</a:t>
            </a:r>
            <a:r>
              <a:rPr lang="en-US" sz="1600" dirty="0"/>
              <a:t>(int data) {</a:t>
            </a:r>
          </a:p>
          <a:p>
            <a:pPr marL="0" indent="0">
              <a:buNone/>
            </a:pPr>
            <a:r>
              <a:rPr lang="en-US" sz="1600" dirty="0"/>
              <a:t>      this -&gt; data = data;</a:t>
            </a:r>
          </a:p>
          <a:p>
            <a:pPr marL="0" indent="0">
              <a:buNone/>
            </a:pPr>
            <a:r>
              <a:rPr lang="en-US" sz="1600" dirty="0"/>
              <a:t>   }</a:t>
            </a:r>
          </a:p>
          <a:p>
            <a:pPr marL="0" indent="0">
              <a:buNone/>
            </a:pPr>
            <a:r>
              <a:rPr lang="en-US" sz="16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04613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47769B2-B383-8BA7-1DBE-31723CC1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345D3B-1665-AD3E-6AE9-2B1649FCA1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2596" y="597160"/>
            <a:ext cx="5777204" cy="6111550"/>
          </a:xfrm>
          <a:ln w="3175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//Initialize pointer with NULL so that it can be initialized in first call to </a:t>
            </a:r>
            <a:r>
              <a:rPr lang="en-US" sz="1600" dirty="0" err="1"/>
              <a:t>getInstance</a:t>
            </a:r>
            <a:r>
              <a:rPr lang="en-US" sz="1600" dirty="0"/>
              <a:t>()</a:t>
            </a:r>
          </a:p>
          <a:p>
            <a:pPr marL="0" indent="0">
              <a:buNone/>
            </a:pPr>
            <a:r>
              <a:rPr lang="en-US" sz="1600" dirty="0"/>
              <a:t>Singleton *Singleton::instance = NULL;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int main(){</a:t>
            </a:r>
          </a:p>
          <a:p>
            <a:pPr marL="0" indent="0">
              <a:buNone/>
            </a:pPr>
            <a:r>
              <a:rPr lang="en-US" sz="1600" dirty="0"/>
              <a:t>   Singleton *s = Singleton::</a:t>
            </a:r>
            <a:r>
              <a:rPr lang="en-US" sz="1600" dirty="0" err="1"/>
              <a:t>getInstance</a:t>
            </a:r>
            <a:r>
              <a:rPr lang="en-US" sz="1600" dirty="0"/>
              <a:t>();</a:t>
            </a:r>
          </a:p>
          <a:p>
            <a:pPr marL="0" indent="0">
              <a:buNone/>
            </a:pPr>
            <a:r>
              <a:rPr lang="en-US" sz="1600" dirty="0"/>
              <a:t>   s-&gt;</a:t>
            </a:r>
            <a:r>
              <a:rPr lang="en-US" sz="1600" dirty="0" err="1"/>
              <a:t>setData</a:t>
            </a:r>
            <a:r>
              <a:rPr lang="en-US" sz="1600" dirty="0"/>
              <a:t>(7);</a:t>
            </a:r>
          </a:p>
          <a:p>
            <a:pPr marL="0" indent="0">
              <a:buNone/>
            </a:pPr>
            <a:r>
              <a:rPr lang="en-US" sz="1600" dirty="0"/>
              <a:t>   </a:t>
            </a:r>
            <a:r>
              <a:rPr lang="en-US" sz="1600" dirty="0" err="1"/>
              <a:t>cout</a:t>
            </a:r>
            <a:r>
              <a:rPr lang="en-US" sz="1600" dirty="0"/>
              <a:t> &lt;&lt; s-&gt;</a:t>
            </a:r>
            <a:r>
              <a:rPr lang="en-US" sz="1600" dirty="0" err="1"/>
              <a:t>getData</a:t>
            </a:r>
            <a:r>
              <a:rPr lang="en-US" sz="1600" dirty="0"/>
              <a:t>() &lt;&lt; 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   </a:t>
            </a:r>
          </a:p>
          <a:p>
            <a:pPr marL="0" indent="0">
              <a:buNone/>
            </a:pPr>
            <a:r>
              <a:rPr lang="en-US" sz="1600" dirty="0"/>
              <a:t>   Singleton *p =  Singleton::</a:t>
            </a:r>
            <a:r>
              <a:rPr lang="en-US" sz="1600" dirty="0" err="1"/>
              <a:t>getInstance</a:t>
            </a:r>
            <a:r>
              <a:rPr lang="en-US" sz="1600" dirty="0"/>
              <a:t>();</a:t>
            </a:r>
          </a:p>
          <a:p>
            <a:pPr marL="0" indent="0">
              <a:buNone/>
            </a:pPr>
            <a:r>
              <a:rPr lang="en-US" sz="1600" dirty="0"/>
              <a:t>   p-&gt;</a:t>
            </a:r>
            <a:r>
              <a:rPr lang="en-US" sz="1600" dirty="0" err="1"/>
              <a:t>setData</a:t>
            </a:r>
            <a:r>
              <a:rPr lang="en-US" sz="1600" dirty="0"/>
              <a:t>(100);</a:t>
            </a:r>
          </a:p>
          <a:p>
            <a:pPr marL="0" indent="0">
              <a:buNone/>
            </a:pPr>
            <a:r>
              <a:rPr lang="en-US" sz="1600" dirty="0"/>
              <a:t>   </a:t>
            </a:r>
            <a:r>
              <a:rPr lang="en-US" sz="1600" dirty="0" err="1"/>
              <a:t>cout</a:t>
            </a:r>
            <a:r>
              <a:rPr lang="en-US" sz="1600" dirty="0"/>
              <a:t> &lt;&lt; p-&gt;</a:t>
            </a:r>
            <a:r>
              <a:rPr lang="en-US" sz="1600" dirty="0" err="1"/>
              <a:t>getData</a:t>
            </a:r>
            <a:r>
              <a:rPr lang="en-US" sz="1600" dirty="0"/>
              <a:t>() &lt;&lt; 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   return 0;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8BEE732-658D-CFBE-0683-AF2CDC6CE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597160"/>
            <a:ext cx="5777203" cy="6111550"/>
          </a:xfrm>
          <a:ln w="3175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 Output:</a:t>
            </a:r>
          </a:p>
          <a:p>
            <a:pPr marL="0" indent="0">
              <a:buNone/>
            </a:pPr>
            <a:r>
              <a:rPr lang="en-US" sz="1600" dirty="0"/>
              <a:t>	// 7</a:t>
            </a:r>
          </a:p>
          <a:p>
            <a:pPr marL="0" indent="0">
              <a:buNone/>
            </a:pPr>
            <a:r>
              <a:rPr lang="en-US" sz="1600" dirty="0"/>
              <a:t>	// Address of s : 0x1793010</a:t>
            </a:r>
          </a:p>
          <a:p>
            <a:pPr marL="0" indent="0">
              <a:buNone/>
            </a:pPr>
            <a:r>
              <a:rPr lang="en-US" sz="1600" dirty="0"/>
              <a:t>	</a:t>
            </a:r>
          </a:p>
          <a:p>
            <a:pPr marL="0" indent="0">
              <a:buNone/>
            </a:pPr>
            <a:r>
              <a:rPr lang="en-US" sz="1600" dirty="0"/>
              <a:t>	// 100</a:t>
            </a:r>
          </a:p>
          <a:p>
            <a:pPr marL="0" indent="0">
              <a:buNone/>
            </a:pPr>
            <a:r>
              <a:rPr lang="en-US" sz="1600" dirty="0"/>
              <a:t>	// Address of p : 0x1793010</a:t>
            </a:r>
          </a:p>
        </p:txBody>
      </p:sp>
    </p:spTree>
    <p:extLst>
      <p:ext uri="{BB962C8B-B14F-4D97-AF65-F5344CB8AC3E}">
        <p14:creationId xmlns:p14="http://schemas.microsoft.com/office/powerpoint/2010/main" val="1419350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47769B2-B383-8BA7-1DBE-31723CC1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dirty="0"/>
              <a:t>Implementation (Eager Initialization)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345D3B-1665-AD3E-6AE9-2B1649FCA1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2596" y="597160"/>
            <a:ext cx="5777204" cy="6111550"/>
          </a:xfrm>
          <a:ln w="3175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#include &lt;</a:t>
            </a:r>
            <a:r>
              <a:rPr lang="en-US" sz="1200" dirty="0" err="1"/>
              <a:t>iostream</a:t>
            </a:r>
            <a:r>
              <a:rPr lang="en-US" sz="1200" dirty="0"/>
              <a:t>&gt;</a:t>
            </a:r>
          </a:p>
          <a:p>
            <a:pPr marL="0" indent="0">
              <a:buNone/>
            </a:pPr>
            <a:r>
              <a:rPr lang="en-US" sz="1200" dirty="0"/>
              <a:t>using namespace </a:t>
            </a:r>
            <a:r>
              <a:rPr lang="en-US" sz="1200" dirty="0" err="1"/>
              <a:t>std</a:t>
            </a:r>
            <a:r>
              <a:rPr lang="en-US" sz="1200" dirty="0" smtClean="0"/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class Singleton {</a:t>
            </a:r>
          </a:p>
          <a:p>
            <a:pPr marL="0" indent="0">
              <a:buNone/>
            </a:pPr>
            <a:r>
              <a:rPr lang="en-US" sz="1200" dirty="0"/>
              <a:t>private:</a:t>
            </a:r>
          </a:p>
          <a:p>
            <a:pPr marL="0" indent="0">
              <a:buNone/>
            </a:pPr>
            <a:r>
              <a:rPr lang="en-US" sz="1200" dirty="0"/>
              <a:t>    static Singleton* instance;  // Static pointer to single instance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int</a:t>
            </a:r>
            <a:r>
              <a:rPr lang="en-US" sz="1200" dirty="0"/>
              <a:t> data</a:t>
            </a:r>
            <a:r>
              <a:rPr lang="en-US" sz="1200" dirty="0" smtClean="0"/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    // Private constructor so no one can create new objects</a:t>
            </a:r>
          </a:p>
          <a:p>
            <a:pPr marL="0" indent="0">
              <a:buNone/>
            </a:pPr>
            <a:r>
              <a:rPr lang="en-US" sz="1200" dirty="0"/>
              <a:t>    Singleton() {</a:t>
            </a:r>
          </a:p>
          <a:p>
            <a:pPr marL="0" indent="0">
              <a:buNone/>
            </a:pPr>
            <a:r>
              <a:rPr lang="en-US" sz="1200" dirty="0"/>
              <a:t>        data = 0;</a:t>
            </a:r>
          </a:p>
          <a:p>
            <a:pPr marL="0" indent="0">
              <a:buNone/>
            </a:pPr>
            <a:r>
              <a:rPr lang="en-US" sz="1200" dirty="0"/>
              <a:t>        </a:t>
            </a:r>
            <a:r>
              <a:rPr lang="en-US" sz="1200" dirty="0" err="1"/>
              <a:t>cout</a:t>
            </a:r>
            <a:r>
              <a:rPr lang="en-US" sz="1200" dirty="0"/>
              <a:t> &lt;&lt; "Singleton Instance Created!" &lt;&lt; </a:t>
            </a:r>
            <a:r>
              <a:rPr lang="en-US" sz="1200" dirty="0" err="1"/>
              <a:t>endl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smtClean="0"/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public:</a:t>
            </a:r>
          </a:p>
          <a:p>
            <a:pPr marL="0" indent="0">
              <a:buNone/>
            </a:pPr>
            <a:r>
              <a:rPr lang="en-US" sz="1200" dirty="0"/>
              <a:t>    // Global access point</a:t>
            </a:r>
          </a:p>
          <a:p>
            <a:pPr marL="0" indent="0">
              <a:buNone/>
            </a:pPr>
            <a:r>
              <a:rPr lang="en-US" sz="1200" dirty="0"/>
              <a:t>    static Singleton* </a:t>
            </a:r>
            <a:r>
              <a:rPr lang="en-US" sz="1200" dirty="0" err="1"/>
              <a:t>getInstance</a:t>
            </a:r>
            <a:r>
              <a:rPr lang="en-US" sz="1200" dirty="0"/>
              <a:t>() {</a:t>
            </a:r>
          </a:p>
          <a:p>
            <a:pPr marL="0" indent="0">
              <a:buNone/>
            </a:pPr>
            <a:r>
              <a:rPr lang="en-US" sz="1200" dirty="0"/>
              <a:t>        return instance;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smtClean="0"/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getData</a:t>
            </a:r>
            <a:r>
              <a:rPr lang="en-US" sz="1200" dirty="0"/>
              <a:t>() { return data; }</a:t>
            </a:r>
          </a:p>
          <a:p>
            <a:pPr marL="0" indent="0">
              <a:buNone/>
            </a:pPr>
            <a:r>
              <a:rPr lang="en-US" sz="1200" dirty="0"/>
              <a:t>    void </a:t>
            </a:r>
            <a:r>
              <a:rPr lang="en-US" sz="1200" dirty="0" err="1"/>
              <a:t>setData</a:t>
            </a:r>
            <a:r>
              <a:rPr lang="en-US" sz="1200" dirty="0"/>
              <a:t>(</a:t>
            </a:r>
            <a:r>
              <a:rPr lang="en-US" sz="1200" dirty="0" err="1"/>
              <a:t>int</a:t>
            </a:r>
            <a:r>
              <a:rPr lang="en-US" sz="1200" dirty="0"/>
              <a:t> d) { data = d; }</a:t>
            </a:r>
          </a:p>
          <a:p>
            <a:pPr marL="0" indent="0">
              <a:buNone/>
            </a:pPr>
            <a:r>
              <a:rPr lang="en-US" sz="1200" dirty="0"/>
              <a:t>};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8BEE732-658D-CFBE-0683-AF2CDC6CE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597160"/>
            <a:ext cx="5777203" cy="6111550"/>
          </a:xfrm>
          <a:ln w="3175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 </a:t>
            </a:r>
            <a:r>
              <a:rPr lang="en-US" sz="1200" dirty="0"/>
              <a:t>// Create the instance eagerly (before program starts)</a:t>
            </a:r>
          </a:p>
          <a:p>
            <a:pPr marL="0" indent="0">
              <a:buNone/>
            </a:pPr>
            <a:r>
              <a:rPr lang="en-US" sz="1200" dirty="0"/>
              <a:t>Singleton* Singleton::instance = new Singleton();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 err="1"/>
              <a:t>int</a:t>
            </a:r>
            <a:r>
              <a:rPr lang="en-US" sz="1200" dirty="0"/>
              <a:t> main() {</a:t>
            </a:r>
          </a:p>
          <a:p>
            <a:pPr marL="0" indent="0">
              <a:buNone/>
            </a:pPr>
            <a:r>
              <a:rPr lang="en-US" sz="1200" dirty="0"/>
              <a:t>    // Even before calling </a:t>
            </a:r>
            <a:r>
              <a:rPr lang="en-US" sz="1200" dirty="0" err="1"/>
              <a:t>getInstance</a:t>
            </a:r>
            <a:r>
              <a:rPr lang="en-US" sz="1200" dirty="0"/>
              <a:t>(), the instance already exists.</a:t>
            </a:r>
          </a:p>
          <a:p>
            <a:pPr marL="0" indent="0">
              <a:buNone/>
            </a:pPr>
            <a:r>
              <a:rPr lang="en-US" sz="1200" dirty="0"/>
              <a:t>    Singleton* s1 = Singleton::</a:t>
            </a:r>
            <a:r>
              <a:rPr lang="en-US" sz="1200" dirty="0" err="1"/>
              <a:t>getInstance</a:t>
            </a:r>
            <a:r>
              <a:rPr lang="en-US" sz="1200" dirty="0"/>
              <a:t>();</a:t>
            </a:r>
          </a:p>
          <a:p>
            <a:pPr marL="0" indent="0">
              <a:buNone/>
            </a:pPr>
            <a:r>
              <a:rPr lang="en-US" sz="1200" dirty="0"/>
              <a:t>    s1-&gt;</a:t>
            </a:r>
            <a:r>
              <a:rPr lang="en-US" sz="1200" dirty="0" err="1"/>
              <a:t>setData</a:t>
            </a:r>
            <a:r>
              <a:rPr lang="en-US" sz="1200" dirty="0"/>
              <a:t>(42);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    Singleton* s2 = Singleton::</a:t>
            </a:r>
            <a:r>
              <a:rPr lang="en-US" sz="1200" dirty="0" err="1"/>
              <a:t>getInstance</a:t>
            </a:r>
            <a:r>
              <a:rPr lang="en-US" sz="1200" dirty="0"/>
              <a:t>();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cout</a:t>
            </a:r>
            <a:r>
              <a:rPr lang="en-US" sz="1200" dirty="0"/>
              <a:t> &lt;&lt; "Data from s2: " &lt;&lt; s2-&gt;</a:t>
            </a:r>
            <a:r>
              <a:rPr lang="en-US" sz="1200" dirty="0" err="1"/>
              <a:t>getData</a:t>
            </a:r>
            <a:r>
              <a:rPr lang="en-US" sz="1200" dirty="0"/>
              <a:t>() &lt;&lt; </a:t>
            </a:r>
            <a:r>
              <a:rPr lang="en-US" sz="1200" dirty="0" err="1"/>
              <a:t>endl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    return 0;</a:t>
            </a:r>
          </a:p>
          <a:p>
            <a:pPr marL="0" indent="0">
              <a:buNone/>
            </a:pPr>
            <a:r>
              <a:rPr lang="en-US" sz="1200" dirty="0" smtClean="0"/>
              <a:t>}</a:t>
            </a:r>
          </a:p>
          <a:p>
            <a:pPr marL="0" indent="0">
              <a:buNone/>
            </a:pPr>
            <a:r>
              <a:rPr lang="en-US" sz="1600" b="1" dirty="0" smtClean="0"/>
              <a:t>Output:</a:t>
            </a:r>
            <a:endParaRPr lang="en-US" sz="1200" b="1" dirty="0" smtClean="0"/>
          </a:p>
          <a:p>
            <a:pPr marL="0" indent="0">
              <a:buNone/>
            </a:pPr>
            <a:r>
              <a:rPr lang="en-US" sz="1600" dirty="0"/>
              <a:t>Singleton Instance Created!</a:t>
            </a:r>
          </a:p>
          <a:p>
            <a:pPr marL="0" indent="0">
              <a:buNone/>
            </a:pPr>
            <a:r>
              <a:rPr lang="en-US" sz="1600" dirty="0"/>
              <a:t>Data from s2: 42</a:t>
            </a:r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08735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47769B2-B383-8BA7-1DBE-31723CC1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9290"/>
            <a:ext cx="11308702" cy="681036"/>
          </a:xfrm>
        </p:spPr>
        <p:txBody>
          <a:bodyPr>
            <a:normAutofit fontScale="90000"/>
          </a:bodyPr>
          <a:lstStyle/>
          <a:p>
            <a:r>
              <a:rPr lang="en-US" dirty="0"/>
              <a:t>Implementation (Lazy Initialization in Multi-Thread)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345D3B-1665-AD3E-6AE9-2B1649FCA1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2596" y="933060"/>
            <a:ext cx="5777204" cy="5775649"/>
          </a:xfrm>
          <a:ln w="3175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#include &lt;</a:t>
            </a:r>
            <a:r>
              <a:rPr lang="en-US" sz="1600" dirty="0" err="1"/>
              <a:t>iostream</a:t>
            </a:r>
            <a:r>
              <a:rPr lang="en-US" sz="1600" dirty="0"/>
              <a:t>&gt;</a:t>
            </a:r>
          </a:p>
          <a:p>
            <a:pPr marL="0" indent="0">
              <a:buNone/>
            </a:pPr>
            <a:r>
              <a:rPr lang="en-US" sz="1600" dirty="0"/>
              <a:t>#include &lt;thread&gt;</a:t>
            </a:r>
          </a:p>
          <a:p>
            <a:pPr marL="0" indent="0">
              <a:buNone/>
            </a:pPr>
            <a:r>
              <a:rPr lang="en-US" sz="1600" dirty="0"/>
              <a:t>using namespace </a:t>
            </a:r>
            <a:r>
              <a:rPr lang="en-US" sz="1600" dirty="0" err="1"/>
              <a:t>std</a:t>
            </a:r>
            <a:r>
              <a:rPr lang="en-US" sz="1600" dirty="0" smtClean="0"/>
              <a:t>;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class Singleton {</a:t>
            </a:r>
          </a:p>
          <a:p>
            <a:pPr marL="0" indent="0">
              <a:buNone/>
            </a:pPr>
            <a:r>
              <a:rPr lang="en-US" sz="1600" dirty="0"/>
              <a:t>private:</a:t>
            </a:r>
          </a:p>
          <a:p>
            <a:pPr marL="0" indent="0">
              <a:buNone/>
            </a:pPr>
            <a:r>
              <a:rPr lang="en-US" sz="1600" dirty="0"/>
              <a:t>    static Singleton* instance;</a:t>
            </a:r>
          </a:p>
          <a:p>
            <a:pPr marL="0" indent="0">
              <a:buNone/>
            </a:pPr>
            <a:r>
              <a:rPr lang="en-US" sz="1600" dirty="0"/>
              <a:t>    Singleton() { </a:t>
            </a:r>
            <a:r>
              <a:rPr lang="en-US" sz="1600" dirty="0" err="1"/>
              <a:t>cout</a:t>
            </a:r>
            <a:r>
              <a:rPr lang="en-US" sz="1600" dirty="0"/>
              <a:t> &lt;&lt; "Instance created\n"; </a:t>
            </a:r>
            <a:r>
              <a:rPr lang="en-US" sz="1600" dirty="0" smtClean="0"/>
              <a:t>}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public</a:t>
            </a:r>
            <a:r>
              <a:rPr lang="en-US" sz="1600" dirty="0" smtClean="0"/>
              <a:t>:</a:t>
            </a:r>
          </a:p>
          <a:p>
            <a:pPr marL="0" indent="0">
              <a:buNone/>
            </a:pPr>
            <a:r>
              <a:rPr lang="en-US" sz="1600" dirty="0"/>
              <a:t> // Lazy Initialization with synchronization</a:t>
            </a:r>
          </a:p>
          <a:p>
            <a:pPr marL="0" indent="0">
              <a:buNone/>
            </a:pPr>
            <a:r>
              <a:rPr lang="en-US" sz="1600" dirty="0"/>
              <a:t>    static Singleton* </a:t>
            </a:r>
            <a:r>
              <a:rPr lang="en-US" sz="1600" dirty="0" err="1"/>
              <a:t>getInstance</a:t>
            </a:r>
            <a:r>
              <a:rPr lang="en-US" sz="1600" dirty="0"/>
              <a:t>() {</a:t>
            </a:r>
          </a:p>
          <a:p>
            <a:pPr marL="0" indent="0">
              <a:buNone/>
            </a:pPr>
            <a:r>
              <a:rPr lang="en-US" sz="1600" dirty="0"/>
              <a:t>        if (instance == NULL) {  // Not thread-safe</a:t>
            </a:r>
          </a:p>
          <a:p>
            <a:pPr marL="0" indent="0">
              <a:buNone/>
            </a:pPr>
            <a:r>
              <a:rPr lang="en-US" sz="1600" dirty="0"/>
              <a:t>            instance = new Singleton();</a:t>
            </a:r>
          </a:p>
          <a:p>
            <a:pPr marL="0" indent="0">
              <a:buNone/>
            </a:pPr>
            <a:r>
              <a:rPr lang="en-US" sz="1600" dirty="0"/>
              <a:t>        }</a:t>
            </a:r>
          </a:p>
          <a:p>
            <a:pPr marL="0" indent="0">
              <a:buNone/>
            </a:pPr>
            <a:r>
              <a:rPr lang="en-US" sz="1600" dirty="0"/>
              <a:t>        return instance;</a:t>
            </a:r>
          </a:p>
          <a:p>
            <a:pPr marL="0" indent="0">
              <a:buNone/>
            </a:pPr>
            <a:r>
              <a:rPr lang="en-US" sz="1600" dirty="0"/>
              <a:t>    }</a:t>
            </a:r>
          </a:p>
          <a:p>
            <a:pPr marL="0" indent="0">
              <a:buNone/>
            </a:pPr>
            <a:r>
              <a:rPr lang="en-US" sz="1600" dirty="0"/>
              <a:t>};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8BEE732-658D-CFBE-0683-AF2CDC6CE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933060"/>
            <a:ext cx="5777203" cy="5775650"/>
          </a:xfrm>
          <a:ln w="3175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smtClean="0"/>
              <a:t>Singleton</a:t>
            </a:r>
            <a:r>
              <a:rPr lang="en-US" sz="1600" dirty="0"/>
              <a:t>* Singleton::instance = NULL</a:t>
            </a:r>
            <a:r>
              <a:rPr lang="en-US" sz="1600" dirty="0" smtClean="0"/>
              <a:t>;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void </a:t>
            </a:r>
            <a:r>
              <a:rPr lang="en-US" sz="1600" dirty="0" err="1"/>
              <a:t>threadFunc</a:t>
            </a:r>
            <a:r>
              <a:rPr lang="en-US" sz="1600" dirty="0"/>
              <a:t>() {</a:t>
            </a:r>
          </a:p>
          <a:p>
            <a:pPr marL="0" indent="0">
              <a:buNone/>
            </a:pPr>
            <a:r>
              <a:rPr lang="en-US" sz="1600" dirty="0"/>
              <a:t>    Singleton* s = Singleton::</a:t>
            </a:r>
            <a:r>
              <a:rPr lang="en-US" sz="1600" dirty="0" err="1"/>
              <a:t>getInstance</a:t>
            </a:r>
            <a:r>
              <a:rPr lang="en-US" sz="1600" dirty="0"/>
              <a:t>();</a:t>
            </a:r>
          </a:p>
          <a:p>
            <a:pPr marL="0" indent="0">
              <a:buNone/>
            </a:pPr>
            <a:r>
              <a:rPr lang="en-US" sz="1600" dirty="0" smtClean="0"/>
              <a:t>}</a:t>
            </a: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int</a:t>
            </a:r>
            <a:r>
              <a:rPr lang="en-US" sz="1600" dirty="0"/>
              <a:t> main() {</a:t>
            </a:r>
          </a:p>
          <a:p>
            <a:pPr marL="0" indent="0">
              <a:buNone/>
            </a:pPr>
            <a:r>
              <a:rPr lang="en-US" sz="1600" dirty="0"/>
              <a:t>    thread t1(</a:t>
            </a:r>
            <a:r>
              <a:rPr lang="en-US" sz="1600" dirty="0" err="1"/>
              <a:t>threadFunc</a:t>
            </a:r>
            <a:r>
              <a:rPr lang="en-US" sz="1600" dirty="0"/>
              <a:t>);</a:t>
            </a:r>
          </a:p>
          <a:p>
            <a:pPr marL="0" indent="0">
              <a:buNone/>
            </a:pPr>
            <a:r>
              <a:rPr lang="en-US" sz="1600" dirty="0"/>
              <a:t>    thread t2(</a:t>
            </a:r>
            <a:r>
              <a:rPr lang="en-US" sz="1600" dirty="0" err="1"/>
              <a:t>threadFunc</a:t>
            </a:r>
            <a:r>
              <a:rPr lang="en-US" sz="1600" dirty="0"/>
              <a:t>);</a:t>
            </a:r>
          </a:p>
          <a:p>
            <a:pPr marL="0" indent="0">
              <a:buNone/>
            </a:pPr>
            <a:r>
              <a:rPr lang="en-US" sz="1600" dirty="0"/>
              <a:t>    t1.join();</a:t>
            </a:r>
          </a:p>
          <a:p>
            <a:pPr marL="0" indent="0">
              <a:buNone/>
            </a:pPr>
            <a:r>
              <a:rPr lang="en-US" sz="1600" dirty="0"/>
              <a:t>    t2.join();</a:t>
            </a:r>
          </a:p>
          <a:p>
            <a:pPr marL="0" indent="0">
              <a:buNone/>
            </a:pPr>
            <a:r>
              <a:rPr lang="en-US" sz="1600" dirty="0" smtClean="0"/>
              <a:t>}</a:t>
            </a:r>
          </a:p>
          <a:p>
            <a:pPr marL="0" indent="0">
              <a:buNone/>
            </a:pPr>
            <a:r>
              <a:rPr lang="en-US" sz="1600" b="1" dirty="0" smtClean="0"/>
              <a:t>Output:</a:t>
            </a:r>
          </a:p>
          <a:p>
            <a:pPr marL="0" indent="0">
              <a:buNone/>
            </a:pPr>
            <a:r>
              <a:rPr lang="en-US" sz="1600" dirty="0"/>
              <a:t>Instance created</a:t>
            </a:r>
          </a:p>
          <a:p>
            <a:pPr marL="0" indent="0">
              <a:buNone/>
            </a:pPr>
            <a:r>
              <a:rPr lang="en-US" sz="1600" dirty="0"/>
              <a:t>Instance created   &lt;-- ❌ Two instances created! (NOT Singleton)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19504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47769B2-B383-8BA7-1DBE-31723CC1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9290"/>
            <a:ext cx="11308702" cy="681036"/>
          </a:xfrm>
        </p:spPr>
        <p:txBody>
          <a:bodyPr>
            <a:noAutofit/>
          </a:bodyPr>
          <a:lstStyle/>
          <a:p>
            <a:r>
              <a:rPr lang="en-US" sz="2800" dirty="0" smtClean="0"/>
              <a:t>Implementation Method 1 </a:t>
            </a:r>
            <a:r>
              <a:rPr lang="en-US" sz="2800" dirty="0"/>
              <a:t>(Lazy Initialization in Multi-Thread)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345D3B-1665-AD3E-6AE9-2B1649FCA1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2596" y="933060"/>
            <a:ext cx="5777204" cy="5775649"/>
          </a:xfrm>
          <a:ln w="3175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#include &lt;</a:t>
            </a:r>
            <a:r>
              <a:rPr lang="en-US" sz="1400" dirty="0" err="1"/>
              <a:t>iostream</a:t>
            </a:r>
            <a:r>
              <a:rPr lang="en-US" sz="1400" dirty="0"/>
              <a:t>&gt;</a:t>
            </a:r>
          </a:p>
          <a:p>
            <a:pPr marL="0" indent="0">
              <a:buNone/>
            </a:pPr>
            <a:r>
              <a:rPr lang="en-US" sz="1400" dirty="0"/>
              <a:t>#include &lt;</a:t>
            </a:r>
            <a:r>
              <a:rPr lang="en-US" sz="1400" dirty="0" err="1"/>
              <a:t>mutex</a:t>
            </a:r>
            <a:r>
              <a:rPr lang="en-US" sz="1400" dirty="0"/>
              <a:t>&gt;</a:t>
            </a:r>
          </a:p>
          <a:p>
            <a:pPr marL="0" indent="0">
              <a:buNone/>
            </a:pPr>
            <a:r>
              <a:rPr lang="en-US" sz="1400" dirty="0"/>
              <a:t>#include &lt;thread&gt;</a:t>
            </a:r>
          </a:p>
          <a:p>
            <a:pPr marL="0" indent="0">
              <a:buNone/>
            </a:pPr>
            <a:r>
              <a:rPr lang="en-US" sz="1400" dirty="0"/>
              <a:t>using namespace </a:t>
            </a:r>
            <a:r>
              <a:rPr lang="en-US" sz="1400" dirty="0" err="1"/>
              <a:t>std</a:t>
            </a:r>
            <a:r>
              <a:rPr lang="en-US" sz="1400" dirty="0" smtClean="0"/>
              <a:t>;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class Singleton {</a:t>
            </a:r>
          </a:p>
          <a:p>
            <a:pPr marL="0" indent="0">
              <a:buNone/>
            </a:pPr>
            <a:r>
              <a:rPr lang="en-US" sz="1400" dirty="0"/>
              <a:t>private:</a:t>
            </a:r>
          </a:p>
          <a:p>
            <a:pPr marL="0" indent="0">
              <a:buNone/>
            </a:pPr>
            <a:r>
              <a:rPr lang="en-US" sz="1400" dirty="0"/>
              <a:t>    static Singleton* instance;</a:t>
            </a:r>
          </a:p>
          <a:p>
            <a:pPr marL="0" indent="0">
              <a:buNone/>
            </a:pPr>
            <a:r>
              <a:rPr lang="en-US" sz="1400" dirty="0"/>
              <a:t>    static </a:t>
            </a:r>
            <a:r>
              <a:rPr lang="en-US" sz="1400" dirty="0" err="1"/>
              <a:t>mutex</a:t>
            </a:r>
            <a:r>
              <a:rPr lang="en-US" sz="1400" dirty="0"/>
              <a:t> </a:t>
            </a:r>
            <a:r>
              <a:rPr lang="en-US" sz="1400" dirty="0" err="1"/>
              <a:t>mtx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dirty="0"/>
              <a:t>    Singleton() { </a:t>
            </a:r>
            <a:r>
              <a:rPr lang="en-US" sz="1400" dirty="0" err="1"/>
              <a:t>cout</a:t>
            </a:r>
            <a:r>
              <a:rPr lang="en-US" sz="1400" dirty="0"/>
              <a:t> &lt;&lt; "Instance created\n"; </a:t>
            </a:r>
            <a:r>
              <a:rPr lang="en-US" sz="1400" dirty="0" smtClean="0"/>
              <a:t>}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public:</a:t>
            </a:r>
          </a:p>
          <a:p>
            <a:pPr marL="0" indent="0">
              <a:buNone/>
            </a:pPr>
            <a:r>
              <a:rPr lang="en-US" sz="1400" dirty="0"/>
              <a:t>    static Singleton* </a:t>
            </a:r>
            <a:r>
              <a:rPr lang="en-US" sz="1400" dirty="0" err="1"/>
              <a:t>getInstance</a:t>
            </a:r>
            <a:r>
              <a:rPr lang="en-US" sz="1400" dirty="0"/>
              <a:t>() {</a:t>
            </a:r>
          </a:p>
          <a:p>
            <a:pPr marL="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lock_guard</a:t>
            </a:r>
            <a:r>
              <a:rPr lang="en-US" sz="1400" dirty="0"/>
              <a:t>&lt;</a:t>
            </a:r>
            <a:r>
              <a:rPr lang="en-US" sz="1400" dirty="0" err="1"/>
              <a:t>mutex</a:t>
            </a:r>
            <a:r>
              <a:rPr lang="en-US" sz="1400" dirty="0"/>
              <a:t>&gt; lock(</a:t>
            </a:r>
            <a:r>
              <a:rPr lang="en-US" sz="1400" dirty="0" err="1"/>
              <a:t>mtx</a:t>
            </a:r>
            <a:r>
              <a:rPr lang="en-US" sz="1400" dirty="0"/>
              <a:t>);  // Lock while checking</a:t>
            </a:r>
          </a:p>
          <a:p>
            <a:pPr marL="0" indent="0">
              <a:buNone/>
            </a:pPr>
            <a:r>
              <a:rPr lang="en-US" sz="1400" dirty="0"/>
              <a:t>        if (instance == NULL) {</a:t>
            </a:r>
          </a:p>
          <a:p>
            <a:pPr marL="0" indent="0">
              <a:buNone/>
            </a:pPr>
            <a:r>
              <a:rPr lang="en-US" sz="1400" dirty="0"/>
              <a:t>            instance = new Singleton();</a:t>
            </a:r>
          </a:p>
          <a:p>
            <a:pPr marL="0" indent="0">
              <a:buNone/>
            </a:pPr>
            <a:r>
              <a:rPr lang="en-US" sz="1400" dirty="0"/>
              <a:t>        }</a:t>
            </a:r>
          </a:p>
          <a:p>
            <a:pPr marL="0" indent="0">
              <a:buNone/>
            </a:pPr>
            <a:r>
              <a:rPr lang="en-US" sz="1400" dirty="0"/>
              <a:t>        return instance;</a:t>
            </a:r>
          </a:p>
          <a:p>
            <a:pPr marL="0" indent="0">
              <a:buNone/>
            </a:pPr>
            <a:r>
              <a:rPr lang="en-US" sz="1400" dirty="0"/>
              <a:t>    }</a:t>
            </a:r>
          </a:p>
          <a:p>
            <a:pPr marL="0" indent="0">
              <a:buNone/>
            </a:pPr>
            <a:r>
              <a:rPr lang="en-US" sz="1400" dirty="0" smtClean="0"/>
              <a:t>};</a:t>
            </a:r>
            <a:endParaRPr lang="en-US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8BEE732-658D-CFBE-0683-AF2CDC6CE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933060"/>
            <a:ext cx="5777203" cy="5775650"/>
          </a:xfrm>
          <a:ln w="3175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Singleton* Singleton::instance = NULL;</a:t>
            </a:r>
          </a:p>
          <a:p>
            <a:pPr marL="0" indent="0">
              <a:buNone/>
            </a:pPr>
            <a:r>
              <a:rPr lang="en-US" sz="1600" dirty="0" err="1"/>
              <a:t>mutex</a:t>
            </a:r>
            <a:r>
              <a:rPr lang="en-US" sz="1600" dirty="0"/>
              <a:t> Singleton::</a:t>
            </a:r>
            <a:r>
              <a:rPr lang="en-US" sz="1600" dirty="0" err="1"/>
              <a:t>mtx</a:t>
            </a:r>
            <a:r>
              <a:rPr lang="en-US" sz="1600" dirty="0" smtClean="0"/>
              <a:t>;</a:t>
            </a: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void </a:t>
            </a:r>
            <a:r>
              <a:rPr lang="en-US" sz="1600" dirty="0" err="1"/>
              <a:t>threadFunc</a:t>
            </a:r>
            <a:r>
              <a:rPr lang="en-US" sz="1600" dirty="0"/>
              <a:t>() {</a:t>
            </a:r>
          </a:p>
          <a:p>
            <a:pPr marL="0" indent="0">
              <a:buNone/>
            </a:pPr>
            <a:r>
              <a:rPr lang="en-US" sz="1600" dirty="0"/>
              <a:t>    Singleton* s = Singleton::</a:t>
            </a:r>
            <a:r>
              <a:rPr lang="en-US" sz="1600" dirty="0" err="1"/>
              <a:t>getInstance</a:t>
            </a:r>
            <a:r>
              <a:rPr lang="en-US" sz="1600" dirty="0"/>
              <a:t>();</a:t>
            </a:r>
          </a:p>
          <a:p>
            <a:pPr marL="0" indent="0">
              <a:buNone/>
            </a:pPr>
            <a:r>
              <a:rPr lang="en-US" sz="1600" dirty="0" smtClean="0"/>
              <a:t>}</a:t>
            </a: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int</a:t>
            </a:r>
            <a:r>
              <a:rPr lang="en-US" sz="1600" dirty="0"/>
              <a:t> main() {</a:t>
            </a:r>
          </a:p>
          <a:p>
            <a:pPr marL="0" indent="0">
              <a:buNone/>
            </a:pPr>
            <a:r>
              <a:rPr lang="en-US" sz="1600" dirty="0"/>
              <a:t>    thread t1(</a:t>
            </a:r>
            <a:r>
              <a:rPr lang="en-US" sz="1600" dirty="0" err="1"/>
              <a:t>threadFunc</a:t>
            </a:r>
            <a:r>
              <a:rPr lang="en-US" sz="1600" dirty="0"/>
              <a:t>);</a:t>
            </a:r>
          </a:p>
          <a:p>
            <a:pPr marL="0" indent="0">
              <a:buNone/>
            </a:pPr>
            <a:r>
              <a:rPr lang="en-US" sz="1600" dirty="0"/>
              <a:t>    thread t2(</a:t>
            </a:r>
            <a:r>
              <a:rPr lang="en-US" sz="1600" dirty="0" err="1"/>
              <a:t>threadFunc</a:t>
            </a:r>
            <a:r>
              <a:rPr lang="en-US" sz="1600" dirty="0"/>
              <a:t>);</a:t>
            </a:r>
          </a:p>
          <a:p>
            <a:pPr marL="0" indent="0">
              <a:buNone/>
            </a:pPr>
            <a:r>
              <a:rPr lang="en-US" sz="1600" dirty="0"/>
              <a:t>    t1.join();</a:t>
            </a:r>
          </a:p>
          <a:p>
            <a:pPr marL="0" indent="0">
              <a:buNone/>
            </a:pPr>
            <a:r>
              <a:rPr lang="en-US" sz="1600" dirty="0"/>
              <a:t>    t2.join();</a:t>
            </a:r>
          </a:p>
          <a:p>
            <a:pPr marL="0" indent="0">
              <a:buNone/>
            </a:pPr>
            <a:r>
              <a:rPr lang="en-US" sz="1600" dirty="0" smtClean="0"/>
              <a:t>}</a:t>
            </a:r>
          </a:p>
          <a:p>
            <a:pPr marL="0" indent="0">
              <a:buNone/>
            </a:pPr>
            <a:r>
              <a:rPr lang="en-US" sz="1600" dirty="0" smtClean="0"/>
              <a:t>Output:</a:t>
            </a:r>
          </a:p>
          <a:p>
            <a:pPr marL="0" indent="0">
              <a:buNone/>
            </a:pPr>
            <a:r>
              <a:rPr lang="en-US" sz="1600" dirty="0"/>
              <a:t>Instance </a:t>
            </a:r>
            <a:r>
              <a:rPr lang="en-US" sz="1600" dirty="0" smtClean="0"/>
              <a:t>created 	// Object is created only one time.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3124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47769B2-B383-8BA7-1DBE-31723CC1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9290"/>
            <a:ext cx="11308702" cy="681036"/>
          </a:xfrm>
        </p:spPr>
        <p:txBody>
          <a:bodyPr>
            <a:noAutofit/>
          </a:bodyPr>
          <a:lstStyle/>
          <a:p>
            <a:r>
              <a:rPr lang="en-US" sz="2800" dirty="0" smtClean="0"/>
              <a:t>Implementation Method 2 </a:t>
            </a:r>
            <a:r>
              <a:rPr lang="en-US" sz="2800" dirty="0"/>
              <a:t>(Lazy Initialization in Multi-Thread)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345D3B-1665-AD3E-6AE9-2B1649FCA1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2596" y="933060"/>
            <a:ext cx="5777204" cy="5775649"/>
          </a:xfrm>
          <a:ln w="3175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#include &lt;</a:t>
            </a:r>
            <a:r>
              <a:rPr lang="en-US" sz="1200" dirty="0" err="1"/>
              <a:t>iostream</a:t>
            </a:r>
            <a:r>
              <a:rPr lang="en-US" sz="1200" dirty="0"/>
              <a:t>&gt;</a:t>
            </a:r>
          </a:p>
          <a:p>
            <a:pPr marL="0" indent="0">
              <a:buNone/>
            </a:pPr>
            <a:r>
              <a:rPr lang="en-US" sz="1200" dirty="0"/>
              <a:t>#include &lt;thread&gt;</a:t>
            </a:r>
          </a:p>
          <a:p>
            <a:pPr marL="0" indent="0">
              <a:buNone/>
            </a:pPr>
            <a:r>
              <a:rPr lang="en-US" sz="1200" dirty="0"/>
              <a:t>using namespace </a:t>
            </a:r>
            <a:r>
              <a:rPr lang="en-US" sz="1200" dirty="0" err="1"/>
              <a:t>std</a:t>
            </a:r>
            <a:r>
              <a:rPr lang="en-US" sz="1200" dirty="0" smtClean="0"/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class Singleton {</a:t>
            </a:r>
          </a:p>
          <a:p>
            <a:pPr marL="0" indent="0">
              <a:buNone/>
            </a:pPr>
            <a:r>
              <a:rPr lang="en-US" sz="1200" dirty="0"/>
              <a:t>private:</a:t>
            </a:r>
          </a:p>
          <a:p>
            <a:pPr marL="0" indent="0">
              <a:buNone/>
            </a:pPr>
            <a:r>
              <a:rPr lang="en-US" sz="1200" dirty="0"/>
              <a:t>    // Private constructor to prevent creating objects manually</a:t>
            </a:r>
          </a:p>
          <a:p>
            <a:pPr marL="0" indent="0">
              <a:buNone/>
            </a:pPr>
            <a:r>
              <a:rPr lang="en-US" sz="1200" dirty="0"/>
              <a:t>    Singleton() {</a:t>
            </a:r>
          </a:p>
          <a:p>
            <a:pPr marL="0" indent="0">
              <a:buNone/>
            </a:pPr>
            <a:r>
              <a:rPr lang="en-US" sz="1200" dirty="0"/>
              <a:t>        </a:t>
            </a:r>
            <a:r>
              <a:rPr lang="en-US" sz="1200" dirty="0" err="1"/>
              <a:t>cout</a:t>
            </a:r>
            <a:r>
              <a:rPr lang="en-US" sz="1200" dirty="0"/>
              <a:t> &lt;&lt; "Instance created" &lt;&lt; </a:t>
            </a:r>
            <a:r>
              <a:rPr lang="en-US" sz="1200" dirty="0" err="1"/>
              <a:t>endl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smtClean="0"/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public:</a:t>
            </a:r>
          </a:p>
          <a:p>
            <a:pPr marL="0" indent="0">
              <a:buNone/>
            </a:pPr>
            <a:r>
              <a:rPr lang="en-US" sz="1200" dirty="0"/>
              <a:t>    // Public global access point</a:t>
            </a:r>
          </a:p>
          <a:p>
            <a:pPr marL="0" indent="0">
              <a:buNone/>
            </a:pPr>
            <a:r>
              <a:rPr lang="en-US" sz="1200" dirty="0"/>
              <a:t>    static Singleton&amp; </a:t>
            </a:r>
            <a:r>
              <a:rPr lang="en-US" sz="1200" dirty="0" err="1"/>
              <a:t>getInstance</a:t>
            </a:r>
            <a:r>
              <a:rPr lang="en-US" sz="1200" dirty="0"/>
              <a:t>() {</a:t>
            </a:r>
          </a:p>
          <a:p>
            <a:pPr marL="0" indent="0">
              <a:buNone/>
            </a:pPr>
            <a:r>
              <a:rPr lang="en-US" sz="1200" dirty="0"/>
              <a:t>        static Singleton instance;   // Created only once, thread-safe </a:t>
            </a:r>
            <a:r>
              <a:rPr lang="en-US" sz="1200" dirty="0" smtClean="0"/>
              <a:t>in </a:t>
            </a:r>
          </a:p>
          <a:p>
            <a:pPr marL="0" indent="0">
              <a:buNone/>
            </a:pPr>
            <a:r>
              <a:rPr lang="en-US" sz="1200" dirty="0" smtClean="0"/>
              <a:t>        return instance;</a:t>
            </a:r>
          </a:p>
          <a:p>
            <a:pPr marL="0" indent="0">
              <a:buNone/>
            </a:pPr>
            <a:r>
              <a:rPr lang="en-US" sz="1200" dirty="0" smtClean="0"/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    void </a:t>
            </a:r>
            <a:r>
              <a:rPr lang="en-US" sz="1200" dirty="0" err="1"/>
              <a:t>showMessage</a:t>
            </a:r>
            <a:r>
              <a:rPr lang="en-US" sz="1200" dirty="0"/>
              <a:t>() {</a:t>
            </a:r>
          </a:p>
          <a:p>
            <a:pPr marL="0" indent="0">
              <a:buNone/>
            </a:pPr>
            <a:r>
              <a:rPr lang="en-US" sz="1200" dirty="0"/>
              <a:t>        </a:t>
            </a:r>
            <a:r>
              <a:rPr lang="en-US" sz="1200" dirty="0" err="1"/>
              <a:t>cout</a:t>
            </a:r>
            <a:r>
              <a:rPr lang="en-US" sz="1200" dirty="0"/>
              <a:t> &lt;&lt; "Hello from Singleton!" &lt;&lt; </a:t>
            </a:r>
            <a:r>
              <a:rPr lang="en-US" sz="1200" dirty="0" err="1"/>
              <a:t>endl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r>
              <a:rPr lang="en-US" sz="1200" dirty="0"/>
              <a:t>    }</a:t>
            </a:r>
          </a:p>
          <a:p>
            <a:pPr marL="0" indent="0">
              <a:buNone/>
            </a:pPr>
            <a:r>
              <a:rPr lang="en-US" sz="1200" dirty="0"/>
              <a:t>};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8BEE732-658D-CFBE-0683-AF2CDC6CE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933060"/>
            <a:ext cx="5777203" cy="5775650"/>
          </a:xfrm>
          <a:ln w="3175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void </a:t>
            </a:r>
            <a:r>
              <a:rPr lang="en-US" sz="1200" dirty="0" err="1"/>
              <a:t>threadFunction</a:t>
            </a:r>
            <a:r>
              <a:rPr lang="en-US" sz="1200" dirty="0"/>
              <a:t>() {</a:t>
            </a:r>
          </a:p>
          <a:p>
            <a:pPr marL="0" indent="0">
              <a:buNone/>
            </a:pPr>
            <a:r>
              <a:rPr lang="en-US" sz="1200" dirty="0"/>
              <a:t>    Singleton&amp; s = Singleton::</a:t>
            </a:r>
            <a:r>
              <a:rPr lang="en-US" sz="1200" dirty="0" err="1"/>
              <a:t>getInstance</a:t>
            </a:r>
            <a:r>
              <a:rPr lang="en-US" sz="1200" dirty="0"/>
              <a:t>();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s.showMessage</a:t>
            </a:r>
            <a:r>
              <a:rPr lang="en-US" sz="1200" dirty="0"/>
              <a:t>();</a:t>
            </a:r>
          </a:p>
          <a:p>
            <a:pPr marL="0" indent="0">
              <a:buNone/>
            </a:pPr>
            <a:r>
              <a:rPr lang="en-US" sz="1200" dirty="0" smtClean="0"/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/>
              <a:t>int</a:t>
            </a:r>
            <a:r>
              <a:rPr lang="en-US" sz="1200" dirty="0"/>
              <a:t> main() {</a:t>
            </a:r>
          </a:p>
          <a:p>
            <a:pPr marL="0" indent="0">
              <a:buNone/>
            </a:pPr>
            <a:r>
              <a:rPr lang="en-US" sz="1200" dirty="0"/>
              <a:t>    thread t1(</a:t>
            </a:r>
            <a:r>
              <a:rPr lang="en-US" sz="1200" dirty="0" err="1"/>
              <a:t>threadFunction</a:t>
            </a:r>
            <a:r>
              <a:rPr lang="en-US" sz="1200" dirty="0"/>
              <a:t>);</a:t>
            </a:r>
          </a:p>
          <a:p>
            <a:pPr marL="0" indent="0">
              <a:buNone/>
            </a:pPr>
            <a:r>
              <a:rPr lang="en-US" sz="1200" dirty="0"/>
              <a:t>    thread t2(</a:t>
            </a:r>
            <a:r>
              <a:rPr lang="en-US" sz="1200" dirty="0" err="1"/>
              <a:t>threadFunction</a:t>
            </a:r>
            <a:r>
              <a:rPr lang="en-US" sz="1200" dirty="0"/>
              <a:t>);</a:t>
            </a:r>
          </a:p>
          <a:p>
            <a:pPr marL="0" indent="0">
              <a:buNone/>
            </a:pPr>
            <a:r>
              <a:rPr lang="en-US" sz="1200" dirty="0"/>
              <a:t>    thread t3(</a:t>
            </a:r>
            <a:r>
              <a:rPr lang="en-US" sz="1200" dirty="0" err="1"/>
              <a:t>threadFunction</a:t>
            </a:r>
            <a:r>
              <a:rPr lang="en-US" sz="1200" dirty="0" smtClean="0"/>
              <a:t>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    t1.join();</a:t>
            </a:r>
          </a:p>
          <a:p>
            <a:pPr marL="0" indent="0">
              <a:buNone/>
            </a:pPr>
            <a:r>
              <a:rPr lang="en-US" sz="1200" dirty="0"/>
              <a:t>    t2.join();</a:t>
            </a:r>
          </a:p>
          <a:p>
            <a:pPr marL="0" indent="0">
              <a:buNone/>
            </a:pPr>
            <a:r>
              <a:rPr lang="en-US" sz="1200" dirty="0"/>
              <a:t>    t3.join();</a:t>
            </a:r>
          </a:p>
          <a:p>
            <a:pPr marL="0" indent="0">
              <a:buNone/>
            </a:pPr>
            <a:r>
              <a:rPr lang="en-US" sz="1200" dirty="0"/>
              <a:t>    return 0;</a:t>
            </a:r>
          </a:p>
          <a:p>
            <a:pPr marL="0" indent="0">
              <a:buNone/>
            </a:pPr>
            <a:r>
              <a:rPr lang="en-US" sz="1200" dirty="0" smtClean="0"/>
              <a:t>}</a:t>
            </a:r>
          </a:p>
          <a:p>
            <a:pPr marL="0" indent="0">
              <a:buNone/>
            </a:pPr>
            <a:r>
              <a:rPr lang="en-US" sz="1200" dirty="0" smtClean="0"/>
              <a:t>Output:</a:t>
            </a:r>
          </a:p>
          <a:p>
            <a:pPr marL="0" indent="0">
              <a:buNone/>
            </a:pPr>
            <a:r>
              <a:rPr lang="en-US" sz="1200" dirty="0"/>
              <a:t>Instance created</a:t>
            </a:r>
          </a:p>
          <a:p>
            <a:pPr marL="0" indent="0">
              <a:buNone/>
            </a:pPr>
            <a:r>
              <a:rPr lang="en-US" sz="1200" dirty="0"/>
              <a:t>Hello from Singleton!</a:t>
            </a:r>
          </a:p>
          <a:p>
            <a:pPr marL="0" indent="0">
              <a:buNone/>
            </a:pPr>
            <a:r>
              <a:rPr lang="en-US" sz="1200" dirty="0"/>
              <a:t>Hello from Singleton!</a:t>
            </a:r>
          </a:p>
          <a:p>
            <a:pPr marL="0" indent="0">
              <a:buNone/>
            </a:pPr>
            <a:r>
              <a:rPr lang="en-US" sz="1200" dirty="0"/>
              <a:t>Hello from Singleton!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3088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47769B2-B383-8BA7-1DBE-31723CC1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9290"/>
            <a:ext cx="11308702" cy="681036"/>
          </a:xfrm>
        </p:spPr>
        <p:txBody>
          <a:bodyPr>
            <a:normAutofit fontScale="90000"/>
          </a:bodyPr>
          <a:lstStyle/>
          <a:p>
            <a:r>
              <a:rPr lang="en-US" dirty="0"/>
              <a:t>Implementation </a:t>
            </a:r>
            <a:r>
              <a:rPr lang="en-US" dirty="0" smtClean="0"/>
              <a:t>(</a:t>
            </a:r>
            <a:r>
              <a:rPr lang="en-US" dirty="0" err="1" smtClean="0"/>
              <a:t>Globel</a:t>
            </a:r>
            <a:r>
              <a:rPr lang="en-US" dirty="0" smtClean="0"/>
              <a:t> Access Point)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345D3B-1665-AD3E-6AE9-2B1649FCA1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2596" y="933060"/>
            <a:ext cx="5777204" cy="5775649"/>
          </a:xfrm>
          <a:ln w="3175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dirty="0"/>
              <a:t>#include &lt;</a:t>
            </a:r>
            <a:r>
              <a:rPr lang="en-US" sz="1100" dirty="0" err="1"/>
              <a:t>iostream</a:t>
            </a:r>
            <a:r>
              <a:rPr lang="en-US" sz="1100" dirty="0"/>
              <a:t>&gt;</a:t>
            </a:r>
          </a:p>
          <a:p>
            <a:pPr marL="0" indent="0">
              <a:buNone/>
            </a:pPr>
            <a:r>
              <a:rPr lang="en-US" sz="1100" dirty="0"/>
              <a:t>using namespace </a:t>
            </a:r>
            <a:r>
              <a:rPr lang="en-US" sz="1100" dirty="0" err="1"/>
              <a:t>std</a:t>
            </a:r>
            <a:r>
              <a:rPr lang="en-US" sz="1100" dirty="0" smtClean="0"/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/>
              <a:t>class Database {</a:t>
            </a:r>
          </a:p>
          <a:p>
            <a:pPr marL="0" indent="0">
              <a:buNone/>
            </a:pPr>
            <a:r>
              <a:rPr lang="en-US" sz="1100" dirty="0"/>
              <a:t>private:</a:t>
            </a:r>
          </a:p>
          <a:p>
            <a:pPr marL="0" indent="0">
              <a:buNone/>
            </a:pPr>
            <a:r>
              <a:rPr lang="en-US" sz="1100" dirty="0"/>
              <a:t>    static Database* instance;   // Holds the single instance</a:t>
            </a:r>
          </a:p>
          <a:p>
            <a:pPr marL="0" indent="0">
              <a:buNone/>
            </a:pPr>
            <a:r>
              <a:rPr lang="en-US" sz="1100" dirty="0"/>
              <a:t>    Database() {                 // Private constructor</a:t>
            </a:r>
          </a:p>
          <a:p>
            <a:pPr marL="0" indent="0">
              <a:buNone/>
            </a:pPr>
            <a:r>
              <a:rPr lang="en-US" sz="1100" dirty="0"/>
              <a:t>        </a:t>
            </a:r>
            <a:r>
              <a:rPr lang="en-US" sz="1100" dirty="0" err="1"/>
              <a:t>cout</a:t>
            </a:r>
            <a:r>
              <a:rPr lang="en-US" sz="1100" dirty="0"/>
              <a:t> &lt;&lt; "Database Connected\n";</a:t>
            </a:r>
          </a:p>
          <a:p>
            <a:pPr marL="0" indent="0">
              <a:buNone/>
            </a:pPr>
            <a:r>
              <a:rPr lang="en-US" sz="1100" dirty="0"/>
              <a:t>    </a:t>
            </a:r>
            <a:r>
              <a:rPr lang="en-US" sz="1100" dirty="0" smtClean="0"/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/>
              <a:t>public:</a:t>
            </a:r>
          </a:p>
          <a:p>
            <a:pPr marL="0" indent="0">
              <a:buNone/>
            </a:pPr>
            <a:r>
              <a:rPr lang="en-US" sz="1100" dirty="0"/>
              <a:t>    // Global access point</a:t>
            </a:r>
          </a:p>
          <a:p>
            <a:pPr marL="0" indent="0">
              <a:buNone/>
            </a:pPr>
            <a:r>
              <a:rPr lang="en-US" sz="1100" dirty="0"/>
              <a:t>    static Database* </a:t>
            </a:r>
            <a:r>
              <a:rPr lang="en-US" sz="1100" dirty="0" err="1"/>
              <a:t>getInstance</a:t>
            </a:r>
            <a:r>
              <a:rPr lang="en-US" sz="1100" dirty="0"/>
              <a:t>() {</a:t>
            </a:r>
          </a:p>
          <a:p>
            <a:pPr marL="0" indent="0">
              <a:buNone/>
            </a:pPr>
            <a:r>
              <a:rPr lang="en-US" sz="1100" dirty="0"/>
              <a:t>        if (instance == NULL) {</a:t>
            </a:r>
          </a:p>
          <a:p>
            <a:pPr marL="0" indent="0">
              <a:buNone/>
            </a:pPr>
            <a:r>
              <a:rPr lang="en-US" sz="1100" dirty="0"/>
              <a:t>            instance = new Database();</a:t>
            </a:r>
          </a:p>
          <a:p>
            <a:pPr marL="0" indent="0">
              <a:buNone/>
            </a:pPr>
            <a:r>
              <a:rPr lang="en-US" sz="1100" dirty="0"/>
              <a:t>        }</a:t>
            </a:r>
          </a:p>
          <a:p>
            <a:pPr marL="0" indent="0">
              <a:buNone/>
            </a:pPr>
            <a:r>
              <a:rPr lang="en-US" sz="1100" dirty="0"/>
              <a:t>        return instance;</a:t>
            </a:r>
          </a:p>
          <a:p>
            <a:pPr marL="0" indent="0">
              <a:buNone/>
            </a:pPr>
            <a:r>
              <a:rPr lang="en-US" sz="1100" dirty="0"/>
              <a:t>    </a:t>
            </a:r>
            <a:r>
              <a:rPr lang="en-US" sz="1100" dirty="0" smtClean="0"/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/>
              <a:t>    void query(string </a:t>
            </a:r>
            <a:r>
              <a:rPr lang="en-US" sz="1100" dirty="0" err="1"/>
              <a:t>sql</a:t>
            </a:r>
            <a:r>
              <a:rPr lang="en-US" sz="1100" dirty="0"/>
              <a:t>) {</a:t>
            </a:r>
          </a:p>
          <a:p>
            <a:pPr marL="0" indent="0">
              <a:buNone/>
            </a:pPr>
            <a:r>
              <a:rPr lang="en-US" sz="1100" dirty="0"/>
              <a:t>        </a:t>
            </a:r>
            <a:r>
              <a:rPr lang="en-US" sz="1100" dirty="0" err="1"/>
              <a:t>cout</a:t>
            </a:r>
            <a:r>
              <a:rPr lang="en-US" sz="1100" dirty="0"/>
              <a:t> &lt;&lt; "Executing: " &lt;&lt; </a:t>
            </a:r>
            <a:r>
              <a:rPr lang="en-US" sz="1100" dirty="0" err="1"/>
              <a:t>sql</a:t>
            </a:r>
            <a:r>
              <a:rPr lang="en-US" sz="1100" dirty="0"/>
              <a:t> &lt;&lt; </a:t>
            </a:r>
            <a:r>
              <a:rPr lang="en-US" sz="1100" dirty="0" err="1"/>
              <a:t>endl</a:t>
            </a:r>
            <a:r>
              <a:rPr lang="en-US" sz="1100" dirty="0"/>
              <a:t>;</a:t>
            </a:r>
          </a:p>
          <a:p>
            <a:pPr marL="0" indent="0">
              <a:buNone/>
            </a:pPr>
            <a:r>
              <a:rPr lang="en-US" sz="1100" dirty="0"/>
              <a:t>    }</a:t>
            </a:r>
          </a:p>
          <a:p>
            <a:pPr marL="0" indent="0">
              <a:buNone/>
            </a:pPr>
            <a:r>
              <a:rPr lang="en-US" sz="1100" dirty="0" smtClean="0"/>
              <a:t>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8BEE732-658D-CFBE-0683-AF2CDC6CE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933060"/>
            <a:ext cx="5777203" cy="5775650"/>
          </a:xfrm>
          <a:ln w="3175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50" dirty="0"/>
              <a:t>// Initialize the static member</a:t>
            </a:r>
          </a:p>
          <a:p>
            <a:pPr marL="0" indent="0">
              <a:buNone/>
            </a:pPr>
            <a:r>
              <a:rPr lang="en-US" sz="1050" dirty="0"/>
              <a:t>Database* Database::instance = NULL</a:t>
            </a:r>
            <a:r>
              <a:rPr lang="en-US" sz="1050" dirty="0" smtClean="0"/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 err="1"/>
              <a:t>int</a:t>
            </a:r>
            <a:r>
              <a:rPr lang="en-US" sz="1050" dirty="0"/>
              <a:t> main() {</a:t>
            </a:r>
          </a:p>
          <a:p>
            <a:pPr marL="0" indent="0">
              <a:buNone/>
            </a:pPr>
            <a:r>
              <a:rPr lang="en-US" sz="1050" dirty="0"/>
              <a:t>    // Access the same instance globally</a:t>
            </a:r>
          </a:p>
          <a:p>
            <a:pPr marL="0" indent="0">
              <a:buNone/>
            </a:pPr>
            <a:r>
              <a:rPr lang="en-US" sz="1050" dirty="0"/>
              <a:t>    Database* db1 = Database::</a:t>
            </a:r>
            <a:r>
              <a:rPr lang="en-US" sz="1050" dirty="0" err="1"/>
              <a:t>getInstance</a:t>
            </a:r>
            <a:r>
              <a:rPr lang="en-US" sz="1050" dirty="0"/>
              <a:t>();</a:t>
            </a:r>
          </a:p>
          <a:p>
            <a:pPr marL="0" indent="0">
              <a:buNone/>
            </a:pPr>
            <a:r>
              <a:rPr lang="en-US" sz="1050" dirty="0"/>
              <a:t>    db1-&gt;query("SELECT * FROM Students");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/>
              <a:t>    Database* db2 = Database::</a:t>
            </a:r>
            <a:r>
              <a:rPr lang="en-US" sz="1050" dirty="0" err="1"/>
              <a:t>getInstance</a:t>
            </a:r>
            <a:r>
              <a:rPr lang="en-US" sz="1050" dirty="0"/>
              <a:t>();</a:t>
            </a:r>
          </a:p>
          <a:p>
            <a:pPr marL="0" indent="0">
              <a:buNone/>
            </a:pPr>
            <a:r>
              <a:rPr lang="en-US" sz="1050" dirty="0"/>
              <a:t>    db2-&gt;query("DELETE FROM Students WHERE id=1");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/>
              <a:t>    // Both pointers point to the same instance</a:t>
            </a:r>
          </a:p>
          <a:p>
            <a:pPr marL="0" indent="0">
              <a:buNone/>
            </a:pPr>
            <a:r>
              <a:rPr lang="en-US" sz="1050" dirty="0"/>
              <a:t>    </a:t>
            </a:r>
            <a:r>
              <a:rPr lang="en-US" sz="1050" dirty="0" err="1"/>
              <a:t>cout</a:t>
            </a:r>
            <a:r>
              <a:rPr lang="en-US" sz="1050" dirty="0"/>
              <a:t> &lt;&lt; "Address of db1: " &lt;&lt; db1 &lt;&lt; </a:t>
            </a:r>
            <a:r>
              <a:rPr lang="en-US" sz="1050" dirty="0" err="1"/>
              <a:t>endl</a:t>
            </a:r>
            <a:r>
              <a:rPr lang="en-US" sz="1050" dirty="0"/>
              <a:t>;</a:t>
            </a:r>
          </a:p>
          <a:p>
            <a:pPr marL="0" indent="0">
              <a:buNone/>
            </a:pPr>
            <a:r>
              <a:rPr lang="en-US" sz="1050" dirty="0"/>
              <a:t>    </a:t>
            </a:r>
            <a:r>
              <a:rPr lang="en-US" sz="1050" dirty="0" err="1"/>
              <a:t>cout</a:t>
            </a:r>
            <a:r>
              <a:rPr lang="en-US" sz="1050" dirty="0"/>
              <a:t> &lt;&lt; "Address of db2: " &lt;&lt; db2 &lt;&lt; </a:t>
            </a:r>
            <a:r>
              <a:rPr lang="en-US" sz="1050" dirty="0" err="1"/>
              <a:t>endl</a:t>
            </a:r>
            <a:r>
              <a:rPr lang="en-US" sz="1050" dirty="0" smtClean="0"/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/>
              <a:t>    return 0;</a:t>
            </a:r>
          </a:p>
          <a:p>
            <a:pPr marL="0" indent="0">
              <a:buNone/>
            </a:pPr>
            <a:r>
              <a:rPr lang="en-US" sz="1050" dirty="0" smtClean="0"/>
              <a:t>}</a:t>
            </a:r>
          </a:p>
          <a:p>
            <a:pPr marL="0" indent="0">
              <a:buNone/>
            </a:pPr>
            <a:r>
              <a:rPr lang="en-US" sz="1050" dirty="0"/>
              <a:t>Database Connected</a:t>
            </a:r>
          </a:p>
          <a:p>
            <a:pPr marL="0" indent="0">
              <a:buNone/>
            </a:pPr>
            <a:r>
              <a:rPr lang="en-US" sz="1050" dirty="0"/>
              <a:t>Executing: SELECT * FROM Students</a:t>
            </a:r>
          </a:p>
          <a:p>
            <a:pPr marL="0" indent="0">
              <a:buNone/>
            </a:pPr>
            <a:r>
              <a:rPr lang="en-US" sz="1050" dirty="0"/>
              <a:t>Executing: DELETE FROM Students WHERE id=1</a:t>
            </a:r>
          </a:p>
          <a:p>
            <a:pPr marL="0" indent="0">
              <a:buNone/>
            </a:pPr>
            <a:r>
              <a:rPr lang="en-US" sz="1050" dirty="0"/>
              <a:t>Address of db1: 0x123456</a:t>
            </a:r>
          </a:p>
          <a:p>
            <a:pPr marL="0" indent="0">
              <a:buNone/>
            </a:pPr>
            <a:r>
              <a:rPr lang="en-US" sz="1050" dirty="0"/>
              <a:t>Address of db2: 0x123456</a:t>
            </a:r>
          </a:p>
          <a:p>
            <a:pPr marL="0" indent="0">
              <a:buNone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063664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E510E3-727A-EB2C-CB89-D109F0619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0A07E6C-5219-6B5B-04E8-095200B70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Design Patterns: Elements of Reusable Object-Oriented Software, Erich Gamma, Richard Helm, Ralph Johnson, and John </a:t>
            </a:r>
            <a:r>
              <a:rPr lang="en-US" sz="18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Vlissides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Pearson, 1995.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Helping Links: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hlinkClick r:id="rId2"/>
              </a:rPr>
              <a:t>https://refactoring.guru/design-patterns/</a:t>
            </a:r>
            <a:endParaRPr lang="en-US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hlinkClick r:id="rId3"/>
              </a:rPr>
              <a:t>https://www.geeksforgeeks.org/factory-method-for-designing-pattern/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hlinkClick r:id="rId4"/>
              </a:rPr>
              <a:t>https://sourcemaking.com/design_patterns/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594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1702</TotalTime>
  <Words>1658</Words>
  <Application>Microsoft Office PowerPoint</Application>
  <PresentationFormat>Widescreen</PresentationFormat>
  <Paragraphs>272</Paragraphs>
  <Slides>20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Cambria</vt:lpstr>
      <vt:lpstr>PT Sans</vt:lpstr>
      <vt:lpstr>Times New Roman</vt:lpstr>
      <vt:lpstr>Office Theme</vt:lpstr>
      <vt:lpstr>Creational Design Patterns</vt:lpstr>
      <vt:lpstr>Creational Design Patterns</vt:lpstr>
      <vt:lpstr>Creational Design Patterns</vt:lpstr>
      <vt:lpstr>Catalog of Design Patterns</vt:lpstr>
      <vt:lpstr>Singleton Pattern</vt:lpstr>
      <vt:lpstr>Singleton Pattern</vt:lpstr>
      <vt:lpstr>Problem</vt:lpstr>
      <vt:lpstr>Problem</vt:lpstr>
      <vt:lpstr>PowerPoint Presentation</vt:lpstr>
      <vt:lpstr>Solution</vt:lpstr>
      <vt:lpstr>Real World Analogy</vt:lpstr>
      <vt:lpstr>Strcuture</vt:lpstr>
      <vt:lpstr>Implementation (Lazy Initialization)</vt:lpstr>
      <vt:lpstr>Implementation</vt:lpstr>
      <vt:lpstr>Implementation (Eager Initialization)</vt:lpstr>
      <vt:lpstr>Implementation (Lazy Initialization in Multi-Thread)</vt:lpstr>
      <vt:lpstr>Implementation Method 1 (Lazy Initialization in Multi-Thread)</vt:lpstr>
      <vt:lpstr>Implementation Method 2 (Lazy Initialization in Multi-Thread)</vt:lpstr>
      <vt:lpstr>Implementation (Globel Access Point)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Creational Design Patterns</dc:title>
  <dc:creator>Mehroze Khan</dc:creator>
  <cp:lastModifiedBy>Muhammad Zeeshan Nazar</cp:lastModifiedBy>
  <cp:revision>61</cp:revision>
  <dcterms:created xsi:type="dcterms:W3CDTF">2023-11-07T16:01:51Z</dcterms:created>
  <dcterms:modified xsi:type="dcterms:W3CDTF">2025-11-11T05:50:27Z</dcterms:modified>
</cp:coreProperties>
</file>